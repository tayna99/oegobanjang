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9" d="100"/>
          <a:sy n="139" d="100"/>
        </p:scale>
        <p:origin x="113"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6576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외고반장, 외국인 고용 관리의 새로운 기준을 제시합니다. 우리는 단순한 소프트웨어가 아닌, 여러분의 비즈니스를 보호하고 성장시키는 Agentic OS입니다. 외국인 고용 업무는 복잡하고 위험하지만, 외고반장은 이러한 어려움을 기회로 바꿉니다. 우리는 여러분이 놓칠 수 있는 모든 것을 미리 챙겨드립니다. 이제, 이 혁신적인 시스템이 어떻게 여러분의 문제를 해결하는지 자세히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외국인 고용 관리의 핵심 문제는 파편화된 규제와 행정 리스크입니다. 이는 단순한 불편함을 넘어 사업의 지속 가능성을 위협합니다. 우리는 끊임없이 변하는 지침, 소통의 장벽, 그리고 중대한 행정적 오류에 직면합니다. 이러한 문제들은 고용 중단이나 심각한 벌금으로 이어질 수 있습니다. 이는 단순히 일을 쉽게 만드는 것이 아니라, 여러분의 운영을 보호하는 문제입니다. 이제 우리의 핵심 개념이 이러한 문제들을 어떻게 해결하는지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외고반장의 에이전트들이 어떻게 리스크를 관리하는지 보셨습니다. 이제 시장 및 수요 분석을 통해 현장의 실질적인 고충을 어떻게 해결하는지 말씀드리겠습니다. 우리는 단순한 업무 간소화를 넘어, 기업에 값비싼 실수를 막아주는 솔루션에 대한 핵심적인 수요를 파악했습니다. 외고반장은 비자 만료 사전 알림, 실시간 서류 점검, 그리고 자동화된 다국어 소통과 같은 반드시 필요한 고충을 해결합니다. 우리의 비즈니스 모델은 이러한 가치를 반영하여 전문가를 위한 화이트 라벨 솔루션과 케이스별 과금 모델에 집중합니다. 우리는 협회 및 단체와의 B2B 계약을 통해 대규모 도입을 목표로 합니다. 그렇다면 이것이 실제 사용자 경험으로 어떻게 이어질까요? 다음 슬라이드에서 전형적인 시나리오를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외고반장이 현장의 고충을 해결하는 비즈니스 모델을 설명드렸습니다. 이제 사용자 시나리오를 통해 자연어 한 줄로 업무 자동화가 어떻게 시작되는지 보여드리겠습니다. 외고반장은 파편화되고 수동적인 업무 흐름을 통합된 자동화된 워크플로우로 전환합니다. 사용자는 끝없는 메뉴를 찾아 헤맬 필요 없이, 자연어로 자신의 의도를 말하기만 하면 됩니다. 시스템은 요청을 지능적으로 분석하고 실행 가능한 단계로 분해하며, RAG를 활용하여 정확한 서류 및 쿼터 점검을 수행합니다. 심지어 다국어 메시지도 자동으로 초안을 작성하며, 이 모든 것은 최종적인 사람의 승인을 기다립니다. 이는 사용자가 행정적 번거로움이 아닌 핵심 비즈니스에 집중할 수 있음을 의미합니다. 이제 실제 데모 시나리오를 통해 이를 직접 확인해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바쁘신 와중에 잠시 브리핑 드리겠습니다. 외고반장 시스템이 이번 달 처리해야 할 핵심 업무 4건을 파악했습니다. 첫째, Nguyen Van A 직원의 체류 만료일이 76일 남았고, 표준근로계약서와 고용허가서 사본이 누락되었습니다. 시스템이 베트남어 서류 요청 메시지를 생성할 수 있습니다. 둘째, Tran Thi B 직원의 계약 종료일이 45일 남았는데, 체류 만료일과 충돌 가능성이 탐지되어 행정사의 정밀 검토를 권장합니다. 마지막으로, 신규 베트남 근로자 3명 채용 요청 준비가 완료되어 송출회사 전달용 요청서가 생성되었습니다. 이 모든 상황을 외고반장이 실시간으로 파악하고 필요한 조치를 제안합니다. 사장님은 단지 승인만 해주시면 됩니다. 외고반장은 사장님의 귀한 시간을 절약하고, 모든 행정 리스크를 사전에 차단합니다.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외고반장의 Agentic Workflow OS는 외국인 고용 관리의 복잡성을 해결하는 핵심입니다. 이는 단순한 자동화를 넘어, 인간의 통제와 투명한 의사결정을 보장하는 시스템입니다. 인텐트 라우터가 사용자의 의도를 정확히 파악하고, 플래너가 최적의 실행 계획을 수립합니다. 모든 작업은 관리자의 최종 승인을 거치며, 모든 판단 근거와 실행 이력이 기록되어 투명성과 책임성을 확보합니다. 이제, 이러한 핵심 개념이 어떻게 전체 구조 속에서 작동하는지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외고반장 Agentic OS는 사용자 목표를 실행 가능한 프로세스로 전환합니다. 여러분이 자연어로 요청하면, 인텐트 라우터가 이를 분석하고, 전문 에이전트들이 각자의 역할을 수행합니다. 모든 작업은 사람의 승인을 거쳐 안전하게 진행되며, 모든 결정과 그 근거는 감사 기록에 남습니다. 이는 단순한 자동화를 넘어, 사람의 감독과 투명한 의사결정이 핵심인 시스템입니다. 이제 이 모든 과정의 핵심인 감사 기록에 대해 더 자세히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RAG 설계는 모든 작업이 공식적인 근거에 기반하도록 하여 신뢰성과 정확성을 보장합니다. 우리는 EPS/HRD Korea의 공식 가이드를 통합하여 전체 고용 프로세스를 설명합니다. 이를 통해 법적 근거를 바탕으로 자연어 질문에 답변할 수 있습니다. 또한, 정부24와 국가법령정보센터와 같은 출처에서 가져온 케이스별 서류 체크리스트를 제공합니다. 이는 필요한 모든 서류가 식별되고 검증되도록 합니다. 이 강력한 RAG 기반은 신뢰를 구축하고 오류를 방지하는 데 중요합니다. 다음으로, RAG가 명확한 소통과 전문가 인계에 어떻게 기여하는지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단순한 절차를 넘어, 우리 RAG 시스템은 모든 커뮤니케이션이 법적으로 건전하고 투명하도록 보장합니다. 우리는 행정적 타당성을 갖춘 메시지를 생성하며, 필요성, 기한, 개인 정보 사용 목적을 명확히 명시합니다. 모든 메시지는 발송 전에 사람의 승인을 필요로 하며, 이는 중요한 안전 장치 역할을 합니다. 전문가 인계를 위해, 우리는 주관적인 요약이 아닌 근거 기반 패키지를 제공합니다. 여기에는 비자 상태, 누락된 서류, 감사 로그와 같은 객관적인 데이터가 포함됩니다. 이는 전문가에게 인계할 때 필요한 모든 검증된 정보를 제공하도록 합니다. 이제 이러한 구성 요소들이 전체 아키텍처에 어떻게 들어맞는지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우리는 파편화된 정보를 하나의 지능형 자산으로 통합합니다. 외부의 법적 규제와 내부의 사업장 현황을 실시간으로 동기화하여, 데이터에 기반한 의사결정 환경을 구축합니다. 정책 공고, 비자 가이드라인 같은 외부 데이터와 사업장 정보, 인력 데이터 같은 내부 데이터를 유기적으로 연결합니다. 모든 판단 근거와 실행 이력은 감사 로그로 저장되어 투명성을 확보합니다. 이러한 강력한 데이터 기반 위에서 우리의 전문 에이전트들이 작동합니다. 다음으로, 이 핵심 에이전트들을 소개하겠습니다.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우리는 MVP의 핵심인 세 가지 전문 에이전트를 소개합니다. 이 에이전트들은 외국인 고용 관리의 주요 영역에서 전문성을 발휘하며, 전체 프로세스를 포괄적으로 지원합니다. 각 에이전트는 고유한 문제를 해결하며, 인력 확보부터 규정 준수, 그리고 소통까지 원활하게 협력합니다. 이 통합된 접근 방식은 행정 부담을 최소화하고 위험을 줄여줍니다. 이제 첫 번째 에이전트인 인력 확보 에이전트를 자세히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인력 확보 에이전트는 효율적이고 규정을 준수하는 채용을 위한 첫 번째 단계입니다. 이 에이전트는 사업주의 채용 의도를 분석하여 현재 고용 허용 인원과 잔여 쿼터를 실시간으로 계산합니다. 또한, 고용허가 신청에 필요한 표준 서식 초안을 자동으로 생성하여 문서 준비 시간을 획기적으로 단축합니다. 이 에이전트는 근로자의 성실도나 이탈 가능성 같은 주관적인 가치 판단을 배제하고, 오직 제도적 요건 충족도와 객관적 데이터만을 다룹니다. 다음으로, 소통의 어려움을 해결하는 다국어 컨택 에이전트를 소개합니다.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인력 확보 에이전트가 채용의 첫 단계를 어떻게 자동화하는지 보셨습니다. 이제 다국어 컨택 에이전트가 언어 장벽을 어떻게 해소하고 소통을 보장하는지 말씀드리겠습니다. 외고반장의 다국어 컨택 에이전트는 외국인 근로자와의 소통을 자동화하여 행정 정보를 정확하게 전달하고 답변을 받아 업무 상태를 업데이트합니다. 이 에이전트는 근로자의 모국어에 최적화된 안내문을 자동으로 생성하고 발송 준비를 마칩니다. 또한, 수신된 외국어 응답을 실시간으로 해석하여 핵심 내용을 업무 시스템에 즉시 반영합니다. 우리는 안전한 소통을 최우선으로 생각하며, 자동 발송을 금지하고 담당자 승인 후 발송하며, 차별적 표현이나 부적절한 문구를 원천 차단합니다. 다음으로, 비자 및 서류 운영 에이전트가 어떻게 선제적으로 리스크를 관리하는지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다국어 소통의 중요성을 강조했습니다. 이제 비자 및 서류 운영 에이전트가 어떻게 치명적인 규정 준수 위험을 선제적으로 막아주는지 설명드리겠습니다. 이 에이전트는 비자 만료일과 계약 종료일을 모니터링하여 문제가 커지기 전에 잠재적 이슈를 알려줍니다. 또한 서류 누락을 찾아내고 법률 전문가를 위한 포괄적인 패키지를 준비합니다. 외고반장은 이민 전문가에게 완벽하게 준비된 자료를 제공하여 원활한 인계를 보장합니다. AI는 전문가를 대체하는 것이 아니라, 전문가가 가장 빠르고 정확하게 업무를 처리할 수 있도록 완벽한 자료를 준비하는 역할입니다. 다음으로, 이러한 혁신이 현장의 실질적인 고충을 어떻게 해결하는지 시장 및 수요 분석을 통해 알아보겠습니다.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자연어 기반 업무 자동화의 시나리오를 설명드렸습니다. 이제 데모 시나리오 1을 통해 신규 인력 확보 및 쿼터 판별이 어떻게 이루어지는지 보여드리겠습니다. 외고반장은 복잡하고 여러 단계로 이루어진 채용 과정을 직관적인 대화로 바꿉니다. 시스템은 즉시 의도를 분석한 다음, 쿼터 확인 및 요청서 생성과 같은 관리 가능한 단계로 작업을 나눕니다. 이는 가용 쿼터를 신속하게 확인하고 요청서 초안을 준비하여 모든 초기 요구 사항이 충족되도록 합니다. 이로써 행정 부담이 크게 줄어들고 채용 일정이 단축됩니다. 다음으로, 외고반장이 다국어 소통을 어떻게 쉽게 처리하는지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이제 외고반장이 언어 장벽을 어떻게 허무는지 보여드리겠습니다. 16개국어 대응 다국어 안내문 자동 생성으로 외국인 근로자와의 소통이 훨씬 수월해집니다. 외고반장은 한국어 원문을 기반으로 메시지를 번역하고, 근로자의 외국어 답변을 실시간으로 요약하여 보고합니다. 이 모든 과정은 서류 수신 여부와 같은 업무 상태를 자동으로 업데이트하여 수동 작업을 없애줍니다. 이전 시나리오에서 인력 확보를 보셨듯이, 외고반장은 소통의 효율성까지 책임집니다. 다음으로 외고반장이 비자 리스크를 어떻게 선제적으로 관리하는지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외고반장은 잠재적 문제가 확대되기 전에 이를 감지하여 선제적인 리스크 관리를 가능하게 합니다. 시스템은 비자 만료가 임박한 직원을 자동으로 식별하고, 필요한 서류의 누락 여부를 정확히 파악합니다. 그리고 이민 전문가를 위한 포괄적인 패키지를 준비하여 필요한 모든 정보가 취합되도록 합니다. 이는 비용이 많이 드는 지연과 규정 준수 문제를 방지합니다. 방금 보신 다국어 소통 기능에 이어, 외고반장은 이렇게 중요한 비자 관련 업무까지 완벽하게 지원합니다. 다음으로 이러한 모든 의사결정의 근거가 되는 감사 기록에 대해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외고반장은 모든 AI 판단의 근거를 투명하게 기록하여 사장님께 완벽한 통제권을 드립니다. 감사 기록은 AI가 왜 그렇게 판단했는지, 어떤 정책 지침을 참고했는지 인용구 형태로 명확히 보여줍니다. 판단 시점에 유효했던 실제 법령 텍스트를 박제하여 저장하고, 누가 언제 어떤 근거를 보고 승인했는지 타임스탬프까지 기록합니다. 이는 행정 사고 발생 시 즉시 제출 가능한 감사 리포트로 활용되어 기업의 법적 리스크를 원천적으로 관리합니다. 외고반장은 사장님께 단순한 효율성을 넘어, 안심하고 사업을 운영할 수 있는 투명한 의사결정 근거를 제공합니다. 이러한 투명성이 가져올 비즈니스 임팩트는 다음 슬라이드에서 더 자세히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외고반장은 단순한 효율성을 넘어 비즈니스에 실질적인 영향을 미칩니다. 우리는 행정 처리 리드타임을 70% 단축하고, 행정 사고 발생률을 0건으로 만듭니다. 외고반장은 외국인 고용의 안정적 거버넌스를 완성합니다. 이는 기업이 예측 불가능한 리스크를 관리하고, 안정적인 운영을 가능하게 합니다. 이제 외고반장이 어떻게 여러분의 AI 파트너가 될 수 있는지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외고반장은 여러분의 가장 믿음직한 외국인 고용 관리 파트너가 됩니다. 무엇을 놓쳤는지 실시간으로 즉시 알 수 있습니다. 누구에게 연락해야 하는지 AI가 명확히 짚어줍니다. 외국어 메시지를 직접 쓸 필요 없이 자동 생성됩니다. 행정사에게 넘길 복잡한 자료가 자동으로 정리됩니다. AI가 독단적으로 판단하지 않고, 오직 사장님의 승인 하에 실행됩니다. 외고반장은 사장님의 가장 믿음직한 외국인 고용 관리 파트너가 됩니다. 다음 슬라이드에서 외고반장이 어떤 의미인지 다시 한번 강조하겠습니다.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외고반장은 외국인 고용 업무에서 놓치기 전에 먼저 챙기는 AI 파트너입니다. 우리는 안정적 거버넌스와 효율적 운영을 완성합니다. 더 궁금한 점이 있으시면 언제든지 contact@wegobanjang.ai로 문의하시거나 www.wegobanjang.ai를 방문해 주세요.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6.jpe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2.jpe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jpeg"/><Relationship Id="rId7"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jpeg"/><Relationship Id="rId7" Type="http://schemas.openxmlformats.org/officeDocument/2006/relationships/image" Target="../media/image7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80.png"/><Relationship Id="rId4" Type="http://schemas.openxmlformats.org/officeDocument/2006/relationships/image" Target="../media/image79.png"/></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77.png"/><Relationship Id="rId4" Type="http://schemas.openxmlformats.org/officeDocument/2006/relationships/image" Target="../media/image81.png"/></Relationships>
</file>

<file path=ppt/slides/_rels/slide1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5.png"/><Relationship Id="rId4" Type="http://schemas.openxmlformats.org/officeDocument/2006/relationships/image" Target="../media/image84.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2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jpeg"/><Relationship Id="rId7" Type="http://schemas.openxmlformats.org/officeDocument/2006/relationships/image" Target="../media/image9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2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375" y="1151762"/>
            <a:ext cx="2060972" cy="267891"/>
          </a:xfrm>
          <a:prstGeom prst="rect">
            <a:avLst/>
          </a:prstGeom>
          <a:solidFill>
            <a:srgbClr val="2563EB"/>
          </a:solidFill>
          <a:ln/>
        </p:spPr>
      </p:sp>
      <p:sp>
        <p:nvSpPr>
          <p:cNvPr id="5" name="Text 1"/>
          <p:cNvSpPr/>
          <p:nvPr/>
        </p:nvSpPr>
        <p:spPr>
          <a:xfrm>
            <a:off x="714375" y="1151762"/>
            <a:ext cx="2060972" cy="267891"/>
          </a:xfrm>
          <a:prstGeom prst="rect">
            <a:avLst/>
          </a:prstGeom>
          <a:noFill/>
          <a:ln/>
        </p:spPr>
        <p:txBody>
          <a:bodyPr wrap="square" lIns="136017" tIns="68072" rIns="136017" bIns="68072" rtlCol="0" anchor="t">
            <a:spAutoFit/>
          </a:bodyPr>
          <a:lstStyle/>
          <a:p>
            <a:pPr marL="0" indent="0" algn="l">
              <a:buNone/>
            </a:pPr>
            <a:r>
              <a:rPr lang="en-US" sz="900" b="1" kern="0" spc="2" dirty="0">
                <a:solidFill>
                  <a:srgbClr val="FFFFFF"/>
                </a:solidFill>
                <a:latin typeface="Pretendard Variable" pitchFamily="34" charset="0"/>
                <a:ea typeface="Pretendard Variable" pitchFamily="34" charset="-122"/>
                <a:cs typeface="Pretendard Variable" pitchFamily="34" charset="-120"/>
              </a:rPr>
              <a:t>AGENTIC WORKFLOW OS</a:t>
            </a:r>
            <a:endParaRPr lang="en-US" sz="900" dirty="0"/>
          </a:p>
        </p:txBody>
      </p:sp>
      <p:sp>
        <p:nvSpPr>
          <p:cNvPr id="6" name="Text 2"/>
          <p:cNvSpPr/>
          <p:nvPr/>
        </p:nvSpPr>
        <p:spPr>
          <a:xfrm>
            <a:off x="714375" y="1705403"/>
            <a:ext cx="2600325" cy="937617"/>
          </a:xfrm>
          <a:prstGeom prst="rect">
            <a:avLst/>
          </a:prstGeom>
          <a:noFill/>
          <a:ln/>
        </p:spPr>
        <p:txBody>
          <a:bodyPr wrap="square" lIns="0" tIns="0" rIns="0" bIns="0" rtlCol="0" anchor="t">
            <a:spAutoFit/>
          </a:bodyPr>
          <a:lstStyle/>
          <a:p>
            <a:pPr marL="0" indent="0" algn="l">
              <a:buNone/>
            </a:pPr>
            <a:r>
              <a:rPr lang="en-US" sz="5700" b="1" kern="0" spc="-3" dirty="0">
                <a:solidFill>
                  <a:srgbClr val="2563EB"/>
                </a:solidFill>
                <a:latin typeface="Pretendard Variable" pitchFamily="34" charset="0"/>
                <a:ea typeface="Pretendard Variable" pitchFamily="34" charset="-122"/>
                <a:cs typeface="Pretendard Variable" pitchFamily="34" charset="-120"/>
              </a:rPr>
              <a:t>외고반장</a:t>
            </a:r>
            <a:endParaRPr lang="en-US" sz="5700" dirty="0"/>
          </a:p>
        </p:txBody>
      </p:sp>
      <p:sp>
        <p:nvSpPr>
          <p:cNvPr id="7" name="Text 3"/>
          <p:cNvSpPr/>
          <p:nvPr/>
        </p:nvSpPr>
        <p:spPr>
          <a:xfrm>
            <a:off x="714375" y="2785895"/>
            <a:ext cx="2687836" cy="720068"/>
          </a:xfrm>
          <a:prstGeom prst="rect">
            <a:avLst/>
          </a:prstGeom>
          <a:noFill/>
          <a:ln/>
        </p:spPr>
        <p:txBody>
          <a:bodyPr wrap="square" lIns="0" tIns="0" rIns="0" bIns="0" rtlCol="0" anchor="t">
            <a:spAutoFit/>
          </a:bodyPr>
          <a:lstStyle/>
          <a:p>
            <a:pPr marL="0" indent="0" algn="l">
              <a:lnSpc>
                <a:spcPct val="112000"/>
              </a:lnSpc>
              <a:buNone/>
            </a:pPr>
            <a:r>
              <a:rPr lang="en-US" sz="1800" b="1" dirty="0">
                <a:solidFill>
                  <a:srgbClr val="94A3B8"/>
                </a:solidFill>
                <a:latin typeface="Pretendard Variable" pitchFamily="34" charset="0"/>
                <a:ea typeface="Pretendard Variable" pitchFamily="34" charset="-122"/>
                <a:cs typeface="Pretendard Variable" pitchFamily="34" charset="-120"/>
              </a:rPr>
              <a:t>외국인 고용 업무,
놓치기 전에 먼저 챙깁니다.</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5775722"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01. 문제 정의: 파편화된 규제와 행정 리스크</a:t>
            </a:r>
            <a:endParaRPr lang="en-US" sz="2450" dirty="0"/>
          </a:p>
        </p:txBody>
      </p:sp>
      <p:sp>
        <p:nvSpPr>
          <p:cNvPr id="5" name="Shape 1"/>
          <p:cNvSpPr/>
          <p:nvPr/>
        </p:nvSpPr>
        <p:spPr>
          <a:xfrm>
            <a:off x="571500" y="1285875"/>
            <a:ext cx="2524116" cy="2384227"/>
          </a:xfrm>
          <a:prstGeom prst="rect">
            <a:avLst/>
          </a:prstGeom>
          <a:solidFill>
            <a:srgbClr val="F8FAFC"/>
          </a:solidFill>
          <a:ln/>
        </p:spPr>
      </p:sp>
      <p:sp>
        <p:nvSpPr>
          <p:cNvPr id="6" name="Shape 2"/>
          <p:cNvSpPr/>
          <p:nvPr/>
        </p:nvSpPr>
        <p:spPr>
          <a:xfrm>
            <a:off x="571500" y="1285875"/>
            <a:ext cx="2524116" cy="42863"/>
          </a:xfrm>
          <a:prstGeom prst="rect">
            <a:avLst/>
          </a:prstGeom>
          <a:solidFill>
            <a:srgbClr val="EF4444"/>
          </a:solidFill>
          <a:ln/>
        </p:spPr>
      </p:sp>
      <p:pic>
        <p:nvPicPr>
          <p:cNvPr id="7" name="Image 1" descr="preencoded.png"/>
          <p:cNvPicPr>
            <a:picLocks noChangeAspect="1"/>
          </p:cNvPicPr>
          <p:nvPr/>
        </p:nvPicPr>
        <p:blipFill>
          <a:blip r:embed="rId4"/>
          <a:stretch>
            <a:fillRect/>
          </a:stretch>
        </p:blipFill>
        <p:spPr>
          <a:xfrm>
            <a:off x="785813" y="1593056"/>
            <a:ext cx="285750" cy="285750"/>
          </a:xfrm>
          <a:prstGeom prst="rect">
            <a:avLst/>
          </a:prstGeom>
        </p:spPr>
      </p:pic>
      <p:sp>
        <p:nvSpPr>
          <p:cNvPr id="8" name="Text 3"/>
          <p:cNvSpPr/>
          <p:nvPr/>
        </p:nvSpPr>
        <p:spPr>
          <a:xfrm>
            <a:off x="785813" y="2084189"/>
            <a:ext cx="2095491"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복잡한 비자 규정</a:t>
            </a:r>
            <a:endParaRPr lang="en-US" sz="1200" dirty="0"/>
          </a:p>
        </p:txBody>
      </p:sp>
      <p:sp>
        <p:nvSpPr>
          <p:cNvPr id="9" name="Text 4"/>
          <p:cNvSpPr/>
          <p:nvPr/>
        </p:nvSpPr>
        <p:spPr>
          <a:xfrm>
            <a:off x="785813" y="2402086"/>
            <a:ext cx="2095491"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수시로 변하는 정책과 비자별 상이한 고용 쿼터로 인해 상시적인 법적 위반 리스크에 노출되어 있습니다.</a:t>
            </a:r>
            <a:endParaRPr lang="en-US" sz="950" dirty="0"/>
          </a:p>
        </p:txBody>
      </p:sp>
      <p:sp>
        <p:nvSpPr>
          <p:cNvPr id="10" name="Shape 5"/>
          <p:cNvSpPr/>
          <p:nvPr/>
        </p:nvSpPr>
        <p:spPr>
          <a:xfrm>
            <a:off x="3309928" y="1285875"/>
            <a:ext cx="2524116" cy="2384227"/>
          </a:xfrm>
          <a:prstGeom prst="rect">
            <a:avLst/>
          </a:prstGeom>
          <a:solidFill>
            <a:srgbClr val="F8FAFC"/>
          </a:solidFill>
          <a:ln/>
        </p:spPr>
      </p:sp>
      <p:sp>
        <p:nvSpPr>
          <p:cNvPr id="11" name="Shape 6"/>
          <p:cNvSpPr/>
          <p:nvPr/>
        </p:nvSpPr>
        <p:spPr>
          <a:xfrm>
            <a:off x="3309928" y="1285875"/>
            <a:ext cx="2524116" cy="42863"/>
          </a:xfrm>
          <a:prstGeom prst="rect">
            <a:avLst/>
          </a:prstGeom>
          <a:solidFill>
            <a:srgbClr val="EF4444"/>
          </a:solidFill>
          <a:ln/>
        </p:spPr>
      </p:sp>
      <p:sp>
        <p:nvSpPr>
          <p:cNvPr id="12" name="Text 7"/>
          <p:cNvSpPr/>
          <p:nvPr/>
        </p:nvSpPr>
        <p:spPr>
          <a:xfrm>
            <a:off x="3524241" y="2084189"/>
            <a:ext cx="2095491"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언어 및 소통 장벽</a:t>
            </a:r>
            <a:endParaRPr lang="en-US" sz="1200" dirty="0"/>
          </a:p>
        </p:txBody>
      </p:sp>
      <p:sp>
        <p:nvSpPr>
          <p:cNvPr id="13" name="Text 8"/>
          <p:cNvSpPr/>
          <p:nvPr/>
        </p:nvSpPr>
        <p:spPr>
          <a:xfrm>
            <a:off x="3524241" y="2402086"/>
            <a:ext cx="2095491"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근로자와의 의사소통 부재로 인해 필수 행정 절차 안내 및 서류 취합 과정에서 심각한 지연이 발생합니다.</a:t>
            </a:r>
            <a:endParaRPr lang="en-US" sz="950" dirty="0"/>
          </a:p>
        </p:txBody>
      </p:sp>
      <p:sp>
        <p:nvSpPr>
          <p:cNvPr id="14" name="Shape 9"/>
          <p:cNvSpPr/>
          <p:nvPr/>
        </p:nvSpPr>
        <p:spPr>
          <a:xfrm>
            <a:off x="6048356" y="1285875"/>
            <a:ext cx="2524144" cy="2384227"/>
          </a:xfrm>
          <a:prstGeom prst="rect">
            <a:avLst/>
          </a:prstGeom>
          <a:solidFill>
            <a:srgbClr val="F8FAFC"/>
          </a:solidFill>
          <a:ln/>
        </p:spPr>
      </p:sp>
      <p:sp>
        <p:nvSpPr>
          <p:cNvPr id="15" name="Shape 10"/>
          <p:cNvSpPr/>
          <p:nvPr/>
        </p:nvSpPr>
        <p:spPr>
          <a:xfrm>
            <a:off x="6048356" y="1285875"/>
            <a:ext cx="2524144" cy="42863"/>
          </a:xfrm>
          <a:prstGeom prst="rect">
            <a:avLst/>
          </a:prstGeom>
          <a:solidFill>
            <a:srgbClr val="EF4444"/>
          </a:solidFill>
          <a:ln/>
        </p:spPr>
      </p:sp>
      <p:sp>
        <p:nvSpPr>
          <p:cNvPr id="16" name="Text 11"/>
          <p:cNvSpPr/>
          <p:nvPr/>
        </p:nvSpPr>
        <p:spPr>
          <a:xfrm>
            <a:off x="6262669" y="2084189"/>
            <a:ext cx="2095519"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서류 누락 리스크</a:t>
            </a:r>
            <a:endParaRPr lang="en-US" sz="1200" dirty="0"/>
          </a:p>
        </p:txBody>
      </p:sp>
      <p:sp>
        <p:nvSpPr>
          <p:cNvPr id="17" name="Text 12"/>
          <p:cNvSpPr/>
          <p:nvPr/>
        </p:nvSpPr>
        <p:spPr>
          <a:xfrm>
            <a:off x="6262669" y="2402086"/>
            <a:ext cx="2095519"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파편화된 서류 관리와 만료일 미체크로 인해 비자 만료, 불법 고용 등 치명적인 행정 사고가 반복됩니다.</a:t>
            </a:r>
            <a:endParaRPr lang="en-US" sz="950" dirty="0"/>
          </a:p>
        </p:txBody>
      </p:sp>
      <p:sp>
        <p:nvSpPr>
          <p:cNvPr id="18" name="Shape 13"/>
          <p:cNvSpPr/>
          <p:nvPr/>
        </p:nvSpPr>
        <p:spPr>
          <a:xfrm>
            <a:off x="571500" y="3955852"/>
            <a:ext cx="8001000" cy="616148"/>
          </a:xfrm>
          <a:prstGeom prst="rect">
            <a:avLst/>
          </a:prstGeom>
          <a:solidFill>
            <a:srgbClr val="0F172A"/>
          </a:solidFill>
          <a:ln/>
        </p:spPr>
      </p:sp>
      <p:sp>
        <p:nvSpPr>
          <p:cNvPr id="19" name="Text 14"/>
          <p:cNvSpPr/>
          <p:nvPr/>
        </p:nvSpPr>
        <p:spPr>
          <a:xfrm>
            <a:off x="571500" y="3955852"/>
            <a:ext cx="8001000" cy="616148"/>
          </a:xfrm>
          <a:prstGeom prst="rect">
            <a:avLst/>
          </a:prstGeom>
          <a:noFill/>
          <a:ln/>
        </p:spPr>
        <p:txBody>
          <a:bodyPr wrap="square" lIns="255143" tIns="255143" rIns="255143" bIns="255143" rtlCol="0" anchor="t">
            <a:spAutoFit/>
          </a:bodyPr>
          <a:lstStyle/>
          <a:p>
            <a:pPr marL="0" indent="0" algn="ctr">
              <a:buNone/>
            </a:pPr>
            <a:r>
              <a:rPr lang="en-US" sz="1100" b="1" dirty="0">
                <a:solidFill>
                  <a:srgbClr val="EF4444"/>
                </a:solidFill>
                <a:latin typeface="Pretendard Variable" pitchFamily="34" charset="0"/>
                <a:ea typeface="Pretendard Variable" pitchFamily="34" charset="-122"/>
                <a:cs typeface="Pretendard Variable" pitchFamily="34" charset="-120"/>
              </a:rPr>
              <a:t>현장의 비효율과 사고 위험은 단순한 실수가 아닌, 시스템의 부재에서 기인합니다.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6215063"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12. 시장 및 수요 분석: 현장의 실질적 고충 해결</a:t>
            </a:r>
            <a:endParaRPr lang="en-US" sz="2450" dirty="0"/>
          </a:p>
        </p:txBody>
      </p:sp>
      <p:sp>
        <p:nvSpPr>
          <p:cNvPr id="5" name="Text 1"/>
          <p:cNvSpPr/>
          <p:nvPr/>
        </p:nvSpPr>
        <p:spPr>
          <a:xfrm>
            <a:off x="657225" y="1143000"/>
            <a:ext cx="1714500" cy="203597"/>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현장 수요 (Pain Points)</a:t>
            </a:r>
            <a:endParaRPr lang="en-US" sz="1200" dirty="0"/>
          </a:p>
        </p:txBody>
      </p:sp>
      <p:pic>
        <p:nvPicPr>
          <p:cNvPr id="6" name="Image 1" descr="preencoded.png"/>
          <p:cNvPicPr>
            <a:picLocks noChangeAspect="1"/>
          </p:cNvPicPr>
          <p:nvPr/>
        </p:nvPicPr>
        <p:blipFill>
          <a:blip r:embed="rId4"/>
          <a:stretch>
            <a:fillRect/>
          </a:stretch>
        </p:blipFill>
        <p:spPr>
          <a:xfrm>
            <a:off x="571500" y="1503759"/>
            <a:ext cx="142875" cy="185738"/>
          </a:xfrm>
          <a:prstGeom prst="rect">
            <a:avLst/>
          </a:prstGeom>
        </p:spPr>
      </p:pic>
      <p:sp>
        <p:nvSpPr>
          <p:cNvPr id="7" name="Text 2"/>
          <p:cNvSpPr/>
          <p:nvPr/>
        </p:nvSpPr>
        <p:spPr>
          <a:xfrm>
            <a:off x="800100" y="1475184"/>
            <a:ext cx="2384227"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비자 만료/서류 누락 등 행정 사고 예방 수요</a:t>
            </a:r>
            <a:endParaRPr lang="en-US" sz="1000" dirty="0"/>
          </a:p>
        </p:txBody>
      </p:sp>
      <p:pic>
        <p:nvPicPr>
          <p:cNvPr id="8" name="Image 2" descr="preencoded.png"/>
          <p:cNvPicPr>
            <a:picLocks noChangeAspect="1"/>
          </p:cNvPicPr>
          <p:nvPr/>
        </p:nvPicPr>
        <p:blipFill>
          <a:blip r:embed="rId4"/>
          <a:stretch>
            <a:fillRect/>
          </a:stretch>
        </p:blipFill>
        <p:spPr>
          <a:xfrm>
            <a:off x="571500" y="1803797"/>
            <a:ext cx="142875" cy="185738"/>
          </a:xfrm>
          <a:prstGeom prst="rect">
            <a:avLst/>
          </a:prstGeom>
        </p:spPr>
      </p:pic>
      <p:sp>
        <p:nvSpPr>
          <p:cNvPr id="9" name="Text 3"/>
          <p:cNvSpPr/>
          <p:nvPr/>
        </p:nvSpPr>
        <p:spPr>
          <a:xfrm>
            <a:off x="800100" y="1775222"/>
            <a:ext cx="2332434"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복잡한 쿼터 계산 및 채용 절차 자동화 니즈</a:t>
            </a:r>
            <a:endParaRPr lang="en-US" sz="1000" dirty="0"/>
          </a:p>
        </p:txBody>
      </p:sp>
      <p:pic>
        <p:nvPicPr>
          <p:cNvPr id="10" name="Image 3" descr="preencoded.png"/>
          <p:cNvPicPr>
            <a:picLocks noChangeAspect="1"/>
          </p:cNvPicPr>
          <p:nvPr/>
        </p:nvPicPr>
        <p:blipFill>
          <a:blip r:embed="rId4"/>
          <a:stretch>
            <a:fillRect/>
          </a:stretch>
        </p:blipFill>
        <p:spPr>
          <a:xfrm>
            <a:off x="571500" y="2103834"/>
            <a:ext cx="142875" cy="185738"/>
          </a:xfrm>
          <a:prstGeom prst="rect">
            <a:avLst/>
          </a:prstGeom>
        </p:spPr>
      </p:pic>
      <p:sp>
        <p:nvSpPr>
          <p:cNvPr id="11" name="Text 4"/>
          <p:cNvSpPr/>
          <p:nvPr/>
        </p:nvSpPr>
        <p:spPr>
          <a:xfrm>
            <a:off x="800100" y="2075259"/>
            <a:ext cx="2544961"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외국인 근로자와의 다국어 소통 및 온보딩 관리</a:t>
            </a:r>
            <a:endParaRPr lang="en-US" sz="1000" dirty="0"/>
          </a:p>
        </p:txBody>
      </p:sp>
      <p:pic>
        <p:nvPicPr>
          <p:cNvPr id="12" name="Image 4" descr="preencoded.png"/>
          <p:cNvPicPr>
            <a:picLocks noChangeAspect="1"/>
          </p:cNvPicPr>
          <p:nvPr/>
        </p:nvPicPr>
        <p:blipFill>
          <a:blip r:embed="rId4"/>
          <a:stretch>
            <a:fillRect/>
          </a:stretch>
        </p:blipFill>
        <p:spPr>
          <a:xfrm>
            <a:off x="571500" y="2403872"/>
            <a:ext cx="142875" cy="185738"/>
          </a:xfrm>
          <a:prstGeom prst="rect">
            <a:avLst/>
          </a:prstGeom>
        </p:spPr>
      </p:pic>
      <p:sp>
        <p:nvSpPr>
          <p:cNvPr id="13" name="Text 5"/>
          <p:cNvSpPr/>
          <p:nvPr/>
        </p:nvSpPr>
        <p:spPr>
          <a:xfrm>
            <a:off x="800100" y="2375297"/>
            <a:ext cx="2544961"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행정사 업무 효율화를 위한 데이터 패키징 요구</a:t>
            </a:r>
            <a:endParaRPr lang="en-US" sz="1000" dirty="0"/>
          </a:p>
        </p:txBody>
      </p:sp>
      <p:sp>
        <p:nvSpPr>
          <p:cNvPr id="14" name="Shape 6"/>
          <p:cNvSpPr/>
          <p:nvPr/>
        </p:nvSpPr>
        <p:spPr>
          <a:xfrm>
            <a:off x="4700588" y="1143000"/>
            <a:ext cx="3871913" cy="2116336"/>
          </a:xfrm>
          <a:prstGeom prst="rect">
            <a:avLst/>
          </a:prstGeom>
          <a:solidFill>
            <a:srgbClr val="0F172A"/>
          </a:solidFill>
          <a:ln/>
        </p:spPr>
      </p:sp>
      <p:pic>
        <p:nvPicPr>
          <p:cNvPr id="15" name="Image 5" descr="preencoded.png"/>
          <p:cNvPicPr>
            <a:picLocks noChangeAspect="1"/>
          </p:cNvPicPr>
          <p:nvPr/>
        </p:nvPicPr>
        <p:blipFill>
          <a:blip r:embed="rId5"/>
          <a:stretch>
            <a:fillRect/>
          </a:stretch>
        </p:blipFill>
        <p:spPr>
          <a:xfrm>
            <a:off x="4786313" y="1244798"/>
            <a:ext cx="171450" cy="171450"/>
          </a:xfrm>
          <a:prstGeom prst="rect">
            <a:avLst/>
          </a:prstGeom>
        </p:spPr>
      </p:pic>
      <p:sp>
        <p:nvSpPr>
          <p:cNvPr id="16" name="Text 7"/>
          <p:cNvSpPr/>
          <p:nvPr/>
        </p:nvSpPr>
        <p:spPr>
          <a:xfrm>
            <a:off x="5043488" y="1228725"/>
            <a:ext cx="1409105" cy="203597"/>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Pretendard Variable" pitchFamily="34" charset="0"/>
                <a:ea typeface="Pretendard Variable" pitchFamily="34" charset="-122"/>
                <a:cs typeface="Pretendard Variable" pitchFamily="34" charset="-120"/>
              </a:rPr>
              <a:t>비즈니스 모델 방향성</a:t>
            </a:r>
            <a:endParaRPr lang="en-US" sz="1200" dirty="0"/>
          </a:p>
        </p:txBody>
      </p:sp>
      <p:sp>
        <p:nvSpPr>
          <p:cNvPr id="17" name="Text 8"/>
          <p:cNvSpPr/>
          <p:nvPr/>
        </p:nvSpPr>
        <p:spPr>
          <a:xfrm>
            <a:off x="4786313" y="1560909"/>
            <a:ext cx="3700463" cy="187523"/>
          </a:xfrm>
          <a:prstGeom prst="rect">
            <a:avLst/>
          </a:prstGeom>
          <a:noFill/>
          <a:ln/>
        </p:spPr>
        <p:txBody>
          <a:bodyPr wrap="square" lIns="0" tIns="0" rIns="0" bIns="0" rtlCol="0" anchor="t">
            <a:spAutoFit/>
          </a:bodyPr>
          <a:lstStyle/>
          <a:p>
            <a:pPr marL="0" indent="0" algn="l">
              <a:buNone/>
            </a:pPr>
            <a:r>
              <a:rPr lang="en-US" sz="1100" b="1" dirty="0">
                <a:solidFill>
                  <a:srgbClr val="2563EB"/>
                </a:solidFill>
                <a:latin typeface="Pretendard Variable" pitchFamily="34" charset="0"/>
                <a:ea typeface="Pretendard Variable" pitchFamily="34" charset="-122"/>
                <a:cs typeface="Pretendard Variable" pitchFamily="34" charset="-120"/>
              </a:rPr>
              <a:t>White-labeling</a:t>
            </a:r>
            <a:endParaRPr lang="en-US" sz="1100" dirty="0"/>
          </a:p>
        </p:txBody>
      </p:sp>
      <p:sp>
        <p:nvSpPr>
          <p:cNvPr id="18" name="Text 9"/>
          <p:cNvSpPr/>
          <p:nvPr/>
        </p:nvSpPr>
        <p:spPr>
          <a:xfrm>
            <a:off x="4786313" y="1805583"/>
            <a:ext cx="37004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94A3B8"/>
                </a:solidFill>
                <a:latin typeface="Pretendard Variable" pitchFamily="34" charset="0"/>
                <a:ea typeface="Pretendard Variable" pitchFamily="34" charset="-122"/>
                <a:cs typeface="Pretendard Variable" pitchFamily="34" charset="-120"/>
              </a:rPr>
              <a:t>행정사/노무사 사무소 대상의 전문 업무 툴 제공</a:t>
            </a:r>
            <a:endParaRPr lang="en-US" sz="950" dirty="0"/>
          </a:p>
        </p:txBody>
      </p:sp>
      <p:sp>
        <p:nvSpPr>
          <p:cNvPr id="19" name="Text 10"/>
          <p:cNvSpPr/>
          <p:nvPr/>
        </p:nvSpPr>
        <p:spPr>
          <a:xfrm>
            <a:off x="4786313" y="2148483"/>
            <a:ext cx="3700463" cy="187523"/>
          </a:xfrm>
          <a:prstGeom prst="rect">
            <a:avLst/>
          </a:prstGeom>
          <a:noFill/>
          <a:ln/>
        </p:spPr>
        <p:txBody>
          <a:bodyPr wrap="square" lIns="0" tIns="0" rIns="0" bIns="0" rtlCol="0" anchor="t">
            <a:spAutoFit/>
          </a:bodyPr>
          <a:lstStyle/>
          <a:p>
            <a:pPr marL="0" indent="0" algn="l">
              <a:buNone/>
            </a:pPr>
            <a:r>
              <a:rPr lang="en-US" sz="1100" b="1" dirty="0">
                <a:solidFill>
                  <a:srgbClr val="2563EB"/>
                </a:solidFill>
                <a:latin typeface="Pretendard Variable" pitchFamily="34" charset="0"/>
                <a:ea typeface="Pretendard Variable" pitchFamily="34" charset="-122"/>
                <a:cs typeface="Pretendard Variable" pitchFamily="34" charset="-120"/>
              </a:rPr>
              <a:t>Usage-based</a:t>
            </a:r>
            <a:endParaRPr lang="en-US" sz="1100" dirty="0"/>
          </a:p>
        </p:txBody>
      </p:sp>
      <p:sp>
        <p:nvSpPr>
          <p:cNvPr id="20" name="Text 11"/>
          <p:cNvSpPr/>
          <p:nvPr/>
        </p:nvSpPr>
        <p:spPr>
          <a:xfrm>
            <a:off x="4786313" y="2393156"/>
            <a:ext cx="37004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94A3B8"/>
                </a:solidFill>
                <a:latin typeface="Pretendard Variable" pitchFamily="34" charset="0"/>
                <a:ea typeface="Pretendard Variable" pitchFamily="34" charset="-122"/>
                <a:cs typeface="Pretendard Variable" pitchFamily="34" charset="-120"/>
              </a:rPr>
              <a:t>채용 및 비자 케이스별 성공 기반 과금 모델</a:t>
            </a:r>
            <a:endParaRPr lang="en-US" sz="950" dirty="0"/>
          </a:p>
        </p:txBody>
      </p:sp>
      <p:sp>
        <p:nvSpPr>
          <p:cNvPr id="21" name="Text 12"/>
          <p:cNvSpPr/>
          <p:nvPr/>
        </p:nvSpPr>
        <p:spPr>
          <a:xfrm>
            <a:off x="4786313" y="2736056"/>
            <a:ext cx="3700463" cy="187523"/>
          </a:xfrm>
          <a:prstGeom prst="rect">
            <a:avLst/>
          </a:prstGeom>
          <a:noFill/>
          <a:ln/>
        </p:spPr>
        <p:txBody>
          <a:bodyPr wrap="square" lIns="0" tIns="0" rIns="0" bIns="0" rtlCol="0" anchor="t">
            <a:spAutoFit/>
          </a:bodyPr>
          <a:lstStyle/>
          <a:p>
            <a:pPr marL="0" indent="0" algn="l">
              <a:buNone/>
            </a:pPr>
            <a:r>
              <a:rPr lang="en-US" sz="1100" b="1" dirty="0">
                <a:solidFill>
                  <a:srgbClr val="2563EB"/>
                </a:solidFill>
                <a:latin typeface="Pretendard Variable" pitchFamily="34" charset="0"/>
                <a:ea typeface="Pretendard Variable" pitchFamily="34" charset="-122"/>
                <a:cs typeface="Pretendard Variable" pitchFamily="34" charset="-120"/>
              </a:rPr>
              <a:t>B2B SaaS</a:t>
            </a:r>
            <a:endParaRPr lang="en-US" sz="1100" dirty="0"/>
          </a:p>
        </p:txBody>
      </p:sp>
      <p:sp>
        <p:nvSpPr>
          <p:cNvPr id="22" name="Text 13"/>
          <p:cNvSpPr/>
          <p:nvPr/>
        </p:nvSpPr>
        <p:spPr>
          <a:xfrm>
            <a:off x="4786313" y="2980730"/>
            <a:ext cx="37004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94A3B8"/>
                </a:solidFill>
                <a:latin typeface="Pretendard Variable" pitchFamily="34" charset="0"/>
                <a:ea typeface="Pretendard Variable" pitchFamily="34" charset="-122"/>
                <a:cs typeface="Pretendard Variable" pitchFamily="34" charset="-120"/>
              </a:rPr>
              <a:t>대규모 외국인 인력 활용 기업 대상 정기 구독</a:t>
            </a:r>
            <a:endParaRPr lang="en-US" sz="950" dirty="0"/>
          </a:p>
        </p:txBody>
      </p:sp>
      <p:sp>
        <p:nvSpPr>
          <p:cNvPr id="23" name="Shape 14"/>
          <p:cNvSpPr/>
          <p:nvPr/>
        </p:nvSpPr>
        <p:spPr>
          <a:xfrm>
            <a:off x="571500" y="4630936"/>
            <a:ext cx="8001000" cy="398264"/>
          </a:xfrm>
          <a:prstGeom prst="rect">
            <a:avLst/>
          </a:prstGeom>
          <a:solidFill>
            <a:srgbClr val="F1F5F9"/>
          </a:solidFill>
          <a:ln/>
        </p:spPr>
      </p:sp>
      <p:sp>
        <p:nvSpPr>
          <p:cNvPr id="24" name="Text 15"/>
          <p:cNvSpPr/>
          <p:nvPr/>
        </p:nvSpPr>
        <p:spPr>
          <a:xfrm>
            <a:off x="571500" y="4630936"/>
            <a:ext cx="8001000" cy="398264"/>
          </a:xfrm>
          <a:prstGeom prst="rect">
            <a:avLst/>
          </a:prstGeom>
          <a:noFill/>
          <a:ln/>
        </p:spPr>
        <p:txBody>
          <a:bodyPr wrap="square" lIns="136017" tIns="136017" rIns="136017" bIns="136017" rtlCol="0" anchor="t">
            <a:spAutoFit/>
          </a:bodyPr>
          <a:lstStyle/>
          <a:p>
            <a:pPr marL="0" indent="0" algn="ctr">
              <a:buNone/>
            </a:pPr>
            <a:r>
              <a:rPr lang="en-US" sz="1000" b="1" dirty="0">
                <a:solidFill>
                  <a:srgbClr val="0F172A"/>
                </a:solidFill>
                <a:latin typeface="Pretendard Variable" pitchFamily="34" charset="0"/>
                <a:ea typeface="Pretendard Variable" pitchFamily="34" charset="-122"/>
                <a:cs typeface="Pretendard Variable" pitchFamily="34" charset="-120"/>
              </a:rPr>
              <a:t>"외고반장은 단순 도구를 넘어 외국인 고용 생태계의 표준 운영 체제를 지향합니다."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279231"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13. 사용자 시나리오: 자연어 기반 업무 통합</a:t>
            </a:r>
            <a:endParaRPr lang="en-US" sz="2250" dirty="0"/>
          </a:p>
        </p:txBody>
      </p:sp>
      <p:sp>
        <p:nvSpPr>
          <p:cNvPr id="5" name="Shape 1"/>
          <p:cNvSpPr/>
          <p:nvPr/>
        </p:nvSpPr>
        <p:spPr>
          <a:xfrm>
            <a:off x="571500" y="1000125"/>
            <a:ext cx="8001000" cy="762595"/>
          </a:xfrm>
          <a:prstGeom prst="rect">
            <a:avLst/>
          </a:prstGeom>
          <a:solidFill>
            <a:srgbClr val="F1F5F9"/>
          </a:solidFill>
          <a:ln/>
        </p:spPr>
      </p:sp>
      <p:sp>
        <p:nvSpPr>
          <p:cNvPr id="6" name="Shape 2"/>
          <p:cNvSpPr/>
          <p:nvPr/>
        </p:nvSpPr>
        <p:spPr>
          <a:xfrm>
            <a:off x="571500" y="1000125"/>
            <a:ext cx="57150" cy="762595"/>
          </a:xfrm>
          <a:prstGeom prst="rect">
            <a:avLst/>
          </a:prstGeom>
          <a:solidFill>
            <a:srgbClr val="2563EB"/>
          </a:solidFill>
          <a:ln/>
        </p:spPr>
      </p:sp>
      <p:sp>
        <p:nvSpPr>
          <p:cNvPr id="7" name="Text 3"/>
          <p:cNvSpPr/>
          <p:nvPr/>
        </p:nvSpPr>
        <p:spPr>
          <a:xfrm>
            <a:off x="742950" y="1171575"/>
            <a:ext cx="7658100" cy="119658"/>
          </a:xfrm>
          <a:prstGeom prst="rect">
            <a:avLst/>
          </a:prstGeom>
          <a:noFill/>
          <a:ln/>
        </p:spPr>
        <p:txBody>
          <a:bodyPr wrap="square" lIns="0" tIns="0" rIns="0" bIns="0"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USER REQUEST</a:t>
            </a:r>
            <a:endParaRPr lang="en-US" sz="700" dirty="0"/>
          </a:p>
        </p:txBody>
      </p:sp>
      <p:sp>
        <p:nvSpPr>
          <p:cNvPr id="8" name="Text 4"/>
          <p:cNvSpPr/>
          <p:nvPr/>
        </p:nvSpPr>
        <p:spPr>
          <a:xfrm>
            <a:off x="742950" y="1376958"/>
            <a:ext cx="7658100"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F172A"/>
                </a:solidFill>
                <a:latin typeface="Pretendard Variable" pitchFamily="34" charset="0"/>
                <a:ea typeface="Pretendard Variable" pitchFamily="34" charset="-122"/>
                <a:cs typeface="Pretendard Variable" pitchFamily="34" charset="-120"/>
              </a:rPr>
              <a:t>“베트남 E-9 근로자 3명 추가 채용 준비해줘. Nguyen 체류만료도 확인해줘.”</a:t>
            </a:r>
            <a:endParaRPr lang="en-US" sz="1000" dirty="0"/>
          </a:p>
        </p:txBody>
      </p:sp>
      <p:sp>
        <p:nvSpPr>
          <p:cNvPr id="9" name="Shape 5"/>
          <p:cNvSpPr/>
          <p:nvPr/>
        </p:nvSpPr>
        <p:spPr>
          <a:xfrm>
            <a:off x="571500" y="2048470"/>
            <a:ext cx="3857625" cy="2369939"/>
          </a:xfrm>
          <a:prstGeom prst="rect">
            <a:avLst/>
          </a:prstGeom>
          <a:solidFill>
            <a:srgbClr val="F8FAFC"/>
          </a:solidFill>
          <a:ln w="9144">
            <a:solidFill>
              <a:srgbClr val="E2E8F0"/>
            </a:solidFill>
            <a:prstDash val="solid"/>
          </a:ln>
        </p:spPr>
      </p:sp>
      <p:pic>
        <p:nvPicPr>
          <p:cNvPr id="10" name="Image 1" descr="preencoded.png"/>
          <p:cNvPicPr>
            <a:picLocks noChangeAspect="1"/>
          </p:cNvPicPr>
          <p:nvPr/>
        </p:nvPicPr>
        <p:blipFill>
          <a:blip r:embed="rId4"/>
          <a:stretch>
            <a:fillRect/>
          </a:stretch>
        </p:blipFill>
        <p:spPr>
          <a:xfrm>
            <a:off x="742950" y="2235101"/>
            <a:ext cx="157163" cy="157163"/>
          </a:xfrm>
          <a:prstGeom prst="rect">
            <a:avLst/>
          </a:prstGeom>
        </p:spPr>
      </p:pic>
      <p:sp>
        <p:nvSpPr>
          <p:cNvPr id="11" name="Text 6"/>
          <p:cNvSpPr/>
          <p:nvPr/>
        </p:nvSpPr>
        <p:spPr>
          <a:xfrm>
            <a:off x="985838" y="2219920"/>
            <a:ext cx="1655564" cy="187523"/>
          </a:xfrm>
          <a:prstGeom prst="rect">
            <a:avLst/>
          </a:prstGeom>
          <a:noFill/>
          <a:ln/>
        </p:spPr>
        <p:txBody>
          <a:bodyPr wrap="square" lIns="0" tIns="0" rIns="0" bIns="0" rtlCol="0" anchor="t">
            <a:spAutoFit/>
          </a:bodyPr>
          <a:lstStyle/>
          <a:p>
            <a:pPr marL="0" indent="0" algn="l">
              <a:buNone/>
            </a:pPr>
            <a:r>
              <a:rPr lang="en-US" sz="1100" b="1" dirty="0">
                <a:solidFill>
                  <a:srgbClr val="64748B"/>
                </a:solidFill>
                <a:latin typeface="Pretendard Variable" pitchFamily="34" charset="0"/>
                <a:ea typeface="Pretendard Variable" pitchFamily="34" charset="-122"/>
                <a:cs typeface="Pretendard Variable" pitchFamily="34" charset="-120"/>
              </a:rPr>
              <a:t>기존 방식 (Fragmented)</a:t>
            </a:r>
            <a:endParaRPr lang="en-US" sz="1100" dirty="0"/>
          </a:p>
        </p:txBody>
      </p:sp>
      <p:pic>
        <p:nvPicPr>
          <p:cNvPr id="12" name="Image 2" descr="preencoded.png"/>
          <p:cNvPicPr>
            <a:picLocks noChangeAspect="1"/>
          </p:cNvPicPr>
          <p:nvPr/>
        </p:nvPicPr>
        <p:blipFill>
          <a:blip r:embed="rId5"/>
          <a:stretch>
            <a:fillRect/>
          </a:stretch>
        </p:blipFill>
        <p:spPr>
          <a:xfrm>
            <a:off x="742950" y="2578894"/>
            <a:ext cx="100013" cy="142875"/>
          </a:xfrm>
          <a:prstGeom prst="rect">
            <a:avLst/>
          </a:prstGeom>
        </p:spPr>
      </p:pic>
      <p:sp>
        <p:nvSpPr>
          <p:cNvPr id="13" name="Text 7"/>
          <p:cNvSpPr/>
          <p:nvPr/>
        </p:nvSpPr>
        <p:spPr>
          <a:xfrm>
            <a:off x="928688" y="2550319"/>
            <a:ext cx="203775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담당자가 직접 법령 사이트에서 채용 쿼터 확인</a:t>
            </a:r>
            <a:endParaRPr lang="en-US" sz="850" dirty="0"/>
          </a:p>
        </p:txBody>
      </p:sp>
      <p:pic>
        <p:nvPicPr>
          <p:cNvPr id="14" name="Image 3" descr="preencoded.png"/>
          <p:cNvPicPr>
            <a:picLocks noChangeAspect="1"/>
          </p:cNvPicPr>
          <p:nvPr/>
        </p:nvPicPr>
        <p:blipFill>
          <a:blip r:embed="rId5"/>
          <a:stretch>
            <a:fillRect/>
          </a:stretch>
        </p:blipFill>
        <p:spPr>
          <a:xfrm>
            <a:off x="742950" y="2864644"/>
            <a:ext cx="100013" cy="142875"/>
          </a:xfrm>
          <a:prstGeom prst="rect">
            <a:avLst/>
          </a:prstGeom>
        </p:spPr>
      </p:pic>
      <p:sp>
        <p:nvSpPr>
          <p:cNvPr id="15" name="Text 8"/>
          <p:cNvSpPr/>
          <p:nvPr/>
        </p:nvSpPr>
        <p:spPr>
          <a:xfrm>
            <a:off x="928688" y="2836069"/>
            <a:ext cx="226635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엑셀 파일 열어서 Nguyen의 비자 만료일 수동 체크</a:t>
            </a:r>
            <a:endParaRPr lang="en-US" sz="850" dirty="0"/>
          </a:p>
        </p:txBody>
      </p:sp>
      <p:pic>
        <p:nvPicPr>
          <p:cNvPr id="16" name="Image 4" descr="preencoded.png"/>
          <p:cNvPicPr>
            <a:picLocks noChangeAspect="1"/>
          </p:cNvPicPr>
          <p:nvPr/>
        </p:nvPicPr>
        <p:blipFill>
          <a:blip r:embed="rId5"/>
          <a:stretch>
            <a:fillRect/>
          </a:stretch>
        </p:blipFill>
        <p:spPr>
          <a:xfrm>
            <a:off x="742950" y="3150394"/>
            <a:ext cx="100013" cy="142875"/>
          </a:xfrm>
          <a:prstGeom prst="rect">
            <a:avLst/>
          </a:prstGeom>
        </p:spPr>
      </p:pic>
      <p:sp>
        <p:nvSpPr>
          <p:cNvPr id="17" name="Text 9"/>
          <p:cNvSpPr/>
          <p:nvPr/>
        </p:nvSpPr>
        <p:spPr>
          <a:xfrm>
            <a:off x="928688" y="3121819"/>
            <a:ext cx="2291358"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행정사에게 메일로 서류 누락 여부 질의 및 회신 대기</a:t>
            </a:r>
            <a:endParaRPr lang="en-US" sz="850" dirty="0"/>
          </a:p>
        </p:txBody>
      </p:sp>
      <p:pic>
        <p:nvPicPr>
          <p:cNvPr id="18" name="Image 5" descr="preencoded.png"/>
          <p:cNvPicPr>
            <a:picLocks noChangeAspect="1"/>
          </p:cNvPicPr>
          <p:nvPr/>
        </p:nvPicPr>
        <p:blipFill>
          <a:blip r:embed="rId5"/>
          <a:stretch>
            <a:fillRect/>
          </a:stretch>
        </p:blipFill>
        <p:spPr>
          <a:xfrm>
            <a:off x="742950" y="3436144"/>
            <a:ext cx="100013" cy="142875"/>
          </a:xfrm>
          <a:prstGeom prst="rect">
            <a:avLst/>
          </a:prstGeom>
        </p:spPr>
      </p:pic>
      <p:sp>
        <p:nvSpPr>
          <p:cNvPr id="19" name="Text 10"/>
          <p:cNvSpPr/>
          <p:nvPr/>
        </p:nvSpPr>
        <p:spPr>
          <a:xfrm>
            <a:off x="928688" y="3407569"/>
            <a:ext cx="2514600"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파편화된 정보를 취합하여 최종 의사결정 (오류 가능성↑)</a:t>
            </a:r>
            <a:endParaRPr lang="en-US" sz="850" dirty="0"/>
          </a:p>
        </p:txBody>
      </p:sp>
      <p:sp>
        <p:nvSpPr>
          <p:cNvPr id="20" name="Shape 11"/>
          <p:cNvSpPr/>
          <p:nvPr/>
        </p:nvSpPr>
        <p:spPr>
          <a:xfrm>
            <a:off x="4714875" y="2048470"/>
            <a:ext cx="3857625" cy="2369939"/>
          </a:xfrm>
          <a:prstGeom prst="rect">
            <a:avLst/>
          </a:prstGeom>
          <a:solidFill>
            <a:srgbClr val="EFF6FF"/>
          </a:solidFill>
          <a:ln w="9144">
            <a:solidFill>
              <a:srgbClr val="DBEAFE"/>
            </a:solidFill>
            <a:prstDash val="solid"/>
          </a:ln>
        </p:spPr>
      </p:sp>
      <p:pic>
        <p:nvPicPr>
          <p:cNvPr id="21" name="Image 6" descr="preencoded.png"/>
          <p:cNvPicPr>
            <a:picLocks noChangeAspect="1"/>
          </p:cNvPicPr>
          <p:nvPr/>
        </p:nvPicPr>
        <p:blipFill>
          <a:blip r:embed="rId6"/>
          <a:stretch>
            <a:fillRect/>
          </a:stretch>
        </p:blipFill>
        <p:spPr>
          <a:xfrm>
            <a:off x="4886325" y="2235101"/>
            <a:ext cx="157163" cy="157163"/>
          </a:xfrm>
          <a:prstGeom prst="rect">
            <a:avLst/>
          </a:prstGeom>
        </p:spPr>
      </p:pic>
      <p:sp>
        <p:nvSpPr>
          <p:cNvPr id="22" name="Text 12"/>
          <p:cNvSpPr/>
          <p:nvPr/>
        </p:nvSpPr>
        <p:spPr>
          <a:xfrm>
            <a:off x="5129213" y="2219920"/>
            <a:ext cx="1557338" cy="187523"/>
          </a:xfrm>
          <a:prstGeom prst="rect">
            <a:avLst/>
          </a:prstGeom>
          <a:noFill/>
          <a:ln/>
        </p:spPr>
        <p:txBody>
          <a:bodyPr wrap="square" lIns="0" tIns="0" rIns="0" bIns="0" rtlCol="0" anchor="t">
            <a:spAutoFit/>
          </a:bodyPr>
          <a:lstStyle/>
          <a:p>
            <a:pPr marL="0" indent="0" algn="l">
              <a:buNone/>
            </a:pPr>
            <a:r>
              <a:rPr lang="en-US" sz="1100" b="1" dirty="0">
                <a:solidFill>
                  <a:srgbClr val="2563EB"/>
                </a:solidFill>
                <a:latin typeface="Pretendard Variable" pitchFamily="34" charset="0"/>
                <a:ea typeface="Pretendard Variable" pitchFamily="34" charset="-122"/>
                <a:cs typeface="Pretendard Variable" pitchFamily="34" charset="-120"/>
              </a:rPr>
              <a:t>외고반장 방식 (Unified)</a:t>
            </a:r>
            <a:endParaRPr lang="en-US" sz="1100" dirty="0"/>
          </a:p>
        </p:txBody>
      </p:sp>
      <p:pic>
        <p:nvPicPr>
          <p:cNvPr id="23" name="Image 7" descr="preencoded.png"/>
          <p:cNvPicPr>
            <a:picLocks noChangeAspect="1"/>
          </p:cNvPicPr>
          <p:nvPr/>
        </p:nvPicPr>
        <p:blipFill>
          <a:blip r:embed="rId7"/>
          <a:stretch>
            <a:fillRect/>
          </a:stretch>
        </p:blipFill>
        <p:spPr>
          <a:xfrm>
            <a:off x="4886325" y="2578894"/>
            <a:ext cx="100013" cy="142875"/>
          </a:xfrm>
          <a:prstGeom prst="rect">
            <a:avLst/>
          </a:prstGeom>
        </p:spPr>
      </p:pic>
      <p:sp>
        <p:nvSpPr>
          <p:cNvPr id="24" name="Text 13"/>
          <p:cNvSpPr/>
          <p:nvPr/>
        </p:nvSpPr>
        <p:spPr>
          <a:xfrm>
            <a:off x="5072063" y="2550319"/>
            <a:ext cx="2214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Intent Router가 채용/비자 확인 의도를 즉시 분류</a:t>
            </a:r>
            <a:endParaRPr lang="en-US" sz="850" dirty="0"/>
          </a:p>
        </p:txBody>
      </p:sp>
      <p:pic>
        <p:nvPicPr>
          <p:cNvPr id="25" name="Image 8" descr="preencoded.png"/>
          <p:cNvPicPr>
            <a:picLocks noChangeAspect="1"/>
          </p:cNvPicPr>
          <p:nvPr/>
        </p:nvPicPr>
        <p:blipFill>
          <a:blip r:embed="rId7"/>
          <a:stretch>
            <a:fillRect/>
          </a:stretch>
        </p:blipFill>
        <p:spPr>
          <a:xfrm>
            <a:off x="4886325" y="2864644"/>
            <a:ext cx="100013" cy="142875"/>
          </a:xfrm>
          <a:prstGeom prst="rect">
            <a:avLst/>
          </a:prstGeom>
        </p:spPr>
      </p:pic>
      <p:sp>
        <p:nvSpPr>
          <p:cNvPr id="26" name="Text 14"/>
          <p:cNvSpPr/>
          <p:nvPr/>
        </p:nvSpPr>
        <p:spPr>
          <a:xfrm>
            <a:off x="5072063" y="2836069"/>
            <a:ext cx="2162770"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RAG가 최신 쿼터와 Nguyen의 상태를 동시 분석</a:t>
            </a:r>
            <a:endParaRPr lang="en-US" sz="850" dirty="0"/>
          </a:p>
        </p:txBody>
      </p:sp>
      <p:pic>
        <p:nvPicPr>
          <p:cNvPr id="27" name="Image 9" descr="preencoded.png"/>
          <p:cNvPicPr>
            <a:picLocks noChangeAspect="1"/>
          </p:cNvPicPr>
          <p:nvPr/>
        </p:nvPicPr>
        <p:blipFill>
          <a:blip r:embed="rId7"/>
          <a:stretch>
            <a:fillRect/>
          </a:stretch>
        </p:blipFill>
        <p:spPr>
          <a:xfrm>
            <a:off x="4886325" y="3150394"/>
            <a:ext cx="100013" cy="142875"/>
          </a:xfrm>
          <a:prstGeom prst="rect">
            <a:avLst/>
          </a:prstGeom>
        </p:spPr>
      </p:pic>
      <p:sp>
        <p:nvSpPr>
          <p:cNvPr id="28" name="Text 15"/>
          <p:cNvSpPr/>
          <p:nvPr/>
        </p:nvSpPr>
        <p:spPr>
          <a:xfrm>
            <a:off x="5072063" y="3121819"/>
            <a:ext cx="231993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실행 계획 수립: 쿼터 계산서 + 비자 갱신 패키지 생성</a:t>
            </a:r>
            <a:endParaRPr lang="en-US" sz="850" dirty="0"/>
          </a:p>
        </p:txBody>
      </p:sp>
      <p:pic>
        <p:nvPicPr>
          <p:cNvPr id="29" name="Image 10" descr="preencoded.png"/>
          <p:cNvPicPr>
            <a:picLocks noChangeAspect="1"/>
          </p:cNvPicPr>
          <p:nvPr/>
        </p:nvPicPr>
        <p:blipFill>
          <a:blip r:embed="rId7"/>
          <a:stretch>
            <a:fillRect/>
          </a:stretch>
        </p:blipFill>
        <p:spPr>
          <a:xfrm>
            <a:off x="4886325" y="3436144"/>
            <a:ext cx="100013" cy="142875"/>
          </a:xfrm>
          <a:prstGeom prst="rect">
            <a:avLst/>
          </a:prstGeom>
        </p:spPr>
      </p:pic>
      <p:sp>
        <p:nvSpPr>
          <p:cNvPr id="30" name="Text 16"/>
          <p:cNvSpPr/>
          <p:nvPr/>
        </p:nvSpPr>
        <p:spPr>
          <a:xfrm>
            <a:off x="5072063" y="3407569"/>
            <a:ext cx="2346722"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관리자에게 '승인 대기' 알림 전송 (단 몇 초 만에 완료)</a:t>
            </a:r>
            <a:endParaRPr lang="en-US" sz="850" dirty="0"/>
          </a:p>
        </p:txBody>
      </p:sp>
      <p:sp>
        <p:nvSpPr>
          <p:cNvPr id="31" name="Text 17"/>
          <p:cNvSpPr/>
          <p:nvPr/>
        </p:nvSpPr>
        <p:spPr>
          <a:xfrm>
            <a:off x="571500" y="4561284"/>
            <a:ext cx="8001000" cy="153591"/>
          </a:xfrm>
          <a:prstGeom prst="rect">
            <a:avLst/>
          </a:prstGeom>
          <a:noFill/>
          <a:ln/>
        </p:spPr>
        <p:txBody>
          <a:bodyPr wrap="squar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"복잡한 행정 프로세스를 </a:t>
            </a:r>
            <a:r>
              <a:rPr lang="en-US" sz="900" b="1" dirty="0">
                <a:solidFill>
                  <a:srgbClr val="475569"/>
                </a:solidFill>
                <a:latin typeface="Pretendard Variable" pitchFamily="34" charset="0"/>
                <a:ea typeface="Pretendard Variable" pitchFamily="34" charset="-122"/>
                <a:cs typeface="Pretendard Variable" pitchFamily="34" charset="-120"/>
              </a:rPr>
              <a:t>지능형 워크플로우</a:t>
            </a:r>
            <a:r>
              <a:rPr lang="en-US" sz="900" dirty="0">
                <a:solidFill>
                  <a:srgbClr val="475569"/>
                </a:solidFill>
                <a:latin typeface="Pretendard Variable" pitchFamily="34" charset="0"/>
                <a:ea typeface="Pretendard Variable" pitchFamily="34" charset="-122"/>
                <a:cs typeface="Pretendard Variable" pitchFamily="34" charset="-120"/>
              </a:rPr>
              <a:t>로 통합하여 관리자의 부담을 최소화합니다."</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36662"/>
            <a:ext cx="4411266" cy="341114"/>
          </a:xfrm>
          <a:prstGeom prst="rect">
            <a:avLst/>
          </a:prstGeom>
          <a:noFill/>
          <a:ln/>
        </p:spPr>
        <p:txBody>
          <a:bodyPr wrap="square" lIns="0" tIns="0" rIns="0" bIns="0" rtlCol="0" anchor="t">
            <a:spAutoFit/>
          </a:bodyPr>
          <a:lstStyle/>
          <a:p>
            <a:pPr marL="0" indent="0" algn="l">
              <a:buNone/>
            </a:pPr>
            <a:r>
              <a:rPr lang="en-US" sz="2000" b="1" dirty="0">
                <a:solidFill>
                  <a:srgbClr val="0F172A"/>
                </a:solidFill>
                <a:latin typeface="Pretendard Variable" pitchFamily="34" charset="0"/>
                <a:ea typeface="Pretendard Variable" pitchFamily="34" charset="-122"/>
                <a:cs typeface="Pretendard Variable" pitchFamily="34" charset="-120"/>
              </a:rPr>
              <a:t>시나리오: 이번 달 처리 필요 업무 브리핑</a:t>
            </a:r>
            <a:endParaRPr lang="en-US" sz="2000" dirty="0"/>
          </a:p>
        </p:txBody>
      </p:sp>
      <p:sp>
        <p:nvSpPr>
          <p:cNvPr id="5" name="Shape 1"/>
          <p:cNvSpPr/>
          <p:nvPr/>
        </p:nvSpPr>
        <p:spPr>
          <a:xfrm>
            <a:off x="571500" y="1000125"/>
            <a:ext cx="3000375" cy="3429000"/>
          </a:xfrm>
          <a:prstGeom prst="rect">
            <a:avLst/>
          </a:prstGeom>
          <a:solidFill>
            <a:srgbClr val="0F172A"/>
          </a:solidFill>
          <a:ln w="73152">
            <a:solidFill>
              <a:srgbClr val="334155"/>
            </a:solidFill>
            <a:prstDash val="solid"/>
          </a:ln>
        </p:spPr>
      </p:sp>
      <p:sp>
        <p:nvSpPr>
          <p:cNvPr id="6" name="Shape 2"/>
          <p:cNvSpPr/>
          <p:nvPr/>
        </p:nvSpPr>
        <p:spPr>
          <a:xfrm>
            <a:off x="1412677" y="1171575"/>
            <a:ext cx="2044898" cy="321469"/>
          </a:xfrm>
          <a:prstGeom prst="rect">
            <a:avLst/>
          </a:prstGeom>
          <a:solidFill>
            <a:srgbClr val="2563EB"/>
          </a:solidFill>
          <a:ln/>
        </p:spPr>
      </p:sp>
      <p:sp>
        <p:nvSpPr>
          <p:cNvPr id="7" name="Text 3"/>
          <p:cNvSpPr/>
          <p:nvPr/>
        </p:nvSpPr>
        <p:spPr>
          <a:xfrm>
            <a:off x="1412677" y="1171575"/>
            <a:ext cx="2044898" cy="321469"/>
          </a:xfrm>
          <a:prstGeom prst="rect">
            <a:avLst/>
          </a:prstGeom>
          <a:noFill/>
          <a:ln/>
        </p:spPr>
        <p:txBody>
          <a:bodyPr wrap="square" lIns="136017" tIns="102108" rIns="136017" bIns="102108" rtlCol="0" anchor="t">
            <a:spAutoFit/>
          </a:bodyPr>
          <a:lstStyle/>
          <a:p>
            <a:pPr marL="0" indent="0" algn="l">
              <a:lnSpc>
                <a:spcPct val="112000"/>
              </a:lnSpc>
              <a:buNone/>
            </a:pPr>
            <a:r>
              <a:rPr lang="en-US" sz="800" dirty="0">
                <a:solidFill>
                  <a:srgbClr val="FFFFFF"/>
                </a:solidFill>
                <a:latin typeface="Pretendard Variable" pitchFamily="34" charset="0"/>
                <a:ea typeface="Pretendard Variable" pitchFamily="34" charset="-122"/>
                <a:cs typeface="Pretendard Variable" pitchFamily="34" charset="-120"/>
              </a:rPr>
              <a:t>“이번 달 외국인 직원 중에 처리할 거 있어?”</a:t>
            </a:r>
            <a:endParaRPr lang="en-US" sz="800" dirty="0"/>
          </a:p>
        </p:txBody>
      </p:sp>
      <p:sp>
        <p:nvSpPr>
          <p:cNvPr id="8" name="Shape 4"/>
          <p:cNvSpPr/>
          <p:nvPr/>
        </p:nvSpPr>
        <p:spPr>
          <a:xfrm>
            <a:off x="685800" y="1607344"/>
            <a:ext cx="1666280" cy="921544"/>
          </a:xfrm>
          <a:prstGeom prst="rect">
            <a:avLst/>
          </a:prstGeom>
          <a:solidFill>
            <a:srgbClr val="334155"/>
          </a:solidFill>
          <a:ln/>
        </p:spPr>
      </p:sp>
      <p:sp>
        <p:nvSpPr>
          <p:cNvPr id="9" name="Text 5"/>
          <p:cNvSpPr/>
          <p:nvPr/>
        </p:nvSpPr>
        <p:spPr>
          <a:xfrm>
            <a:off x="685800" y="1607344"/>
            <a:ext cx="1666280" cy="921544"/>
          </a:xfrm>
          <a:prstGeom prst="rect">
            <a:avLst/>
          </a:prstGeom>
          <a:noFill/>
          <a:ln/>
        </p:spPr>
        <p:txBody>
          <a:bodyPr wrap="square" lIns="136017" tIns="102108" rIns="136017" bIns="102108" rtlCol="0" anchor="t">
            <a:spAutoFit/>
          </a:bodyPr>
          <a:lstStyle/>
          <a:p>
            <a:pPr marL="0" indent="0" algn="l">
              <a:lnSpc>
                <a:spcPct val="112000"/>
              </a:lnSpc>
              <a:buNone/>
            </a:pPr>
            <a:r>
              <a:rPr lang="en-US" sz="800" dirty="0">
                <a:solidFill>
                  <a:srgbClr val="FFFFFF"/>
                </a:solidFill>
                <a:latin typeface="Pretendard Variable" pitchFamily="34" charset="0"/>
                <a:ea typeface="Pretendard Variable" pitchFamily="34" charset="-122"/>
                <a:cs typeface="Pretendard Variable" pitchFamily="34" charset="-120"/>
              </a:rPr>
              <a:t>이번 달 처리 필요 업무 4건입니다.
1. Nguyen Van A (D-76)
2. Tran Thi B (D-45)
3. 신규 채용 3명 요청</a:t>
            </a:r>
            <a:endParaRPr lang="en-US" sz="800" dirty="0"/>
          </a:p>
        </p:txBody>
      </p:sp>
      <p:sp>
        <p:nvSpPr>
          <p:cNvPr id="10" name="Shape 6"/>
          <p:cNvSpPr/>
          <p:nvPr/>
        </p:nvSpPr>
        <p:spPr>
          <a:xfrm>
            <a:off x="3857625" y="1000125"/>
            <a:ext cx="4714875" cy="905470"/>
          </a:xfrm>
          <a:prstGeom prst="rect">
            <a:avLst/>
          </a:prstGeom>
          <a:solidFill>
            <a:srgbClr val="F8FAFC"/>
          </a:solidFill>
          <a:ln/>
        </p:spPr>
      </p:sp>
      <p:sp>
        <p:nvSpPr>
          <p:cNvPr id="11" name="Shape 7"/>
          <p:cNvSpPr/>
          <p:nvPr/>
        </p:nvSpPr>
        <p:spPr>
          <a:xfrm>
            <a:off x="3857625" y="1000125"/>
            <a:ext cx="35719" cy="905470"/>
          </a:xfrm>
          <a:prstGeom prst="rect">
            <a:avLst/>
          </a:prstGeom>
          <a:solidFill>
            <a:srgbClr val="EF4444"/>
          </a:solidFill>
          <a:ln/>
        </p:spPr>
      </p:sp>
      <p:sp>
        <p:nvSpPr>
          <p:cNvPr id="12" name="Text 8"/>
          <p:cNvSpPr/>
          <p:nvPr/>
        </p:nvSpPr>
        <p:spPr>
          <a:xfrm>
            <a:off x="3971925" y="1114425"/>
            <a:ext cx="1941314"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1. Nguyen Van A — 체류만료 D-76</a:t>
            </a:r>
            <a:endParaRPr lang="en-US" sz="900" dirty="0"/>
          </a:p>
        </p:txBody>
      </p:sp>
      <p:sp>
        <p:nvSpPr>
          <p:cNvPr id="13" name="Text 9"/>
          <p:cNvSpPr/>
          <p:nvPr/>
        </p:nvSpPr>
        <p:spPr>
          <a:xfrm>
            <a:off x="8092083" y="1114425"/>
            <a:ext cx="366117" cy="153591"/>
          </a:xfrm>
          <a:prstGeom prst="rect">
            <a:avLst/>
          </a:prstGeom>
          <a:noFill/>
          <a:ln/>
        </p:spPr>
        <p:txBody>
          <a:bodyPr wrap="none" lIns="0" tIns="0" rIns="0" bIns="0" rtlCol="0" anchor="t">
            <a:spAutoFit/>
          </a:bodyPr>
          <a:lstStyle/>
          <a:p>
            <a:pPr marL="0" indent="0" algn="l">
              <a:buNone/>
            </a:pPr>
            <a:r>
              <a:rPr lang="en-US" sz="700" b="1" dirty="0">
                <a:solidFill>
                  <a:srgbClr val="EF4444"/>
                </a:solidFill>
                <a:latin typeface="Pretendard Variable" pitchFamily="34" charset="0"/>
                <a:ea typeface="Pretendard Variable" pitchFamily="34" charset="-122"/>
                <a:cs typeface="Pretendard Variable" pitchFamily="34" charset="-120"/>
              </a:rPr>
              <a:t>서류 누락</a:t>
            </a:r>
            <a:endParaRPr lang="en-US" sz="700" dirty="0"/>
          </a:p>
        </p:txBody>
      </p:sp>
      <p:pic>
        <p:nvPicPr>
          <p:cNvPr id="14" name="Image 1" descr="preencoded.png"/>
          <p:cNvPicPr>
            <a:picLocks noChangeAspect="1"/>
          </p:cNvPicPr>
          <p:nvPr/>
        </p:nvPicPr>
        <p:blipFill>
          <a:blip r:embed="rId4"/>
          <a:stretch>
            <a:fillRect/>
          </a:stretch>
        </p:blipFill>
        <p:spPr>
          <a:xfrm>
            <a:off x="3971925" y="1345704"/>
            <a:ext cx="53578" cy="85725"/>
          </a:xfrm>
          <a:prstGeom prst="rect">
            <a:avLst/>
          </a:prstGeom>
        </p:spPr>
      </p:pic>
      <p:sp>
        <p:nvSpPr>
          <p:cNvPr id="15" name="Text 10"/>
          <p:cNvSpPr/>
          <p:nvPr/>
        </p:nvSpPr>
        <p:spPr>
          <a:xfrm>
            <a:off x="4082653" y="1325166"/>
            <a:ext cx="862608"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표준근로계약서 없음</a:t>
            </a:r>
            <a:endParaRPr lang="en-US" sz="800" dirty="0"/>
          </a:p>
        </p:txBody>
      </p:sp>
      <p:pic>
        <p:nvPicPr>
          <p:cNvPr id="16" name="Image 2" descr="preencoded.png"/>
          <p:cNvPicPr>
            <a:picLocks noChangeAspect="1"/>
          </p:cNvPicPr>
          <p:nvPr/>
        </p:nvPicPr>
        <p:blipFill>
          <a:blip r:embed="rId5"/>
          <a:stretch>
            <a:fillRect/>
          </a:stretch>
        </p:blipFill>
        <p:spPr>
          <a:xfrm>
            <a:off x="3971925" y="1501080"/>
            <a:ext cx="53578" cy="85725"/>
          </a:xfrm>
          <a:prstGeom prst="rect">
            <a:avLst/>
          </a:prstGeom>
        </p:spPr>
      </p:pic>
      <p:sp>
        <p:nvSpPr>
          <p:cNvPr id="17" name="Text 11"/>
          <p:cNvSpPr/>
          <p:nvPr/>
        </p:nvSpPr>
        <p:spPr>
          <a:xfrm>
            <a:off x="4082653" y="1480542"/>
            <a:ext cx="889397"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고용허가서 사본 없음</a:t>
            </a:r>
            <a:endParaRPr lang="en-US" sz="800" dirty="0"/>
          </a:p>
        </p:txBody>
      </p:sp>
      <p:pic>
        <p:nvPicPr>
          <p:cNvPr id="18" name="Image 3" descr="preencoded.png"/>
          <p:cNvPicPr>
            <a:picLocks noChangeAspect="1"/>
          </p:cNvPicPr>
          <p:nvPr/>
        </p:nvPicPr>
        <p:blipFill>
          <a:blip r:embed="rId6"/>
          <a:stretch>
            <a:fillRect/>
          </a:stretch>
        </p:blipFill>
        <p:spPr>
          <a:xfrm>
            <a:off x="3971925" y="1656457"/>
            <a:ext cx="85725" cy="85725"/>
          </a:xfrm>
          <a:prstGeom prst="rect">
            <a:avLst/>
          </a:prstGeom>
        </p:spPr>
      </p:pic>
      <p:sp>
        <p:nvSpPr>
          <p:cNvPr id="19" name="Text 12"/>
          <p:cNvSpPr/>
          <p:nvPr/>
        </p:nvSpPr>
        <p:spPr>
          <a:xfrm>
            <a:off x="4114800" y="1635919"/>
            <a:ext cx="1526977" cy="126802"/>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베트남어 서류 요청 메시지 생성 가능</a:t>
            </a:r>
            <a:endParaRPr lang="en-US" sz="800" dirty="0"/>
          </a:p>
        </p:txBody>
      </p:sp>
      <p:sp>
        <p:nvSpPr>
          <p:cNvPr id="20" name="Shape 13"/>
          <p:cNvSpPr/>
          <p:nvPr/>
        </p:nvSpPr>
        <p:spPr>
          <a:xfrm>
            <a:off x="3857625" y="1991320"/>
            <a:ext cx="4714875" cy="750094"/>
          </a:xfrm>
          <a:prstGeom prst="rect">
            <a:avLst/>
          </a:prstGeom>
          <a:solidFill>
            <a:srgbClr val="F8FAFC"/>
          </a:solidFill>
          <a:ln/>
        </p:spPr>
      </p:sp>
      <p:sp>
        <p:nvSpPr>
          <p:cNvPr id="21" name="Shape 14"/>
          <p:cNvSpPr/>
          <p:nvPr/>
        </p:nvSpPr>
        <p:spPr>
          <a:xfrm>
            <a:off x="3857625" y="1991320"/>
            <a:ext cx="35719" cy="750094"/>
          </a:xfrm>
          <a:prstGeom prst="rect">
            <a:avLst/>
          </a:prstGeom>
          <a:solidFill>
            <a:srgbClr val="F59E0B"/>
          </a:solidFill>
          <a:ln/>
        </p:spPr>
      </p:sp>
      <p:sp>
        <p:nvSpPr>
          <p:cNvPr id="22" name="Text 15"/>
          <p:cNvSpPr/>
          <p:nvPr/>
        </p:nvSpPr>
        <p:spPr>
          <a:xfrm>
            <a:off x="3971925" y="2105620"/>
            <a:ext cx="183951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2. Tran Thi B — 계약종료일 D-45</a:t>
            </a:r>
            <a:endParaRPr lang="en-US" sz="900" dirty="0"/>
          </a:p>
        </p:txBody>
      </p:sp>
      <p:sp>
        <p:nvSpPr>
          <p:cNvPr id="23" name="Text 16"/>
          <p:cNvSpPr/>
          <p:nvPr/>
        </p:nvSpPr>
        <p:spPr>
          <a:xfrm>
            <a:off x="8092083" y="2105620"/>
            <a:ext cx="366117" cy="153591"/>
          </a:xfrm>
          <a:prstGeom prst="rect">
            <a:avLst/>
          </a:prstGeom>
          <a:noFill/>
          <a:ln/>
        </p:spPr>
        <p:txBody>
          <a:bodyPr wrap="none" lIns="0" tIns="0" rIns="0" bIns="0" rtlCol="0" anchor="t">
            <a:spAutoFit/>
          </a:bodyPr>
          <a:lstStyle/>
          <a:p>
            <a:pPr marL="0" indent="0" algn="l">
              <a:buNone/>
            </a:pPr>
            <a:r>
              <a:rPr lang="en-US" sz="700" b="1" dirty="0">
                <a:solidFill>
                  <a:srgbClr val="F59E0B"/>
                </a:solidFill>
                <a:latin typeface="Pretendard Variable" pitchFamily="34" charset="0"/>
                <a:ea typeface="Pretendard Variable" pitchFamily="34" charset="-122"/>
                <a:cs typeface="Pretendard Variable" pitchFamily="34" charset="-120"/>
              </a:rPr>
              <a:t>검토 필요</a:t>
            </a:r>
            <a:endParaRPr lang="en-US" sz="700" dirty="0"/>
          </a:p>
        </p:txBody>
      </p:sp>
      <p:pic>
        <p:nvPicPr>
          <p:cNvPr id="24" name="Image 4" descr="preencoded.png"/>
          <p:cNvPicPr>
            <a:picLocks noChangeAspect="1"/>
          </p:cNvPicPr>
          <p:nvPr/>
        </p:nvPicPr>
        <p:blipFill>
          <a:blip r:embed="rId7"/>
          <a:stretch>
            <a:fillRect/>
          </a:stretch>
        </p:blipFill>
        <p:spPr>
          <a:xfrm>
            <a:off x="3971925" y="2336899"/>
            <a:ext cx="85725" cy="85725"/>
          </a:xfrm>
          <a:prstGeom prst="rect">
            <a:avLst/>
          </a:prstGeom>
        </p:spPr>
      </p:pic>
      <p:sp>
        <p:nvSpPr>
          <p:cNvPr id="25" name="Text 17"/>
          <p:cNvSpPr/>
          <p:nvPr/>
        </p:nvSpPr>
        <p:spPr>
          <a:xfrm>
            <a:off x="4114800" y="2316361"/>
            <a:ext cx="1778794" cy="126802"/>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체류만료일과 계약종료일 충돌 가능성 탐지</a:t>
            </a:r>
            <a:endParaRPr lang="en-US" sz="800" dirty="0"/>
          </a:p>
        </p:txBody>
      </p:sp>
      <p:pic>
        <p:nvPicPr>
          <p:cNvPr id="26" name="Image 5" descr="preencoded.png"/>
          <p:cNvPicPr>
            <a:picLocks noChangeAspect="1"/>
          </p:cNvPicPr>
          <p:nvPr/>
        </p:nvPicPr>
        <p:blipFill>
          <a:blip r:embed="rId8"/>
          <a:stretch>
            <a:fillRect/>
          </a:stretch>
        </p:blipFill>
        <p:spPr>
          <a:xfrm>
            <a:off x="3971925" y="2492276"/>
            <a:ext cx="75009" cy="85725"/>
          </a:xfrm>
          <a:prstGeom prst="rect">
            <a:avLst/>
          </a:prstGeom>
        </p:spPr>
      </p:pic>
      <p:sp>
        <p:nvSpPr>
          <p:cNvPr id="27" name="Text 18"/>
          <p:cNvSpPr/>
          <p:nvPr/>
        </p:nvSpPr>
        <p:spPr>
          <a:xfrm>
            <a:off x="4104084" y="2471738"/>
            <a:ext cx="916186"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행정사 정밀 검토 권장</a:t>
            </a:r>
            <a:endParaRPr lang="en-US" sz="800" dirty="0"/>
          </a:p>
        </p:txBody>
      </p:sp>
      <p:sp>
        <p:nvSpPr>
          <p:cNvPr id="28" name="Shape 19"/>
          <p:cNvSpPr/>
          <p:nvPr/>
        </p:nvSpPr>
        <p:spPr>
          <a:xfrm>
            <a:off x="3857625" y="2827139"/>
            <a:ext cx="4714875" cy="750094"/>
          </a:xfrm>
          <a:prstGeom prst="rect">
            <a:avLst/>
          </a:prstGeom>
          <a:solidFill>
            <a:srgbClr val="F8FAFC"/>
          </a:solidFill>
          <a:ln/>
        </p:spPr>
      </p:sp>
      <p:sp>
        <p:nvSpPr>
          <p:cNvPr id="29" name="Shape 20"/>
          <p:cNvSpPr/>
          <p:nvPr/>
        </p:nvSpPr>
        <p:spPr>
          <a:xfrm>
            <a:off x="3857625" y="2827139"/>
            <a:ext cx="35719" cy="750094"/>
          </a:xfrm>
          <a:prstGeom prst="rect">
            <a:avLst/>
          </a:prstGeom>
          <a:solidFill>
            <a:srgbClr val="3B82F6"/>
          </a:solidFill>
          <a:ln/>
        </p:spPr>
      </p:sp>
      <p:sp>
        <p:nvSpPr>
          <p:cNvPr id="30" name="Text 21"/>
          <p:cNvSpPr/>
          <p:nvPr/>
        </p:nvSpPr>
        <p:spPr>
          <a:xfrm>
            <a:off x="3971925" y="2941439"/>
            <a:ext cx="1805583"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3. 신규 베트남 근로자 3명 채용 요청</a:t>
            </a:r>
            <a:endParaRPr lang="en-US" sz="900" dirty="0"/>
          </a:p>
        </p:txBody>
      </p:sp>
      <p:sp>
        <p:nvSpPr>
          <p:cNvPr id="31" name="Text 22"/>
          <p:cNvSpPr/>
          <p:nvPr/>
        </p:nvSpPr>
        <p:spPr>
          <a:xfrm>
            <a:off x="8092083" y="2941439"/>
            <a:ext cx="366117" cy="153591"/>
          </a:xfrm>
          <a:prstGeom prst="rect">
            <a:avLst/>
          </a:prstGeom>
          <a:noFill/>
          <a:ln/>
        </p:spPr>
        <p:txBody>
          <a:bodyPr wrap="none" lIns="0" tIns="0" rIns="0" bIns="0" rtlCol="0" anchor="t">
            <a:spAutoFit/>
          </a:bodyPr>
          <a:lstStyle/>
          <a:p>
            <a:pPr marL="0" indent="0" algn="l">
              <a:buNone/>
            </a:pPr>
            <a:r>
              <a:rPr lang="en-US" sz="700" b="1" dirty="0">
                <a:solidFill>
                  <a:srgbClr val="3B82F6"/>
                </a:solidFill>
                <a:latin typeface="Pretendard Variable" pitchFamily="34" charset="0"/>
                <a:ea typeface="Pretendard Variable" pitchFamily="34" charset="-122"/>
                <a:cs typeface="Pretendard Variable" pitchFamily="34" charset="-120"/>
              </a:rPr>
              <a:t>준비 완료</a:t>
            </a:r>
            <a:endParaRPr lang="en-US" sz="700" dirty="0"/>
          </a:p>
        </p:txBody>
      </p:sp>
      <p:pic>
        <p:nvPicPr>
          <p:cNvPr id="32" name="Image 6" descr="preencoded.png"/>
          <p:cNvPicPr>
            <a:picLocks noChangeAspect="1"/>
          </p:cNvPicPr>
          <p:nvPr/>
        </p:nvPicPr>
        <p:blipFill>
          <a:blip r:embed="rId9"/>
          <a:stretch>
            <a:fillRect/>
          </a:stretch>
        </p:blipFill>
        <p:spPr>
          <a:xfrm>
            <a:off x="3971925" y="3172718"/>
            <a:ext cx="96441" cy="85725"/>
          </a:xfrm>
          <a:prstGeom prst="rect">
            <a:avLst/>
          </a:prstGeom>
        </p:spPr>
      </p:pic>
      <p:sp>
        <p:nvSpPr>
          <p:cNvPr id="33" name="Text 23"/>
          <p:cNvSpPr/>
          <p:nvPr/>
        </p:nvSpPr>
        <p:spPr>
          <a:xfrm>
            <a:off x="4125516" y="3152180"/>
            <a:ext cx="1407319" cy="126802"/>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송출회사 전달용 요청서 생성 완료</a:t>
            </a:r>
            <a:endParaRPr lang="en-US" sz="800" dirty="0"/>
          </a:p>
        </p:txBody>
      </p:sp>
      <p:pic>
        <p:nvPicPr>
          <p:cNvPr id="34" name="Image 7" descr="preencoded.png"/>
          <p:cNvPicPr>
            <a:picLocks noChangeAspect="1"/>
          </p:cNvPicPr>
          <p:nvPr/>
        </p:nvPicPr>
        <p:blipFill>
          <a:blip r:embed="rId10"/>
          <a:stretch>
            <a:fillRect/>
          </a:stretch>
        </p:blipFill>
        <p:spPr>
          <a:xfrm>
            <a:off x="3971925" y="3328095"/>
            <a:ext cx="85725" cy="85725"/>
          </a:xfrm>
          <a:prstGeom prst="rect">
            <a:avLst/>
          </a:prstGeom>
        </p:spPr>
      </p:pic>
      <p:sp>
        <p:nvSpPr>
          <p:cNvPr id="35" name="Text 24"/>
          <p:cNvSpPr/>
          <p:nvPr/>
        </p:nvSpPr>
        <p:spPr>
          <a:xfrm>
            <a:off x="4114800" y="3307556"/>
            <a:ext cx="1341239" cy="126802"/>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후보자 서류 준비도 확인 대기 중</a:t>
            </a:r>
            <a:endParaRPr lang="en-US" sz="800" dirty="0"/>
          </a:p>
        </p:txBody>
      </p:sp>
      <p:sp>
        <p:nvSpPr>
          <p:cNvPr id="36" name="Shape 25"/>
          <p:cNvSpPr/>
          <p:nvPr/>
        </p:nvSpPr>
        <p:spPr>
          <a:xfrm>
            <a:off x="3857625" y="3748683"/>
            <a:ext cx="1089422" cy="225028"/>
          </a:xfrm>
          <a:prstGeom prst="rect">
            <a:avLst/>
          </a:prstGeom>
          <a:solidFill>
            <a:srgbClr val="0F172A"/>
          </a:solidFill>
          <a:ln/>
        </p:spPr>
      </p:sp>
      <p:sp>
        <p:nvSpPr>
          <p:cNvPr id="37" name="Text 26"/>
          <p:cNvSpPr/>
          <p:nvPr/>
        </p:nvSpPr>
        <p:spPr>
          <a:xfrm>
            <a:off x="3857625" y="3748683"/>
            <a:ext cx="1089422" cy="225028"/>
          </a:xfrm>
          <a:prstGeom prst="rect">
            <a:avLst/>
          </a:prstGeom>
          <a:noFill/>
          <a:ln/>
        </p:spPr>
        <p:txBody>
          <a:bodyPr wrap="none" lIns="136017" tIns="68072" rIns="136017" bIns="68072" rtlCol="0" anchor="t">
            <a:spAutoFit/>
          </a:bodyPr>
          <a:lstStyle/>
          <a:p>
            <a:pPr marL="0" indent="0" algn="l">
              <a:buNone/>
            </a:pPr>
            <a:r>
              <a:rPr lang="en-US" sz="650" b="1" dirty="0">
                <a:solidFill>
                  <a:srgbClr val="FFFFFF"/>
                </a:solidFill>
                <a:latin typeface="Pretendard Variable" pitchFamily="34" charset="0"/>
                <a:ea typeface="Pretendard Variable" pitchFamily="34" charset="-122"/>
                <a:cs typeface="Pretendard Variable" pitchFamily="34" charset="-120"/>
              </a:rPr>
              <a:t>[서류 요청 메시지 발송]</a:t>
            </a:r>
            <a:endParaRPr lang="en-US" sz="650" dirty="0"/>
          </a:p>
        </p:txBody>
      </p:sp>
      <p:sp>
        <p:nvSpPr>
          <p:cNvPr id="38" name="Shape 27"/>
          <p:cNvSpPr/>
          <p:nvPr/>
        </p:nvSpPr>
        <p:spPr>
          <a:xfrm>
            <a:off x="5018484" y="3748683"/>
            <a:ext cx="987623" cy="225028"/>
          </a:xfrm>
          <a:prstGeom prst="rect">
            <a:avLst/>
          </a:prstGeom>
          <a:solidFill>
            <a:srgbClr val="0F172A"/>
          </a:solidFill>
          <a:ln/>
        </p:spPr>
      </p:sp>
      <p:sp>
        <p:nvSpPr>
          <p:cNvPr id="39" name="Text 28"/>
          <p:cNvSpPr/>
          <p:nvPr/>
        </p:nvSpPr>
        <p:spPr>
          <a:xfrm>
            <a:off x="5018484" y="3748683"/>
            <a:ext cx="987623" cy="225028"/>
          </a:xfrm>
          <a:prstGeom prst="rect">
            <a:avLst/>
          </a:prstGeom>
          <a:noFill/>
          <a:ln/>
        </p:spPr>
        <p:txBody>
          <a:bodyPr wrap="none" lIns="136017" tIns="68072" rIns="136017" bIns="68072" rtlCol="0" anchor="t">
            <a:spAutoFit/>
          </a:bodyPr>
          <a:lstStyle/>
          <a:p>
            <a:pPr marL="0" indent="0" algn="l">
              <a:buNone/>
            </a:pPr>
            <a:r>
              <a:rPr lang="en-US" sz="650" b="1" dirty="0">
                <a:solidFill>
                  <a:srgbClr val="FFFFFF"/>
                </a:solidFill>
                <a:latin typeface="Pretendard Variable" pitchFamily="34" charset="0"/>
                <a:ea typeface="Pretendard Variable" pitchFamily="34" charset="-122"/>
                <a:cs typeface="Pretendard Variable" pitchFamily="34" charset="-120"/>
              </a:rPr>
              <a:t>[행정사 패키지 생성]</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724198"/>
            <a:ext cx="5545336"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pitchFamily="34" charset="0"/>
                <a:ea typeface="Pretendard" pitchFamily="34" charset="-122"/>
                <a:cs typeface="Pretendard" pitchFamily="34" charset="-120"/>
              </a:rPr>
              <a:t>02. 핵심 개념: Agentic Workflow OS</a:t>
            </a:r>
            <a:endParaRPr lang="en-US" sz="2450" dirty="0"/>
          </a:p>
        </p:txBody>
      </p:sp>
      <p:sp>
        <p:nvSpPr>
          <p:cNvPr id="5" name="Shape 1"/>
          <p:cNvSpPr/>
          <p:nvPr/>
        </p:nvSpPr>
        <p:spPr>
          <a:xfrm>
            <a:off x="571500" y="2287981"/>
            <a:ext cx="1600200" cy="1414072"/>
          </a:xfrm>
          <a:prstGeom prst="rect">
            <a:avLst/>
          </a:prstGeom>
          <a:solidFill>
            <a:srgbClr val="EFF6FF"/>
          </a:solidFill>
          <a:ln w="18288">
            <a:solidFill>
              <a:srgbClr val="2563EB"/>
            </a:solidFill>
            <a:prstDash val="solid"/>
          </a:ln>
        </p:spPr>
      </p:sp>
      <p:pic>
        <p:nvPicPr>
          <p:cNvPr id="6" name="Image 1" descr="preencoded.png"/>
          <p:cNvPicPr>
            <a:picLocks noChangeAspect="1"/>
          </p:cNvPicPr>
          <p:nvPr/>
        </p:nvPicPr>
        <p:blipFill>
          <a:blip r:embed="rId4"/>
          <a:stretch>
            <a:fillRect/>
          </a:stretch>
        </p:blipFill>
        <p:spPr>
          <a:xfrm>
            <a:off x="1228725" y="2536227"/>
            <a:ext cx="257175" cy="257175"/>
          </a:xfrm>
          <a:prstGeom prst="rect">
            <a:avLst/>
          </a:prstGeom>
        </p:spPr>
      </p:pic>
      <p:sp>
        <p:nvSpPr>
          <p:cNvPr id="7" name="Text 2"/>
          <p:cNvSpPr/>
          <p:nvPr/>
        </p:nvSpPr>
        <p:spPr>
          <a:xfrm>
            <a:off x="909935" y="2966638"/>
            <a:ext cx="894755"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Intent Router</a:t>
            </a:r>
            <a:endParaRPr lang="en-US" sz="1000" dirty="0"/>
          </a:p>
        </p:txBody>
      </p:sp>
      <p:sp>
        <p:nvSpPr>
          <p:cNvPr id="8" name="Text 3"/>
          <p:cNvSpPr/>
          <p:nvPr/>
        </p:nvSpPr>
        <p:spPr>
          <a:xfrm>
            <a:off x="1019770" y="3193452"/>
            <a:ext cx="675084"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사용자 발화의
목적 및 의도 분류</a:t>
            </a:r>
            <a:endParaRPr lang="en-US" sz="750" dirty="0"/>
          </a:p>
        </p:txBody>
      </p:sp>
      <p:sp>
        <p:nvSpPr>
          <p:cNvPr id="9" name="Shape 4"/>
          <p:cNvSpPr/>
          <p:nvPr/>
        </p:nvSpPr>
        <p:spPr>
          <a:xfrm>
            <a:off x="2150269" y="2287981"/>
            <a:ext cx="1600200" cy="1414072"/>
          </a:xfrm>
          <a:prstGeom prst="rect">
            <a:avLst/>
          </a:prstGeom>
          <a:solidFill>
            <a:srgbClr val="EFF6FF"/>
          </a:solidFill>
          <a:ln w="18288">
            <a:solidFill>
              <a:srgbClr val="2563EB"/>
            </a:solidFill>
            <a:prstDash val="solid"/>
          </a:ln>
        </p:spPr>
      </p:sp>
      <p:pic>
        <p:nvPicPr>
          <p:cNvPr id="10" name="Image 2" descr="preencoded.png"/>
          <p:cNvPicPr>
            <a:picLocks noChangeAspect="1"/>
          </p:cNvPicPr>
          <p:nvPr/>
        </p:nvPicPr>
        <p:blipFill>
          <a:blip r:embed="rId5"/>
          <a:stretch>
            <a:fillRect/>
          </a:stretch>
        </p:blipFill>
        <p:spPr>
          <a:xfrm>
            <a:off x="2814638" y="2536227"/>
            <a:ext cx="257175" cy="257175"/>
          </a:xfrm>
          <a:prstGeom prst="rect">
            <a:avLst/>
          </a:prstGeom>
        </p:spPr>
      </p:pic>
      <p:sp>
        <p:nvSpPr>
          <p:cNvPr id="11" name="Text 5"/>
          <p:cNvSpPr/>
          <p:nvPr/>
        </p:nvSpPr>
        <p:spPr>
          <a:xfrm>
            <a:off x="2680692" y="2966638"/>
            <a:ext cx="525066"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Planner</a:t>
            </a:r>
            <a:endParaRPr lang="en-US" sz="1000" dirty="0"/>
          </a:p>
        </p:txBody>
      </p:sp>
      <p:sp>
        <p:nvSpPr>
          <p:cNvPr id="12" name="Text 6"/>
          <p:cNvSpPr/>
          <p:nvPr/>
        </p:nvSpPr>
        <p:spPr>
          <a:xfrm>
            <a:off x="2605683" y="3193452"/>
            <a:ext cx="675084"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최적의 업무 수행
계획 및 단계 수립</a:t>
            </a:r>
            <a:endParaRPr lang="en-US" sz="750" dirty="0"/>
          </a:p>
        </p:txBody>
      </p:sp>
      <p:sp>
        <p:nvSpPr>
          <p:cNvPr id="13" name="Shape 7"/>
          <p:cNvSpPr/>
          <p:nvPr/>
        </p:nvSpPr>
        <p:spPr>
          <a:xfrm>
            <a:off x="3743325" y="2287981"/>
            <a:ext cx="1600200" cy="1414072"/>
          </a:xfrm>
          <a:prstGeom prst="rect">
            <a:avLst/>
          </a:prstGeom>
          <a:solidFill>
            <a:srgbClr val="EFF6FF"/>
          </a:solidFill>
          <a:ln w="18288">
            <a:solidFill>
              <a:srgbClr val="2563EB"/>
            </a:solidFill>
            <a:prstDash val="solid"/>
          </a:ln>
        </p:spPr>
      </p:sp>
      <p:pic>
        <p:nvPicPr>
          <p:cNvPr id="14" name="Image 3" descr="preencoded.png"/>
          <p:cNvPicPr>
            <a:picLocks noChangeAspect="1"/>
          </p:cNvPicPr>
          <p:nvPr/>
        </p:nvPicPr>
        <p:blipFill>
          <a:blip r:embed="rId6"/>
          <a:stretch>
            <a:fillRect/>
          </a:stretch>
        </p:blipFill>
        <p:spPr>
          <a:xfrm>
            <a:off x="4414838" y="2536227"/>
            <a:ext cx="257175" cy="257175"/>
          </a:xfrm>
          <a:prstGeom prst="rect">
            <a:avLst/>
          </a:prstGeom>
        </p:spPr>
      </p:pic>
      <p:sp>
        <p:nvSpPr>
          <p:cNvPr id="15" name="Text 8"/>
          <p:cNvSpPr/>
          <p:nvPr/>
        </p:nvSpPr>
        <p:spPr>
          <a:xfrm>
            <a:off x="4237137" y="2966638"/>
            <a:ext cx="612577"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Executor</a:t>
            </a:r>
            <a:endParaRPr lang="en-US" sz="1000" dirty="0"/>
          </a:p>
        </p:txBody>
      </p:sp>
      <p:sp>
        <p:nvSpPr>
          <p:cNvPr id="16" name="Text 9"/>
          <p:cNvSpPr/>
          <p:nvPr/>
        </p:nvSpPr>
        <p:spPr>
          <a:xfrm>
            <a:off x="4249638" y="3193452"/>
            <a:ext cx="587573"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RAG 및 API 등
필요 도구 실행</a:t>
            </a:r>
            <a:endParaRPr lang="en-US" sz="750" dirty="0"/>
          </a:p>
        </p:txBody>
      </p:sp>
      <p:sp>
        <p:nvSpPr>
          <p:cNvPr id="17" name="Shape 10"/>
          <p:cNvSpPr/>
          <p:nvPr/>
        </p:nvSpPr>
        <p:spPr>
          <a:xfrm>
            <a:off x="5350669" y="2287981"/>
            <a:ext cx="1600200" cy="1414072"/>
          </a:xfrm>
          <a:prstGeom prst="rect">
            <a:avLst/>
          </a:prstGeom>
          <a:solidFill>
            <a:srgbClr val="ECFDF5"/>
          </a:solidFill>
          <a:ln w="18288">
            <a:solidFill>
              <a:srgbClr val="10B981"/>
            </a:solidFill>
            <a:prstDash val="solid"/>
          </a:ln>
        </p:spPr>
      </p:sp>
      <p:pic>
        <p:nvPicPr>
          <p:cNvPr id="18" name="Image 4" descr="preencoded.png"/>
          <p:cNvPicPr>
            <a:picLocks noChangeAspect="1"/>
          </p:cNvPicPr>
          <p:nvPr/>
        </p:nvPicPr>
        <p:blipFill>
          <a:blip r:embed="rId7"/>
          <a:stretch>
            <a:fillRect/>
          </a:stretch>
        </p:blipFill>
        <p:spPr>
          <a:xfrm>
            <a:off x="5997178" y="2536227"/>
            <a:ext cx="321469" cy="257175"/>
          </a:xfrm>
          <a:prstGeom prst="rect">
            <a:avLst/>
          </a:prstGeom>
        </p:spPr>
      </p:pic>
      <p:sp>
        <p:nvSpPr>
          <p:cNvPr id="19" name="Text 11"/>
          <p:cNvSpPr/>
          <p:nvPr/>
        </p:nvSpPr>
        <p:spPr>
          <a:xfrm>
            <a:off x="5848052" y="2966638"/>
            <a:ext cx="619720"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Approval</a:t>
            </a:r>
            <a:endParaRPr lang="en-US" sz="1000" dirty="0"/>
          </a:p>
        </p:txBody>
      </p:sp>
      <p:sp>
        <p:nvSpPr>
          <p:cNvPr id="20" name="Text 12"/>
          <p:cNvSpPr/>
          <p:nvPr/>
        </p:nvSpPr>
        <p:spPr>
          <a:xfrm>
            <a:off x="5790009" y="3193452"/>
            <a:ext cx="735806"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관리자의 최종 검토
및 실행 승인</a:t>
            </a:r>
            <a:endParaRPr lang="en-US" sz="750" dirty="0"/>
          </a:p>
        </p:txBody>
      </p:sp>
      <p:sp>
        <p:nvSpPr>
          <p:cNvPr id="21" name="Shape 13"/>
          <p:cNvSpPr/>
          <p:nvPr/>
        </p:nvSpPr>
        <p:spPr>
          <a:xfrm>
            <a:off x="6972300" y="2287981"/>
            <a:ext cx="1600200" cy="1414072"/>
          </a:xfrm>
          <a:prstGeom prst="rect">
            <a:avLst/>
          </a:prstGeom>
          <a:solidFill>
            <a:srgbClr val="EFF6FF"/>
          </a:solidFill>
          <a:ln w="18288">
            <a:solidFill>
              <a:srgbClr val="2563EB"/>
            </a:solidFill>
            <a:prstDash val="solid"/>
          </a:ln>
        </p:spPr>
      </p:sp>
      <p:sp>
        <p:nvSpPr>
          <p:cNvPr id="22" name="Text 14"/>
          <p:cNvSpPr/>
          <p:nvPr/>
        </p:nvSpPr>
        <p:spPr>
          <a:xfrm>
            <a:off x="7470577" y="2966638"/>
            <a:ext cx="632222"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Evidence</a:t>
            </a:r>
            <a:endParaRPr lang="en-US" sz="1000" dirty="0"/>
          </a:p>
        </p:txBody>
      </p:sp>
      <p:sp>
        <p:nvSpPr>
          <p:cNvPr id="23" name="Text 15"/>
          <p:cNvSpPr/>
          <p:nvPr/>
        </p:nvSpPr>
        <p:spPr>
          <a:xfrm>
            <a:off x="7449145" y="3193452"/>
            <a:ext cx="675084"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모든 판단 근거 및
실행 이력 저장</a:t>
            </a:r>
            <a:endParaRPr lang="en-US" sz="750" dirty="0"/>
          </a:p>
        </p:txBody>
      </p:sp>
      <p:pic>
        <p:nvPicPr>
          <p:cNvPr id="24" name="Image 5" descr="preencoded.png"/>
          <p:cNvPicPr>
            <a:picLocks noChangeAspect="1"/>
          </p:cNvPicPr>
          <p:nvPr/>
        </p:nvPicPr>
        <p:blipFill>
          <a:blip r:embed="rId8"/>
          <a:stretch>
            <a:fillRect/>
          </a:stretch>
        </p:blipFill>
        <p:spPr>
          <a:xfrm>
            <a:off x="571500" y="4573786"/>
            <a:ext cx="128588" cy="128588"/>
          </a:xfrm>
          <a:prstGeom prst="rect">
            <a:avLst/>
          </a:prstGeom>
        </p:spPr>
      </p:pic>
      <p:sp>
        <p:nvSpPr>
          <p:cNvPr id="25" name="Text 16"/>
          <p:cNvSpPr/>
          <p:nvPr/>
        </p:nvSpPr>
        <p:spPr>
          <a:xfrm>
            <a:off x="785813" y="4561284"/>
            <a:ext cx="4925616" cy="153591"/>
          </a:xfrm>
          <a:prstGeom prst="rect">
            <a:avLst/>
          </a:prstGeom>
          <a:noFill/>
          <a:ln/>
        </p:spPr>
        <p:txBody>
          <a:bodyPr wrap="square" lIns="0" tIns="0" rIns="0" bIns="0" rtlCol="0" anchor="t">
            <a:spAutoFit/>
          </a:bodyPr>
          <a:lstStyle/>
          <a:p>
            <a:pPr marL="0" indent="0" algn="l">
              <a:buNone/>
            </a:pPr>
            <a:r>
              <a:rPr lang="en-US" sz="950" dirty="0">
                <a:solidFill>
                  <a:srgbClr val="475569"/>
                </a:solidFill>
                <a:latin typeface="Pretendard" pitchFamily="34" charset="0"/>
                <a:ea typeface="Pretendard" pitchFamily="34" charset="-122"/>
                <a:cs typeface="Pretendard" pitchFamily="34" charset="-120"/>
              </a:rPr>
              <a:t>외고반장은 단순 자동화를 넘어, </a:t>
            </a:r>
            <a:r>
              <a:rPr lang="en-US" sz="900" b="1" dirty="0">
                <a:solidFill>
                  <a:srgbClr val="475569"/>
                </a:solidFill>
                <a:latin typeface="Pretendard" pitchFamily="34" charset="0"/>
                <a:ea typeface="Pretendard" pitchFamily="34" charset="-122"/>
                <a:cs typeface="Pretendard" pitchFamily="34" charset="-120"/>
              </a:rPr>
              <a:t>인간의 통제권</a:t>
            </a:r>
            <a:r>
              <a:rPr lang="en-US" sz="950" dirty="0">
                <a:solidFill>
                  <a:srgbClr val="475569"/>
                </a:solidFill>
                <a:latin typeface="Pretendard" pitchFamily="34" charset="0"/>
                <a:ea typeface="Pretendard" pitchFamily="34" charset="-122"/>
                <a:cs typeface="Pretendard" pitchFamily="34" charset="-120"/>
              </a:rPr>
              <a:t>과 </a:t>
            </a:r>
            <a:r>
              <a:rPr lang="en-US" sz="900" b="1" dirty="0">
                <a:solidFill>
                  <a:srgbClr val="475569"/>
                </a:solidFill>
                <a:latin typeface="Pretendard" pitchFamily="34" charset="0"/>
                <a:ea typeface="Pretendard" pitchFamily="34" charset="-122"/>
                <a:cs typeface="Pretendard" pitchFamily="34" charset="-120"/>
              </a:rPr>
              <a:t>판단의 투명성</a:t>
            </a:r>
            <a:r>
              <a:rPr lang="en-US" sz="950" dirty="0">
                <a:solidFill>
                  <a:srgbClr val="475569"/>
                </a:solidFill>
                <a:latin typeface="Pretendard" pitchFamily="34" charset="0"/>
                <a:ea typeface="Pretendard" pitchFamily="34" charset="-122"/>
                <a:cs typeface="Pretendard" pitchFamily="34" charset="-120"/>
              </a:rPr>
              <a:t>을 보장하는 구조로 설계되었습니다.</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6493669"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3. 전체 구조: User Goal에서 Evidence Log까지</a:t>
            </a:r>
            <a:endParaRPr lang="en-US" sz="2250" dirty="0"/>
          </a:p>
        </p:txBody>
      </p:sp>
      <p:sp>
        <p:nvSpPr>
          <p:cNvPr id="5" name="Shape 1"/>
          <p:cNvSpPr/>
          <p:nvPr/>
        </p:nvSpPr>
        <p:spPr>
          <a:xfrm>
            <a:off x="3245941" y="1509117"/>
            <a:ext cx="1143000" cy="703659"/>
          </a:xfrm>
          <a:prstGeom prst="rect">
            <a:avLst/>
          </a:prstGeom>
          <a:solidFill>
            <a:srgbClr val="0F172A"/>
          </a:solidFill>
          <a:ln/>
        </p:spPr>
      </p:sp>
      <p:pic>
        <p:nvPicPr>
          <p:cNvPr id="6" name="Image 1" descr="preencoded.png"/>
          <p:cNvPicPr>
            <a:picLocks noChangeAspect="1"/>
          </p:cNvPicPr>
          <p:nvPr/>
        </p:nvPicPr>
        <p:blipFill>
          <a:blip r:embed="rId4"/>
          <a:stretch>
            <a:fillRect/>
          </a:stretch>
        </p:blipFill>
        <p:spPr>
          <a:xfrm>
            <a:off x="3345954" y="1609130"/>
            <a:ext cx="942975" cy="171450"/>
          </a:xfrm>
          <a:prstGeom prst="rect">
            <a:avLst/>
          </a:prstGeom>
        </p:spPr>
      </p:pic>
      <p:sp>
        <p:nvSpPr>
          <p:cNvPr id="7" name="Text 2"/>
          <p:cNvSpPr/>
          <p:nvPr/>
        </p:nvSpPr>
        <p:spPr>
          <a:xfrm>
            <a:off x="3345954" y="1837730"/>
            <a:ext cx="942975" cy="135731"/>
          </a:xfrm>
          <a:prstGeom prst="rect">
            <a:avLst/>
          </a:prstGeom>
          <a:noFill/>
          <a:ln/>
        </p:spPr>
        <p:txBody>
          <a:bodyPr wrap="none" lIns="0" tIns="0" rIns="0" bIns="0" rtlCol="0" anchor="t">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User Goal</a:t>
            </a:r>
            <a:endParaRPr lang="en-US" sz="800" dirty="0"/>
          </a:p>
        </p:txBody>
      </p:sp>
      <p:sp>
        <p:nvSpPr>
          <p:cNvPr id="8" name="Text 3"/>
          <p:cNvSpPr/>
          <p:nvPr/>
        </p:nvSpPr>
        <p:spPr>
          <a:xfrm>
            <a:off x="3345954" y="2009180"/>
            <a:ext cx="942975" cy="103584"/>
          </a:xfrm>
          <a:prstGeom prst="rect">
            <a:avLst/>
          </a:prstGeom>
          <a:noFill/>
          <a:ln/>
        </p:spPr>
        <p:txBody>
          <a:bodyPr wrap="none" lIns="0" tIns="0" rIns="0" bIns="0" rtlCol="0" anchor="t">
            <a:spAutoFit/>
          </a:bodyPr>
          <a:lstStyle/>
          <a:p>
            <a:pPr marL="0" indent="0" algn="ctr">
              <a:buNone/>
            </a:pPr>
            <a:r>
              <a:rPr lang="en-US" sz="600" dirty="0">
                <a:solidFill>
                  <a:srgbClr val="FFFFFF">
                    <a:alpha val="80000"/>
                  </a:srgbClr>
                </a:solidFill>
                <a:latin typeface="Pretendard Variable" pitchFamily="34" charset="0"/>
                <a:ea typeface="Pretendard Variable" pitchFamily="34" charset="-122"/>
                <a:cs typeface="Pretendard Variable" pitchFamily="34" charset="-120"/>
              </a:rPr>
              <a:t>자연어 입력</a:t>
            </a:r>
            <a:endParaRPr lang="en-US" sz="600" dirty="0"/>
          </a:p>
        </p:txBody>
      </p:sp>
      <p:pic>
        <p:nvPicPr>
          <p:cNvPr id="9" name="Image 2" descr="preencoded.png"/>
          <p:cNvPicPr>
            <a:picLocks noChangeAspect="1"/>
          </p:cNvPicPr>
          <p:nvPr/>
        </p:nvPicPr>
        <p:blipFill>
          <a:blip r:embed="rId5"/>
          <a:stretch>
            <a:fillRect/>
          </a:stretch>
        </p:blipFill>
        <p:spPr>
          <a:xfrm>
            <a:off x="4531816" y="1796653"/>
            <a:ext cx="80367" cy="128588"/>
          </a:xfrm>
          <a:prstGeom prst="rect">
            <a:avLst/>
          </a:prstGeom>
        </p:spPr>
      </p:pic>
      <p:sp>
        <p:nvSpPr>
          <p:cNvPr id="10" name="Shape 4"/>
          <p:cNvSpPr/>
          <p:nvPr/>
        </p:nvSpPr>
        <p:spPr>
          <a:xfrm>
            <a:off x="4755059" y="1494830"/>
            <a:ext cx="1143000" cy="732234"/>
          </a:xfrm>
          <a:prstGeom prst="rect">
            <a:avLst/>
          </a:prstGeom>
          <a:solidFill>
            <a:srgbClr val="EFF6FF"/>
          </a:solidFill>
          <a:ln w="18288">
            <a:solidFill>
              <a:srgbClr val="2563EB"/>
            </a:solidFill>
            <a:prstDash val="solid"/>
          </a:ln>
        </p:spPr>
      </p:sp>
      <p:pic>
        <p:nvPicPr>
          <p:cNvPr id="11" name="Image 3" descr="preencoded.png"/>
          <p:cNvPicPr>
            <a:picLocks noChangeAspect="1"/>
          </p:cNvPicPr>
          <p:nvPr/>
        </p:nvPicPr>
        <p:blipFill>
          <a:blip r:embed="rId6"/>
          <a:stretch>
            <a:fillRect/>
          </a:stretch>
        </p:blipFill>
        <p:spPr>
          <a:xfrm>
            <a:off x="4855071" y="1609130"/>
            <a:ext cx="942975" cy="171450"/>
          </a:xfrm>
          <a:prstGeom prst="rect">
            <a:avLst/>
          </a:prstGeom>
        </p:spPr>
      </p:pic>
      <p:sp>
        <p:nvSpPr>
          <p:cNvPr id="12" name="Text 5"/>
          <p:cNvSpPr/>
          <p:nvPr/>
        </p:nvSpPr>
        <p:spPr>
          <a:xfrm>
            <a:off x="4855071" y="1837730"/>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Intent Router</a:t>
            </a:r>
            <a:endParaRPr lang="en-US" sz="800" dirty="0"/>
          </a:p>
        </p:txBody>
      </p:sp>
      <p:sp>
        <p:nvSpPr>
          <p:cNvPr id="13" name="Text 6"/>
          <p:cNvSpPr/>
          <p:nvPr/>
        </p:nvSpPr>
        <p:spPr>
          <a:xfrm>
            <a:off x="4855071" y="2009180"/>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의도 분류 및 할당</a:t>
            </a:r>
            <a:endParaRPr lang="en-US" sz="600" dirty="0"/>
          </a:p>
        </p:txBody>
      </p:sp>
      <p:pic>
        <p:nvPicPr>
          <p:cNvPr id="14" name="Image 4" descr="preencoded.png"/>
          <p:cNvPicPr>
            <a:picLocks noChangeAspect="1"/>
          </p:cNvPicPr>
          <p:nvPr/>
        </p:nvPicPr>
        <p:blipFill>
          <a:blip r:embed="rId7"/>
          <a:stretch>
            <a:fillRect/>
          </a:stretch>
        </p:blipFill>
        <p:spPr>
          <a:xfrm>
            <a:off x="4515743" y="2305645"/>
            <a:ext cx="112514" cy="128588"/>
          </a:xfrm>
          <a:prstGeom prst="rect">
            <a:avLst/>
          </a:prstGeom>
        </p:spPr>
      </p:pic>
      <p:sp>
        <p:nvSpPr>
          <p:cNvPr id="15" name="Shape 7"/>
          <p:cNvSpPr/>
          <p:nvPr/>
        </p:nvSpPr>
        <p:spPr>
          <a:xfrm>
            <a:off x="2650331" y="2527102"/>
            <a:ext cx="3843338" cy="917972"/>
          </a:xfrm>
          <a:prstGeom prst="rect">
            <a:avLst/>
          </a:prstGeom>
          <a:solidFill>
            <a:srgbClr val="F1F5F9"/>
          </a:solidFill>
          <a:ln w="9144">
            <a:solidFill>
              <a:srgbClr val="CBD5E1"/>
            </a:solidFill>
            <a:prstDash val="dash"/>
          </a:ln>
        </p:spPr>
      </p:sp>
      <p:sp>
        <p:nvSpPr>
          <p:cNvPr id="16" name="Shape 8"/>
          <p:cNvSpPr/>
          <p:nvPr/>
        </p:nvSpPr>
        <p:spPr>
          <a:xfrm>
            <a:off x="2743200" y="2619970"/>
            <a:ext cx="1143000" cy="732234"/>
          </a:xfrm>
          <a:prstGeom prst="rect">
            <a:avLst/>
          </a:prstGeom>
          <a:solidFill>
            <a:srgbClr val="FFFFFF"/>
          </a:solidFill>
          <a:ln w="18288">
            <a:solidFill>
              <a:srgbClr val="E2E8F0"/>
            </a:solidFill>
            <a:prstDash val="solid"/>
          </a:ln>
        </p:spPr>
      </p:sp>
      <p:pic>
        <p:nvPicPr>
          <p:cNvPr id="17" name="Image 5" descr="preencoded.png"/>
          <p:cNvPicPr>
            <a:picLocks noChangeAspect="1"/>
          </p:cNvPicPr>
          <p:nvPr/>
        </p:nvPicPr>
        <p:blipFill>
          <a:blip r:embed="rId8"/>
          <a:stretch>
            <a:fillRect/>
          </a:stretch>
        </p:blipFill>
        <p:spPr>
          <a:xfrm>
            <a:off x="2843213" y="2719983"/>
            <a:ext cx="942975" cy="171450"/>
          </a:xfrm>
          <a:prstGeom prst="rect">
            <a:avLst/>
          </a:prstGeom>
        </p:spPr>
      </p:pic>
      <p:sp>
        <p:nvSpPr>
          <p:cNvPr id="18" name="Text 9"/>
          <p:cNvSpPr/>
          <p:nvPr/>
        </p:nvSpPr>
        <p:spPr>
          <a:xfrm>
            <a:off x="2843213" y="2948583"/>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인력 확보 Agent</a:t>
            </a:r>
            <a:endParaRPr lang="en-US" sz="800" dirty="0"/>
          </a:p>
        </p:txBody>
      </p:sp>
      <p:sp>
        <p:nvSpPr>
          <p:cNvPr id="19" name="Text 10"/>
          <p:cNvSpPr/>
          <p:nvPr/>
        </p:nvSpPr>
        <p:spPr>
          <a:xfrm>
            <a:off x="2843213" y="3120033"/>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쿼터/문서 준비</a:t>
            </a:r>
            <a:endParaRPr lang="en-US" sz="600" dirty="0"/>
          </a:p>
        </p:txBody>
      </p:sp>
      <p:sp>
        <p:nvSpPr>
          <p:cNvPr id="20" name="Shape 11"/>
          <p:cNvSpPr/>
          <p:nvPr/>
        </p:nvSpPr>
        <p:spPr>
          <a:xfrm>
            <a:off x="4000500" y="2619970"/>
            <a:ext cx="1143000" cy="732234"/>
          </a:xfrm>
          <a:prstGeom prst="rect">
            <a:avLst/>
          </a:prstGeom>
          <a:solidFill>
            <a:srgbClr val="FFFFFF"/>
          </a:solidFill>
          <a:ln w="18288">
            <a:solidFill>
              <a:srgbClr val="E2E8F0"/>
            </a:solidFill>
            <a:prstDash val="solid"/>
          </a:ln>
        </p:spPr>
      </p:sp>
      <p:pic>
        <p:nvPicPr>
          <p:cNvPr id="21" name="Image 6" descr="preencoded.png"/>
          <p:cNvPicPr>
            <a:picLocks noChangeAspect="1"/>
          </p:cNvPicPr>
          <p:nvPr/>
        </p:nvPicPr>
        <p:blipFill>
          <a:blip r:embed="rId9"/>
          <a:stretch>
            <a:fillRect/>
          </a:stretch>
        </p:blipFill>
        <p:spPr>
          <a:xfrm>
            <a:off x="4100513" y="2719983"/>
            <a:ext cx="942975" cy="171450"/>
          </a:xfrm>
          <a:prstGeom prst="rect">
            <a:avLst/>
          </a:prstGeom>
        </p:spPr>
      </p:pic>
      <p:sp>
        <p:nvSpPr>
          <p:cNvPr id="22" name="Text 12"/>
          <p:cNvSpPr/>
          <p:nvPr/>
        </p:nvSpPr>
        <p:spPr>
          <a:xfrm>
            <a:off x="4100513" y="2948583"/>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다국어 컨택 Agent</a:t>
            </a:r>
            <a:endParaRPr lang="en-US" sz="800" dirty="0"/>
          </a:p>
        </p:txBody>
      </p:sp>
      <p:sp>
        <p:nvSpPr>
          <p:cNvPr id="23" name="Text 13"/>
          <p:cNvSpPr/>
          <p:nvPr/>
        </p:nvSpPr>
        <p:spPr>
          <a:xfrm>
            <a:off x="4100513" y="3120033"/>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소통/해석</a:t>
            </a:r>
            <a:endParaRPr lang="en-US" sz="600" dirty="0"/>
          </a:p>
        </p:txBody>
      </p:sp>
      <p:sp>
        <p:nvSpPr>
          <p:cNvPr id="24" name="Shape 14"/>
          <p:cNvSpPr/>
          <p:nvPr/>
        </p:nvSpPr>
        <p:spPr>
          <a:xfrm>
            <a:off x="5257800" y="2619970"/>
            <a:ext cx="1143000" cy="732234"/>
          </a:xfrm>
          <a:prstGeom prst="rect">
            <a:avLst/>
          </a:prstGeom>
          <a:solidFill>
            <a:srgbClr val="FFFFFF"/>
          </a:solidFill>
          <a:ln w="18288">
            <a:solidFill>
              <a:srgbClr val="E2E8F0"/>
            </a:solidFill>
            <a:prstDash val="solid"/>
          </a:ln>
        </p:spPr>
      </p:sp>
      <p:pic>
        <p:nvPicPr>
          <p:cNvPr id="25" name="Image 7" descr="preencoded.png"/>
          <p:cNvPicPr>
            <a:picLocks noChangeAspect="1"/>
          </p:cNvPicPr>
          <p:nvPr/>
        </p:nvPicPr>
        <p:blipFill>
          <a:blip r:embed="rId10"/>
          <a:stretch>
            <a:fillRect/>
          </a:stretch>
        </p:blipFill>
        <p:spPr>
          <a:xfrm>
            <a:off x="5357813" y="2734270"/>
            <a:ext cx="942975" cy="171450"/>
          </a:xfrm>
          <a:prstGeom prst="rect">
            <a:avLst/>
          </a:prstGeom>
        </p:spPr>
      </p:pic>
      <p:sp>
        <p:nvSpPr>
          <p:cNvPr id="26" name="Text 15"/>
          <p:cNvSpPr/>
          <p:nvPr/>
        </p:nvSpPr>
        <p:spPr>
          <a:xfrm>
            <a:off x="5357813" y="2962870"/>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비자 운영 Agent</a:t>
            </a:r>
            <a:endParaRPr lang="en-US" sz="800" dirty="0"/>
          </a:p>
        </p:txBody>
      </p:sp>
      <p:sp>
        <p:nvSpPr>
          <p:cNvPr id="27" name="Text 16"/>
          <p:cNvSpPr/>
          <p:nvPr/>
        </p:nvSpPr>
        <p:spPr>
          <a:xfrm>
            <a:off x="5357813" y="3134320"/>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리스크/패키징</a:t>
            </a:r>
            <a:endParaRPr lang="en-US" sz="600" dirty="0"/>
          </a:p>
        </p:txBody>
      </p:sp>
      <p:pic>
        <p:nvPicPr>
          <p:cNvPr id="28" name="Image 8" descr="preencoded.png"/>
          <p:cNvPicPr>
            <a:picLocks noChangeAspect="1"/>
          </p:cNvPicPr>
          <p:nvPr/>
        </p:nvPicPr>
        <p:blipFill>
          <a:blip r:embed="rId11"/>
          <a:stretch>
            <a:fillRect/>
          </a:stretch>
        </p:blipFill>
        <p:spPr>
          <a:xfrm>
            <a:off x="4515743" y="3516511"/>
            <a:ext cx="112514" cy="128588"/>
          </a:xfrm>
          <a:prstGeom prst="rect">
            <a:avLst/>
          </a:prstGeom>
        </p:spPr>
      </p:pic>
      <p:sp>
        <p:nvSpPr>
          <p:cNvPr id="29" name="Shape 17"/>
          <p:cNvSpPr/>
          <p:nvPr/>
        </p:nvSpPr>
        <p:spPr>
          <a:xfrm>
            <a:off x="3245941" y="3737967"/>
            <a:ext cx="1143000" cy="732234"/>
          </a:xfrm>
          <a:prstGeom prst="rect">
            <a:avLst/>
          </a:prstGeom>
          <a:solidFill>
            <a:srgbClr val="EFF6FF"/>
          </a:solidFill>
          <a:ln w="18288">
            <a:solidFill>
              <a:srgbClr val="2563EB"/>
            </a:solidFill>
            <a:prstDash val="solid"/>
          </a:ln>
        </p:spPr>
      </p:sp>
      <p:pic>
        <p:nvPicPr>
          <p:cNvPr id="30" name="Image 9" descr="preencoded.png"/>
          <p:cNvPicPr>
            <a:picLocks noChangeAspect="1"/>
          </p:cNvPicPr>
          <p:nvPr/>
        </p:nvPicPr>
        <p:blipFill>
          <a:blip r:embed="rId12"/>
          <a:stretch>
            <a:fillRect/>
          </a:stretch>
        </p:blipFill>
        <p:spPr>
          <a:xfrm>
            <a:off x="3345954" y="3852267"/>
            <a:ext cx="942975" cy="171450"/>
          </a:xfrm>
          <a:prstGeom prst="rect">
            <a:avLst/>
          </a:prstGeom>
        </p:spPr>
      </p:pic>
      <p:sp>
        <p:nvSpPr>
          <p:cNvPr id="31" name="Text 18"/>
          <p:cNvSpPr/>
          <p:nvPr/>
        </p:nvSpPr>
        <p:spPr>
          <a:xfrm>
            <a:off x="3345954" y="4080867"/>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Human Approval</a:t>
            </a:r>
            <a:endParaRPr lang="en-US" sz="800" dirty="0"/>
          </a:p>
        </p:txBody>
      </p:sp>
      <p:sp>
        <p:nvSpPr>
          <p:cNvPr id="32" name="Text 19"/>
          <p:cNvSpPr/>
          <p:nvPr/>
        </p:nvSpPr>
        <p:spPr>
          <a:xfrm>
            <a:off x="3345954" y="4252317"/>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최종 검토 및 승인</a:t>
            </a:r>
            <a:endParaRPr lang="en-US" sz="600" dirty="0"/>
          </a:p>
        </p:txBody>
      </p:sp>
      <p:pic>
        <p:nvPicPr>
          <p:cNvPr id="33" name="Image 10" descr="preencoded.png"/>
          <p:cNvPicPr>
            <a:picLocks noChangeAspect="1"/>
          </p:cNvPicPr>
          <p:nvPr/>
        </p:nvPicPr>
        <p:blipFill>
          <a:blip r:embed="rId5"/>
          <a:stretch>
            <a:fillRect/>
          </a:stretch>
        </p:blipFill>
        <p:spPr>
          <a:xfrm>
            <a:off x="4531816" y="4039791"/>
            <a:ext cx="80367" cy="128588"/>
          </a:xfrm>
          <a:prstGeom prst="rect">
            <a:avLst/>
          </a:prstGeom>
        </p:spPr>
      </p:pic>
      <p:sp>
        <p:nvSpPr>
          <p:cNvPr id="34" name="Shape 20"/>
          <p:cNvSpPr/>
          <p:nvPr/>
        </p:nvSpPr>
        <p:spPr>
          <a:xfrm>
            <a:off x="4755059" y="3837980"/>
            <a:ext cx="1143000" cy="532209"/>
          </a:xfrm>
          <a:prstGeom prst="rect">
            <a:avLst/>
          </a:prstGeom>
          <a:solidFill>
            <a:srgbClr val="0F172A"/>
          </a:solidFill>
          <a:ln/>
        </p:spPr>
      </p:sp>
      <p:sp>
        <p:nvSpPr>
          <p:cNvPr id="35" name="Text 21"/>
          <p:cNvSpPr/>
          <p:nvPr/>
        </p:nvSpPr>
        <p:spPr>
          <a:xfrm>
            <a:off x="4855071" y="3995142"/>
            <a:ext cx="942975" cy="135731"/>
          </a:xfrm>
          <a:prstGeom prst="rect">
            <a:avLst/>
          </a:prstGeom>
          <a:noFill/>
          <a:ln/>
        </p:spPr>
        <p:txBody>
          <a:bodyPr wrap="none" lIns="0" tIns="0" rIns="0" bIns="0" rtlCol="0" anchor="t">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Evidence Log</a:t>
            </a:r>
            <a:endParaRPr lang="en-US" sz="800" dirty="0"/>
          </a:p>
        </p:txBody>
      </p:sp>
      <p:sp>
        <p:nvSpPr>
          <p:cNvPr id="36" name="Text 22"/>
          <p:cNvSpPr/>
          <p:nvPr/>
        </p:nvSpPr>
        <p:spPr>
          <a:xfrm>
            <a:off x="4855071" y="4166592"/>
            <a:ext cx="942975" cy="103584"/>
          </a:xfrm>
          <a:prstGeom prst="rect">
            <a:avLst/>
          </a:prstGeom>
          <a:noFill/>
          <a:ln/>
        </p:spPr>
        <p:txBody>
          <a:bodyPr wrap="none" lIns="0" tIns="0" rIns="0" bIns="0" rtlCol="0" anchor="t">
            <a:spAutoFit/>
          </a:bodyPr>
          <a:lstStyle/>
          <a:p>
            <a:pPr marL="0" indent="0" algn="ctr">
              <a:buNone/>
            </a:pPr>
            <a:r>
              <a:rPr lang="en-US" sz="600" dirty="0">
                <a:solidFill>
                  <a:srgbClr val="FFFFFF">
                    <a:alpha val="80000"/>
                  </a:srgbClr>
                </a:solidFill>
                <a:latin typeface="Pretendard Variable" pitchFamily="34" charset="0"/>
                <a:ea typeface="Pretendard Variable" pitchFamily="34" charset="-122"/>
                <a:cs typeface="Pretendard Variable" pitchFamily="34" charset="-120"/>
              </a:rPr>
              <a:t>판단 근거 영구 저장</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756077"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04. RAG 설계 1: 공식 근거 및 서류 체크리스트</a:t>
            </a:r>
            <a:endParaRPr lang="en-US" sz="2250" dirty="0"/>
          </a:p>
        </p:txBody>
      </p:sp>
      <p:pic>
        <p:nvPicPr>
          <p:cNvPr id="5" name="Image 1" descr="preencoded.png"/>
          <p:cNvPicPr>
            <a:picLocks noChangeAspect="1"/>
          </p:cNvPicPr>
          <p:nvPr/>
        </p:nvPicPr>
        <p:blipFill>
          <a:blip r:embed="rId4"/>
          <a:stretch>
            <a:fillRect/>
          </a:stretch>
        </p:blipFill>
        <p:spPr>
          <a:xfrm>
            <a:off x="571500" y="1159073"/>
            <a:ext cx="128588" cy="171450"/>
          </a:xfrm>
          <a:prstGeom prst="rect">
            <a:avLst/>
          </a:prstGeom>
        </p:spPr>
      </p:pic>
      <p:sp>
        <p:nvSpPr>
          <p:cNvPr id="6" name="Text 1"/>
          <p:cNvSpPr/>
          <p:nvPr/>
        </p:nvSpPr>
        <p:spPr>
          <a:xfrm>
            <a:off x="785813" y="1143000"/>
            <a:ext cx="1632347" cy="203597"/>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공식 근거 기반 절차 안내</a:t>
            </a:r>
            <a:endParaRPr lang="en-US" sz="1200" dirty="0"/>
          </a:p>
        </p:txBody>
      </p:sp>
      <p:sp>
        <p:nvSpPr>
          <p:cNvPr id="7" name="Shape 2"/>
          <p:cNvSpPr/>
          <p:nvPr/>
        </p:nvSpPr>
        <p:spPr>
          <a:xfrm>
            <a:off x="571500" y="1518047"/>
            <a:ext cx="3786188" cy="3714750"/>
          </a:xfrm>
          <a:prstGeom prst="rect">
            <a:avLst/>
          </a:prstGeom>
          <a:solidFill>
            <a:srgbClr val="F8FAFC"/>
          </a:solidFill>
          <a:ln/>
        </p:spPr>
      </p:sp>
      <p:sp>
        <p:nvSpPr>
          <p:cNvPr id="8" name="Shape 3"/>
          <p:cNvSpPr/>
          <p:nvPr/>
        </p:nvSpPr>
        <p:spPr>
          <a:xfrm>
            <a:off x="571500" y="1518047"/>
            <a:ext cx="3786188" cy="28575"/>
          </a:xfrm>
          <a:prstGeom prst="rect">
            <a:avLst/>
          </a:prstGeom>
          <a:solidFill>
            <a:srgbClr val="0F172A"/>
          </a:solidFill>
          <a:ln/>
        </p:spPr>
      </p:sp>
      <p:sp>
        <p:nvSpPr>
          <p:cNvPr id="9" name="Shape 4"/>
          <p:cNvSpPr/>
          <p:nvPr/>
        </p:nvSpPr>
        <p:spPr>
          <a:xfrm>
            <a:off x="785813" y="1732359"/>
            <a:ext cx="228600" cy="228600"/>
          </a:xfrm>
          <a:prstGeom prst="ellipse">
            <a:avLst/>
          </a:prstGeom>
          <a:solidFill>
            <a:srgbClr val="2563EB"/>
          </a:solidFill>
          <a:ln/>
        </p:spPr>
      </p:sp>
      <p:sp>
        <p:nvSpPr>
          <p:cNvPr id="10" name="Text 5"/>
          <p:cNvSpPr/>
          <p:nvPr/>
        </p:nvSpPr>
        <p:spPr>
          <a:xfrm>
            <a:off x="785813" y="1732359"/>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1</a:t>
            </a:r>
            <a:endParaRPr lang="en-US" sz="800" dirty="0"/>
          </a:p>
        </p:txBody>
      </p:sp>
      <p:sp>
        <p:nvSpPr>
          <p:cNvPr id="11" name="Text 6"/>
          <p:cNvSpPr/>
          <p:nvPr/>
        </p:nvSpPr>
        <p:spPr>
          <a:xfrm>
            <a:off x="1128713" y="1732359"/>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EPS/HRD Korea 공식 흐름</a:t>
            </a:r>
            <a:endParaRPr lang="en-US" sz="1000" dirty="0"/>
          </a:p>
        </p:txBody>
      </p:sp>
      <p:sp>
        <p:nvSpPr>
          <p:cNvPr id="12" name="Text 7"/>
          <p:cNvSpPr/>
          <p:nvPr/>
        </p:nvSpPr>
        <p:spPr>
          <a:xfrm>
            <a:off x="1128713" y="1944886"/>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내국인 구인노력 → 고용허가서 발급 → 표준근로계약 체결 → 사증발급인정서 신청 등 전체 경로 설명</a:t>
            </a:r>
            <a:endParaRPr lang="en-US" sz="850" dirty="0"/>
          </a:p>
        </p:txBody>
      </p:sp>
      <p:sp>
        <p:nvSpPr>
          <p:cNvPr id="13" name="Shape 8"/>
          <p:cNvSpPr/>
          <p:nvPr/>
        </p:nvSpPr>
        <p:spPr>
          <a:xfrm>
            <a:off x="1128713" y="2382050"/>
            <a:ext cx="1428750" cy="160734"/>
          </a:xfrm>
          <a:prstGeom prst="rect">
            <a:avLst/>
          </a:prstGeom>
          <a:solidFill>
            <a:srgbClr val="E2E8F0"/>
          </a:solidFill>
          <a:ln/>
        </p:spPr>
      </p:sp>
      <p:sp>
        <p:nvSpPr>
          <p:cNvPr id="14" name="Text 9"/>
          <p:cNvSpPr/>
          <p:nvPr/>
        </p:nvSpPr>
        <p:spPr>
          <a:xfrm>
            <a:off x="1128713" y="2382050"/>
            <a:ext cx="1428750"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EPS 사업주 고용절차 가이드</a:t>
            </a:r>
            <a:endParaRPr lang="en-US" sz="600" dirty="0"/>
          </a:p>
        </p:txBody>
      </p:sp>
      <p:sp>
        <p:nvSpPr>
          <p:cNvPr id="15" name="Shape 10"/>
          <p:cNvSpPr/>
          <p:nvPr/>
        </p:nvSpPr>
        <p:spPr>
          <a:xfrm>
            <a:off x="785813" y="2714234"/>
            <a:ext cx="228600" cy="228600"/>
          </a:xfrm>
          <a:prstGeom prst="ellipse">
            <a:avLst/>
          </a:prstGeom>
          <a:solidFill>
            <a:srgbClr val="2563EB"/>
          </a:solidFill>
          <a:ln/>
        </p:spPr>
      </p:sp>
      <p:sp>
        <p:nvSpPr>
          <p:cNvPr id="16" name="Text 11"/>
          <p:cNvSpPr/>
          <p:nvPr/>
        </p:nvSpPr>
        <p:spPr>
          <a:xfrm>
            <a:off x="785813" y="2714234"/>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2</a:t>
            </a:r>
            <a:endParaRPr lang="en-US" sz="800" dirty="0"/>
          </a:p>
        </p:txBody>
      </p:sp>
      <p:sp>
        <p:nvSpPr>
          <p:cNvPr id="17" name="Text 12"/>
          <p:cNvSpPr/>
          <p:nvPr/>
        </p:nvSpPr>
        <p:spPr>
          <a:xfrm>
            <a:off x="1128713" y="2714234"/>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실시간 제도 질의응답</a:t>
            </a:r>
            <a:endParaRPr lang="en-US" sz="1000" dirty="0"/>
          </a:p>
        </p:txBody>
      </p:sp>
      <p:sp>
        <p:nvSpPr>
          <p:cNvPr id="18" name="Text 13"/>
          <p:cNvSpPr/>
          <p:nvPr/>
        </p:nvSpPr>
        <p:spPr>
          <a:xfrm>
            <a:off x="1128713" y="2926761"/>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"E-9 고용 절차가 어떻게 되지?", "고용허가서 발급 전 준비사항은?" 등 자연어 질문에 법적 근거 기반 답변</a:t>
            </a:r>
            <a:endParaRPr lang="en-US" sz="850" dirty="0"/>
          </a:p>
        </p:txBody>
      </p:sp>
      <p:pic>
        <p:nvPicPr>
          <p:cNvPr id="19" name="Image 2" descr="preencoded.png"/>
          <p:cNvPicPr>
            <a:picLocks noChangeAspect="1"/>
          </p:cNvPicPr>
          <p:nvPr/>
        </p:nvPicPr>
        <p:blipFill>
          <a:blip r:embed="rId5"/>
          <a:stretch>
            <a:fillRect/>
          </a:stretch>
        </p:blipFill>
        <p:spPr>
          <a:xfrm>
            <a:off x="4786313" y="1159073"/>
            <a:ext cx="171450" cy="171450"/>
          </a:xfrm>
          <a:prstGeom prst="rect">
            <a:avLst/>
          </a:prstGeom>
        </p:spPr>
      </p:pic>
      <p:sp>
        <p:nvSpPr>
          <p:cNvPr id="20" name="Text 14"/>
          <p:cNvSpPr/>
          <p:nvPr/>
        </p:nvSpPr>
        <p:spPr>
          <a:xfrm>
            <a:off x="5043488" y="1143000"/>
            <a:ext cx="1705570" cy="203597"/>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케이스별 서류 체크리스트</a:t>
            </a:r>
            <a:endParaRPr lang="en-US" sz="1200" dirty="0"/>
          </a:p>
        </p:txBody>
      </p:sp>
      <p:sp>
        <p:nvSpPr>
          <p:cNvPr id="21" name="Shape 15"/>
          <p:cNvSpPr/>
          <p:nvPr/>
        </p:nvSpPr>
        <p:spPr>
          <a:xfrm>
            <a:off x="4786313" y="1518047"/>
            <a:ext cx="3786188" cy="3714750"/>
          </a:xfrm>
          <a:prstGeom prst="rect">
            <a:avLst/>
          </a:prstGeom>
          <a:solidFill>
            <a:srgbClr val="F8FAFC"/>
          </a:solidFill>
          <a:ln/>
        </p:spPr>
      </p:sp>
      <p:sp>
        <p:nvSpPr>
          <p:cNvPr id="22" name="Shape 16"/>
          <p:cNvSpPr/>
          <p:nvPr/>
        </p:nvSpPr>
        <p:spPr>
          <a:xfrm>
            <a:off x="4786313" y="1518047"/>
            <a:ext cx="3786188" cy="28575"/>
          </a:xfrm>
          <a:prstGeom prst="rect">
            <a:avLst/>
          </a:prstGeom>
          <a:solidFill>
            <a:srgbClr val="0F172A"/>
          </a:solidFill>
          <a:ln/>
        </p:spPr>
      </p:sp>
      <p:sp>
        <p:nvSpPr>
          <p:cNvPr id="23" name="Shape 17"/>
          <p:cNvSpPr/>
          <p:nvPr/>
        </p:nvSpPr>
        <p:spPr>
          <a:xfrm>
            <a:off x="5000625" y="1732359"/>
            <a:ext cx="228600" cy="228600"/>
          </a:xfrm>
          <a:prstGeom prst="ellipse">
            <a:avLst/>
          </a:prstGeom>
          <a:solidFill>
            <a:srgbClr val="2563EB"/>
          </a:solidFill>
          <a:ln/>
        </p:spPr>
      </p:sp>
      <p:sp>
        <p:nvSpPr>
          <p:cNvPr id="24" name="Text 18"/>
          <p:cNvSpPr/>
          <p:nvPr/>
        </p:nvSpPr>
        <p:spPr>
          <a:xfrm>
            <a:off x="5000625" y="1732359"/>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3</a:t>
            </a:r>
            <a:endParaRPr lang="en-US" sz="800" dirty="0"/>
          </a:p>
        </p:txBody>
      </p:sp>
      <p:sp>
        <p:nvSpPr>
          <p:cNvPr id="25" name="Text 19"/>
          <p:cNvSpPr/>
          <p:nvPr/>
        </p:nvSpPr>
        <p:spPr>
          <a:xfrm>
            <a:off x="5343525" y="1732359"/>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정부24 체류 관리 안내</a:t>
            </a:r>
            <a:endParaRPr lang="en-US" sz="1000" dirty="0"/>
          </a:p>
        </p:txBody>
      </p:sp>
      <p:sp>
        <p:nvSpPr>
          <p:cNvPr id="26" name="Text 20"/>
          <p:cNvSpPr/>
          <p:nvPr/>
        </p:nvSpPr>
        <p:spPr>
          <a:xfrm>
            <a:off x="5343525" y="1944886"/>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체류기간 연장, 고용변동 신고 등 케이스별 필수 제출 항목(여권, 외국인등록증, 체류지 입증 서류 등) 추출</a:t>
            </a:r>
            <a:endParaRPr lang="en-US" sz="850" dirty="0"/>
          </a:p>
        </p:txBody>
      </p:sp>
      <p:sp>
        <p:nvSpPr>
          <p:cNvPr id="27" name="Shape 21"/>
          <p:cNvSpPr/>
          <p:nvPr/>
        </p:nvSpPr>
        <p:spPr>
          <a:xfrm>
            <a:off x="5343525" y="2382050"/>
            <a:ext cx="1500188" cy="160734"/>
          </a:xfrm>
          <a:prstGeom prst="rect">
            <a:avLst/>
          </a:prstGeom>
          <a:solidFill>
            <a:srgbClr val="E2E8F0"/>
          </a:solidFill>
          <a:ln/>
        </p:spPr>
      </p:sp>
      <p:sp>
        <p:nvSpPr>
          <p:cNvPr id="28" name="Text 22"/>
          <p:cNvSpPr/>
          <p:nvPr/>
        </p:nvSpPr>
        <p:spPr>
          <a:xfrm>
            <a:off x="5343525" y="2382050"/>
            <a:ext cx="1500188"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정부24 체류기간연장허가 안내</a:t>
            </a:r>
            <a:endParaRPr lang="en-US" sz="600" dirty="0"/>
          </a:p>
        </p:txBody>
      </p:sp>
      <p:sp>
        <p:nvSpPr>
          <p:cNvPr id="29" name="Shape 23"/>
          <p:cNvSpPr/>
          <p:nvPr/>
        </p:nvSpPr>
        <p:spPr>
          <a:xfrm>
            <a:off x="5000625" y="2714234"/>
            <a:ext cx="228600" cy="228600"/>
          </a:xfrm>
          <a:prstGeom prst="ellipse">
            <a:avLst/>
          </a:prstGeom>
          <a:solidFill>
            <a:srgbClr val="2563EB"/>
          </a:solidFill>
          <a:ln/>
        </p:spPr>
      </p:sp>
      <p:sp>
        <p:nvSpPr>
          <p:cNvPr id="30" name="Text 24"/>
          <p:cNvSpPr/>
          <p:nvPr/>
        </p:nvSpPr>
        <p:spPr>
          <a:xfrm>
            <a:off x="5000625" y="2714234"/>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4</a:t>
            </a:r>
            <a:endParaRPr lang="en-US" sz="800" dirty="0"/>
          </a:p>
        </p:txBody>
      </p:sp>
      <p:sp>
        <p:nvSpPr>
          <p:cNvPr id="31" name="Text 25"/>
          <p:cNvSpPr/>
          <p:nvPr/>
        </p:nvSpPr>
        <p:spPr>
          <a:xfrm>
            <a:off x="5343525" y="2714234"/>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법령정보센터 표준 서식</a:t>
            </a:r>
            <a:endParaRPr lang="en-US" sz="1000" dirty="0"/>
          </a:p>
        </p:txBody>
      </p:sp>
      <p:sp>
        <p:nvSpPr>
          <p:cNvPr id="32" name="Text 26"/>
          <p:cNvSpPr/>
          <p:nvPr/>
        </p:nvSpPr>
        <p:spPr>
          <a:xfrm>
            <a:off x="5343525" y="2926761"/>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외국인근로자 고용변동 신고서 및 유의사항 등 최신 법정 서식 데이터 기반의 항목 검증</a:t>
            </a:r>
            <a:endParaRPr lang="en-US" sz="850" dirty="0"/>
          </a:p>
        </p:txBody>
      </p:sp>
      <p:sp>
        <p:nvSpPr>
          <p:cNvPr id="33" name="Shape 27"/>
          <p:cNvSpPr/>
          <p:nvPr/>
        </p:nvSpPr>
        <p:spPr>
          <a:xfrm>
            <a:off x="5343525" y="3363925"/>
            <a:ext cx="1541264" cy="160734"/>
          </a:xfrm>
          <a:prstGeom prst="rect">
            <a:avLst/>
          </a:prstGeom>
          <a:solidFill>
            <a:srgbClr val="E2E8F0"/>
          </a:solidFill>
          <a:ln/>
        </p:spPr>
      </p:sp>
      <p:sp>
        <p:nvSpPr>
          <p:cNvPr id="34" name="Text 28"/>
          <p:cNvSpPr/>
          <p:nvPr/>
        </p:nvSpPr>
        <p:spPr>
          <a:xfrm>
            <a:off x="5343525" y="3363925"/>
            <a:ext cx="1541264"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국가법령정보센터 행정규칙 서식</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513189"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05. RAG 설계 2: 메시지 및 전문가 전달 근거</a:t>
            </a:r>
            <a:endParaRPr lang="en-US" sz="2250" dirty="0"/>
          </a:p>
        </p:txBody>
      </p:sp>
      <p:pic>
        <p:nvPicPr>
          <p:cNvPr id="5" name="Image 1" descr="preencoded.png"/>
          <p:cNvPicPr>
            <a:picLocks noChangeAspect="1"/>
          </p:cNvPicPr>
          <p:nvPr/>
        </p:nvPicPr>
        <p:blipFill>
          <a:blip r:embed="rId4"/>
          <a:stretch>
            <a:fillRect/>
          </a:stretch>
        </p:blipFill>
        <p:spPr>
          <a:xfrm>
            <a:off x="571500" y="1159073"/>
            <a:ext cx="171450" cy="171450"/>
          </a:xfrm>
          <a:prstGeom prst="rect">
            <a:avLst/>
          </a:prstGeom>
        </p:spPr>
      </p:pic>
      <p:sp>
        <p:nvSpPr>
          <p:cNvPr id="6" name="Text 1"/>
          <p:cNvSpPr/>
          <p:nvPr/>
        </p:nvSpPr>
        <p:spPr>
          <a:xfrm>
            <a:off x="828675" y="1143000"/>
            <a:ext cx="1446609" cy="203597"/>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업무 메시지 생성 근거</a:t>
            </a:r>
            <a:endParaRPr lang="en-US" sz="1200" dirty="0"/>
          </a:p>
        </p:txBody>
      </p:sp>
      <p:sp>
        <p:nvSpPr>
          <p:cNvPr id="7" name="Shape 2"/>
          <p:cNvSpPr/>
          <p:nvPr/>
        </p:nvSpPr>
        <p:spPr>
          <a:xfrm>
            <a:off x="571500" y="1518047"/>
            <a:ext cx="3786188" cy="3714750"/>
          </a:xfrm>
          <a:prstGeom prst="rect">
            <a:avLst/>
          </a:prstGeom>
          <a:solidFill>
            <a:srgbClr val="0F172A"/>
          </a:solidFill>
          <a:ln/>
        </p:spPr>
      </p:sp>
      <p:sp>
        <p:nvSpPr>
          <p:cNvPr id="8" name="Text 3"/>
          <p:cNvSpPr/>
          <p:nvPr/>
        </p:nvSpPr>
        <p:spPr>
          <a:xfrm>
            <a:off x="857250" y="1803797"/>
            <a:ext cx="3214688" cy="169664"/>
          </a:xfrm>
          <a:prstGeom prst="rect">
            <a:avLst/>
          </a:prstGeom>
          <a:noFill/>
          <a:ln/>
        </p:spPr>
        <p:txBody>
          <a:bodyPr wrap="square" lIns="0" tIns="0" rIns="0" bIns="0" rtlCol="0" anchor="t">
            <a:spAutoFit/>
          </a:bodyPr>
          <a:lstStyle/>
          <a:p>
            <a:pPr marL="0" indent="0" algn="l">
              <a:buNone/>
            </a:pPr>
            <a:r>
              <a:rPr lang="en-US" sz="1050" dirty="0">
                <a:solidFill>
                  <a:srgbClr val="94A3B8"/>
                </a:solidFill>
                <a:latin typeface="Pretendard Variable" pitchFamily="34" charset="0"/>
                <a:ea typeface="Pretendard Variable" pitchFamily="34" charset="-122"/>
                <a:cs typeface="Pretendard Variable" pitchFamily="34" charset="-120"/>
              </a:rPr>
              <a:t>단순 번역을 넘어선 </a:t>
            </a:r>
            <a:r>
              <a:rPr lang="en-US" sz="1000" b="1" dirty="0">
                <a:solidFill>
                  <a:srgbClr val="94A3B8"/>
                </a:solidFill>
                <a:latin typeface="Pretendard Variable" pitchFamily="34" charset="0"/>
                <a:ea typeface="Pretendard Variable" pitchFamily="34" charset="-122"/>
                <a:cs typeface="Pretendard Variable" pitchFamily="34" charset="-120"/>
              </a:rPr>
              <a:t>'행정적 타당성'</a:t>
            </a:r>
            <a:r>
              <a:rPr lang="en-US" sz="1050" dirty="0">
                <a:solidFill>
                  <a:srgbClr val="94A3B8"/>
                </a:solidFill>
                <a:latin typeface="Pretendard Variable" pitchFamily="34" charset="0"/>
                <a:ea typeface="Pretendard Variable" pitchFamily="34" charset="-122"/>
                <a:cs typeface="Pretendard Variable" pitchFamily="34" charset="-120"/>
              </a:rPr>
              <a:t> 확보</a:t>
            </a:r>
            <a:endParaRPr lang="en-US" sz="1050" dirty="0"/>
          </a:p>
        </p:txBody>
      </p:sp>
      <p:sp>
        <p:nvSpPr>
          <p:cNvPr id="9" name="Shape 4"/>
          <p:cNvSpPr/>
          <p:nvPr/>
        </p:nvSpPr>
        <p:spPr>
          <a:xfrm>
            <a:off x="857250" y="2144911"/>
            <a:ext cx="3214688" cy="1394817"/>
          </a:xfrm>
          <a:prstGeom prst="rect">
            <a:avLst/>
          </a:prstGeom>
          <a:solidFill>
            <a:srgbClr val="FFFFFF">
              <a:alpha val="5000"/>
            </a:srgbClr>
          </a:solidFill>
          <a:ln/>
        </p:spPr>
      </p:sp>
      <p:sp>
        <p:nvSpPr>
          <p:cNvPr id="10" name="Shape 5"/>
          <p:cNvSpPr/>
          <p:nvPr/>
        </p:nvSpPr>
        <p:spPr>
          <a:xfrm>
            <a:off x="857250" y="2144911"/>
            <a:ext cx="28575" cy="1394817"/>
          </a:xfrm>
          <a:prstGeom prst="rect">
            <a:avLst/>
          </a:prstGeom>
          <a:solidFill>
            <a:srgbClr val="2563EB"/>
          </a:solidFill>
          <a:ln/>
        </p:spPr>
      </p:sp>
      <p:pic>
        <p:nvPicPr>
          <p:cNvPr id="11" name="Image 2" descr="preencoded.png"/>
          <p:cNvPicPr>
            <a:picLocks noChangeAspect="1"/>
          </p:cNvPicPr>
          <p:nvPr/>
        </p:nvPicPr>
        <p:blipFill>
          <a:blip r:embed="rId5"/>
          <a:stretch>
            <a:fillRect/>
          </a:stretch>
        </p:blipFill>
        <p:spPr>
          <a:xfrm>
            <a:off x="1028700" y="2344936"/>
            <a:ext cx="121444" cy="121444"/>
          </a:xfrm>
          <a:prstGeom prst="rect">
            <a:avLst/>
          </a:prstGeom>
        </p:spPr>
      </p:pic>
      <p:sp>
        <p:nvSpPr>
          <p:cNvPr id="12" name="Text 6"/>
          <p:cNvSpPr/>
          <p:nvPr/>
        </p:nvSpPr>
        <p:spPr>
          <a:xfrm>
            <a:off x="1235869" y="2316361"/>
            <a:ext cx="2143125" cy="144661"/>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필요성:</a:t>
            </a:r>
            <a:r>
              <a:rPr lang="en-US" sz="900" dirty="0">
                <a:solidFill>
                  <a:srgbClr val="CBD5E1"/>
                </a:solidFill>
                <a:latin typeface="Pretendard Variable" pitchFamily="34" charset="0"/>
                <a:ea typeface="Pretendard Variable" pitchFamily="34" charset="-122"/>
                <a:cs typeface="Pretendard Variable" pitchFamily="34" charset="-120"/>
              </a:rPr>
              <a:t> 왜 이 서류가 필요한지 법적 근거 명시</a:t>
            </a:r>
            <a:endParaRPr lang="en-US" sz="850" dirty="0"/>
          </a:p>
        </p:txBody>
      </p:sp>
      <p:pic>
        <p:nvPicPr>
          <p:cNvPr id="13" name="Image 3" descr="preencoded.png"/>
          <p:cNvPicPr>
            <a:picLocks noChangeAspect="1"/>
          </p:cNvPicPr>
          <p:nvPr/>
        </p:nvPicPr>
        <p:blipFill>
          <a:blip r:embed="rId6"/>
          <a:stretch>
            <a:fillRect/>
          </a:stretch>
        </p:blipFill>
        <p:spPr>
          <a:xfrm>
            <a:off x="1028700" y="2609255"/>
            <a:ext cx="107156" cy="121444"/>
          </a:xfrm>
          <a:prstGeom prst="rect">
            <a:avLst/>
          </a:prstGeom>
        </p:spPr>
      </p:pic>
      <p:sp>
        <p:nvSpPr>
          <p:cNvPr id="14" name="Text 7"/>
          <p:cNvSpPr/>
          <p:nvPr/>
        </p:nvSpPr>
        <p:spPr>
          <a:xfrm>
            <a:off x="1221581" y="2580680"/>
            <a:ext cx="2112764" cy="144661"/>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기한:</a:t>
            </a:r>
            <a:r>
              <a:rPr lang="en-US" sz="900" dirty="0">
                <a:solidFill>
                  <a:srgbClr val="CBD5E1"/>
                </a:solidFill>
                <a:latin typeface="Pretendard Variable" pitchFamily="34" charset="0"/>
                <a:ea typeface="Pretendard Variable" pitchFamily="34" charset="-122"/>
                <a:cs typeface="Pretendard Variable" pitchFamily="34" charset="-120"/>
              </a:rPr>
              <a:t> 행정 절차상 준수해야 할 데드라인 안내</a:t>
            </a:r>
            <a:endParaRPr lang="en-US" sz="850" dirty="0"/>
          </a:p>
        </p:txBody>
      </p:sp>
      <p:sp>
        <p:nvSpPr>
          <p:cNvPr id="15" name="Text 8"/>
          <p:cNvSpPr/>
          <p:nvPr/>
        </p:nvSpPr>
        <p:spPr>
          <a:xfrm>
            <a:off x="1114425" y="2844998"/>
            <a:ext cx="2143125" cy="144661"/>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개인정보:</a:t>
            </a:r>
            <a:r>
              <a:rPr lang="en-US" sz="900" dirty="0">
                <a:solidFill>
                  <a:srgbClr val="CBD5E1"/>
                </a:solidFill>
                <a:latin typeface="Pretendard Variable" pitchFamily="34" charset="0"/>
                <a:ea typeface="Pretendard Variable" pitchFamily="34" charset="-122"/>
                <a:cs typeface="Pretendard Variable" pitchFamily="34" charset="-120"/>
              </a:rPr>
              <a:t> 서류의 사용 목적 및 파기 원칙 포함</a:t>
            </a:r>
            <a:endParaRPr lang="en-US" sz="850" dirty="0"/>
          </a:p>
        </p:txBody>
      </p:sp>
      <p:pic>
        <p:nvPicPr>
          <p:cNvPr id="16" name="Image 4" descr="preencoded.png"/>
          <p:cNvPicPr>
            <a:picLocks noChangeAspect="1"/>
          </p:cNvPicPr>
          <p:nvPr/>
        </p:nvPicPr>
        <p:blipFill>
          <a:blip r:embed="rId7"/>
          <a:stretch>
            <a:fillRect/>
          </a:stretch>
        </p:blipFill>
        <p:spPr>
          <a:xfrm>
            <a:off x="1028700" y="3132534"/>
            <a:ext cx="151805" cy="121444"/>
          </a:xfrm>
          <a:prstGeom prst="rect">
            <a:avLst/>
          </a:prstGeom>
        </p:spPr>
      </p:pic>
      <p:sp>
        <p:nvSpPr>
          <p:cNvPr id="17" name="Text 9"/>
          <p:cNvSpPr/>
          <p:nvPr/>
        </p:nvSpPr>
        <p:spPr>
          <a:xfrm>
            <a:off x="1266230" y="3103959"/>
            <a:ext cx="2143125" cy="144661"/>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승인:</a:t>
            </a:r>
            <a:r>
              <a:rPr lang="en-US" sz="900" dirty="0">
                <a:solidFill>
                  <a:srgbClr val="CBD5E1"/>
                </a:solidFill>
                <a:latin typeface="Pretendard Variable" pitchFamily="34" charset="0"/>
                <a:ea typeface="Pretendard Variable" pitchFamily="34" charset="-122"/>
                <a:cs typeface="Pretendard Variable" pitchFamily="34" charset="-120"/>
              </a:rPr>
              <a:t> 담당자 최종 검토 후 발송되는 안전 장치</a:t>
            </a:r>
            <a:endParaRPr lang="en-US" sz="850" dirty="0"/>
          </a:p>
        </p:txBody>
      </p:sp>
      <p:pic>
        <p:nvPicPr>
          <p:cNvPr id="18" name="Image 5" descr="preencoded.png"/>
          <p:cNvPicPr>
            <a:picLocks noChangeAspect="1"/>
          </p:cNvPicPr>
          <p:nvPr/>
        </p:nvPicPr>
        <p:blipFill>
          <a:blip r:embed="rId8"/>
          <a:stretch>
            <a:fillRect/>
          </a:stretch>
        </p:blipFill>
        <p:spPr>
          <a:xfrm>
            <a:off x="4786313" y="1159073"/>
            <a:ext cx="192881" cy="171450"/>
          </a:xfrm>
          <a:prstGeom prst="rect">
            <a:avLst/>
          </a:prstGeom>
        </p:spPr>
      </p:pic>
      <p:sp>
        <p:nvSpPr>
          <p:cNvPr id="19" name="Text 10"/>
          <p:cNvSpPr/>
          <p:nvPr/>
        </p:nvSpPr>
        <p:spPr>
          <a:xfrm>
            <a:off x="5064919" y="1143000"/>
            <a:ext cx="1743075" cy="203597"/>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행정사 전달 패키지의 근거</a:t>
            </a:r>
            <a:endParaRPr lang="en-US" sz="1200" dirty="0"/>
          </a:p>
        </p:txBody>
      </p:sp>
      <p:sp>
        <p:nvSpPr>
          <p:cNvPr id="20" name="Shape 11"/>
          <p:cNvSpPr/>
          <p:nvPr/>
        </p:nvSpPr>
        <p:spPr>
          <a:xfrm>
            <a:off x="4786313" y="1518047"/>
            <a:ext cx="3786188" cy="3714750"/>
          </a:xfrm>
          <a:prstGeom prst="rect">
            <a:avLst/>
          </a:prstGeom>
          <a:solidFill>
            <a:srgbClr val="F8FAFC"/>
          </a:solidFill>
          <a:ln w="9144">
            <a:solidFill>
              <a:srgbClr val="E2E8F0"/>
            </a:solidFill>
            <a:prstDash val="solid"/>
          </a:ln>
        </p:spPr>
      </p:sp>
      <p:sp>
        <p:nvSpPr>
          <p:cNvPr id="21" name="Shape 12"/>
          <p:cNvSpPr/>
          <p:nvPr/>
        </p:nvSpPr>
        <p:spPr>
          <a:xfrm>
            <a:off x="5072063" y="1803797"/>
            <a:ext cx="1396603" cy="205383"/>
          </a:xfrm>
          <a:prstGeom prst="rect">
            <a:avLst/>
          </a:prstGeom>
          <a:solidFill>
            <a:srgbClr val="0F172A"/>
          </a:solidFill>
          <a:ln/>
        </p:spPr>
      </p:sp>
      <p:sp>
        <p:nvSpPr>
          <p:cNvPr id="22" name="Text 13"/>
          <p:cNvSpPr/>
          <p:nvPr/>
        </p:nvSpPr>
        <p:spPr>
          <a:xfrm>
            <a:off x="5072063" y="1803797"/>
            <a:ext cx="1396603" cy="205383"/>
          </a:xfrm>
          <a:prstGeom prst="rect">
            <a:avLst/>
          </a:prstGeom>
          <a:noFill/>
          <a:ln/>
        </p:spPr>
        <p:txBody>
          <a:bodyPr wrap="square" lIns="119126" tIns="51054" rIns="119126" bIns="51054" rtlCol="0" anchor="t">
            <a:spAutoFit/>
          </a:bodyPr>
          <a:lstStyle/>
          <a:p>
            <a:pPr marL="0" indent="0" algn="l">
              <a:buNone/>
            </a:pPr>
            <a:r>
              <a:rPr lang="en-US" sz="700" b="1" dirty="0">
                <a:solidFill>
                  <a:srgbClr val="FFFFFF"/>
                </a:solidFill>
                <a:latin typeface="Pretendard Variable" pitchFamily="34" charset="0"/>
                <a:ea typeface="Pretendard Variable" pitchFamily="34" charset="-122"/>
                <a:cs typeface="Pretendard Variable" pitchFamily="34" charset="-120"/>
              </a:rPr>
              <a:t>Evidence-Based Handoff</a:t>
            </a:r>
            <a:endParaRPr lang="en-US" sz="700" dirty="0"/>
          </a:p>
        </p:txBody>
      </p:sp>
      <p:sp>
        <p:nvSpPr>
          <p:cNvPr id="23" name="Text 14"/>
          <p:cNvSpPr/>
          <p:nvPr/>
        </p:nvSpPr>
        <p:spPr>
          <a:xfrm>
            <a:off x="5072063" y="2152055"/>
            <a:ext cx="3214688" cy="457200"/>
          </a:xfrm>
          <a:prstGeom prst="rect">
            <a:avLst/>
          </a:prstGeom>
          <a:noFill/>
          <a:ln/>
        </p:spPr>
        <p:txBody>
          <a:bodyPr wrap="square" lIns="0" tIns="0" rIns="0" bIns="0" rtlCol="0" anchor="t">
            <a:spAutoFit/>
          </a:bodyPr>
          <a:lstStyle/>
          <a:p>
            <a:pPr marL="0" indent="0" algn="l">
              <a:lnSpc>
                <a:spcPct val="128000"/>
              </a:lnSpc>
              <a:buNone/>
            </a:pPr>
            <a:r>
              <a:rPr lang="en-US" sz="1000" b="1" dirty="0">
                <a:solidFill>
                  <a:srgbClr val="0F172A"/>
                </a:solidFill>
                <a:latin typeface="Pretendard Variable" pitchFamily="34" charset="0"/>
                <a:ea typeface="Pretendard Variable" pitchFamily="34" charset="-122"/>
                <a:cs typeface="Pretendard Variable" pitchFamily="34" charset="-120"/>
              </a:rPr>
              <a:t>"AI의 주관적 요약이 아닌,
객관적 데이터와 근거를 묶어 전달합니다."</a:t>
            </a:r>
            <a:endParaRPr lang="en-US" sz="1000" dirty="0"/>
          </a:p>
        </p:txBody>
      </p:sp>
      <p:pic>
        <p:nvPicPr>
          <p:cNvPr id="24" name="Image 6" descr="preencoded.png"/>
          <p:cNvPicPr>
            <a:picLocks noChangeAspect="1"/>
          </p:cNvPicPr>
          <p:nvPr/>
        </p:nvPicPr>
        <p:blipFill>
          <a:blip r:embed="rId9"/>
          <a:stretch>
            <a:fillRect/>
          </a:stretch>
        </p:blipFill>
        <p:spPr>
          <a:xfrm>
            <a:off x="5072063" y="2792313"/>
            <a:ext cx="121444" cy="121444"/>
          </a:xfrm>
          <a:prstGeom prst="rect">
            <a:avLst/>
          </a:prstGeom>
        </p:spPr>
      </p:pic>
      <p:sp>
        <p:nvSpPr>
          <p:cNvPr id="25" name="Text 15"/>
          <p:cNvSpPr/>
          <p:nvPr/>
        </p:nvSpPr>
        <p:spPr>
          <a:xfrm>
            <a:off x="5279231" y="2780705"/>
            <a:ext cx="1802011" cy="144661"/>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체류 상태: Nguyen (D-76 만료 임박)</a:t>
            </a:r>
            <a:endParaRPr lang="en-US" sz="900" dirty="0"/>
          </a:p>
        </p:txBody>
      </p:sp>
      <p:pic>
        <p:nvPicPr>
          <p:cNvPr id="26" name="Image 7" descr="preencoded.png"/>
          <p:cNvPicPr>
            <a:picLocks noChangeAspect="1"/>
          </p:cNvPicPr>
          <p:nvPr/>
        </p:nvPicPr>
        <p:blipFill>
          <a:blip r:embed="rId10"/>
          <a:stretch>
            <a:fillRect/>
          </a:stretch>
        </p:blipFill>
        <p:spPr>
          <a:xfrm>
            <a:off x="5072063" y="3022699"/>
            <a:ext cx="121444" cy="121444"/>
          </a:xfrm>
          <a:prstGeom prst="rect">
            <a:avLst/>
          </a:prstGeom>
        </p:spPr>
      </p:pic>
      <p:sp>
        <p:nvSpPr>
          <p:cNvPr id="27" name="Text 16"/>
          <p:cNvSpPr/>
          <p:nvPr/>
        </p:nvSpPr>
        <p:spPr>
          <a:xfrm>
            <a:off x="5279231" y="3011091"/>
            <a:ext cx="2080617" cy="144661"/>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누락 서류: 표준근로계약서, 고용허가서 사본</a:t>
            </a:r>
            <a:endParaRPr lang="en-US" sz="900" dirty="0"/>
          </a:p>
        </p:txBody>
      </p:sp>
      <p:pic>
        <p:nvPicPr>
          <p:cNvPr id="28" name="Image 8" descr="preencoded.png"/>
          <p:cNvPicPr>
            <a:picLocks noChangeAspect="1"/>
          </p:cNvPicPr>
          <p:nvPr/>
        </p:nvPicPr>
        <p:blipFill>
          <a:blip r:embed="rId11"/>
          <a:stretch>
            <a:fillRect/>
          </a:stretch>
        </p:blipFill>
        <p:spPr>
          <a:xfrm>
            <a:off x="5072063" y="3253085"/>
            <a:ext cx="121444" cy="121444"/>
          </a:xfrm>
          <a:prstGeom prst="rect">
            <a:avLst/>
          </a:prstGeom>
        </p:spPr>
      </p:pic>
      <p:sp>
        <p:nvSpPr>
          <p:cNvPr id="29" name="Text 17"/>
          <p:cNvSpPr/>
          <p:nvPr/>
        </p:nvSpPr>
        <p:spPr>
          <a:xfrm>
            <a:off x="5279231" y="3241477"/>
            <a:ext cx="2034183" cy="144661"/>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검토 항목: 쿼터 잔여량 및 내국인 구인 노력</a:t>
            </a:r>
            <a:endParaRPr lang="en-US" sz="900" dirty="0"/>
          </a:p>
        </p:txBody>
      </p:sp>
      <p:pic>
        <p:nvPicPr>
          <p:cNvPr id="30" name="Image 9" descr="preencoded.png"/>
          <p:cNvPicPr>
            <a:picLocks noChangeAspect="1"/>
          </p:cNvPicPr>
          <p:nvPr/>
        </p:nvPicPr>
        <p:blipFill>
          <a:blip r:embed="rId12"/>
          <a:stretch>
            <a:fillRect/>
          </a:stretch>
        </p:blipFill>
        <p:spPr>
          <a:xfrm>
            <a:off x="5072063" y="3483471"/>
            <a:ext cx="121444" cy="121444"/>
          </a:xfrm>
          <a:prstGeom prst="rect">
            <a:avLst/>
          </a:prstGeom>
        </p:spPr>
      </p:pic>
      <p:sp>
        <p:nvSpPr>
          <p:cNvPr id="31" name="Text 18"/>
          <p:cNvSpPr/>
          <p:nvPr/>
        </p:nvSpPr>
        <p:spPr>
          <a:xfrm>
            <a:off x="5279231" y="3471863"/>
            <a:ext cx="1860947" cy="144661"/>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감사 로그: AI 실행 계획 및 근거 문서 ID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6204347"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07. 데이터 전략: 정형/비정형 데이터 통합 관리</a:t>
            </a:r>
            <a:endParaRPr lang="en-US" sz="2450" dirty="0"/>
          </a:p>
        </p:txBody>
      </p:sp>
      <p:sp>
        <p:nvSpPr>
          <p:cNvPr id="5" name="Shape 1"/>
          <p:cNvSpPr/>
          <p:nvPr/>
        </p:nvSpPr>
        <p:spPr>
          <a:xfrm>
            <a:off x="571500" y="1428750"/>
            <a:ext cx="1101923" cy="250031"/>
          </a:xfrm>
          <a:prstGeom prst="rect">
            <a:avLst/>
          </a:prstGeom>
          <a:solidFill>
            <a:srgbClr val="DBEAFE"/>
          </a:solidFill>
          <a:ln/>
        </p:spPr>
      </p:sp>
      <p:sp>
        <p:nvSpPr>
          <p:cNvPr id="6" name="Text 2"/>
          <p:cNvSpPr/>
          <p:nvPr/>
        </p:nvSpPr>
        <p:spPr>
          <a:xfrm>
            <a:off x="571500" y="1428750"/>
            <a:ext cx="1101923" cy="250031"/>
          </a:xfrm>
          <a:prstGeom prst="rect">
            <a:avLst/>
          </a:prstGeom>
          <a:noFill/>
          <a:ln/>
        </p:spPr>
        <p:txBody>
          <a:bodyPr wrap="none" lIns="136017" tIns="68072" rIns="136017" bIns="68072" rtlCol="0" anchor="t">
            <a:spAutoFit/>
          </a:bodyPr>
          <a:lstStyle/>
          <a:p>
            <a:pPr marL="0" indent="0" algn="l">
              <a:buNone/>
            </a:pPr>
            <a:r>
              <a:rPr lang="en-US" sz="800" b="1" dirty="0">
                <a:solidFill>
                  <a:srgbClr val="2563EB"/>
                </a:solidFill>
                <a:latin typeface="Pretendard Variable" pitchFamily="34" charset="0"/>
                <a:ea typeface="Pretendard Variable" pitchFamily="34" charset="-122"/>
                <a:cs typeface="Pretendard Variable" pitchFamily="34" charset="-120"/>
              </a:rPr>
              <a:t>Data Integration</a:t>
            </a:r>
            <a:endParaRPr lang="en-US" sz="800" dirty="0"/>
          </a:p>
        </p:txBody>
      </p:sp>
      <p:sp>
        <p:nvSpPr>
          <p:cNvPr id="7" name="Text 3"/>
          <p:cNvSpPr/>
          <p:nvPr/>
        </p:nvSpPr>
        <p:spPr>
          <a:xfrm>
            <a:off x="571500" y="1893094"/>
            <a:ext cx="3095616" cy="668610"/>
          </a:xfrm>
          <a:prstGeom prst="rect">
            <a:avLst/>
          </a:prstGeom>
          <a:noFill/>
          <a:ln/>
        </p:spPr>
        <p:txBody>
          <a:bodyPr wrap="square" lIns="0" tIns="0" rIns="0" bIns="0" rtlCol="0" anchor="t">
            <a:spAutoFit/>
          </a:bodyPr>
          <a:lstStyle/>
          <a:p>
            <a:pPr marL="0" indent="0" algn="l">
              <a:lnSpc>
                <a:spcPct val="104000"/>
              </a:lnSpc>
              <a:buNone/>
            </a:pPr>
            <a:r>
              <a:rPr lang="en-US" sz="1800" b="1" dirty="0">
                <a:solidFill>
                  <a:srgbClr val="0F172A"/>
                </a:solidFill>
                <a:latin typeface="Pretendard Variable" pitchFamily="34" charset="0"/>
                <a:ea typeface="Pretendard Variable" pitchFamily="34" charset="-122"/>
                <a:cs typeface="Pretendard Variable" pitchFamily="34" charset="-120"/>
              </a:rPr>
              <a:t>파편화된 정보를
하나의 지능형 자산으로</a:t>
            </a:r>
            <a:endParaRPr lang="en-US" sz="1800" dirty="0"/>
          </a:p>
        </p:txBody>
      </p:sp>
      <p:sp>
        <p:nvSpPr>
          <p:cNvPr id="8" name="Text 4"/>
          <p:cNvSpPr/>
          <p:nvPr/>
        </p:nvSpPr>
        <p:spPr>
          <a:xfrm>
            <a:off x="571500" y="2776017"/>
            <a:ext cx="3095616" cy="801495"/>
          </a:xfrm>
          <a:prstGeom prst="rect">
            <a:avLst/>
          </a:prstGeom>
          <a:noFill/>
          <a:ln/>
        </p:spPr>
        <p:txBody>
          <a:bodyPr wrap="square" lIns="0" tIns="0" rIns="0" bIns="0" rtlCol="0" anchor="t">
            <a:spAutoFit/>
          </a:bodyPr>
          <a:lstStyle/>
          <a:p>
            <a:pPr marL="0" indent="0" algn="l">
              <a:lnSpc>
                <a:spcPct val="136000"/>
              </a:lnSpc>
              <a:buNone/>
            </a:pPr>
            <a:r>
              <a:rPr lang="en-US" sz="1150" dirty="0">
                <a:solidFill>
                  <a:srgbClr val="475569"/>
                </a:solidFill>
                <a:latin typeface="Pretendard Variable" pitchFamily="34" charset="0"/>
                <a:ea typeface="Pretendard Variable" pitchFamily="34" charset="-122"/>
                <a:cs typeface="Pretendard Variable" pitchFamily="34" charset="-120"/>
              </a:rPr>
              <a:t>외부의 법적 규제와 내부의 사업장 현황을 실시간으로 동기화하여, </a:t>
            </a:r>
            <a:r>
              <a:rPr lang="en-US" sz="1100" b="1" dirty="0">
                <a:solidFill>
                  <a:srgbClr val="2563EB"/>
                </a:solidFill>
                <a:latin typeface="Pretendard Variable" pitchFamily="34" charset="0"/>
                <a:ea typeface="Pretendard Variable" pitchFamily="34" charset="-122"/>
                <a:cs typeface="Pretendard Variable" pitchFamily="34" charset="-120"/>
              </a:rPr>
              <a:t>데이터에 기반한 의사결정</a:t>
            </a:r>
            <a:r>
              <a:rPr lang="en-US" sz="1150" dirty="0">
                <a:solidFill>
                  <a:srgbClr val="475569"/>
                </a:solidFill>
                <a:latin typeface="Pretendard Variable" pitchFamily="34" charset="0"/>
                <a:ea typeface="Pretendard Variable" pitchFamily="34" charset="-122"/>
                <a:cs typeface="Pretendard Variable" pitchFamily="34" charset="-120"/>
              </a:rPr>
              <a:t> 환경을 구축합니다.</a:t>
            </a:r>
            <a:endParaRPr lang="en-US" sz="1150" dirty="0"/>
          </a:p>
        </p:txBody>
      </p:sp>
      <p:sp>
        <p:nvSpPr>
          <p:cNvPr id="9" name="Shape 5"/>
          <p:cNvSpPr/>
          <p:nvPr/>
        </p:nvSpPr>
        <p:spPr>
          <a:xfrm>
            <a:off x="4238616" y="1428750"/>
            <a:ext cx="1253812" cy="455414"/>
          </a:xfrm>
          <a:prstGeom prst="rect">
            <a:avLst/>
          </a:prstGeom>
          <a:solidFill>
            <a:srgbClr val="0F172A"/>
          </a:solidFill>
          <a:ln/>
        </p:spPr>
      </p:sp>
      <p:sp>
        <p:nvSpPr>
          <p:cNvPr id="10" name="Text 6"/>
          <p:cNvSpPr/>
          <p:nvPr/>
        </p:nvSpPr>
        <p:spPr>
          <a:xfrm>
            <a:off x="4238616" y="1428750"/>
            <a:ext cx="1253812" cy="455414"/>
          </a:xfrm>
          <a:prstGeom prst="rect">
            <a:avLst/>
          </a:prstGeom>
          <a:noFill/>
          <a:ln/>
        </p:spPr>
        <p:txBody>
          <a:bodyPr wrap="none" lIns="170053" tIns="170053" rIns="170053" bIns="170053" rtlCol="0" anchor="ctr">
            <a:spAutoFit/>
          </a:bodyPr>
          <a:lstStyle/>
          <a:p>
            <a:pPr marL="0" indent="0" algn="l">
              <a:buNone/>
            </a:pPr>
            <a:r>
              <a:rPr lang="en-US" sz="1000" b="1" dirty="0">
                <a:solidFill>
                  <a:srgbClr val="FFFFFF"/>
                </a:solidFill>
                <a:latin typeface="Pretendard Variable" pitchFamily="34" charset="0"/>
                <a:ea typeface="Pretendard Variable" pitchFamily="34" charset="-122"/>
                <a:cs typeface="Pretendard Variable" pitchFamily="34" charset="-120"/>
              </a:rPr>
              <a:t>분류</a:t>
            </a:r>
            <a:endParaRPr lang="en-US" sz="1000" dirty="0"/>
          </a:p>
        </p:txBody>
      </p:sp>
      <p:sp>
        <p:nvSpPr>
          <p:cNvPr id="11" name="Shape 7"/>
          <p:cNvSpPr/>
          <p:nvPr/>
        </p:nvSpPr>
        <p:spPr>
          <a:xfrm>
            <a:off x="5492428" y="1428750"/>
            <a:ext cx="3080045" cy="455414"/>
          </a:xfrm>
          <a:prstGeom prst="rect">
            <a:avLst/>
          </a:prstGeom>
          <a:solidFill>
            <a:srgbClr val="0F172A"/>
          </a:solidFill>
          <a:ln/>
        </p:spPr>
      </p:sp>
      <p:sp>
        <p:nvSpPr>
          <p:cNvPr id="12" name="Text 8"/>
          <p:cNvSpPr/>
          <p:nvPr/>
        </p:nvSpPr>
        <p:spPr>
          <a:xfrm>
            <a:off x="5492428" y="1428750"/>
            <a:ext cx="3080045" cy="455414"/>
          </a:xfrm>
          <a:prstGeom prst="rect">
            <a:avLst/>
          </a:prstGeom>
          <a:noFill/>
          <a:ln/>
        </p:spPr>
        <p:txBody>
          <a:bodyPr wrap="square" lIns="170053" tIns="170053" rIns="170053" bIns="170053" rtlCol="0" anchor="ctr">
            <a:spAutoFit/>
          </a:bodyPr>
          <a:lstStyle/>
          <a:p>
            <a:pPr marL="0" indent="0" algn="l">
              <a:buNone/>
            </a:pPr>
            <a:r>
              <a:rPr lang="en-US" sz="1000" b="1" dirty="0">
                <a:solidFill>
                  <a:srgbClr val="FFFFFF"/>
                </a:solidFill>
                <a:latin typeface="Pretendard Variable" pitchFamily="34" charset="0"/>
                <a:ea typeface="Pretendard Variable" pitchFamily="34" charset="-122"/>
                <a:cs typeface="Pretendard Variable" pitchFamily="34" charset="-120"/>
              </a:rPr>
              <a:t>주요 소스 및 내용</a:t>
            </a:r>
            <a:endParaRPr lang="en-US" sz="1000" dirty="0"/>
          </a:p>
        </p:txBody>
      </p:sp>
      <p:pic>
        <p:nvPicPr>
          <p:cNvPr id="13" name="Image 1" descr="preencoded.png"/>
          <p:cNvPicPr>
            <a:picLocks noChangeAspect="1"/>
          </p:cNvPicPr>
          <p:nvPr/>
        </p:nvPicPr>
        <p:blipFill>
          <a:blip r:embed="rId4"/>
          <a:stretch>
            <a:fillRect/>
          </a:stretch>
        </p:blipFill>
        <p:spPr>
          <a:xfrm>
            <a:off x="4381491" y="2069009"/>
            <a:ext cx="142875" cy="142875"/>
          </a:xfrm>
          <a:prstGeom prst="rect">
            <a:avLst/>
          </a:prstGeom>
        </p:spPr>
      </p:pic>
      <p:sp>
        <p:nvSpPr>
          <p:cNvPr id="14" name="Text 9"/>
          <p:cNvSpPr/>
          <p:nvPr/>
        </p:nvSpPr>
        <p:spPr>
          <a:xfrm>
            <a:off x="4595803" y="2055614"/>
            <a:ext cx="566142"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External</a:t>
            </a:r>
            <a:endParaRPr lang="en-US" sz="1000" dirty="0"/>
          </a:p>
        </p:txBody>
      </p:sp>
      <p:sp>
        <p:nvSpPr>
          <p:cNvPr id="15" name="Text 10"/>
          <p:cNvSpPr/>
          <p:nvPr/>
        </p:nvSpPr>
        <p:spPr>
          <a:xfrm>
            <a:off x="5492428" y="1884164"/>
            <a:ext cx="3080045" cy="516136"/>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정책 공고, 비자 가이드라인, 최신 법령 및 지침</a:t>
            </a:r>
            <a:endParaRPr lang="en-US" sz="1050" dirty="0"/>
          </a:p>
        </p:txBody>
      </p:sp>
      <p:pic>
        <p:nvPicPr>
          <p:cNvPr id="16" name="Image 2" descr="preencoded.png"/>
          <p:cNvPicPr>
            <a:picLocks noChangeAspect="1"/>
          </p:cNvPicPr>
          <p:nvPr/>
        </p:nvPicPr>
        <p:blipFill>
          <a:blip r:embed="rId5"/>
          <a:stretch>
            <a:fillRect/>
          </a:stretch>
        </p:blipFill>
        <p:spPr>
          <a:xfrm>
            <a:off x="4381491" y="2588716"/>
            <a:ext cx="125016" cy="142875"/>
          </a:xfrm>
          <a:prstGeom prst="rect">
            <a:avLst/>
          </a:prstGeom>
        </p:spPr>
      </p:pic>
      <p:sp>
        <p:nvSpPr>
          <p:cNvPr id="17" name="Text 11"/>
          <p:cNvSpPr/>
          <p:nvPr/>
        </p:nvSpPr>
        <p:spPr>
          <a:xfrm>
            <a:off x="4577944" y="2575322"/>
            <a:ext cx="528638"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Internal</a:t>
            </a:r>
            <a:endParaRPr lang="en-US" sz="1000" dirty="0"/>
          </a:p>
        </p:txBody>
      </p:sp>
      <p:sp>
        <p:nvSpPr>
          <p:cNvPr id="18" name="Text 12"/>
          <p:cNvSpPr/>
          <p:nvPr/>
        </p:nvSpPr>
        <p:spPr>
          <a:xfrm>
            <a:off x="5492428" y="2400300"/>
            <a:ext cx="3080045" cy="519708"/>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사업장 기본 정보, 숙소 현황, 기존 인력 데이터</a:t>
            </a:r>
            <a:endParaRPr lang="en-US" sz="1050" dirty="0"/>
          </a:p>
        </p:txBody>
      </p:sp>
      <p:pic>
        <p:nvPicPr>
          <p:cNvPr id="19" name="Image 3" descr="preencoded.png"/>
          <p:cNvPicPr>
            <a:picLocks noChangeAspect="1"/>
          </p:cNvPicPr>
          <p:nvPr/>
        </p:nvPicPr>
        <p:blipFill>
          <a:blip r:embed="rId6"/>
          <a:stretch>
            <a:fillRect/>
          </a:stretch>
        </p:blipFill>
        <p:spPr>
          <a:xfrm>
            <a:off x="4381491" y="3108424"/>
            <a:ext cx="160734" cy="142875"/>
          </a:xfrm>
          <a:prstGeom prst="rect">
            <a:avLst/>
          </a:prstGeom>
        </p:spPr>
      </p:pic>
      <p:sp>
        <p:nvSpPr>
          <p:cNvPr id="20" name="Text 13"/>
          <p:cNvSpPr/>
          <p:nvPr/>
        </p:nvSpPr>
        <p:spPr>
          <a:xfrm>
            <a:off x="4613663" y="3095030"/>
            <a:ext cx="632222"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Evidence</a:t>
            </a:r>
            <a:endParaRPr lang="en-US" sz="1000" dirty="0"/>
          </a:p>
        </p:txBody>
      </p:sp>
      <p:sp>
        <p:nvSpPr>
          <p:cNvPr id="21" name="Text 14"/>
          <p:cNvSpPr/>
          <p:nvPr/>
        </p:nvSpPr>
        <p:spPr>
          <a:xfrm>
            <a:off x="5492428" y="2920008"/>
            <a:ext cx="3080045" cy="519708"/>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판단 근거 Citation(인용) 및 실행 이력 로그</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6247209"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08. MVP 핵심 에이전트: 3대 전문가 에이전트</a:t>
            </a:r>
            <a:endParaRPr lang="en-US" sz="2450" dirty="0"/>
          </a:p>
        </p:txBody>
      </p:sp>
      <p:sp>
        <p:nvSpPr>
          <p:cNvPr id="5" name="Shape 1"/>
          <p:cNvSpPr/>
          <p:nvPr/>
        </p:nvSpPr>
        <p:spPr>
          <a:xfrm>
            <a:off x="571500" y="1285875"/>
            <a:ext cx="2476481" cy="2487811"/>
          </a:xfrm>
          <a:prstGeom prst="rect">
            <a:avLst/>
          </a:prstGeom>
          <a:solidFill>
            <a:srgbClr val="F1F5F9"/>
          </a:solidFill>
          <a:ln/>
        </p:spPr>
      </p:sp>
      <p:sp>
        <p:nvSpPr>
          <p:cNvPr id="6" name="Shape 2"/>
          <p:cNvSpPr/>
          <p:nvPr/>
        </p:nvSpPr>
        <p:spPr>
          <a:xfrm>
            <a:off x="571500" y="1285875"/>
            <a:ext cx="2476481" cy="42863"/>
          </a:xfrm>
          <a:prstGeom prst="rect">
            <a:avLst/>
          </a:prstGeom>
          <a:solidFill>
            <a:srgbClr val="2563EB"/>
          </a:solidFill>
          <a:ln/>
        </p:spPr>
      </p:sp>
      <p:sp>
        <p:nvSpPr>
          <p:cNvPr id="7" name="Shape 3"/>
          <p:cNvSpPr/>
          <p:nvPr/>
        </p:nvSpPr>
        <p:spPr>
          <a:xfrm>
            <a:off x="1523991" y="1571625"/>
            <a:ext cx="571500" cy="571500"/>
          </a:xfrm>
          <a:prstGeom prst="ellipse">
            <a:avLst/>
          </a:prstGeom>
          <a:solidFill>
            <a:srgbClr val="0F172A"/>
          </a:solidFill>
          <a:ln/>
        </p:spPr>
      </p:sp>
      <p:pic>
        <p:nvPicPr>
          <p:cNvPr id="8" name="Image 1" descr="preencoded.png"/>
          <p:cNvPicPr>
            <a:picLocks noChangeAspect="1"/>
          </p:cNvPicPr>
          <p:nvPr/>
        </p:nvPicPr>
        <p:blipFill>
          <a:blip r:embed="rId4"/>
          <a:stretch>
            <a:fillRect/>
          </a:stretch>
        </p:blipFill>
        <p:spPr>
          <a:xfrm>
            <a:off x="1666866" y="1743075"/>
            <a:ext cx="285750" cy="228600"/>
          </a:xfrm>
          <a:prstGeom prst="rect">
            <a:avLst/>
          </a:prstGeom>
        </p:spPr>
      </p:pic>
      <p:sp>
        <p:nvSpPr>
          <p:cNvPr id="9" name="Text 4"/>
          <p:cNvSpPr/>
          <p:nvPr/>
        </p:nvSpPr>
        <p:spPr>
          <a:xfrm>
            <a:off x="1125727" y="2357438"/>
            <a:ext cx="1368028" cy="221456"/>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인력 확보 에이전트</a:t>
            </a:r>
            <a:endParaRPr lang="en-US" sz="1300" dirty="0"/>
          </a:p>
        </p:txBody>
      </p:sp>
      <p:pic>
        <p:nvPicPr>
          <p:cNvPr id="10" name="Image 2" descr="preencoded.png"/>
          <p:cNvPicPr>
            <a:picLocks noChangeAspect="1"/>
          </p:cNvPicPr>
          <p:nvPr/>
        </p:nvPicPr>
        <p:blipFill>
          <a:blip r:embed="rId5"/>
          <a:stretch>
            <a:fillRect/>
          </a:stretch>
        </p:blipFill>
        <p:spPr>
          <a:xfrm>
            <a:off x="1264137" y="2744093"/>
            <a:ext cx="100013" cy="100013"/>
          </a:xfrm>
          <a:prstGeom prst="rect">
            <a:avLst/>
          </a:prstGeom>
        </p:spPr>
      </p:pic>
      <p:sp>
        <p:nvSpPr>
          <p:cNvPr id="11" name="Text 5"/>
          <p:cNvSpPr/>
          <p:nvPr/>
        </p:nvSpPr>
        <p:spPr>
          <a:xfrm>
            <a:off x="1421299" y="2721769"/>
            <a:ext cx="93404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고용 쿼터 자동 판별</a:t>
            </a:r>
            <a:endParaRPr lang="en-US" sz="900" dirty="0"/>
          </a:p>
        </p:txBody>
      </p:sp>
      <p:pic>
        <p:nvPicPr>
          <p:cNvPr id="12" name="Image 3" descr="preencoded.png"/>
          <p:cNvPicPr>
            <a:picLocks noChangeAspect="1"/>
          </p:cNvPicPr>
          <p:nvPr/>
        </p:nvPicPr>
        <p:blipFill>
          <a:blip r:embed="rId6"/>
          <a:stretch>
            <a:fillRect/>
          </a:stretch>
        </p:blipFill>
        <p:spPr>
          <a:xfrm>
            <a:off x="1332002" y="2974479"/>
            <a:ext cx="100013" cy="100013"/>
          </a:xfrm>
          <a:prstGeom prst="rect">
            <a:avLst/>
          </a:prstGeom>
        </p:spPr>
      </p:pic>
      <p:sp>
        <p:nvSpPr>
          <p:cNvPr id="13" name="Text 6"/>
          <p:cNvSpPr/>
          <p:nvPr/>
        </p:nvSpPr>
        <p:spPr>
          <a:xfrm>
            <a:off x="1489165" y="2952155"/>
            <a:ext cx="79831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인력 요청서 생성</a:t>
            </a:r>
            <a:endParaRPr lang="en-US" sz="900" dirty="0"/>
          </a:p>
        </p:txBody>
      </p:sp>
      <p:pic>
        <p:nvPicPr>
          <p:cNvPr id="14" name="Image 4" descr="preencoded.png"/>
          <p:cNvPicPr>
            <a:picLocks noChangeAspect="1"/>
          </p:cNvPicPr>
          <p:nvPr/>
        </p:nvPicPr>
        <p:blipFill>
          <a:blip r:embed="rId7"/>
          <a:stretch>
            <a:fillRect/>
          </a:stretch>
        </p:blipFill>
        <p:spPr>
          <a:xfrm>
            <a:off x="1332002" y="3204865"/>
            <a:ext cx="100013" cy="100013"/>
          </a:xfrm>
          <a:prstGeom prst="rect">
            <a:avLst/>
          </a:prstGeom>
        </p:spPr>
      </p:pic>
      <p:sp>
        <p:nvSpPr>
          <p:cNvPr id="15" name="Text 7"/>
          <p:cNvSpPr/>
          <p:nvPr/>
        </p:nvSpPr>
        <p:spPr>
          <a:xfrm>
            <a:off x="1489165" y="3182541"/>
            <a:ext cx="79831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후보자 요건 매칭</a:t>
            </a:r>
            <a:endParaRPr lang="en-US" sz="900" dirty="0"/>
          </a:p>
        </p:txBody>
      </p:sp>
      <p:sp>
        <p:nvSpPr>
          <p:cNvPr id="16" name="Shape 8"/>
          <p:cNvSpPr/>
          <p:nvPr/>
        </p:nvSpPr>
        <p:spPr>
          <a:xfrm>
            <a:off x="3333731" y="1285875"/>
            <a:ext cx="2476509" cy="2487811"/>
          </a:xfrm>
          <a:prstGeom prst="rect">
            <a:avLst/>
          </a:prstGeom>
          <a:solidFill>
            <a:srgbClr val="F1F5F9"/>
          </a:solidFill>
          <a:ln/>
        </p:spPr>
      </p:sp>
      <p:sp>
        <p:nvSpPr>
          <p:cNvPr id="17" name="Shape 9"/>
          <p:cNvSpPr/>
          <p:nvPr/>
        </p:nvSpPr>
        <p:spPr>
          <a:xfrm>
            <a:off x="3333731" y="1285875"/>
            <a:ext cx="2476509" cy="42863"/>
          </a:xfrm>
          <a:prstGeom prst="rect">
            <a:avLst/>
          </a:prstGeom>
          <a:solidFill>
            <a:srgbClr val="2563EB"/>
          </a:solidFill>
          <a:ln/>
        </p:spPr>
      </p:sp>
      <p:sp>
        <p:nvSpPr>
          <p:cNvPr id="18" name="Shape 10"/>
          <p:cNvSpPr/>
          <p:nvPr/>
        </p:nvSpPr>
        <p:spPr>
          <a:xfrm>
            <a:off x="4286222" y="1571625"/>
            <a:ext cx="571500" cy="571500"/>
          </a:xfrm>
          <a:prstGeom prst="ellipse">
            <a:avLst/>
          </a:prstGeom>
          <a:solidFill>
            <a:srgbClr val="0F172A"/>
          </a:solidFill>
          <a:ln/>
        </p:spPr>
      </p:sp>
      <p:pic>
        <p:nvPicPr>
          <p:cNvPr id="19" name="Image 5" descr="preencoded.png"/>
          <p:cNvPicPr>
            <a:picLocks noChangeAspect="1"/>
          </p:cNvPicPr>
          <p:nvPr/>
        </p:nvPicPr>
        <p:blipFill>
          <a:blip r:embed="rId8"/>
          <a:stretch>
            <a:fillRect/>
          </a:stretch>
        </p:blipFill>
        <p:spPr>
          <a:xfrm>
            <a:off x="4429097" y="1743075"/>
            <a:ext cx="285750" cy="228600"/>
          </a:xfrm>
          <a:prstGeom prst="rect">
            <a:avLst/>
          </a:prstGeom>
        </p:spPr>
      </p:pic>
      <p:sp>
        <p:nvSpPr>
          <p:cNvPr id="20" name="Text 11"/>
          <p:cNvSpPr/>
          <p:nvPr/>
        </p:nvSpPr>
        <p:spPr>
          <a:xfrm>
            <a:off x="3807591" y="2357438"/>
            <a:ext cx="1528763" cy="221456"/>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다국어 컨택 에이전트</a:t>
            </a:r>
            <a:endParaRPr lang="en-US" sz="1300" dirty="0"/>
          </a:p>
        </p:txBody>
      </p:sp>
      <p:pic>
        <p:nvPicPr>
          <p:cNvPr id="21" name="Image 6" descr="preencoded.png"/>
          <p:cNvPicPr>
            <a:picLocks noChangeAspect="1"/>
          </p:cNvPicPr>
          <p:nvPr/>
        </p:nvPicPr>
        <p:blipFill>
          <a:blip r:embed="rId9"/>
          <a:stretch>
            <a:fillRect/>
          </a:stretch>
        </p:blipFill>
        <p:spPr>
          <a:xfrm>
            <a:off x="3977255" y="2744093"/>
            <a:ext cx="100013" cy="100013"/>
          </a:xfrm>
          <a:prstGeom prst="rect">
            <a:avLst/>
          </a:prstGeom>
        </p:spPr>
      </p:pic>
      <p:sp>
        <p:nvSpPr>
          <p:cNvPr id="22" name="Text 12"/>
          <p:cNvSpPr/>
          <p:nvPr/>
        </p:nvSpPr>
        <p:spPr>
          <a:xfrm>
            <a:off x="4134417" y="2721769"/>
            <a:ext cx="1032272"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16개국어 메시지 생성</a:t>
            </a:r>
            <a:endParaRPr lang="en-US" sz="900" dirty="0"/>
          </a:p>
        </p:txBody>
      </p:sp>
      <p:pic>
        <p:nvPicPr>
          <p:cNvPr id="23" name="Image 7" descr="preencoded.png"/>
          <p:cNvPicPr>
            <a:picLocks noChangeAspect="1"/>
          </p:cNvPicPr>
          <p:nvPr/>
        </p:nvPicPr>
        <p:blipFill>
          <a:blip r:embed="rId10"/>
          <a:stretch>
            <a:fillRect/>
          </a:stretch>
        </p:blipFill>
        <p:spPr>
          <a:xfrm>
            <a:off x="3920998" y="2974479"/>
            <a:ext cx="100013" cy="100013"/>
          </a:xfrm>
          <a:prstGeom prst="rect">
            <a:avLst/>
          </a:prstGeom>
        </p:spPr>
      </p:pic>
      <p:sp>
        <p:nvSpPr>
          <p:cNvPr id="24" name="Text 13"/>
          <p:cNvSpPr/>
          <p:nvPr/>
        </p:nvSpPr>
        <p:spPr>
          <a:xfrm>
            <a:off x="4078160" y="2952155"/>
            <a:ext cx="1144786"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근로자 응답 실시간 해석</a:t>
            </a:r>
            <a:endParaRPr lang="en-US" sz="900" dirty="0"/>
          </a:p>
        </p:txBody>
      </p:sp>
      <p:pic>
        <p:nvPicPr>
          <p:cNvPr id="25" name="Image 8" descr="preencoded.png"/>
          <p:cNvPicPr>
            <a:picLocks noChangeAspect="1"/>
          </p:cNvPicPr>
          <p:nvPr/>
        </p:nvPicPr>
        <p:blipFill>
          <a:blip r:embed="rId11"/>
          <a:stretch>
            <a:fillRect/>
          </a:stretch>
        </p:blipFill>
        <p:spPr>
          <a:xfrm>
            <a:off x="4041549" y="3204865"/>
            <a:ext cx="100013" cy="100013"/>
          </a:xfrm>
          <a:prstGeom prst="rect">
            <a:avLst/>
          </a:prstGeom>
        </p:spPr>
      </p:pic>
      <p:sp>
        <p:nvSpPr>
          <p:cNvPr id="26" name="Text 14"/>
          <p:cNvSpPr/>
          <p:nvPr/>
        </p:nvSpPr>
        <p:spPr>
          <a:xfrm>
            <a:off x="4198711" y="3182541"/>
            <a:ext cx="90368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온보딩 가이드 안내</a:t>
            </a:r>
            <a:endParaRPr lang="en-US" sz="900" dirty="0"/>
          </a:p>
        </p:txBody>
      </p:sp>
      <p:sp>
        <p:nvSpPr>
          <p:cNvPr id="27" name="Shape 15"/>
          <p:cNvSpPr/>
          <p:nvPr/>
        </p:nvSpPr>
        <p:spPr>
          <a:xfrm>
            <a:off x="6095991" y="1285875"/>
            <a:ext cx="2476481" cy="2487811"/>
          </a:xfrm>
          <a:prstGeom prst="rect">
            <a:avLst/>
          </a:prstGeom>
          <a:solidFill>
            <a:srgbClr val="F1F5F9"/>
          </a:solidFill>
          <a:ln/>
        </p:spPr>
      </p:sp>
      <p:sp>
        <p:nvSpPr>
          <p:cNvPr id="28" name="Shape 16"/>
          <p:cNvSpPr/>
          <p:nvPr/>
        </p:nvSpPr>
        <p:spPr>
          <a:xfrm>
            <a:off x="6095991" y="1285875"/>
            <a:ext cx="2476481" cy="42863"/>
          </a:xfrm>
          <a:prstGeom prst="rect">
            <a:avLst/>
          </a:prstGeom>
          <a:solidFill>
            <a:srgbClr val="2563EB"/>
          </a:solidFill>
          <a:ln/>
        </p:spPr>
      </p:sp>
      <p:sp>
        <p:nvSpPr>
          <p:cNvPr id="29" name="Shape 17"/>
          <p:cNvSpPr/>
          <p:nvPr/>
        </p:nvSpPr>
        <p:spPr>
          <a:xfrm>
            <a:off x="7048481" y="1571625"/>
            <a:ext cx="571500" cy="571500"/>
          </a:xfrm>
          <a:prstGeom prst="ellipse">
            <a:avLst/>
          </a:prstGeom>
          <a:solidFill>
            <a:srgbClr val="0F172A"/>
          </a:solidFill>
          <a:ln/>
        </p:spPr>
      </p:sp>
      <p:sp>
        <p:nvSpPr>
          <p:cNvPr id="30" name="Text 18"/>
          <p:cNvSpPr/>
          <p:nvPr/>
        </p:nvSpPr>
        <p:spPr>
          <a:xfrm>
            <a:off x="6462694" y="2357438"/>
            <a:ext cx="1743075" cy="221456"/>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비자·서류 운영 에이전트</a:t>
            </a:r>
            <a:endParaRPr lang="en-US" sz="1300" dirty="0"/>
          </a:p>
        </p:txBody>
      </p:sp>
      <p:pic>
        <p:nvPicPr>
          <p:cNvPr id="31" name="Image 9" descr="preencoded.png"/>
          <p:cNvPicPr>
            <a:picLocks noChangeAspect="1"/>
          </p:cNvPicPr>
          <p:nvPr/>
        </p:nvPicPr>
        <p:blipFill>
          <a:blip r:embed="rId9"/>
          <a:stretch>
            <a:fillRect/>
          </a:stretch>
        </p:blipFill>
        <p:spPr>
          <a:xfrm>
            <a:off x="6727013" y="2744093"/>
            <a:ext cx="100013" cy="100013"/>
          </a:xfrm>
          <a:prstGeom prst="rect">
            <a:avLst/>
          </a:prstGeom>
        </p:spPr>
      </p:pic>
      <p:sp>
        <p:nvSpPr>
          <p:cNvPr id="32" name="Text 19"/>
          <p:cNvSpPr/>
          <p:nvPr/>
        </p:nvSpPr>
        <p:spPr>
          <a:xfrm>
            <a:off x="6884175" y="2721769"/>
            <a:ext cx="105727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체류 만료 D-day 관리</a:t>
            </a:r>
            <a:endParaRPr lang="en-US" sz="900" dirty="0"/>
          </a:p>
        </p:txBody>
      </p:sp>
      <p:pic>
        <p:nvPicPr>
          <p:cNvPr id="33" name="Image 10" descr="preencoded.png"/>
          <p:cNvPicPr>
            <a:picLocks noChangeAspect="1"/>
          </p:cNvPicPr>
          <p:nvPr/>
        </p:nvPicPr>
        <p:blipFill>
          <a:blip r:embed="rId12"/>
          <a:stretch>
            <a:fillRect/>
          </a:stretch>
        </p:blipFill>
        <p:spPr>
          <a:xfrm>
            <a:off x="6788627" y="2974479"/>
            <a:ext cx="100013" cy="100013"/>
          </a:xfrm>
          <a:prstGeom prst="rect">
            <a:avLst/>
          </a:prstGeom>
        </p:spPr>
      </p:pic>
      <p:sp>
        <p:nvSpPr>
          <p:cNvPr id="34" name="Text 20"/>
          <p:cNvSpPr/>
          <p:nvPr/>
        </p:nvSpPr>
        <p:spPr>
          <a:xfrm>
            <a:off x="6945790" y="2952155"/>
            <a:ext cx="93404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누락 서류 자동 탐지</a:t>
            </a:r>
            <a:endParaRPr lang="en-US" sz="900" dirty="0"/>
          </a:p>
        </p:txBody>
      </p:sp>
      <p:pic>
        <p:nvPicPr>
          <p:cNvPr id="35" name="Image 11" descr="preencoded.png"/>
          <p:cNvPicPr>
            <a:picLocks noChangeAspect="1"/>
          </p:cNvPicPr>
          <p:nvPr/>
        </p:nvPicPr>
        <p:blipFill>
          <a:blip r:embed="rId7"/>
          <a:stretch>
            <a:fillRect/>
          </a:stretch>
        </p:blipFill>
        <p:spPr>
          <a:xfrm>
            <a:off x="6803808" y="3204865"/>
            <a:ext cx="100013" cy="100013"/>
          </a:xfrm>
          <a:prstGeom prst="rect">
            <a:avLst/>
          </a:prstGeom>
        </p:spPr>
      </p:pic>
      <p:sp>
        <p:nvSpPr>
          <p:cNvPr id="36" name="Text 21"/>
          <p:cNvSpPr/>
          <p:nvPr/>
        </p:nvSpPr>
        <p:spPr>
          <a:xfrm>
            <a:off x="6960970" y="3182541"/>
            <a:ext cx="90368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행정사 전달 패키지</a:t>
            </a:r>
            <a:endParaRPr lang="en-US" sz="900" dirty="0"/>
          </a:p>
        </p:txBody>
      </p:sp>
      <p:sp>
        <p:nvSpPr>
          <p:cNvPr id="37" name="Shape 22"/>
          <p:cNvSpPr/>
          <p:nvPr/>
        </p:nvSpPr>
        <p:spPr>
          <a:xfrm>
            <a:off x="571500" y="4059436"/>
            <a:ext cx="8001000" cy="512564"/>
          </a:xfrm>
          <a:prstGeom prst="rect">
            <a:avLst/>
          </a:prstGeom>
          <a:solidFill>
            <a:srgbClr val="0F172A"/>
          </a:solidFill>
          <a:ln/>
        </p:spPr>
      </p:sp>
      <p:sp>
        <p:nvSpPr>
          <p:cNvPr id="38" name="Text 23"/>
          <p:cNvSpPr/>
          <p:nvPr/>
        </p:nvSpPr>
        <p:spPr>
          <a:xfrm>
            <a:off x="571500" y="4059436"/>
            <a:ext cx="8001000" cy="512564"/>
          </a:xfrm>
          <a:prstGeom prst="rect">
            <a:avLst/>
          </a:prstGeom>
          <a:noFill/>
          <a:ln/>
        </p:spPr>
        <p:txBody>
          <a:bodyPr wrap="square" lIns="204089" tIns="204089" rIns="204089" bIns="204089" rtlCol="0" anchor="t">
            <a:spAutoFit/>
          </a:bodyPr>
          <a:lstStyle/>
          <a:p>
            <a:pPr marL="0" indent="0" algn="ctr">
              <a:buNone/>
            </a:pPr>
            <a:r>
              <a:rPr lang="en-US" sz="1000" b="1" dirty="0">
                <a:solidFill>
                  <a:srgbClr val="FFFFFF"/>
                </a:solidFill>
                <a:latin typeface="Pretendard Variable" pitchFamily="34" charset="0"/>
                <a:ea typeface="Pretendard Variable" pitchFamily="34" charset="-122"/>
                <a:cs typeface="Pretendard Variable" pitchFamily="34" charset="-120"/>
              </a:rPr>
              <a:t>"각 분야의 전문 지식을 갖춘 에이전트들이 유기적으로 협력하여 업무를 완수합니다."</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6286500"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09. 인력 확보 에이전트: 쿼터 판별 및 문서 준비</a:t>
            </a:r>
            <a:endParaRPr lang="en-US" sz="2450" dirty="0"/>
          </a:p>
        </p:txBody>
      </p:sp>
      <p:sp>
        <p:nvSpPr>
          <p:cNvPr id="5" name="Shape 1"/>
          <p:cNvSpPr/>
          <p:nvPr/>
        </p:nvSpPr>
        <p:spPr>
          <a:xfrm>
            <a:off x="571500" y="1285875"/>
            <a:ext cx="1135856" cy="205383"/>
          </a:xfrm>
          <a:prstGeom prst="rect">
            <a:avLst/>
          </a:prstGeom>
          <a:solidFill>
            <a:srgbClr val="DBEAFE"/>
          </a:solidFill>
          <a:ln/>
        </p:spPr>
      </p:sp>
      <p:sp>
        <p:nvSpPr>
          <p:cNvPr id="6" name="Text 2"/>
          <p:cNvSpPr/>
          <p:nvPr/>
        </p:nvSpPr>
        <p:spPr>
          <a:xfrm>
            <a:off x="571500" y="1285875"/>
            <a:ext cx="1135856" cy="205383"/>
          </a:xfrm>
          <a:prstGeom prst="rect">
            <a:avLst/>
          </a:prstGeom>
          <a:noFill/>
          <a:ln/>
        </p:spPr>
        <p:txBody>
          <a:bodyPr wrap="none" lIns="102108" tIns="51054" rIns="102108" bIns="51054"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CORE CAPABILITIES</a:t>
            </a:r>
            <a:endParaRPr lang="en-US" sz="700" dirty="0"/>
          </a:p>
        </p:txBody>
      </p:sp>
      <p:sp>
        <p:nvSpPr>
          <p:cNvPr id="7" name="Text 3"/>
          <p:cNvSpPr/>
          <p:nvPr/>
        </p:nvSpPr>
        <p:spPr>
          <a:xfrm>
            <a:off x="571500" y="1634133"/>
            <a:ext cx="3786188" cy="273248"/>
          </a:xfrm>
          <a:prstGeom prst="rect">
            <a:avLst/>
          </a:prstGeom>
          <a:noFill/>
          <a:ln/>
        </p:spPr>
        <p:txBody>
          <a:bodyPr wrap="square" lIns="0" tIns="0" rIns="0" bIns="0" rtlCol="0" anchor="t">
            <a:spAutoFit/>
          </a:bodyPr>
          <a:lstStyle/>
          <a:p>
            <a:pPr marL="0" indent="0" algn="l">
              <a:buNone/>
            </a:pPr>
            <a:r>
              <a:rPr lang="en-US" sz="1600" b="1" dirty="0">
                <a:solidFill>
                  <a:srgbClr val="0F172A"/>
                </a:solidFill>
                <a:latin typeface="Pretendard Variable" pitchFamily="34" charset="0"/>
                <a:ea typeface="Pretendard Variable" pitchFamily="34" charset="-122"/>
                <a:cs typeface="Pretendard Variable" pitchFamily="34" charset="-120"/>
              </a:rPr>
              <a:t>"몇 명 더 뽑고 싶다"</a:t>
            </a:r>
            <a:endParaRPr lang="en-US" sz="1600" dirty="0"/>
          </a:p>
        </p:txBody>
      </p:sp>
      <p:pic>
        <p:nvPicPr>
          <p:cNvPr id="8" name="Image 1" descr="preencoded.png"/>
          <p:cNvPicPr>
            <a:picLocks noChangeAspect="1"/>
          </p:cNvPicPr>
          <p:nvPr/>
        </p:nvPicPr>
        <p:blipFill>
          <a:blip r:embed="rId4"/>
          <a:stretch>
            <a:fillRect/>
          </a:stretch>
        </p:blipFill>
        <p:spPr>
          <a:xfrm>
            <a:off x="573091" y="2168128"/>
            <a:ext cx="171450" cy="228600"/>
          </a:xfrm>
          <a:prstGeom prst="rect">
            <a:avLst/>
          </a:prstGeom>
        </p:spPr>
      </p:pic>
      <p:sp>
        <p:nvSpPr>
          <p:cNvPr id="9" name="Text 4"/>
          <p:cNvSpPr/>
          <p:nvPr/>
        </p:nvSpPr>
        <p:spPr>
          <a:xfrm>
            <a:off x="889006" y="2121694"/>
            <a:ext cx="3468681"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Variable" pitchFamily="34" charset="0"/>
                <a:ea typeface="Pretendard Variable" pitchFamily="34" charset="-122"/>
                <a:cs typeface="Pretendard Variable" pitchFamily="34" charset="-120"/>
              </a:rPr>
              <a:t>의도 분석 및 쿼터 판별</a:t>
            </a:r>
            <a:endParaRPr lang="en-US" sz="1100" dirty="0"/>
          </a:p>
        </p:txBody>
      </p:sp>
      <p:sp>
        <p:nvSpPr>
          <p:cNvPr id="10" name="Text 5"/>
          <p:cNvSpPr/>
          <p:nvPr/>
        </p:nvSpPr>
        <p:spPr>
          <a:xfrm>
            <a:off x="889006" y="2366367"/>
            <a:ext cx="346868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사업주의 채용 의도를 분석하여 현재 고용 허용 인원과 잔여 쿼터를 실시간 계산, 채용 가능 여부를 즉시 보고합니다.</a:t>
            </a:r>
            <a:endParaRPr lang="en-US" sz="950" dirty="0"/>
          </a:p>
        </p:txBody>
      </p:sp>
      <p:pic>
        <p:nvPicPr>
          <p:cNvPr id="11" name="Image 2" descr="preencoded.png"/>
          <p:cNvPicPr>
            <a:picLocks noChangeAspect="1"/>
          </p:cNvPicPr>
          <p:nvPr/>
        </p:nvPicPr>
        <p:blipFill>
          <a:blip r:embed="rId5"/>
          <a:stretch>
            <a:fillRect/>
          </a:stretch>
        </p:blipFill>
        <p:spPr>
          <a:xfrm>
            <a:off x="571500" y="3052837"/>
            <a:ext cx="257175" cy="228600"/>
          </a:xfrm>
          <a:prstGeom prst="rect">
            <a:avLst/>
          </a:prstGeom>
        </p:spPr>
      </p:pic>
      <p:sp>
        <p:nvSpPr>
          <p:cNvPr id="12" name="Text 6"/>
          <p:cNvSpPr/>
          <p:nvPr/>
        </p:nvSpPr>
        <p:spPr>
          <a:xfrm>
            <a:off x="971550" y="3006403"/>
            <a:ext cx="3386138"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Variable" pitchFamily="34" charset="0"/>
                <a:ea typeface="Pretendard Variable" pitchFamily="34" charset="-122"/>
                <a:cs typeface="Pretendard Variable" pitchFamily="34" charset="-120"/>
              </a:rPr>
              <a:t>신청 문서 자동 준비</a:t>
            </a:r>
            <a:endParaRPr lang="en-US" sz="1100" dirty="0"/>
          </a:p>
        </p:txBody>
      </p:sp>
      <p:sp>
        <p:nvSpPr>
          <p:cNvPr id="13" name="Text 7"/>
          <p:cNvSpPr/>
          <p:nvPr/>
        </p:nvSpPr>
        <p:spPr>
          <a:xfrm>
            <a:off x="971550" y="3251076"/>
            <a:ext cx="3386138"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고용허가 신청에 필요한 표준 서식 초안을 자동 생성하여 담당자의 검토 및 제출 준비 시간을 획기적으로 단축합니다.</a:t>
            </a:r>
            <a:endParaRPr lang="en-US" sz="950" dirty="0"/>
          </a:p>
        </p:txBody>
      </p:sp>
      <p:sp>
        <p:nvSpPr>
          <p:cNvPr id="14" name="Shape 8"/>
          <p:cNvSpPr/>
          <p:nvPr/>
        </p:nvSpPr>
        <p:spPr>
          <a:xfrm>
            <a:off x="4786313" y="1285875"/>
            <a:ext cx="3786188" cy="2719536"/>
          </a:xfrm>
          <a:prstGeom prst="rect">
            <a:avLst/>
          </a:prstGeom>
          <a:solidFill>
            <a:srgbClr val="FFF1F2"/>
          </a:solidFill>
          <a:ln/>
        </p:spPr>
      </p:sp>
      <p:sp>
        <p:nvSpPr>
          <p:cNvPr id="15" name="Shape 9"/>
          <p:cNvSpPr/>
          <p:nvPr/>
        </p:nvSpPr>
        <p:spPr>
          <a:xfrm>
            <a:off x="4786313" y="1285875"/>
            <a:ext cx="3786188" cy="57150"/>
          </a:xfrm>
          <a:prstGeom prst="rect">
            <a:avLst/>
          </a:prstGeom>
          <a:solidFill>
            <a:srgbClr val="E11D48"/>
          </a:solidFill>
          <a:ln/>
        </p:spPr>
      </p:sp>
      <p:sp>
        <p:nvSpPr>
          <p:cNvPr id="16" name="Text 10"/>
          <p:cNvSpPr/>
          <p:nvPr/>
        </p:nvSpPr>
        <p:spPr>
          <a:xfrm>
            <a:off x="5157788" y="1571625"/>
            <a:ext cx="1682353" cy="203597"/>
          </a:xfrm>
          <a:prstGeom prst="rect">
            <a:avLst/>
          </a:prstGeom>
          <a:noFill/>
          <a:ln/>
        </p:spPr>
        <p:txBody>
          <a:bodyPr wrap="square" lIns="0" tIns="0" rIns="0" bIns="0" rtlCol="0" anchor="t">
            <a:spAutoFit/>
          </a:bodyPr>
          <a:lstStyle/>
          <a:p>
            <a:pPr marL="0" indent="0" algn="l">
              <a:buNone/>
            </a:pPr>
            <a:r>
              <a:rPr lang="en-US" sz="1200" b="1" dirty="0">
                <a:solidFill>
                  <a:srgbClr val="E11D48"/>
                </a:solidFill>
                <a:latin typeface="Pretendard Variable" pitchFamily="34" charset="0"/>
                <a:ea typeface="Pretendard Variable" pitchFamily="34" charset="-122"/>
                <a:cs typeface="Pretendard Variable" pitchFamily="34" charset="-120"/>
              </a:rPr>
              <a:t>운영 원칙: 가치 판단 배제</a:t>
            </a:r>
            <a:endParaRPr lang="en-US" sz="1200" dirty="0"/>
          </a:p>
        </p:txBody>
      </p:sp>
      <p:sp>
        <p:nvSpPr>
          <p:cNvPr id="17" name="Text 11"/>
          <p:cNvSpPr/>
          <p:nvPr/>
        </p:nvSpPr>
        <p:spPr>
          <a:xfrm>
            <a:off x="5072063" y="1946672"/>
            <a:ext cx="3214688" cy="437164"/>
          </a:xfrm>
          <a:prstGeom prst="rect">
            <a:avLst/>
          </a:prstGeom>
          <a:noFill/>
          <a:ln/>
        </p:spPr>
        <p:txBody>
          <a:bodyPr wrap="square" lIns="0" tIns="0" rIns="0" bIns="0" rtlCol="0" anchor="t">
            <a:spAutoFit/>
          </a:bodyPr>
          <a:lstStyle/>
          <a:p>
            <a:pPr marL="0" indent="0" algn="l">
              <a:lnSpc>
                <a:spcPct val="136000"/>
              </a:lnSpc>
              <a:buNone/>
            </a:pPr>
            <a:r>
              <a:rPr lang="en-US" sz="950" dirty="0">
                <a:solidFill>
                  <a:srgbClr val="9F1239"/>
                </a:solidFill>
                <a:latin typeface="Pretendard Variable" pitchFamily="34" charset="0"/>
                <a:ea typeface="Pretendard Variable" pitchFamily="34" charset="-122"/>
                <a:cs typeface="Pretendard Variable" pitchFamily="34" charset="-120"/>
              </a:rPr>
              <a:t>"좋은 사람 추천해달라"는 식의 주관적 평가는 시스템적으로 원천 금지합니다.</a:t>
            </a:r>
            <a:endParaRPr lang="en-US" sz="950" dirty="0"/>
          </a:p>
        </p:txBody>
      </p:sp>
      <p:sp>
        <p:nvSpPr>
          <p:cNvPr id="18" name="Text 12"/>
          <p:cNvSpPr/>
          <p:nvPr/>
        </p:nvSpPr>
        <p:spPr>
          <a:xfrm>
            <a:off x="5072063" y="2526711"/>
            <a:ext cx="3214688" cy="655746"/>
          </a:xfrm>
          <a:prstGeom prst="rect">
            <a:avLst/>
          </a:prstGeom>
          <a:noFill/>
          <a:ln/>
        </p:spPr>
        <p:txBody>
          <a:bodyPr wrap="square" lIns="0" tIns="0" rIns="0" bIns="0" rtlCol="0" anchor="t">
            <a:spAutoFit/>
          </a:bodyPr>
          <a:lstStyle/>
          <a:p>
            <a:pPr marL="0" indent="0" algn="l">
              <a:lnSpc>
                <a:spcPct val="136000"/>
              </a:lnSpc>
              <a:buNone/>
            </a:pPr>
            <a:r>
              <a:rPr lang="en-US" sz="950" dirty="0">
                <a:solidFill>
                  <a:srgbClr val="9F1239"/>
                </a:solidFill>
                <a:latin typeface="Pretendard Variable" pitchFamily="34" charset="0"/>
                <a:ea typeface="Pretendard Variable" pitchFamily="34" charset="-122"/>
                <a:cs typeface="Pretendard Variable" pitchFamily="34" charset="-120"/>
              </a:rPr>
              <a:t>에이전트는 근로자의 성실도나 이탈 가능성 같은 가치 판단을 배제하며, 오직 </a:t>
            </a:r>
            <a:r>
              <a:rPr lang="en-US" sz="900" b="1" dirty="0">
                <a:solidFill>
                  <a:srgbClr val="E11D48"/>
                </a:solidFill>
                <a:latin typeface="Pretendard Variable" pitchFamily="34" charset="0"/>
                <a:ea typeface="Pretendard Variable" pitchFamily="34" charset="-122"/>
                <a:cs typeface="Pretendard Variable" pitchFamily="34" charset="-120"/>
              </a:rPr>
              <a:t>제도적 요건 충족도</a:t>
            </a:r>
            <a:r>
              <a:rPr lang="en-US" sz="950" dirty="0">
                <a:solidFill>
                  <a:srgbClr val="9F1239"/>
                </a:solidFill>
                <a:latin typeface="Pretendard Variable" pitchFamily="34" charset="0"/>
                <a:ea typeface="Pretendard Variable" pitchFamily="34" charset="-122"/>
                <a:cs typeface="Pretendard Variable" pitchFamily="34" charset="-120"/>
              </a:rPr>
              <a:t>와 </a:t>
            </a:r>
            <a:r>
              <a:rPr lang="en-US" sz="900" b="1" dirty="0">
                <a:solidFill>
                  <a:srgbClr val="E11D48"/>
                </a:solidFill>
                <a:latin typeface="Pretendard Variable" pitchFamily="34" charset="0"/>
                <a:ea typeface="Pretendard Variable" pitchFamily="34" charset="-122"/>
                <a:cs typeface="Pretendard Variable" pitchFamily="34" charset="-120"/>
              </a:rPr>
              <a:t>객관적 데이터</a:t>
            </a:r>
            <a:r>
              <a:rPr lang="en-US" sz="950" dirty="0">
                <a:solidFill>
                  <a:srgbClr val="9F1239"/>
                </a:solidFill>
                <a:latin typeface="Pretendard Variable" pitchFamily="34" charset="0"/>
                <a:ea typeface="Pretendard Variable" pitchFamily="34" charset="-122"/>
                <a:cs typeface="Pretendard Variable" pitchFamily="34" charset="-120"/>
              </a:rPr>
              <a:t>만을 다룹니다.</a:t>
            </a:r>
            <a:endParaRPr lang="en-US" sz="950" dirty="0"/>
          </a:p>
        </p:txBody>
      </p:sp>
      <p:pic>
        <p:nvPicPr>
          <p:cNvPr id="19" name="Image 3" descr="preencoded.png"/>
          <p:cNvPicPr>
            <a:picLocks noChangeAspect="1"/>
          </p:cNvPicPr>
          <p:nvPr/>
        </p:nvPicPr>
        <p:blipFill>
          <a:blip r:embed="rId6"/>
          <a:stretch>
            <a:fillRect/>
          </a:stretch>
        </p:blipFill>
        <p:spPr>
          <a:xfrm>
            <a:off x="5072063" y="3362837"/>
            <a:ext cx="114300" cy="114300"/>
          </a:xfrm>
          <a:prstGeom prst="rect">
            <a:avLst/>
          </a:prstGeom>
        </p:spPr>
      </p:pic>
      <p:sp>
        <p:nvSpPr>
          <p:cNvPr id="20" name="Text 13"/>
          <p:cNvSpPr/>
          <p:nvPr/>
        </p:nvSpPr>
        <p:spPr>
          <a:xfrm>
            <a:off x="5186363" y="3353907"/>
            <a:ext cx="2246709" cy="135731"/>
          </a:xfrm>
          <a:prstGeom prst="rect">
            <a:avLst/>
          </a:prstGeom>
          <a:noFill/>
          <a:ln/>
        </p:spPr>
        <p:txBody>
          <a:bodyPr wrap="none" lIns="0" tIns="0" rIns="0" bIns="0" rtlCol="0" anchor="t">
            <a:spAutoFit/>
          </a:bodyPr>
          <a:lstStyle/>
          <a:p>
            <a:pPr marL="0" indent="0" algn="l">
              <a:lnSpc>
                <a:spcPct val="136000"/>
              </a:lnSpc>
              <a:buNone/>
            </a:pPr>
            <a:r>
              <a:rPr lang="en-US" sz="850" dirty="0">
                <a:solidFill>
                  <a:srgbClr val="9F1239"/>
                </a:solidFill>
                <a:latin typeface="Pretendard Variable" pitchFamily="34" charset="0"/>
                <a:ea typeface="Pretendard Variable" pitchFamily="34" charset="-122"/>
                <a:cs typeface="Pretendard Variable" pitchFamily="34" charset="-120"/>
              </a:rPr>
              <a:t>인재 요건 매칭 + 후보 적합성 검토 (Fact-based)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38448"/>
            <a:ext cx="3371850"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10. 다국어 컨택 에이전트</a:t>
            </a:r>
            <a:endParaRPr lang="en-US" sz="2450" dirty="0"/>
          </a:p>
        </p:txBody>
      </p:sp>
      <p:sp>
        <p:nvSpPr>
          <p:cNvPr id="5" name="Shape 1"/>
          <p:cNvSpPr/>
          <p:nvPr/>
        </p:nvSpPr>
        <p:spPr>
          <a:xfrm>
            <a:off x="571500" y="1071563"/>
            <a:ext cx="3857625" cy="1435894"/>
          </a:xfrm>
          <a:prstGeom prst="rect">
            <a:avLst/>
          </a:prstGeom>
          <a:solidFill>
            <a:srgbClr val="F8FAFC"/>
          </a:solidFill>
          <a:ln/>
        </p:spPr>
      </p:sp>
      <p:sp>
        <p:nvSpPr>
          <p:cNvPr id="6" name="Shape 2"/>
          <p:cNvSpPr/>
          <p:nvPr/>
        </p:nvSpPr>
        <p:spPr>
          <a:xfrm>
            <a:off x="571500" y="1071563"/>
            <a:ext cx="3857625" cy="28575"/>
          </a:xfrm>
          <a:prstGeom prst="rect">
            <a:avLst/>
          </a:prstGeom>
          <a:solidFill>
            <a:srgbClr val="2563EB"/>
          </a:solidFill>
          <a:ln/>
        </p:spPr>
      </p:sp>
      <p:pic>
        <p:nvPicPr>
          <p:cNvPr id="7" name="Image 1" descr="preencoded.png"/>
          <p:cNvPicPr>
            <a:picLocks noChangeAspect="1"/>
          </p:cNvPicPr>
          <p:nvPr/>
        </p:nvPicPr>
        <p:blipFill>
          <a:blip r:embed="rId4"/>
          <a:stretch>
            <a:fillRect/>
          </a:stretch>
        </p:blipFill>
        <p:spPr>
          <a:xfrm>
            <a:off x="785813" y="1299270"/>
            <a:ext cx="142875" cy="142875"/>
          </a:xfrm>
          <a:prstGeom prst="rect">
            <a:avLst/>
          </a:prstGeom>
        </p:spPr>
      </p:pic>
      <p:sp>
        <p:nvSpPr>
          <p:cNvPr id="8" name="Text 3"/>
          <p:cNvSpPr/>
          <p:nvPr/>
        </p:nvSpPr>
        <p:spPr>
          <a:xfrm>
            <a:off x="1000125" y="1285875"/>
            <a:ext cx="394692" cy="169664"/>
          </a:xfrm>
          <a:prstGeom prst="rect">
            <a:avLst/>
          </a:prstGeom>
          <a:noFill/>
          <a:ln/>
        </p:spPr>
        <p:txBody>
          <a:bodyPr wrap="none" lIns="0" tIns="0" rIns="0" bIns="0" rtlCol="0" anchor="t">
            <a:spAutoFit/>
          </a:bodyPr>
          <a:lstStyle/>
          <a:p>
            <a:pPr marL="0" indent="0" algn="l">
              <a:buNone/>
            </a:pPr>
            <a:r>
              <a:rPr lang="en-US" sz="1000" b="1" dirty="0">
                <a:solidFill>
                  <a:srgbClr val="64748B"/>
                </a:solidFill>
                <a:latin typeface="Pretendard Variable" pitchFamily="34" charset="0"/>
                <a:ea typeface="Pretendard Variable" pitchFamily="34" charset="-122"/>
                <a:cs typeface="Pretendard Variable" pitchFamily="34" charset="-120"/>
              </a:rPr>
              <a:t>GOAL</a:t>
            </a:r>
            <a:endParaRPr lang="en-US" sz="1000" dirty="0"/>
          </a:p>
        </p:txBody>
      </p:sp>
      <p:sp>
        <p:nvSpPr>
          <p:cNvPr id="9" name="Text 4"/>
          <p:cNvSpPr/>
          <p:nvPr/>
        </p:nvSpPr>
        <p:spPr>
          <a:xfrm>
            <a:off x="785813" y="1569839"/>
            <a:ext cx="3429000" cy="273248"/>
          </a:xfrm>
          <a:prstGeom prst="rect">
            <a:avLst/>
          </a:prstGeom>
          <a:noFill/>
          <a:ln/>
        </p:spPr>
        <p:txBody>
          <a:bodyPr wrap="square" lIns="0" tIns="0" rIns="0" bIns="0" rtlCol="0" anchor="t">
            <a:spAutoFit/>
          </a:bodyPr>
          <a:lstStyle/>
          <a:p>
            <a:pPr marL="0" indent="0" algn="l">
              <a:buNone/>
            </a:pPr>
            <a:r>
              <a:rPr lang="en-US" sz="1600" b="1" dirty="0">
                <a:solidFill>
                  <a:srgbClr val="0F172A"/>
                </a:solidFill>
                <a:latin typeface="Pretendard Variable" pitchFamily="34" charset="0"/>
                <a:ea typeface="Pretendard Variable" pitchFamily="34" charset="-122"/>
                <a:cs typeface="Pretendard Variable" pitchFamily="34" charset="-120"/>
              </a:rPr>
              <a:t>"외국인 직원과 소통해야 한다"</a:t>
            </a:r>
            <a:endParaRPr lang="en-US" sz="1600" dirty="0"/>
          </a:p>
        </p:txBody>
      </p:sp>
      <p:sp>
        <p:nvSpPr>
          <p:cNvPr id="10" name="Text 5"/>
          <p:cNvSpPr/>
          <p:nvPr/>
        </p:nvSpPr>
        <p:spPr>
          <a:xfrm>
            <a:off x="785813" y="1957388"/>
            <a:ext cx="3429000" cy="307181"/>
          </a:xfrm>
          <a:prstGeom prst="rect">
            <a:avLst/>
          </a:prstGeom>
          <a:noFill/>
          <a:ln/>
        </p:spPr>
        <p:txBody>
          <a:bodyPr wrap="square" lIns="0" tIns="0" rIns="0" bIns="0" rtlCol="0" anchor="t">
            <a:spAutoFit/>
          </a:bodyPr>
          <a:lstStyle/>
          <a:p>
            <a:pPr marL="0" indent="0" algn="l">
              <a:buNone/>
            </a:pPr>
            <a:r>
              <a:rPr lang="en-US" sz="950" dirty="0">
                <a:solidFill>
                  <a:srgbClr val="475569"/>
                </a:solidFill>
                <a:latin typeface="Pretendard Variable" pitchFamily="34" charset="0"/>
                <a:ea typeface="Pretendard Variable" pitchFamily="34" charset="-122"/>
                <a:cs typeface="Pretendard Variable" pitchFamily="34" charset="-120"/>
              </a:rPr>
              <a:t>언어 장벽을 허물어 행정 정보를 정확히 전달하고 답변을 받아 상태를 업데이트합니다.</a:t>
            </a:r>
            <a:endParaRPr lang="en-US" sz="950" dirty="0"/>
          </a:p>
        </p:txBody>
      </p:sp>
      <p:sp>
        <p:nvSpPr>
          <p:cNvPr id="11" name="Shape 6"/>
          <p:cNvSpPr/>
          <p:nvPr/>
        </p:nvSpPr>
        <p:spPr>
          <a:xfrm>
            <a:off x="4714875" y="1071563"/>
            <a:ext cx="3857625" cy="1435503"/>
          </a:xfrm>
          <a:prstGeom prst="rect">
            <a:avLst/>
          </a:prstGeom>
          <a:solidFill>
            <a:srgbClr val="F8FAFC"/>
          </a:solidFill>
          <a:ln/>
        </p:spPr>
      </p:sp>
      <p:sp>
        <p:nvSpPr>
          <p:cNvPr id="12" name="Shape 7"/>
          <p:cNvSpPr/>
          <p:nvPr/>
        </p:nvSpPr>
        <p:spPr>
          <a:xfrm>
            <a:off x="4714875" y="1071563"/>
            <a:ext cx="3857625" cy="28575"/>
          </a:xfrm>
          <a:prstGeom prst="rect">
            <a:avLst/>
          </a:prstGeom>
          <a:solidFill>
            <a:srgbClr val="2563EB"/>
          </a:solidFill>
          <a:ln/>
        </p:spPr>
      </p:sp>
      <p:pic>
        <p:nvPicPr>
          <p:cNvPr id="13" name="Image 2" descr="preencoded.png"/>
          <p:cNvPicPr>
            <a:picLocks noChangeAspect="1"/>
          </p:cNvPicPr>
          <p:nvPr/>
        </p:nvPicPr>
        <p:blipFill>
          <a:blip r:embed="rId5"/>
          <a:stretch>
            <a:fillRect/>
          </a:stretch>
        </p:blipFill>
        <p:spPr>
          <a:xfrm>
            <a:off x="4929188" y="1299270"/>
            <a:ext cx="125016" cy="142875"/>
          </a:xfrm>
          <a:prstGeom prst="rect">
            <a:avLst/>
          </a:prstGeom>
        </p:spPr>
      </p:pic>
      <p:sp>
        <p:nvSpPr>
          <p:cNvPr id="14" name="Text 8"/>
          <p:cNvSpPr/>
          <p:nvPr/>
        </p:nvSpPr>
        <p:spPr>
          <a:xfrm>
            <a:off x="5125641" y="1285875"/>
            <a:ext cx="526852" cy="169664"/>
          </a:xfrm>
          <a:prstGeom prst="rect">
            <a:avLst/>
          </a:prstGeom>
          <a:noFill/>
          <a:ln/>
        </p:spPr>
        <p:txBody>
          <a:bodyPr wrap="none" lIns="0" tIns="0" rIns="0" bIns="0" rtlCol="0" anchor="t">
            <a:spAutoFit/>
          </a:bodyPr>
          <a:lstStyle/>
          <a:p>
            <a:pPr marL="0" indent="0" algn="l">
              <a:buNone/>
            </a:pPr>
            <a:r>
              <a:rPr lang="en-US" sz="1000" b="1" dirty="0">
                <a:solidFill>
                  <a:srgbClr val="64748B"/>
                </a:solidFill>
                <a:latin typeface="Pretendard Variable" pitchFamily="34" charset="0"/>
                <a:ea typeface="Pretendard Variable" pitchFamily="34" charset="-122"/>
                <a:cs typeface="Pretendard Variable" pitchFamily="34" charset="-120"/>
              </a:rPr>
              <a:t>RESULT</a:t>
            </a:r>
            <a:endParaRPr lang="en-US" sz="1000" dirty="0"/>
          </a:p>
        </p:txBody>
      </p:sp>
      <p:pic>
        <p:nvPicPr>
          <p:cNvPr id="15" name="Image 3" descr="preencoded.png"/>
          <p:cNvPicPr>
            <a:picLocks noChangeAspect="1"/>
          </p:cNvPicPr>
          <p:nvPr/>
        </p:nvPicPr>
        <p:blipFill>
          <a:blip r:embed="rId6"/>
          <a:stretch>
            <a:fillRect/>
          </a:stretch>
        </p:blipFill>
        <p:spPr>
          <a:xfrm>
            <a:off x="4929188" y="1635556"/>
            <a:ext cx="100013" cy="100013"/>
          </a:xfrm>
          <a:prstGeom prst="rect">
            <a:avLst/>
          </a:prstGeom>
        </p:spPr>
      </p:pic>
      <p:sp>
        <p:nvSpPr>
          <p:cNvPr id="16" name="Text 9"/>
          <p:cNvSpPr/>
          <p:nvPr/>
        </p:nvSpPr>
        <p:spPr>
          <a:xfrm>
            <a:off x="5114925" y="1569839"/>
            <a:ext cx="1568053"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다국어 최적화 요청 메시지 생성</a:t>
            </a:r>
            <a:endParaRPr lang="en-US" sz="950" dirty="0"/>
          </a:p>
        </p:txBody>
      </p:sp>
      <p:pic>
        <p:nvPicPr>
          <p:cNvPr id="17" name="Image 4" descr="preencoded.png"/>
          <p:cNvPicPr>
            <a:picLocks noChangeAspect="1"/>
          </p:cNvPicPr>
          <p:nvPr/>
        </p:nvPicPr>
        <p:blipFill>
          <a:blip r:embed="rId7"/>
          <a:stretch>
            <a:fillRect/>
          </a:stretch>
        </p:blipFill>
        <p:spPr>
          <a:xfrm>
            <a:off x="4929188" y="1867002"/>
            <a:ext cx="100013" cy="100013"/>
          </a:xfrm>
          <a:prstGeom prst="rect">
            <a:avLst/>
          </a:prstGeom>
        </p:spPr>
      </p:pic>
      <p:sp>
        <p:nvSpPr>
          <p:cNvPr id="18" name="Text 10"/>
          <p:cNvSpPr/>
          <p:nvPr/>
        </p:nvSpPr>
        <p:spPr>
          <a:xfrm>
            <a:off x="5114925" y="1801285"/>
            <a:ext cx="1457325"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외국어 답변 실시간 요약 보고</a:t>
            </a:r>
            <a:endParaRPr lang="en-US" sz="950" dirty="0"/>
          </a:p>
        </p:txBody>
      </p:sp>
      <p:pic>
        <p:nvPicPr>
          <p:cNvPr id="19" name="Image 5" descr="preencoded.png"/>
          <p:cNvPicPr>
            <a:picLocks noChangeAspect="1"/>
          </p:cNvPicPr>
          <p:nvPr/>
        </p:nvPicPr>
        <p:blipFill>
          <a:blip r:embed="rId8"/>
          <a:stretch>
            <a:fillRect/>
          </a:stretch>
        </p:blipFill>
        <p:spPr>
          <a:xfrm>
            <a:off x="4929188" y="2098449"/>
            <a:ext cx="100013" cy="100013"/>
          </a:xfrm>
          <a:prstGeom prst="rect">
            <a:avLst/>
          </a:prstGeom>
        </p:spPr>
      </p:pic>
      <p:sp>
        <p:nvSpPr>
          <p:cNvPr id="20" name="Text 11"/>
          <p:cNvSpPr/>
          <p:nvPr/>
        </p:nvSpPr>
        <p:spPr>
          <a:xfrm>
            <a:off x="5114925" y="2032732"/>
            <a:ext cx="1568053"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업무 시스템 상태 자동 업데이트</a:t>
            </a:r>
            <a:endParaRPr lang="en-US" sz="950" dirty="0"/>
          </a:p>
        </p:txBody>
      </p:sp>
      <p:pic>
        <p:nvPicPr>
          <p:cNvPr id="21" name="Image 6" descr="preencoded.png"/>
          <p:cNvPicPr>
            <a:picLocks noChangeAspect="1"/>
          </p:cNvPicPr>
          <p:nvPr/>
        </p:nvPicPr>
        <p:blipFill>
          <a:blip r:embed="rId9"/>
          <a:stretch>
            <a:fillRect/>
          </a:stretch>
        </p:blipFill>
        <p:spPr>
          <a:xfrm>
            <a:off x="589555" y="2818209"/>
            <a:ext cx="228600" cy="228600"/>
          </a:xfrm>
          <a:prstGeom prst="rect">
            <a:avLst/>
          </a:prstGeom>
        </p:spPr>
      </p:pic>
      <p:sp>
        <p:nvSpPr>
          <p:cNvPr id="22" name="Text 12"/>
          <p:cNvSpPr/>
          <p:nvPr/>
        </p:nvSpPr>
        <p:spPr>
          <a:xfrm>
            <a:off x="979112" y="2764631"/>
            <a:ext cx="3450013"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컨택 &amp; 온보딩</a:t>
            </a:r>
            <a:endParaRPr lang="en-US" sz="1200" dirty="0"/>
          </a:p>
        </p:txBody>
      </p:sp>
      <p:sp>
        <p:nvSpPr>
          <p:cNvPr id="23" name="Text 13"/>
          <p:cNvSpPr/>
          <p:nvPr/>
        </p:nvSpPr>
        <p:spPr>
          <a:xfrm>
            <a:off x="979112" y="3025378"/>
            <a:ext cx="345001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근로자의 모국어에 최적화된 안내문을 자동 생성하고 발송 준비를 마칩니다.</a:t>
            </a:r>
            <a:endParaRPr lang="en-US" sz="950" dirty="0"/>
          </a:p>
        </p:txBody>
      </p:sp>
      <p:pic>
        <p:nvPicPr>
          <p:cNvPr id="24" name="Image 7" descr="preencoded.png"/>
          <p:cNvPicPr>
            <a:picLocks noChangeAspect="1"/>
          </p:cNvPicPr>
          <p:nvPr/>
        </p:nvPicPr>
        <p:blipFill>
          <a:blip r:embed="rId10"/>
          <a:stretch>
            <a:fillRect/>
          </a:stretch>
        </p:blipFill>
        <p:spPr>
          <a:xfrm>
            <a:off x="4749617" y="2818209"/>
            <a:ext cx="171450" cy="228600"/>
          </a:xfrm>
          <a:prstGeom prst="rect">
            <a:avLst/>
          </a:prstGeom>
        </p:spPr>
      </p:pic>
      <p:sp>
        <p:nvSpPr>
          <p:cNvPr id="25" name="Text 14"/>
          <p:cNvSpPr/>
          <p:nvPr/>
        </p:nvSpPr>
        <p:spPr>
          <a:xfrm>
            <a:off x="5098684" y="2764631"/>
            <a:ext cx="3473816"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응답 해석 &amp; 반영</a:t>
            </a:r>
            <a:endParaRPr lang="en-US" sz="1200" dirty="0"/>
          </a:p>
        </p:txBody>
      </p:sp>
      <p:sp>
        <p:nvSpPr>
          <p:cNvPr id="26" name="Text 15"/>
          <p:cNvSpPr/>
          <p:nvPr/>
        </p:nvSpPr>
        <p:spPr>
          <a:xfrm>
            <a:off x="5098684" y="3025378"/>
            <a:ext cx="3473816"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수신된 외국어 응답을 실시간 해석하여 핵심 내용을 업무 시스템에 즉시 반영합니다.</a:t>
            </a:r>
            <a:endParaRPr lang="en-US" sz="950" dirty="0"/>
          </a:p>
        </p:txBody>
      </p:sp>
      <p:sp>
        <p:nvSpPr>
          <p:cNvPr id="27" name="Shape 16"/>
          <p:cNvSpPr/>
          <p:nvPr/>
        </p:nvSpPr>
        <p:spPr>
          <a:xfrm>
            <a:off x="571500" y="4011216"/>
            <a:ext cx="8001000" cy="703659"/>
          </a:xfrm>
          <a:prstGeom prst="rect">
            <a:avLst/>
          </a:prstGeom>
          <a:solidFill>
            <a:srgbClr val="FFF1F2"/>
          </a:solidFill>
          <a:ln w="9144">
            <a:solidFill>
              <a:srgbClr val="FECDD3"/>
            </a:solidFill>
            <a:prstDash val="solid"/>
          </a:ln>
        </p:spPr>
      </p:sp>
      <p:sp>
        <p:nvSpPr>
          <p:cNvPr id="28" name="Text 17"/>
          <p:cNvSpPr/>
          <p:nvPr/>
        </p:nvSpPr>
        <p:spPr>
          <a:xfrm>
            <a:off x="814388" y="4196953"/>
            <a:ext cx="1296591" cy="153591"/>
          </a:xfrm>
          <a:prstGeom prst="rect">
            <a:avLst/>
          </a:prstGeom>
          <a:noFill/>
          <a:ln/>
        </p:spPr>
        <p:txBody>
          <a:bodyPr wrap="square" lIns="0" tIns="0" rIns="0" bIns="0" rtlCol="0" anchor="t">
            <a:spAutoFit/>
          </a:bodyPr>
          <a:lstStyle/>
          <a:p>
            <a:pPr marL="0" indent="0" algn="l">
              <a:buNone/>
            </a:pPr>
            <a:r>
              <a:rPr lang="en-US" sz="900" b="1" dirty="0">
                <a:solidFill>
                  <a:srgbClr val="E11D48"/>
                </a:solidFill>
                <a:latin typeface="Pretendard Variable" pitchFamily="34" charset="0"/>
                <a:ea typeface="Pretendard Variable" pitchFamily="34" charset="-122"/>
                <a:cs typeface="Pretendard Variable" pitchFamily="34" charset="-120"/>
              </a:rPr>
              <a:t>[주의사항] 안전 소통 보장</a:t>
            </a:r>
            <a:endParaRPr lang="en-US" sz="900" dirty="0"/>
          </a:p>
        </p:txBody>
      </p:sp>
      <p:sp>
        <p:nvSpPr>
          <p:cNvPr id="29" name="Text 18"/>
          <p:cNvSpPr/>
          <p:nvPr/>
        </p:nvSpPr>
        <p:spPr>
          <a:xfrm>
            <a:off x="742950" y="4407694"/>
            <a:ext cx="7658100" cy="135731"/>
          </a:xfrm>
          <a:prstGeom prst="rect">
            <a:avLst/>
          </a:prstGeom>
          <a:noFill/>
          <a:ln/>
        </p:spPr>
        <p:txBody>
          <a:bodyPr wrap="square" lIns="0" tIns="0" rIns="0" bIns="0" rtlCol="0" anchor="t">
            <a:spAutoFit/>
          </a:bodyPr>
          <a:lstStyle/>
          <a:p>
            <a:pPr marL="0" indent="0" algn="l">
              <a:buNone/>
            </a:pPr>
            <a:r>
              <a:rPr lang="en-US" sz="850" dirty="0">
                <a:solidFill>
                  <a:srgbClr val="9F1239"/>
                </a:solidFill>
                <a:latin typeface="Pretendard Variable" pitchFamily="34" charset="0"/>
                <a:ea typeface="Pretendard Variable" pitchFamily="34" charset="-122"/>
                <a:cs typeface="Pretendard Variable" pitchFamily="34" charset="-120"/>
              </a:rPr>
              <a:t>자동 발송 및 담당자 승인 전 발송은 절대 금지하며, 차별적 표현이나 부적절한 문구를 원천 차단합니다.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38448"/>
            <a:ext cx="6399014"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11. 비자·서류 운영 에이전트: 선제적 리스크 관리</a:t>
            </a:r>
            <a:endParaRPr lang="en-US" sz="2450" dirty="0"/>
          </a:p>
        </p:txBody>
      </p:sp>
      <p:sp>
        <p:nvSpPr>
          <p:cNvPr id="5" name="Shape 1"/>
          <p:cNvSpPr/>
          <p:nvPr/>
        </p:nvSpPr>
        <p:spPr>
          <a:xfrm>
            <a:off x="571500" y="1071563"/>
            <a:ext cx="450056" cy="205383"/>
          </a:xfrm>
          <a:prstGeom prst="rect">
            <a:avLst/>
          </a:prstGeom>
          <a:solidFill>
            <a:srgbClr val="DBEAFE"/>
          </a:solidFill>
          <a:ln/>
        </p:spPr>
      </p:sp>
      <p:sp>
        <p:nvSpPr>
          <p:cNvPr id="6" name="Text 2"/>
          <p:cNvSpPr/>
          <p:nvPr/>
        </p:nvSpPr>
        <p:spPr>
          <a:xfrm>
            <a:off x="571500" y="1071563"/>
            <a:ext cx="450056" cy="205383"/>
          </a:xfrm>
          <a:prstGeom prst="rect">
            <a:avLst/>
          </a:prstGeom>
          <a:noFill/>
          <a:ln/>
        </p:spPr>
        <p:txBody>
          <a:bodyPr wrap="none" lIns="102108" tIns="51054" rIns="102108" bIns="51054"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GOAL</a:t>
            </a:r>
            <a:endParaRPr lang="en-US" sz="700" dirty="0"/>
          </a:p>
        </p:txBody>
      </p:sp>
      <p:sp>
        <p:nvSpPr>
          <p:cNvPr id="7" name="Text 3"/>
          <p:cNvSpPr/>
          <p:nvPr/>
        </p:nvSpPr>
        <p:spPr>
          <a:xfrm>
            <a:off x="571500" y="1391245"/>
            <a:ext cx="3786188" cy="594327"/>
          </a:xfrm>
          <a:prstGeom prst="rect">
            <a:avLst/>
          </a:prstGeom>
          <a:noFill/>
          <a:ln/>
        </p:spPr>
        <p:txBody>
          <a:bodyPr wrap="square" lIns="0" tIns="0" rIns="0" bIns="0" rtlCol="0" anchor="t">
            <a:spAutoFit/>
          </a:bodyPr>
          <a:lstStyle/>
          <a:p>
            <a:pPr marL="0" indent="0" algn="l">
              <a:lnSpc>
                <a:spcPct val="104000"/>
              </a:lnSpc>
              <a:buNone/>
            </a:pPr>
            <a:r>
              <a:rPr lang="en-US" sz="1600" b="1" dirty="0">
                <a:solidFill>
                  <a:srgbClr val="0F172A"/>
                </a:solidFill>
                <a:latin typeface="Pretendard Variable" pitchFamily="34" charset="0"/>
                <a:ea typeface="Pretendard Variable" pitchFamily="34" charset="-122"/>
                <a:cs typeface="Pretendard Variable" pitchFamily="34" charset="-120"/>
              </a:rPr>
              <a:t>"비자 만료나 서류 누락으로 인한
행정 사고를 원천 차단하라"</a:t>
            </a:r>
            <a:endParaRPr lang="en-US" sz="1600" dirty="0"/>
          </a:p>
        </p:txBody>
      </p:sp>
      <p:sp>
        <p:nvSpPr>
          <p:cNvPr id="8" name="Shape 4"/>
          <p:cNvSpPr/>
          <p:nvPr/>
        </p:nvSpPr>
        <p:spPr>
          <a:xfrm>
            <a:off x="571500" y="2128447"/>
            <a:ext cx="1821656" cy="1067991"/>
          </a:xfrm>
          <a:prstGeom prst="rect">
            <a:avLst/>
          </a:prstGeom>
          <a:solidFill>
            <a:srgbClr val="F8FAFC"/>
          </a:solidFill>
          <a:ln w="9144">
            <a:solidFill>
              <a:srgbClr val="E2E8F0"/>
            </a:solidFill>
            <a:prstDash val="solid"/>
          </a:ln>
        </p:spPr>
      </p:sp>
      <p:pic>
        <p:nvPicPr>
          <p:cNvPr id="9" name="Image 1" descr="preencoded.png"/>
          <p:cNvPicPr>
            <a:picLocks noChangeAspect="1"/>
          </p:cNvPicPr>
          <p:nvPr/>
        </p:nvPicPr>
        <p:blipFill>
          <a:blip r:embed="rId4"/>
          <a:stretch>
            <a:fillRect/>
          </a:stretch>
        </p:blipFill>
        <p:spPr>
          <a:xfrm>
            <a:off x="714375" y="2271322"/>
            <a:ext cx="1535906" cy="171450"/>
          </a:xfrm>
          <a:prstGeom prst="rect">
            <a:avLst/>
          </a:prstGeom>
        </p:spPr>
      </p:pic>
      <p:sp>
        <p:nvSpPr>
          <p:cNvPr id="10" name="Text 5"/>
          <p:cNvSpPr/>
          <p:nvPr/>
        </p:nvSpPr>
        <p:spPr>
          <a:xfrm>
            <a:off x="714375" y="2528497"/>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비자·체류 관리</a:t>
            </a:r>
            <a:endParaRPr lang="en-US" sz="900" dirty="0"/>
          </a:p>
        </p:txBody>
      </p:sp>
      <p:sp>
        <p:nvSpPr>
          <p:cNvPr id="11" name="Text 6"/>
          <p:cNvSpPr/>
          <p:nvPr/>
        </p:nvSpPr>
        <p:spPr>
          <a:xfrm>
            <a:off x="714375" y="2739237"/>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만료일 D-day 자동 탐지 및 갱신 시점 선제적 알림</a:t>
            </a:r>
            <a:endParaRPr lang="en-US" sz="750" dirty="0"/>
          </a:p>
        </p:txBody>
      </p:sp>
      <p:sp>
        <p:nvSpPr>
          <p:cNvPr id="12" name="Shape 7"/>
          <p:cNvSpPr/>
          <p:nvPr/>
        </p:nvSpPr>
        <p:spPr>
          <a:xfrm>
            <a:off x="2536031" y="2128447"/>
            <a:ext cx="1821656" cy="1053703"/>
          </a:xfrm>
          <a:prstGeom prst="rect">
            <a:avLst/>
          </a:prstGeom>
          <a:solidFill>
            <a:srgbClr val="F8FAFC"/>
          </a:solidFill>
          <a:ln w="9144">
            <a:solidFill>
              <a:srgbClr val="E2E8F0"/>
            </a:solidFill>
            <a:prstDash val="solid"/>
          </a:ln>
        </p:spPr>
      </p:sp>
      <p:sp>
        <p:nvSpPr>
          <p:cNvPr id="13" name="Text 8"/>
          <p:cNvSpPr/>
          <p:nvPr/>
        </p:nvSpPr>
        <p:spPr>
          <a:xfrm>
            <a:off x="2678906" y="2357047"/>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서류 완결성 체크</a:t>
            </a:r>
            <a:endParaRPr lang="en-US" sz="900" dirty="0"/>
          </a:p>
        </p:txBody>
      </p:sp>
      <p:sp>
        <p:nvSpPr>
          <p:cNvPr id="14" name="Text 9"/>
          <p:cNvSpPr/>
          <p:nvPr/>
        </p:nvSpPr>
        <p:spPr>
          <a:xfrm>
            <a:off x="2678906" y="2567787"/>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케이스별 필수 서류 누락 여부 자동 검증 및 패키징</a:t>
            </a:r>
            <a:endParaRPr lang="en-US" sz="750" dirty="0"/>
          </a:p>
        </p:txBody>
      </p:sp>
      <p:sp>
        <p:nvSpPr>
          <p:cNvPr id="15" name="Shape 10"/>
          <p:cNvSpPr/>
          <p:nvPr/>
        </p:nvSpPr>
        <p:spPr>
          <a:xfrm>
            <a:off x="571500" y="3325025"/>
            <a:ext cx="1821656" cy="1067991"/>
          </a:xfrm>
          <a:prstGeom prst="rect">
            <a:avLst/>
          </a:prstGeom>
          <a:solidFill>
            <a:srgbClr val="F8FAFC"/>
          </a:solidFill>
          <a:ln w="9144">
            <a:solidFill>
              <a:srgbClr val="E2E8F0"/>
            </a:solidFill>
            <a:prstDash val="solid"/>
          </a:ln>
        </p:spPr>
      </p:sp>
      <p:pic>
        <p:nvPicPr>
          <p:cNvPr id="16" name="Image 2" descr="preencoded.png"/>
          <p:cNvPicPr>
            <a:picLocks noChangeAspect="1"/>
          </p:cNvPicPr>
          <p:nvPr/>
        </p:nvPicPr>
        <p:blipFill>
          <a:blip r:embed="rId5"/>
          <a:stretch>
            <a:fillRect/>
          </a:stretch>
        </p:blipFill>
        <p:spPr>
          <a:xfrm>
            <a:off x="714375" y="3467900"/>
            <a:ext cx="1535906" cy="171450"/>
          </a:xfrm>
          <a:prstGeom prst="rect">
            <a:avLst/>
          </a:prstGeom>
        </p:spPr>
      </p:pic>
      <p:sp>
        <p:nvSpPr>
          <p:cNvPr id="17" name="Text 11"/>
          <p:cNvSpPr/>
          <p:nvPr/>
        </p:nvSpPr>
        <p:spPr>
          <a:xfrm>
            <a:off x="714375" y="3725075"/>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전문가 전달</a:t>
            </a:r>
            <a:endParaRPr lang="en-US" sz="900" dirty="0"/>
          </a:p>
        </p:txBody>
      </p:sp>
      <p:sp>
        <p:nvSpPr>
          <p:cNvPr id="18" name="Text 12"/>
          <p:cNvSpPr/>
          <p:nvPr/>
        </p:nvSpPr>
        <p:spPr>
          <a:xfrm>
            <a:off x="714375" y="3935816"/>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행정사/노무사 검토를 위한 데이터 패키지 생성</a:t>
            </a:r>
            <a:endParaRPr lang="en-US" sz="750" dirty="0"/>
          </a:p>
        </p:txBody>
      </p:sp>
      <p:sp>
        <p:nvSpPr>
          <p:cNvPr id="19" name="Shape 13"/>
          <p:cNvSpPr/>
          <p:nvPr/>
        </p:nvSpPr>
        <p:spPr>
          <a:xfrm>
            <a:off x="2536031" y="3325025"/>
            <a:ext cx="1821656" cy="1067991"/>
          </a:xfrm>
          <a:prstGeom prst="rect">
            <a:avLst/>
          </a:prstGeom>
          <a:solidFill>
            <a:srgbClr val="F8FAFC"/>
          </a:solidFill>
          <a:ln w="9144">
            <a:solidFill>
              <a:srgbClr val="E2E8F0"/>
            </a:solidFill>
            <a:prstDash val="solid"/>
          </a:ln>
        </p:spPr>
      </p:sp>
      <p:pic>
        <p:nvPicPr>
          <p:cNvPr id="20" name="Image 3" descr="preencoded.png"/>
          <p:cNvPicPr>
            <a:picLocks noChangeAspect="1"/>
          </p:cNvPicPr>
          <p:nvPr/>
        </p:nvPicPr>
        <p:blipFill>
          <a:blip r:embed="rId6"/>
          <a:stretch>
            <a:fillRect/>
          </a:stretch>
        </p:blipFill>
        <p:spPr>
          <a:xfrm>
            <a:off x="2678906" y="3467900"/>
            <a:ext cx="1535906" cy="171450"/>
          </a:xfrm>
          <a:prstGeom prst="rect">
            <a:avLst/>
          </a:prstGeom>
        </p:spPr>
      </p:pic>
      <p:sp>
        <p:nvSpPr>
          <p:cNvPr id="21" name="Text 14"/>
          <p:cNvSpPr/>
          <p:nvPr/>
        </p:nvSpPr>
        <p:spPr>
          <a:xfrm>
            <a:off x="2678906" y="3725075"/>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감사 로그 저장</a:t>
            </a:r>
            <a:endParaRPr lang="en-US" sz="900" dirty="0"/>
          </a:p>
        </p:txBody>
      </p:sp>
      <p:sp>
        <p:nvSpPr>
          <p:cNvPr id="22" name="Text 15"/>
          <p:cNvSpPr/>
          <p:nvPr/>
        </p:nvSpPr>
        <p:spPr>
          <a:xfrm>
            <a:off x="2678906" y="3935816"/>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모든 서류 처리 및 판단 이력을 증빙 자료로 보관</a:t>
            </a:r>
            <a:endParaRPr lang="en-US" sz="750" dirty="0"/>
          </a:p>
        </p:txBody>
      </p:sp>
      <p:sp>
        <p:nvSpPr>
          <p:cNvPr id="23" name="Shape 16"/>
          <p:cNvSpPr/>
          <p:nvPr/>
        </p:nvSpPr>
        <p:spPr>
          <a:xfrm>
            <a:off x="4786313" y="1071563"/>
            <a:ext cx="3786188" cy="2748111"/>
          </a:xfrm>
          <a:prstGeom prst="rect">
            <a:avLst/>
          </a:prstGeom>
          <a:solidFill>
            <a:srgbClr val="FFFBEB"/>
          </a:solidFill>
          <a:ln/>
        </p:spPr>
      </p:sp>
      <p:sp>
        <p:nvSpPr>
          <p:cNvPr id="24" name="Shape 17"/>
          <p:cNvSpPr/>
          <p:nvPr/>
        </p:nvSpPr>
        <p:spPr>
          <a:xfrm>
            <a:off x="4786313" y="1071563"/>
            <a:ext cx="3786188" cy="57150"/>
          </a:xfrm>
          <a:prstGeom prst="rect">
            <a:avLst/>
          </a:prstGeom>
          <a:solidFill>
            <a:srgbClr val="F59E0B"/>
          </a:solidFill>
          <a:ln/>
        </p:spPr>
      </p:sp>
      <p:pic>
        <p:nvPicPr>
          <p:cNvPr id="25" name="Image 4" descr="preencoded.png"/>
          <p:cNvPicPr>
            <a:picLocks noChangeAspect="1"/>
          </p:cNvPicPr>
          <p:nvPr/>
        </p:nvPicPr>
        <p:blipFill>
          <a:blip r:embed="rId7"/>
          <a:stretch>
            <a:fillRect/>
          </a:stretch>
        </p:blipFill>
        <p:spPr>
          <a:xfrm>
            <a:off x="5072063" y="1373386"/>
            <a:ext cx="171450" cy="171450"/>
          </a:xfrm>
          <a:prstGeom prst="rect">
            <a:avLst/>
          </a:prstGeom>
        </p:spPr>
      </p:pic>
      <p:sp>
        <p:nvSpPr>
          <p:cNvPr id="26" name="Text 18"/>
          <p:cNvSpPr/>
          <p:nvPr/>
        </p:nvSpPr>
        <p:spPr>
          <a:xfrm>
            <a:off x="5329238" y="1357313"/>
            <a:ext cx="1891308" cy="203597"/>
          </a:xfrm>
          <a:prstGeom prst="rect">
            <a:avLst/>
          </a:prstGeom>
          <a:noFill/>
          <a:ln/>
        </p:spPr>
        <p:txBody>
          <a:bodyPr wrap="square" lIns="0" tIns="0" rIns="0" bIns="0" rtlCol="0" anchor="t">
            <a:spAutoFit/>
          </a:bodyPr>
          <a:lstStyle/>
          <a:p>
            <a:pPr marL="0" indent="0" algn="l">
              <a:buNone/>
            </a:pPr>
            <a:r>
              <a:rPr lang="en-US" sz="1200" b="1" dirty="0">
                <a:solidFill>
                  <a:srgbClr val="B45309"/>
                </a:solidFill>
                <a:latin typeface="Pretendard Variable" pitchFamily="34" charset="0"/>
                <a:ea typeface="Pretendard Variable" pitchFamily="34" charset="-122"/>
                <a:cs typeface="Pretendard Variable" pitchFamily="34" charset="-120"/>
              </a:rPr>
              <a:t>비자 운영의 안전 가이드라인</a:t>
            </a:r>
            <a:endParaRPr lang="en-US" sz="1200" dirty="0"/>
          </a:p>
        </p:txBody>
      </p:sp>
      <p:pic>
        <p:nvPicPr>
          <p:cNvPr id="27" name="Image 5" descr="preencoded.png"/>
          <p:cNvPicPr>
            <a:picLocks noChangeAspect="1"/>
          </p:cNvPicPr>
          <p:nvPr/>
        </p:nvPicPr>
        <p:blipFill>
          <a:blip r:embed="rId8"/>
          <a:stretch>
            <a:fillRect/>
          </a:stretch>
        </p:blipFill>
        <p:spPr>
          <a:xfrm>
            <a:off x="5072063" y="1760934"/>
            <a:ext cx="142875" cy="382860"/>
          </a:xfrm>
          <a:prstGeom prst="rect">
            <a:avLst/>
          </a:prstGeom>
        </p:spPr>
      </p:pic>
      <p:sp>
        <p:nvSpPr>
          <p:cNvPr id="28" name="Text 19"/>
          <p:cNvSpPr/>
          <p:nvPr/>
        </p:nvSpPr>
        <p:spPr>
          <a:xfrm>
            <a:off x="5329238" y="1732359"/>
            <a:ext cx="295751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법적 자문이나 비자 발급 가능 여부에 대한 AI의 독자적 확답 금지</a:t>
            </a:r>
            <a:endParaRPr lang="en-US" sz="950" dirty="0"/>
          </a:p>
        </p:txBody>
      </p:sp>
      <p:pic>
        <p:nvPicPr>
          <p:cNvPr id="29" name="Image 6" descr="preencoded.png"/>
          <p:cNvPicPr>
            <a:picLocks noChangeAspect="1"/>
          </p:cNvPicPr>
          <p:nvPr/>
        </p:nvPicPr>
        <p:blipFill>
          <a:blip r:embed="rId9"/>
          <a:stretch>
            <a:fillRect/>
          </a:stretch>
        </p:blipFill>
        <p:spPr>
          <a:xfrm>
            <a:off x="5072063" y="2315245"/>
            <a:ext cx="142875" cy="177143"/>
          </a:xfrm>
          <a:prstGeom prst="rect">
            <a:avLst/>
          </a:prstGeom>
        </p:spPr>
      </p:pic>
      <p:sp>
        <p:nvSpPr>
          <p:cNvPr id="30" name="Text 20"/>
          <p:cNvSpPr/>
          <p:nvPr/>
        </p:nvSpPr>
        <p:spPr>
          <a:xfrm>
            <a:off x="5329238" y="2286670"/>
            <a:ext cx="2550319"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행정 절차의 대행이나 서류의 최종 제출 자동화 금지</a:t>
            </a:r>
            <a:endParaRPr lang="en-US" sz="950" dirty="0"/>
          </a:p>
        </p:txBody>
      </p:sp>
      <p:pic>
        <p:nvPicPr>
          <p:cNvPr id="31" name="Image 7" descr="preencoded.png"/>
          <p:cNvPicPr>
            <a:picLocks noChangeAspect="1"/>
          </p:cNvPicPr>
          <p:nvPr/>
        </p:nvPicPr>
        <p:blipFill>
          <a:blip r:embed="rId10"/>
          <a:stretch>
            <a:fillRect/>
          </a:stretch>
        </p:blipFill>
        <p:spPr>
          <a:xfrm>
            <a:off x="5072063" y="2663837"/>
            <a:ext cx="142875" cy="177143"/>
          </a:xfrm>
          <a:prstGeom prst="rect">
            <a:avLst/>
          </a:prstGeom>
        </p:spPr>
      </p:pic>
      <p:sp>
        <p:nvSpPr>
          <p:cNvPr id="32" name="Text 21"/>
          <p:cNvSpPr/>
          <p:nvPr/>
        </p:nvSpPr>
        <p:spPr>
          <a:xfrm>
            <a:off x="5329238" y="2635262"/>
            <a:ext cx="2218134"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사용자의 최종 승인 없는 대외 문서 발송 금지</a:t>
            </a:r>
            <a:endParaRPr lang="en-US" sz="950" dirty="0"/>
          </a:p>
        </p:txBody>
      </p:sp>
      <p:sp>
        <p:nvSpPr>
          <p:cNvPr id="33" name="Text 22"/>
          <p:cNvSpPr/>
          <p:nvPr/>
        </p:nvSpPr>
        <p:spPr>
          <a:xfrm>
            <a:off x="5072063" y="3055293"/>
            <a:ext cx="3214688" cy="421481"/>
          </a:xfrm>
          <a:prstGeom prst="rect">
            <a:avLst/>
          </a:prstGeom>
          <a:noFill/>
          <a:ln/>
        </p:spPr>
        <p:txBody>
          <a:bodyPr wrap="square" lIns="0" tIns="170053" rIns="0" bIns="0" rtlCol="0" anchor="t">
            <a:spAutoFit/>
          </a:bodyPr>
          <a:lstStyle/>
          <a:p>
            <a:pPr marL="0" indent="0" algn="l">
              <a:buNone/>
            </a:pPr>
            <a:r>
              <a:rPr lang="en-US" sz="850" i="1" dirty="0">
                <a:solidFill>
                  <a:srgbClr val="B45309"/>
                </a:solidFill>
                <a:latin typeface="Pretendard Variable" pitchFamily="34" charset="0"/>
                <a:ea typeface="Pretendard Variable" pitchFamily="34" charset="-122"/>
                <a:cs typeface="Pretendard Variable" pitchFamily="34" charset="-120"/>
              </a:rPr>
              <a:t>* 에이전트는 전문가(행정사 등)의 업무를 대체하는 것이 아니라, 전문가가 즉시 검토할 수 있는 '완결된 기초 자료'를 준비하는 역할에 집중합니다.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307806"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14. 데모 시나리오 1: 인력 확보 및 쿼터 판별</a:t>
            </a:r>
            <a:endParaRPr lang="en-US" sz="2250" dirty="0"/>
          </a:p>
        </p:txBody>
      </p:sp>
      <p:sp>
        <p:nvSpPr>
          <p:cNvPr id="5" name="Shape 1"/>
          <p:cNvSpPr/>
          <p:nvPr/>
        </p:nvSpPr>
        <p:spPr>
          <a:xfrm>
            <a:off x="1035844" y="1000125"/>
            <a:ext cx="2286000" cy="3714750"/>
          </a:xfrm>
          <a:prstGeom prst="rect">
            <a:avLst/>
          </a:prstGeom>
          <a:solidFill>
            <a:srgbClr val="0F172A"/>
          </a:solidFill>
          <a:ln w="82296">
            <a:solidFill>
              <a:srgbClr val="334155"/>
            </a:solidFill>
            <a:prstDash val="solid"/>
          </a:ln>
        </p:spPr>
      </p:sp>
      <p:sp>
        <p:nvSpPr>
          <p:cNvPr id="6" name="Shape 2"/>
          <p:cNvSpPr/>
          <p:nvPr/>
        </p:nvSpPr>
        <p:spPr>
          <a:xfrm>
            <a:off x="1478756" y="1143000"/>
            <a:ext cx="1700213" cy="451452"/>
          </a:xfrm>
          <a:prstGeom prst="rect">
            <a:avLst/>
          </a:prstGeom>
          <a:solidFill>
            <a:srgbClr val="2563EB"/>
          </a:solidFill>
          <a:ln/>
        </p:spPr>
      </p:sp>
      <p:sp>
        <p:nvSpPr>
          <p:cNvPr id="7" name="Text 3"/>
          <p:cNvSpPr/>
          <p:nvPr/>
        </p:nvSpPr>
        <p:spPr>
          <a:xfrm>
            <a:off x="1478756" y="1143000"/>
            <a:ext cx="1700213" cy="45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베트남 E-9 근로자 3명 추가 채용 준비해줘.</a:t>
            </a:r>
            <a:endParaRPr lang="en-US" sz="750" dirty="0"/>
          </a:p>
        </p:txBody>
      </p:sp>
      <p:sp>
        <p:nvSpPr>
          <p:cNvPr id="8" name="Shape 4"/>
          <p:cNvSpPr/>
          <p:nvPr/>
        </p:nvSpPr>
        <p:spPr>
          <a:xfrm>
            <a:off x="1178719" y="1701608"/>
            <a:ext cx="1700213" cy="1011455"/>
          </a:xfrm>
          <a:prstGeom prst="rect">
            <a:avLst/>
          </a:prstGeom>
          <a:solidFill>
            <a:srgbClr val="334155"/>
          </a:solidFill>
          <a:ln/>
        </p:spPr>
      </p:sp>
      <p:sp>
        <p:nvSpPr>
          <p:cNvPr id="9" name="Text 5"/>
          <p:cNvSpPr/>
          <p:nvPr/>
        </p:nvSpPr>
        <p:spPr>
          <a:xfrm>
            <a:off x="1178719" y="1701608"/>
            <a:ext cx="1700213" cy="1011455"/>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의도를 파악했습니다. 인력 확보 에이전트를 가동합니다.
1. 고용 쿼터 확인
2. 채용 의도 분석
3. 신청 서류 초안 작성</a:t>
            </a:r>
            <a:endParaRPr lang="en-US" sz="750" dirty="0"/>
          </a:p>
        </p:txBody>
      </p:sp>
      <p:sp>
        <p:nvSpPr>
          <p:cNvPr id="10" name="Shape 6"/>
          <p:cNvSpPr/>
          <p:nvPr/>
        </p:nvSpPr>
        <p:spPr>
          <a:xfrm>
            <a:off x="1178719" y="2820219"/>
            <a:ext cx="1700213" cy="591452"/>
          </a:xfrm>
          <a:prstGeom prst="rect">
            <a:avLst/>
          </a:prstGeom>
          <a:solidFill>
            <a:srgbClr val="334155"/>
          </a:solidFill>
          <a:ln/>
        </p:spPr>
      </p:sp>
      <p:sp>
        <p:nvSpPr>
          <p:cNvPr id="11" name="Text 7"/>
          <p:cNvSpPr/>
          <p:nvPr/>
        </p:nvSpPr>
        <p:spPr>
          <a:xfrm>
            <a:off x="1178719" y="2820219"/>
            <a:ext cx="1700213" cy="59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쿼터 판별 결과, 현재 5명까지 추가 고용이 가능합니다. 채용 요청서 초안을 생성할까요?</a:t>
            </a:r>
            <a:endParaRPr lang="en-US" sz="750" dirty="0"/>
          </a:p>
        </p:txBody>
      </p:sp>
      <p:sp>
        <p:nvSpPr>
          <p:cNvPr id="12" name="Shape 8"/>
          <p:cNvSpPr/>
          <p:nvPr/>
        </p:nvSpPr>
        <p:spPr>
          <a:xfrm>
            <a:off x="4214813" y="1000125"/>
            <a:ext cx="4357688" cy="1603772"/>
          </a:xfrm>
          <a:prstGeom prst="rect">
            <a:avLst/>
          </a:prstGeom>
          <a:solidFill>
            <a:srgbClr val="F8FAFC"/>
          </a:solidFill>
          <a:ln w="9144">
            <a:solidFill>
              <a:srgbClr val="E2E8F0"/>
            </a:solidFill>
            <a:prstDash val="solid"/>
          </a:ln>
        </p:spPr>
      </p:sp>
      <p:pic>
        <p:nvPicPr>
          <p:cNvPr id="13" name="Image 1" descr="preencoded.png"/>
          <p:cNvPicPr>
            <a:picLocks noChangeAspect="1"/>
          </p:cNvPicPr>
          <p:nvPr/>
        </p:nvPicPr>
        <p:blipFill>
          <a:blip r:embed="rId4"/>
          <a:stretch>
            <a:fillRect/>
          </a:stretch>
        </p:blipFill>
        <p:spPr>
          <a:xfrm>
            <a:off x="4429125" y="1230511"/>
            <a:ext cx="128588" cy="171450"/>
          </a:xfrm>
          <a:prstGeom prst="rect">
            <a:avLst/>
          </a:prstGeom>
        </p:spPr>
      </p:pic>
      <p:sp>
        <p:nvSpPr>
          <p:cNvPr id="14" name="Text 9"/>
          <p:cNvSpPr/>
          <p:nvPr/>
        </p:nvSpPr>
        <p:spPr>
          <a:xfrm>
            <a:off x="4629150"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5" name="Image 2" descr="preencoded.png"/>
          <p:cNvPicPr>
            <a:picLocks noChangeAspect="1"/>
          </p:cNvPicPr>
          <p:nvPr/>
        </p:nvPicPr>
        <p:blipFill>
          <a:blip r:embed="rId5"/>
          <a:stretch>
            <a:fillRect/>
          </a:stretch>
        </p:blipFill>
        <p:spPr>
          <a:xfrm>
            <a:off x="4429125" y="1589484"/>
            <a:ext cx="128588" cy="128588"/>
          </a:xfrm>
          <a:prstGeom prst="rect">
            <a:avLst/>
          </a:prstGeom>
        </p:spPr>
      </p:pic>
      <p:sp>
        <p:nvSpPr>
          <p:cNvPr id="16" name="Text 10"/>
          <p:cNvSpPr/>
          <p:nvPr/>
        </p:nvSpPr>
        <p:spPr>
          <a:xfrm>
            <a:off x="4643438" y="1560909"/>
            <a:ext cx="1943100"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실시간 고용 쿼터 계산 완료 (잔여: 5명)</a:t>
            </a:r>
            <a:endParaRPr lang="en-US" sz="900" dirty="0"/>
          </a:p>
        </p:txBody>
      </p:sp>
      <p:pic>
        <p:nvPicPr>
          <p:cNvPr id="17" name="Image 3" descr="preencoded.png"/>
          <p:cNvPicPr>
            <a:picLocks noChangeAspect="1"/>
          </p:cNvPicPr>
          <p:nvPr/>
        </p:nvPicPr>
        <p:blipFill>
          <a:blip r:embed="rId5"/>
          <a:stretch>
            <a:fillRect/>
          </a:stretch>
        </p:blipFill>
        <p:spPr>
          <a:xfrm>
            <a:off x="4429125" y="1860947"/>
            <a:ext cx="128588" cy="128588"/>
          </a:xfrm>
          <a:prstGeom prst="rect">
            <a:avLst/>
          </a:prstGeom>
        </p:spPr>
      </p:pic>
      <p:sp>
        <p:nvSpPr>
          <p:cNvPr id="18" name="Text 11"/>
          <p:cNvSpPr/>
          <p:nvPr/>
        </p:nvSpPr>
        <p:spPr>
          <a:xfrm>
            <a:off x="4643438" y="1832372"/>
            <a:ext cx="1805583"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E-9 고용허가 신청서 초안 자동 생성</a:t>
            </a:r>
            <a:endParaRPr lang="en-US" sz="900" dirty="0"/>
          </a:p>
        </p:txBody>
      </p:sp>
      <p:pic>
        <p:nvPicPr>
          <p:cNvPr id="19" name="Image 4" descr="preencoded.png"/>
          <p:cNvPicPr>
            <a:picLocks noChangeAspect="1"/>
          </p:cNvPicPr>
          <p:nvPr/>
        </p:nvPicPr>
        <p:blipFill>
          <a:blip r:embed="rId5"/>
          <a:stretch>
            <a:fillRect/>
          </a:stretch>
        </p:blipFill>
        <p:spPr>
          <a:xfrm>
            <a:off x="4429125" y="2132409"/>
            <a:ext cx="128588" cy="128588"/>
          </a:xfrm>
          <a:prstGeom prst="rect">
            <a:avLst/>
          </a:prstGeom>
        </p:spPr>
      </p:pic>
      <p:sp>
        <p:nvSpPr>
          <p:cNvPr id="20" name="Text 12"/>
          <p:cNvSpPr/>
          <p:nvPr/>
        </p:nvSpPr>
        <p:spPr>
          <a:xfrm>
            <a:off x="4643438" y="2103834"/>
            <a:ext cx="1841302"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내국인 구인노력 기간(7일) 자동 산정</a:t>
            </a:r>
            <a:endParaRPr lang="en-US" sz="900" dirty="0"/>
          </a:p>
        </p:txBody>
      </p:sp>
      <p:sp>
        <p:nvSpPr>
          <p:cNvPr id="21" name="Shape 13"/>
          <p:cNvSpPr/>
          <p:nvPr/>
        </p:nvSpPr>
        <p:spPr>
          <a:xfrm>
            <a:off x="4214813" y="2803922"/>
            <a:ext cx="4357688" cy="457200"/>
          </a:xfrm>
          <a:prstGeom prst="rect">
            <a:avLst/>
          </a:prstGeom>
          <a:solidFill>
            <a:srgbClr val="FFF1F2"/>
          </a:solidFill>
          <a:ln/>
        </p:spPr>
      </p:sp>
      <p:sp>
        <p:nvSpPr>
          <p:cNvPr id="22" name="Shape 14"/>
          <p:cNvSpPr/>
          <p:nvPr/>
        </p:nvSpPr>
        <p:spPr>
          <a:xfrm>
            <a:off x="4214813" y="2803922"/>
            <a:ext cx="42863" cy="457200"/>
          </a:xfrm>
          <a:prstGeom prst="rect">
            <a:avLst/>
          </a:prstGeom>
          <a:solidFill>
            <a:srgbClr val="E11D48"/>
          </a:solidFill>
          <a:ln/>
        </p:spPr>
      </p:sp>
      <p:pic>
        <p:nvPicPr>
          <p:cNvPr id="23" name="Image 5" descr="preencoded.png"/>
          <p:cNvPicPr>
            <a:picLocks noChangeAspect="1"/>
          </p:cNvPicPr>
          <p:nvPr/>
        </p:nvPicPr>
        <p:blipFill>
          <a:blip r:embed="rId6"/>
          <a:stretch>
            <a:fillRect/>
          </a:stretch>
        </p:blipFill>
        <p:spPr>
          <a:xfrm>
            <a:off x="4357688" y="2946797"/>
            <a:ext cx="214313" cy="171450"/>
          </a:xfrm>
          <a:prstGeom prst="rect">
            <a:avLst/>
          </a:prstGeom>
        </p:spPr>
      </p:pic>
      <p:sp>
        <p:nvSpPr>
          <p:cNvPr id="24" name="Text 15"/>
          <p:cNvSpPr/>
          <p:nvPr/>
        </p:nvSpPr>
        <p:spPr>
          <a:xfrm>
            <a:off x="4679156" y="2964656"/>
            <a:ext cx="2059186" cy="135731"/>
          </a:xfrm>
          <a:prstGeom prst="rect">
            <a:avLst/>
          </a:prstGeom>
          <a:noFill/>
          <a:ln/>
        </p:spPr>
        <p:txBody>
          <a:bodyPr wrap="square" lIns="0" tIns="0" rIns="0" bIns="0" rtlCol="0" anchor="t">
            <a:spAutoFit/>
          </a:bodyPr>
          <a:lstStyle/>
          <a:p>
            <a:pPr marL="0" indent="0" algn="l">
              <a:buNone/>
            </a:pPr>
            <a:r>
              <a:rPr lang="en-US" sz="800" b="1" dirty="0">
                <a:solidFill>
                  <a:srgbClr val="9F1239"/>
                </a:solidFill>
                <a:latin typeface="Pretendard Variable" pitchFamily="34" charset="0"/>
                <a:ea typeface="Pretendard Variable" pitchFamily="34" charset="-122"/>
                <a:cs typeface="Pretendard Variable" pitchFamily="34" charset="-120"/>
              </a:rPr>
              <a:t>관리자의 최종 승인 후 행정 절차가 시작됩니다.</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607844"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15. 데모 시나리오 2: 다국어 컨택 및 응답 해석</a:t>
            </a:r>
            <a:endParaRPr lang="en-US" sz="2250" dirty="0"/>
          </a:p>
        </p:txBody>
      </p:sp>
      <p:sp>
        <p:nvSpPr>
          <p:cNvPr id="5" name="Shape 1"/>
          <p:cNvSpPr/>
          <p:nvPr/>
        </p:nvSpPr>
        <p:spPr>
          <a:xfrm>
            <a:off x="1035844" y="1000125"/>
            <a:ext cx="2286000" cy="3714750"/>
          </a:xfrm>
          <a:prstGeom prst="rect">
            <a:avLst/>
          </a:prstGeom>
          <a:solidFill>
            <a:srgbClr val="0F172A"/>
          </a:solidFill>
          <a:ln w="82296">
            <a:solidFill>
              <a:srgbClr val="334155"/>
            </a:solidFill>
            <a:prstDash val="solid"/>
          </a:ln>
        </p:spPr>
      </p:sp>
      <p:sp>
        <p:nvSpPr>
          <p:cNvPr id="6" name="Shape 2"/>
          <p:cNvSpPr/>
          <p:nvPr/>
        </p:nvSpPr>
        <p:spPr>
          <a:xfrm>
            <a:off x="1178719" y="1143000"/>
            <a:ext cx="1700213" cy="871454"/>
          </a:xfrm>
          <a:prstGeom prst="rect">
            <a:avLst/>
          </a:prstGeom>
          <a:solidFill>
            <a:srgbClr val="334155"/>
          </a:solidFill>
          <a:ln/>
        </p:spPr>
      </p:sp>
      <p:sp>
        <p:nvSpPr>
          <p:cNvPr id="7" name="Text 3"/>
          <p:cNvSpPr/>
          <p:nvPr/>
        </p:nvSpPr>
        <p:spPr>
          <a:xfrm>
            <a:off x="1178719" y="1143000"/>
            <a:ext cx="1700213" cy="871454"/>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[Bilingual Draft]
KR: 안녕하세요, 비자 연장을 위해 서류가 필요합니다.
VN: Xin chào, chúng tôi cần tài liệu để gia hạn thị thực.</a:t>
            </a:r>
            <a:endParaRPr lang="en-US" sz="750" dirty="0"/>
          </a:p>
        </p:txBody>
      </p:sp>
      <p:sp>
        <p:nvSpPr>
          <p:cNvPr id="8" name="Shape 4"/>
          <p:cNvSpPr/>
          <p:nvPr/>
        </p:nvSpPr>
        <p:spPr>
          <a:xfrm>
            <a:off x="1178719" y="2121610"/>
            <a:ext cx="1700213" cy="451452"/>
          </a:xfrm>
          <a:prstGeom prst="rect">
            <a:avLst/>
          </a:prstGeom>
          <a:solidFill>
            <a:srgbClr val="E2E8F0"/>
          </a:solidFill>
          <a:ln/>
        </p:spPr>
      </p:sp>
      <p:sp>
        <p:nvSpPr>
          <p:cNvPr id="9" name="Text 5"/>
          <p:cNvSpPr/>
          <p:nvPr/>
        </p:nvSpPr>
        <p:spPr>
          <a:xfrm>
            <a:off x="1178719" y="2121610"/>
            <a:ext cx="1700213" cy="45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1E293B"/>
                </a:solidFill>
                <a:latin typeface="Pretendard Variable" pitchFamily="34" charset="0"/>
                <a:ea typeface="Pretendard Variable" pitchFamily="34" charset="-122"/>
                <a:cs typeface="Pretendard Variable" pitchFamily="34" charset="-120"/>
              </a:rPr>
              <a:t>Tôi đã gửi ảnh hộ chiếu qua Zalo rồi nhé.</a:t>
            </a:r>
            <a:endParaRPr lang="en-US" sz="750" dirty="0"/>
          </a:p>
        </p:txBody>
      </p:sp>
      <p:sp>
        <p:nvSpPr>
          <p:cNvPr id="10" name="Shape 6"/>
          <p:cNvSpPr/>
          <p:nvPr/>
        </p:nvSpPr>
        <p:spPr>
          <a:xfrm>
            <a:off x="1178719" y="2680218"/>
            <a:ext cx="1700213" cy="591452"/>
          </a:xfrm>
          <a:prstGeom prst="rect">
            <a:avLst/>
          </a:prstGeom>
          <a:solidFill>
            <a:srgbClr val="334155"/>
          </a:solidFill>
          <a:ln/>
        </p:spPr>
      </p:sp>
      <p:pic>
        <p:nvPicPr>
          <p:cNvPr id="11" name="Image 1" descr="preencoded.png"/>
          <p:cNvPicPr>
            <a:picLocks noChangeAspect="1"/>
          </p:cNvPicPr>
          <p:nvPr/>
        </p:nvPicPr>
        <p:blipFill>
          <a:blip r:embed="rId4"/>
          <a:stretch>
            <a:fillRect/>
          </a:stretch>
        </p:blipFill>
        <p:spPr>
          <a:xfrm>
            <a:off x="1293019" y="2782016"/>
            <a:ext cx="112514" cy="100013"/>
          </a:xfrm>
          <a:prstGeom prst="rect">
            <a:avLst/>
          </a:prstGeom>
        </p:spPr>
      </p:pic>
      <p:sp>
        <p:nvSpPr>
          <p:cNvPr id="12" name="Text 7"/>
          <p:cNvSpPr/>
          <p:nvPr/>
        </p:nvSpPr>
        <p:spPr>
          <a:xfrm>
            <a:off x="1405533" y="2774872"/>
            <a:ext cx="616148"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응답 해석 결과:</a:t>
            </a:r>
            <a:endParaRPr lang="en-US" sz="750" dirty="0"/>
          </a:p>
        </p:txBody>
      </p:sp>
      <p:sp>
        <p:nvSpPr>
          <p:cNvPr id="13" name="Text 8"/>
          <p:cNvSpPr/>
          <p:nvPr/>
        </p:nvSpPr>
        <p:spPr>
          <a:xfrm>
            <a:off x="1293019" y="2914873"/>
            <a:ext cx="1294805"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"Zalo를 통해 여권 사진을 이미 전</a:t>
            </a:r>
            <a:endParaRPr lang="en-US" sz="750" dirty="0"/>
          </a:p>
        </p:txBody>
      </p:sp>
      <p:sp>
        <p:nvSpPr>
          <p:cNvPr id="14" name="Text 9"/>
          <p:cNvSpPr/>
          <p:nvPr/>
        </p:nvSpPr>
        <p:spPr>
          <a:xfrm>
            <a:off x="1293019" y="2914873"/>
            <a:ext cx="1380530" cy="259659"/>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송함"</a:t>
            </a:r>
            <a:endParaRPr lang="en-US" sz="750" dirty="0"/>
          </a:p>
        </p:txBody>
      </p:sp>
      <p:sp>
        <p:nvSpPr>
          <p:cNvPr id="15" name="Shape 10"/>
          <p:cNvSpPr/>
          <p:nvPr/>
        </p:nvSpPr>
        <p:spPr>
          <a:xfrm>
            <a:off x="4214813" y="1000125"/>
            <a:ext cx="4357688" cy="1852017"/>
          </a:xfrm>
          <a:prstGeom prst="rect">
            <a:avLst/>
          </a:prstGeom>
          <a:solidFill>
            <a:srgbClr val="F8FAFC"/>
          </a:solidFill>
          <a:ln w="9144">
            <a:solidFill>
              <a:srgbClr val="E2E8F0"/>
            </a:solidFill>
            <a:prstDash val="solid"/>
          </a:ln>
        </p:spPr>
      </p:sp>
      <p:pic>
        <p:nvPicPr>
          <p:cNvPr id="16" name="Image 2" descr="preencoded.png"/>
          <p:cNvPicPr>
            <a:picLocks noChangeAspect="1"/>
          </p:cNvPicPr>
          <p:nvPr/>
        </p:nvPicPr>
        <p:blipFill>
          <a:blip r:embed="rId5"/>
          <a:stretch>
            <a:fillRect/>
          </a:stretch>
        </p:blipFill>
        <p:spPr>
          <a:xfrm>
            <a:off x="4429125" y="1230511"/>
            <a:ext cx="214313" cy="171450"/>
          </a:xfrm>
          <a:prstGeom prst="rect">
            <a:avLst/>
          </a:prstGeom>
        </p:spPr>
      </p:pic>
      <p:sp>
        <p:nvSpPr>
          <p:cNvPr id="17" name="Text 11"/>
          <p:cNvSpPr/>
          <p:nvPr/>
        </p:nvSpPr>
        <p:spPr>
          <a:xfrm>
            <a:off x="4714875"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8" name="Image 3" descr="preencoded.png"/>
          <p:cNvPicPr>
            <a:picLocks noChangeAspect="1"/>
          </p:cNvPicPr>
          <p:nvPr/>
        </p:nvPicPr>
        <p:blipFill>
          <a:blip r:embed="rId6"/>
          <a:stretch>
            <a:fillRect/>
          </a:stretch>
        </p:blipFill>
        <p:spPr>
          <a:xfrm>
            <a:off x="4429125" y="1589484"/>
            <a:ext cx="128588" cy="128588"/>
          </a:xfrm>
          <a:prstGeom prst="rect">
            <a:avLst/>
          </a:prstGeom>
        </p:spPr>
      </p:pic>
      <p:sp>
        <p:nvSpPr>
          <p:cNvPr id="19" name="Text 12"/>
          <p:cNvSpPr/>
          <p:nvPr/>
        </p:nvSpPr>
        <p:spPr>
          <a:xfrm>
            <a:off x="4643438" y="1560909"/>
            <a:ext cx="1953816"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16개국어 대응 다국어 안내문 자동 생성</a:t>
            </a:r>
            <a:endParaRPr lang="en-US" sz="900" dirty="0"/>
          </a:p>
        </p:txBody>
      </p:sp>
      <p:pic>
        <p:nvPicPr>
          <p:cNvPr id="20" name="Image 4" descr="preencoded.png"/>
          <p:cNvPicPr>
            <a:picLocks noChangeAspect="1"/>
          </p:cNvPicPr>
          <p:nvPr/>
        </p:nvPicPr>
        <p:blipFill>
          <a:blip r:embed="rId6"/>
          <a:stretch>
            <a:fillRect/>
          </a:stretch>
        </p:blipFill>
        <p:spPr>
          <a:xfrm>
            <a:off x="4429125" y="1860947"/>
            <a:ext cx="128588" cy="128588"/>
          </a:xfrm>
          <a:prstGeom prst="rect">
            <a:avLst/>
          </a:prstGeom>
        </p:spPr>
      </p:pic>
      <p:sp>
        <p:nvSpPr>
          <p:cNvPr id="21" name="Text 13"/>
          <p:cNvSpPr/>
          <p:nvPr/>
        </p:nvSpPr>
        <p:spPr>
          <a:xfrm>
            <a:off x="4643438" y="1832372"/>
            <a:ext cx="2130623"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근로자 응답(베트남어) 실시간 요약 및 보고</a:t>
            </a:r>
            <a:endParaRPr lang="en-US" sz="900" dirty="0"/>
          </a:p>
        </p:txBody>
      </p:sp>
      <p:pic>
        <p:nvPicPr>
          <p:cNvPr id="22" name="Image 5" descr="preencoded.png"/>
          <p:cNvPicPr>
            <a:picLocks noChangeAspect="1"/>
          </p:cNvPicPr>
          <p:nvPr/>
        </p:nvPicPr>
        <p:blipFill>
          <a:blip r:embed="rId6"/>
          <a:stretch>
            <a:fillRect/>
          </a:stretch>
        </p:blipFill>
        <p:spPr>
          <a:xfrm>
            <a:off x="4429125" y="2132409"/>
            <a:ext cx="128588" cy="128588"/>
          </a:xfrm>
          <a:prstGeom prst="rect">
            <a:avLst/>
          </a:prstGeom>
        </p:spPr>
      </p:pic>
      <p:sp>
        <p:nvSpPr>
          <p:cNvPr id="23" name="Text 14"/>
          <p:cNvSpPr/>
          <p:nvPr/>
        </p:nvSpPr>
        <p:spPr>
          <a:xfrm>
            <a:off x="4643438" y="2103834"/>
            <a:ext cx="2064544"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서류 수신 여부 업무 시스템 자동 업데이트</a:t>
            </a:r>
            <a:endParaRPr lang="en-US" sz="900" dirty="0"/>
          </a:p>
        </p:txBody>
      </p:sp>
      <p:sp>
        <p:nvSpPr>
          <p:cNvPr id="24" name="Shape 15"/>
          <p:cNvSpPr/>
          <p:nvPr/>
        </p:nvSpPr>
        <p:spPr>
          <a:xfrm>
            <a:off x="4429125" y="2446734"/>
            <a:ext cx="1619845" cy="176808"/>
          </a:xfrm>
          <a:prstGeom prst="rect">
            <a:avLst/>
          </a:prstGeom>
          <a:solidFill>
            <a:srgbClr val="DBEAFE"/>
          </a:solidFill>
          <a:ln/>
        </p:spPr>
      </p:sp>
      <p:sp>
        <p:nvSpPr>
          <p:cNvPr id="25" name="Text 16"/>
          <p:cNvSpPr/>
          <p:nvPr/>
        </p:nvSpPr>
        <p:spPr>
          <a:xfrm>
            <a:off x="4429125" y="2446734"/>
            <a:ext cx="1619845" cy="176808"/>
          </a:xfrm>
          <a:prstGeom prst="rect">
            <a:avLst/>
          </a:prstGeom>
          <a:noFill/>
          <a:ln/>
        </p:spPr>
        <p:txBody>
          <a:bodyPr wrap="square" lIns="102108" tIns="34036" rIns="102108" bIns="34036"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업무 상태: 서류 수신 완료 (검토 대기)</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5893594"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16. 데모 시나리오 3: 비자 리스크 및 전문가 전달</a:t>
            </a:r>
            <a:endParaRPr lang="en-US" sz="2250" dirty="0"/>
          </a:p>
        </p:txBody>
      </p:sp>
      <p:sp>
        <p:nvSpPr>
          <p:cNvPr id="5" name="Shape 1"/>
          <p:cNvSpPr/>
          <p:nvPr/>
        </p:nvSpPr>
        <p:spPr>
          <a:xfrm>
            <a:off x="1035844" y="1000125"/>
            <a:ext cx="2286000" cy="3714750"/>
          </a:xfrm>
          <a:prstGeom prst="rect">
            <a:avLst/>
          </a:prstGeom>
          <a:solidFill>
            <a:srgbClr val="0F172A"/>
          </a:solidFill>
          <a:ln w="82296">
            <a:solidFill>
              <a:srgbClr val="334155"/>
            </a:solidFill>
            <a:prstDash val="solid"/>
          </a:ln>
        </p:spPr>
      </p:sp>
      <p:sp>
        <p:nvSpPr>
          <p:cNvPr id="6" name="Shape 2"/>
          <p:cNvSpPr/>
          <p:nvPr/>
        </p:nvSpPr>
        <p:spPr>
          <a:xfrm>
            <a:off x="1178719" y="1143000"/>
            <a:ext cx="1700213" cy="591452"/>
          </a:xfrm>
          <a:prstGeom prst="rect">
            <a:avLst/>
          </a:prstGeom>
          <a:solidFill>
            <a:srgbClr val="991B1B"/>
          </a:solidFill>
          <a:ln/>
        </p:spPr>
      </p:sp>
      <p:sp>
        <p:nvSpPr>
          <p:cNvPr id="7" name="Shape 3"/>
          <p:cNvSpPr/>
          <p:nvPr/>
        </p:nvSpPr>
        <p:spPr>
          <a:xfrm>
            <a:off x="1178719" y="1143000"/>
            <a:ext cx="28575" cy="591452"/>
          </a:xfrm>
          <a:prstGeom prst="rect">
            <a:avLst/>
          </a:prstGeom>
          <a:solidFill>
            <a:srgbClr val="F87171"/>
          </a:solidFill>
          <a:ln/>
        </p:spPr>
      </p:sp>
      <p:pic>
        <p:nvPicPr>
          <p:cNvPr id="8" name="Image 1" descr="preencoded.png"/>
          <p:cNvPicPr>
            <a:picLocks noChangeAspect="1"/>
          </p:cNvPicPr>
          <p:nvPr/>
        </p:nvPicPr>
        <p:blipFill>
          <a:blip r:embed="rId4"/>
          <a:stretch>
            <a:fillRect/>
          </a:stretch>
        </p:blipFill>
        <p:spPr>
          <a:xfrm>
            <a:off x="1293019" y="1244798"/>
            <a:ext cx="100013" cy="100013"/>
          </a:xfrm>
          <a:prstGeom prst="rect">
            <a:avLst/>
          </a:prstGeom>
        </p:spPr>
      </p:pic>
      <p:sp>
        <p:nvSpPr>
          <p:cNvPr id="9" name="Text 4"/>
          <p:cNvSpPr/>
          <p:nvPr/>
        </p:nvSpPr>
        <p:spPr>
          <a:xfrm>
            <a:off x="1393031" y="1237655"/>
            <a:ext cx="505420"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리스크 탐지:</a:t>
            </a:r>
            <a:endParaRPr lang="en-US" sz="750" dirty="0"/>
          </a:p>
        </p:txBody>
      </p:sp>
      <p:sp>
        <p:nvSpPr>
          <p:cNvPr id="10" name="Text 5"/>
          <p:cNvSpPr/>
          <p:nvPr/>
        </p:nvSpPr>
        <p:spPr>
          <a:xfrm>
            <a:off x="1293019" y="1377655"/>
            <a:ext cx="1201936"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Nguyen 근로자의 E-9 비자가</a:t>
            </a:r>
            <a:endParaRPr lang="en-US" sz="750" dirty="0"/>
          </a:p>
        </p:txBody>
      </p:sp>
      <p:sp>
        <p:nvSpPr>
          <p:cNvPr id="11" name="Text 6"/>
          <p:cNvSpPr/>
          <p:nvPr/>
        </p:nvSpPr>
        <p:spPr>
          <a:xfrm>
            <a:off x="1293019" y="1377655"/>
            <a:ext cx="1410891" cy="259659"/>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30일 후 만료됩니다.</a:t>
            </a:r>
            <a:endParaRPr lang="en-US" sz="750" dirty="0"/>
          </a:p>
        </p:txBody>
      </p:sp>
      <p:sp>
        <p:nvSpPr>
          <p:cNvPr id="12" name="Shape 7"/>
          <p:cNvSpPr/>
          <p:nvPr/>
        </p:nvSpPr>
        <p:spPr>
          <a:xfrm>
            <a:off x="1178719" y="1841609"/>
            <a:ext cx="1700213" cy="591452"/>
          </a:xfrm>
          <a:prstGeom prst="rect">
            <a:avLst/>
          </a:prstGeom>
          <a:solidFill>
            <a:srgbClr val="334155"/>
          </a:solidFill>
          <a:ln/>
        </p:spPr>
      </p:sp>
      <p:sp>
        <p:nvSpPr>
          <p:cNvPr id="13" name="Text 8"/>
          <p:cNvSpPr/>
          <p:nvPr/>
        </p:nvSpPr>
        <p:spPr>
          <a:xfrm>
            <a:off x="1178719" y="1841609"/>
            <a:ext cx="1700213" cy="59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체류기간 연장 필요 서류(여권, 등록증, 표준계약서)를 모두 취합했습니다. 행정사 전달 패키지를 생성할까요?</a:t>
            </a:r>
            <a:endParaRPr lang="en-US" sz="750" dirty="0"/>
          </a:p>
        </p:txBody>
      </p:sp>
      <p:sp>
        <p:nvSpPr>
          <p:cNvPr id="14" name="Shape 9"/>
          <p:cNvSpPr/>
          <p:nvPr/>
        </p:nvSpPr>
        <p:spPr>
          <a:xfrm>
            <a:off x="1178719" y="2611655"/>
            <a:ext cx="2000250" cy="246459"/>
          </a:xfrm>
          <a:prstGeom prst="rect">
            <a:avLst/>
          </a:prstGeom>
          <a:solidFill>
            <a:srgbClr val="2563EB"/>
          </a:solidFill>
          <a:ln/>
        </p:spPr>
      </p:sp>
      <p:sp>
        <p:nvSpPr>
          <p:cNvPr id="15" name="Text 10"/>
          <p:cNvSpPr/>
          <p:nvPr/>
        </p:nvSpPr>
        <p:spPr>
          <a:xfrm>
            <a:off x="1178719" y="2611655"/>
            <a:ext cx="2000250" cy="246459"/>
          </a:xfrm>
          <a:prstGeom prst="rect">
            <a:avLst/>
          </a:prstGeom>
          <a:noFill/>
          <a:ln/>
        </p:spPr>
        <p:txBody>
          <a:bodyPr wrap="square" lIns="85090" tIns="85090" rIns="85090" bIns="85090" rtlCol="0" anchor="t">
            <a:spAutoFit/>
          </a:bodyPr>
          <a:lstStyle/>
          <a:p>
            <a:pPr marL="0" indent="0" algn="ctr">
              <a:buNone/>
            </a:pPr>
            <a:r>
              <a:rPr lang="en-US" sz="600" b="1" dirty="0">
                <a:solidFill>
                  <a:srgbClr val="FFFFFF"/>
                </a:solidFill>
                <a:latin typeface="Pretendard Variable" pitchFamily="34" charset="0"/>
                <a:ea typeface="Pretendard Variable" pitchFamily="34" charset="-122"/>
                <a:cs typeface="Pretendard Variable" pitchFamily="34" charset="-120"/>
              </a:rPr>
              <a:t>전문가 전달 패키지 생성 (PDF)</a:t>
            </a:r>
            <a:endParaRPr lang="en-US" sz="600" dirty="0"/>
          </a:p>
        </p:txBody>
      </p:sp>
      <p:sp>
        <p:nvSpPr>
          <p:cNvPr id="16" name="Shape 11"/>
          <p:cNvSpPr/>
          <p:nvPr/>
        </p:nvSpPr>
        <p:spPr>
          <a:xfrm>
            <a:off x="4214813" y="1000125"/>
            <a:ext cx="4357688" cy="1909167"/>
          </a:xfrm>
          <a:prstGeom prst="rect">
            <a:avLst/>
          </a:prstGeom>
          <a:solidFill>
            <a:srgbClr val="F8FAFC"/>
          </a:solidFill>
          <a:ln w="9144">
            <a:solidFill>
              <a:srgbClr val="E2E8F0"/>
            </a:solidFill>
            <a:prstDash val="solid"/>
          </a:ln>
        </p:spPr>
      </p:sp>
      <p:sp>
        <p:nvSpPr>
          <p:cNvPr id="17" name="Text 12"/>
          <p:cNvSpPr/>
          <p:nvPr/>
        </p:nvSpPr>
        <p:spPr>
          <a:xfrm>
            <a:off x="4500563"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8" name="Image 2" descr="preencoded.png"/>
          <p:cNvPicPr>
            <a:picLocks noChangeAspect="1"/>
          </p:cNvPicPr>
          <p:nvPr/>
        </p:nvPicPr>
        <p:blipFill>
          <a:blip r:embed="rId5"/>
          <a:stretch>
            <a:fillRect/>
          </a:stretch>
        </p:blipFill>
        <p:spPr>
          <a:xfrm>
            <a:off x="4429125" y="1589484"/>
            <a:ext cx="128588" cy="128588"/>
          </a:xfrm>
          <a:prstGeom prst="rect">
            <a:avLst/>
          </a:prstGeom>
        </p:spPr>
      </p:pic>
      <p:sp>
        <p:nvSpPr>
          <p:cNvPr id="19" name="Text 13"/>
          <p:cNvSpPr/>
          <p:nvPr/>
        </p:nvSpPr>
        <p:spPr>
          <a:xfrm>
            <a:off x="4643438" y="1560909"/>
            <a:ext cx="2416373"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전 직원 비자 만료일(D-day) 자동 상시 모니터링</a:t>
            </a:r>
            <a:endParaRPr lang="en-US" sz="900" dirty="0"/>
          </a:p>
        </p:txBody>
      </p:sp>
      <p:pic>
        <p:nvPicPr>
          <p:cNvPr id="20" name="Image 3" descr="preencoded.png"/>
          <p:cNvPicPr>
            <a:picLocks noChangeAspect="1"/>
          </p:cNvPicPr>
          <p:nvPr/>
        </p:nvPicPr>
        <p:blipFill>
          <a:blip r:embed="rId5"/>
          <a:stretch>
            <a:fillRect/>
          </a:stretch>
        </p:blipFill>
        <p:spPr>
          <a:xfrm>
            <a:off x="4429125" y="1860947"/>
            <a:ext cx="128588" cy="128588"/>
          </a:xfrm>
          <a:prstGeom prst="rect">
            <a:avLst/>
          </a:prstGeom>
        </p:spPr>
      </p:pic>
      <p:sp>
        <p:nvSpPr>
          <p:cNvPr id="21" name="Text 14"/>
          <p:cNvSpPr/>
          <p:nvPr/>
        </p:nvSpPr>
        <p:spPr>
          <a:xfrm>
            <a:off x="4643438" y="1832372"/>
            <a:ext cx="2382441"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케이스별 필수 서류 완결성 자동 체크 (누락 0건)</a:t>
            </a:r>
            <a:endParaRPr lang="en-US" sz="900" dirty="0"/>
          </a:p>
        </p:txBody>
      </p:sp>
      <p:pic>
        <p:nvPicPr>
          <p:cNvPr id="22" name="Image 4" descr="preencoded.png"/>
          <p:cNvPicPr>
            <a:picLocks noChangeAspect="1"/>
          </p:cNvPicPr>
          <p:nvPr/>
        </p:nvPicPr>
        <p:blipFill>
          <a:blip r:embed="rId5"/>
          <a:stretch>
            <a:fillRect/>
          </a:stretch>
        </p:blipFill>
        <p:spPr>
          <a:xfrm>
            <a:off x="4429125" y="2132409"/>
            <a:ext cx="128588" cy="128588"/>
          </a:xfrm>
          <a:prstGeom prst="rect">
            <a:avLst/>
          </a:prstGeom>
        </p:spPr>
      </p:pic>
      <p:sp>
        <p:nvSpPr>
          <p:cNvPr id="23" name="Text 15"/>
          <p:cNvSpPr/>
          <p:nvPr/>
        </p:nvSpPr>
        <p:spPr>
          <a:xfrm>
            <a:off x="4643438" y="2103834"/>
            <a:ext cx="2205633"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행정사 검토용 증빙 자료 및 감사 로그 패키징</a:t>
            </a:r>
            <a:endParaRPr lang="en-US" sz="900" dirty="0"/>
          </a:p>
        </p:txBody>
      </p:sp>
      <p:sp>
        <p:nvSpPr>
          <p:cNvPr id="24" name="Shape 16"/>
          <p:cNvSpPr/>
          <p:nvPr/>
        </p:nvSpPr>
        <p:spPr>
          <a:xfrm>
            <a:off x="4429125" y="2446734"/>
            <a:ext cx="1852017" cy="233958"/>
          </a:xfrm>
          <a:prstGeom prst="rect">
            <a:avLst/>
          </a:prstGeom>
          <a:solidFill>
            <a:srgbClr val="0F172A"/>
          </a:solidFill>
          <a:ln/>
        </p:spPr>
      </p:sp>
      <p:pic>
        <p:nvPicPr>
          <p:cNvPr id="25" name="Image 5" descr="preencoded.png"/>
          <p:cNvPicPr>
            <a:picLocks noChangeAspect="1"/>
          </p:cNvPicPr>
          <p:nvPr/>
        </p:nvPicPr>
        <p:blipFill>
          <a:blip r:embed="rId6"/>
          <a:stretch>
            <a:fillRect/>
          </a:stretch>
        </p:blipFill>
        <p:spPr>
          <a:xfrm>
            <a:off x="4543425" y="2511028"/>
            <a:ext cx="112514" cy="100013"/>
          </a:xfrm>
          <a:prstGeom prst="rect">
            <a:avLst/>
          </a:prstGeom>
        </p:spPr>
      </p:pic>
      <p:sp>
        <p:nvSpPr>
          <p:cNvPr id="26" name="Text 17"/>
          <p:cNvSpPr/>
          <p:nvPr/>
        </p:nvSpPr>
        <p:spPr>
          <a:xfrm>
            <a:off x="4655939" y="2503884"/>
            <a:ext cx="1510903" cy="119658"/>
          </a:xfrm>
          <a:prstGeom prst="rect">
            <a:avLst/>
          </a:prstGeom>
          <a:noFill/>
          <a:ln/>
        </p:spPr>
        <p:txBody>
          <a:bodyPr wrap="square" lIns="0" tIns="0" rIns="0" bIns="0" rtlCol="0" anchor="t">
            <a:spAutoFit/>
          </a:bodyPr>
          <a:lstStyle/>
          <a:p>
            <a:pPr marL="0" indent="0" algn="l">
              <a:buNone/>
            </a:pPr>
            <a:r>
              <a:rPr lang="en-US" sz="700" b="1" dirty="0">
                <a:solidFill>
                  <a:srgbClr val="FFFFFF"/>
                </a:solidFill>
                <a:latin typeface="Pretendard Variable" pitchFamily="34" charset="0"/>
                <a:ea typeface="Pretendard Variable" pitchFamily="34" charset="-122"/>
                <a:cs typeface="Pretendard Variable" pitchFamily="34" charset="-120"/>
              </a:rPr>
              <a:t>행정사 협업 시스템으로 즉시 전송 가능</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724198"/>
            <a:ext cx="7343775"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pitchFamily="34" charset="0"/>
                <a:ea typeface="Pretendard" pitchFamily="34" charset="-122"/>
                <a:cs typeface="Pretendard" pitchFamily="34" charset="-120"/>
              </a:rPr>
              <a:t>06. 감사 기록(Evidence Log): 투명한 의사결정 근거</a:t>
            </a:r>
            <a:endParaRPr lang="en-US" sz="2450" dirty="0"/>
          </a:p>
        </p:txBody>
      </p:sp>
      <p:sp>
        <p:nvSpPr>
          <p:cNvPr id="5" name="Shape 1"/>
          <p:cNvSpPr/>
          <p:nvPr/>
        </p:nvSpPr>
        <p:spPr>
          <a:xfrm>
            <a:off x="571500" y="1714500"/>
            <a:ext cx="3786188" cy="1735931"/>
          </a:xfrm>
          <a:prstGeom prst="rect">
            <a:avLst/>
          </a:prstGeom>
          <a:solidFill>
            <a:srgbClr val="F8FAFC"/>
          </a:solidFill>
          <a:ln/>
        </p:spPr>
      </p:sp>
      <p:sp>
        <p:nvSpPr>
          <p:cNvPr id="6" name="Shape 2"/>
          <p:cNvSpPr/>
          <p:nvPr/>
        </p:nvSpPr>
        <p:spPr>
          <a:xfrm>
            <a:off x="571500" y="1714500"/>
            <a:ext cx="57150" cy="1735931"/>
          </a:xfrm>
          <a:prstGeom prst="rect">
            <a:avLst/>
          </a:prstGeom>
          <a:solidFill>
            <a:srgbClr val="2563EB"/>
          </a:solidFill>
          <a:ln/>
        </p:spPr>
      </p:sp>
      <p:sp>
        <p:nvSpPr>
          <p:cNvPr id="7" name="Text 3"/>
          <p:cNvSpPr/>
          <p:nvPr/>
        </p:nvSpPr>
        <p:spPr>
          <a:xfrm>
            <a:off x="857250" y="2000250"/>
            <a:ext cx="3214688" cy="307181"/>
          </a:xfrm>
          <a:prstGeom prst="rect">
            <a:avLst/>
          </a:prstGeom>
          <a:noFill/>
          <a:ln/>
        </p:spPr>
        <p:txBody>
          <a:bodyPr wrap="square" lIns="0" tIns="0" rIns="0" bIns="0" rtlCol="0" anchor="t">
            <a:spAutoFit/>
          </a:bodyPr>
          <a:lstStyle/>
          <a:p>
            <a:pPr marL="0" indent="0" algn="l">
              <a:buNone/>
            </a:pPr>
            <a:r>
              <a:rPr lang="en-US" sz="1800" b="1" dirty="0">
                <a:solidFill>
                  <a:srgbClr val="0F172A"/>
                </a:solidFill>
                <a:latin typeface="Pretendard" pitchFamily="34" charset="0"/>
                <a:ea typeface="Pretendard" pitchFamily="34" charset="-122"/>
                <a:cs typeface="Pretendard" pitchFamily="34" charset="-120"/>
              </a:rPr>
              <a:t>"왜 그렇게 판단했는가?"</a:t>
            </a:r>
            <a:endParaRPr lang="en-US" sz="1800" dirty="0"/>
          </a:p>
        </p:txBody>
      </p:sp>
      <p:sp>
        <p:nvSpPr>
          <p:cNvPr id="8" name="Text 4"/>
          <p:cNvSpPr/>
          <p:nvPr/>
        </p:nvSpPr>
        <p:spPr>
          <a:xfrm>
            <a:off x="857250" y="2478881"/>
            <a:ext cx="3214688" cy="685800"/>
          </a:xfrm>
          <a:prstGeom prst="rect">
            <a:avLst/>
          </a:prstGeom>
          <a:noFill/>
          <a:ln/>
        </p:spPr>
        <p:txBody>
          <a:bodyPr wrap="square" lIns="0" tIns="0" rIns="0" bIns="0" rtlCol="0" anchor="t">
            <a:spAutoFit/>
          </a:bodyPr>
          <a:lstStyle/>
          <a:p>
            <a:pPr marL="0" indent="0" algn="l">
              <a:lnSpc>
                <a:spcPct val="128000"/>
              </a:lnSpc>
              <a:buNone/>
            </a:pPr>
            <a:r>
              <a:rPr lang="en-US" sz="1050" dirty="0">
                <a:solidFill>
                  <a:srgbClr val="475569"/>
                </a:solidFill>
                <a:latin typeface="Pretendard" pitchFamily="34" charset="0"/>
                <a:ea typeface="Pretendard" pitchFamily="34" charset="-122"/>
                <a:cs typeface="Pretendard" pitchFamily="34" charset="-120"/>
              </a:rPr>
              <a:t>모든 AI의 판단 근거와 사용된 정책 지침을 인용구(Citation) 형태로 저장합니다. 이는 사후 감사나 사고 발생 시 강력한 소명 자료가 됩니다.</a:t>
            </a:r>
            <a:endParaRPr lang="en-US" sz="1050" dirty="0"/>
          </a:p>
        </p:txBody>
      </p:sp>
      <p:sp>
        <p:nvSpPr>
          <p:cNvPr id="9" name="Shape 5"/>
          <p:cNvSpPr/>
          <p:nvPr/>
        </p:nvSpPr>
        <p:spPr>
          <a:xfrm>
            <a:off x="4786313" y="1714500"/>
            <a:ext cx="428625" cy="428625"/>
          </a:xfrm>
          <a:prstGeom prst="rect">
            <a:avLst/>
          </a:prstGeom>
          <a:solidFill>
            <a:srgbClr val="0F172A"/>
          </a:solidFill>
          <a:ln/>
        </p:spPr>
      </p:sp>
      <p:sp>
        <p:nvSpPr>
          <p:cNvPr id="10" name="Text 6"/>
          <p:cNvSpPr/>
          <p:nvPr/>
        </p:nvSpPr>
        <p:spPr>
          <a:xfrm>
            <a:off x="5357813" y="1752898"/>
            <a:ext cx="2459236"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참조 규정 및 법령 자동 기록</a:t>
            </a:r>
            <a:endParaRPr lang="en-US" sz="1100" dirty="0"/>
          </a:p>
        </p:txBody>
      </p:sp>
      <p:sp>
        <p:nvSpPr>
          <p:cNvPr id="11" name="Text 7"/>
          <p:cNvSpPr/>
          <p:nvPr/>
        </p:nvSpPr>
        <p:spPr>
          <a:xfrm>
            <a:off x="5357813" y="1968996"/>
            <a:ext cx="2459236"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판단 시점에 유효했던 실제 법령 텍스트를 박제하여 저장</a:t>
            </a:r>
            <a:endParaRPr lang="en-US" sz="850" dirty="0"/>
          </a:p>
        </p:txBody>
      </p:sp>
      <p:sp>
        <p:nvSpPr>
          <p:cNvPr id="12" name="Shape 8"/>
          <p:cNvSpPr/>
          <p:nvPr/>
        </p:nvSpPr>
        <p:spPr>
          <a:xfrm>
            <a:off x="4786313" y="2371725"/>
            <a:ext cx="428625" cy="428625"/>
          </a:xfrm>
          <a:prstGeom prst="rect">
            <a:avLst/>
          </a:prstGeom>
          <a:solidFill>
            <a:srgbClr val="0F172A"/>
          </a:solidFill>
          <a:ln/>
        </p:spPr>
      </p:sp>
      <p:pic>
        <p:nvPicPr>
          <p:cNvPr id="13" name="Image 1" descr="preencoded.png"/>
          <p:cNvPicPr>
            <a:picLocks noChangeAspect="1"/>
          </p:cNvPicPr>
          <p:nvPr/>
        </p:nvPicPr>
        <p:blipFill>
          <a:blip r:embed="rId4"/>
          <a:stretch>
            <a:fillRect/>
          </a:stretch>
        </p:blipFill>
        <p:spPr>
          <a:xfrm>
            <a:off x="4893469" y="2500313"/>
            <a:ext cx="214313" cy="171450"/>
          </a:xfrm>
          <a:prstGeom prst="rect">
            <a:avLst/>
          </a:prstGeom>
        </p:spPr>
      </p:pic>
      <p:sp>
        <p:nvSpPr>
          <p:cNvPr id="14" name="Text 9"/>
          <p:cNvSpPr/>
          <p:nvPr/>
        </p:nvSpPr>
        <p:spPr>
          <a:xfrm>
            <a:off x="5357813" y="2410123"/>
            <a:ext cx="2618184"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담당자 승인 시점 및 이력 보존</a:t>
            </a:r>
            <a:endParaRPr lang="en-US" sz="1100" dirty="0"/>
          </a:p>
        </p:txBody>
      </p:sp>
      <p:sp>
        <p:nvSpPr>
          <p:cNvPr id="15" name="Text 10"/>
          <p:cNvSpPr/>
          <p:nvPr/>
        </p:nvSpPr>
        <p:spPr>
          <a:xfrm>
            <a:off x="5357813" y="2626221"/>
            <a:ext cx="2618184"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누가, 언제, 어떤 근거를 보고 승인했는지에 대한 타임스탬프</a:t>
            </a:r>
            <a:endParaRPr lang="en-US" sz="850" dirty="0"/>
          </a:p>
        </p:txBody>
      </p:sp>
      <p:sp>
        <p:nvSpPr>
          <p:cNvPr id="16" name="Shape 11"/>
          <p:cNvSpPr/>
          <p:nvPr/>
        </p:nvSpPr>
        <p:spPr>
          <a:xfrm>
            <a:off x="4786313" y="3028950"/>
            <a:ext cx="428625" cy="428625"/>
          </a:xfrm>
          <a:prstGeom prst="rect">
            <a:avLst/>
          </a:prstGeom>
          <a:solidFill>
            <a:srgbClr val="0F172A"/>
          </a:solidFill>
          <a:ln/>
        </p:spPr>
      </p:sp>
      <p:pic>
        <p:nvPicPr>
          <p:cNvPr id="17" name="Image 2" descr="preencoded.png"/>
          <p:cNvPicPr>
            <a:picLocks noChangeAspect="1"/>
          </p:cNvPicPr>
          <p:nvPr/>
        </p:nvPicPr>
        <p:blipFill>
          <a:blip r:embed="rId5"/>
          <a:stretch>
            <a:fillRect/>
          </a:stretch>
        </p:blipFill>
        <p:spPr>
          <a:xfrm>
            <a:off x="4904184" y="3157538"/>
            <a:ext cx="192881" cy="171450"/>
          </a:xfrm>
          <a:prstGeom prst="rect">
            <a:avLst/>
          </a:prstGeom>
        </p:spPr>
      </p:pic>
      <p:sp>
        <p:nvSpPr>
          <p:cNvPr id="18" name="Text 12"/>
          <p:cNvSpPr/>
          <p:nvPr/>
        </p:nvSpPr>
        <p:spPr>
          <a:xfrm>
            <a:off x="5357813" y="3067348"/>
            <a:ext cx="2643188"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영구 보존 및 소명 자료 활용</a:t>
            </a:r>
            <a:endParaRPr lang="en-US" sz="1100" dirty="0"/>
          </a:p>
        </p:txBody>
      </p:sp>
      <p:sp>
        <p:nvSpPr>
          <p:cNvPr id="19" name="Text 13"/>
          <p:cNvSpPr/>
          <p:nvPr/>
        </p:nvSpPr>
        <p:spPr>
          <a:xfrm>
            <a:off x="5357813" y="3283446"/>
            <a:ext cx="2643188"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행정 사고 발생 시 즉시 제출 가능한 형태의 감사 리포트 생성</a:t>
            </a:r>
            <a:endParaRPr lang="en-US" sz="850" dirty="0"/>
          </a:p>
        </p:txBody>
      </p:sp>
      <p:sp>
        <p:nvSpPr>
          <p:cNvPr id="20" name="Shape 14"/>
          <p:cNvSpPr/>
          <p:nvPr/>
        </p:nvSpPr>
        <p:spPr>
          <a:xfrm>
            <a:off x="571500" y="4204097"/>
            <a:ext cx="8001000" cy="510778"/>
          </a:xfrm>
          <a:prstGeom prst="rect">
            <a:avLst/>
          </a:prstGeom>
          <a:solidFill>
            <a:srgbClr val="EFF6FF"/>
          </a:solidFill>
          <a:ln w="9144">
            <a:solidFill>
              <a:srgbClr val="DBEAFE"/>
            </a:solidFill>
            <a:prstDash val="solid"/>
          </a:ln>
        </p:spPr>
      </p:sp>
      <p:sp>
        <p:nvSpPr>
          <p:cNvPr id="21" name="Text 15"/>
          <p:cNvSpPr/>
          <p:nvPr/>
        </p:nvSpPr>
        <p:spPr>
          <a:xfrm>
            <a:off x="2264569" y="4389834"/>
            <a:ext cx="1480542" cy="153591"/>
          </a:xfrm>
          <a:prstGeom prst="rect">
            <a:avLst/>
          </a:prstGeom>
          <a:noFill/>
          <a:ln/>
        </p:spPr>
        <p:txBody>
          <a:bodyPr wrap="square" lIns="0" tIns="0" rIns="0" bIns="0" rtlCol="0" anchor="t">
            <a:spAutoFit/>
          </a:bodyPr>
          <a:lstStyle/>
          <a:p>
            <a:pPr marL="0" indent="0" algn="ctr">
              <a:buNone/>
            </a:pPr>
            <a:r>
              <a:rPr lang="en-US" sz="900" dirty="0">
                <a:solidFill>
                  <a:srgbClr val="2563EB"/>
                </a:solidFill>
                <a:latin typeface="Pretendard" pitchFamily="34" charset="0"/>
                <a:ea typeface="Pretendard" pitchFamily="34" charset="-122"/>
                <a:cs typeface="Pretendard" pitchFamily="34" charset="-120"/>
              </a:rPr>
              <a:t>외고반장은 모든 업무 수행의</a:t>
            </a:r>
            <a:endParaRPr lang="en-US" sz="900" dirty="0"/>
          </a:p>
        </p:txBody>
      </p:sp>
      <p:sp>
        <p:nvSpPr>
          <p:cNvPr id="22" name="Text 16"/>
          <p:cNvSpPr/>
          <p:nvPr/>
        </p:nvSpPr>
        <p:spPr>
          <a:xfrm>
            <a:off x="3745111" y="4389834"/>
            <a:ext cx="332184" cy="153591"/>
          </a:xfrm>
          <a:prstGeom prst="rect">
            <a:avLst/>
          </a:prstGeom>
          <a:noFill/>
          <a:ln/>
        </p:spPr>
        <p:txBody>
          <a:bodyPr wrap="none" lIns="0" tIns="0" rIns="0" bIns="0" rtlCol="0" anchor="t">
            <a:spAutoFit/>
          </a:bodyPr>
          <a:lstStyle/>
          <a:p>
            <a:pPr marL="0" indent="0" algn="ctr">
              <a:buNone/>
            </a:pPr>
            <a:r>
              <a:rPr lang="en-US" sz="900" b="1" dirty="0">
                <a:solidFill>
                  <a:srgbClr val="2563EB"/>
                </a:solidFill>
                <a:latin typeface="Pretendard" pitchFamily="34" charset="0"/>
                <a:ea typeface="Pretendard" pitchFamily="34" charset="-122"/>
                <a:cs typeface="Pretendard" pitchFamily="34" charset="-120"/>
              </a:rPr>
              <a:t>투명성</a:t>
            </a:r>
            <a:endParaRPr lang="en-US" sz="900" dirty="0"/>
          </a:p>
        </p:txBody>
      </p:sp>
      <p:sp>
        <p:nvSpPr>
          <p:cNvPr id="23" name="Text 17"/>
          <p:cNvSpPr/>
          <p:nvPr/>
        </p:nvSpPr>
        <p:spPr>
          <a:xfrm>
            <a:off x="4077295" y="4389834"/>
            <a:ext cx="2873573" cy="153591"/>
          </a:xfrm>
          <a:prstGeom prst="rect">
            <a:avLst/>
          </a:prstGeom>
          <a:noFill/>
          <a:ln/>
        </p:spPr>
        <p:txBody>
          <a:bodyPr wrap="square" lIns="0" tIns="0" rIns="0" bIns="0" rtlCol="0" anchor="t">
            <a:spAutoFit/>
          </a:bodyPr>
          <a:lstStyle/>
          <a:p>
            <a:pPr marL="0" indent="0" algn="ctr">
              <a:buNone/>
            </a:pPr>
            <a:r>
              <a:rPr lang="en-US" sz="900" dirty="0">
                <a:solidFill>
                  <a:srgbClr val="2563EB"/>
                </a:solidFill>
                <a:latin typeface="Pretendard" pitchFamily="34" charset="0"/>
                <a:ea typeface="Pretendard" pitchFamily="34" charset="-122"/>
                <a:cs typeface="Pretendard" pitchFamily="34" charset="-120"/>
              </a:rPr>
              <a:t>을 확보하여 기업의 법적 리스크를 원천적으로 관리합니다.</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5636419"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17. 비즈니스 임팩트: 안정적 거버넌스 완성</a:t>
            </a:r>
            <a:endParaRPr lang="en-US" sz="2450" dirty="0"/>
          </a:p>
        </p:txBody>
      </p:sp>
      <p:sp>
        <p:nvSpPr>
          <p:cNvPr id="5" name="Shape 1"/>
          <p:cNvSpPr/>
          <p:nvPr/>
        </p:nvSpPr>
        <p:spPr>
          <a:xfrm>
            <a:off x="571500" y="1071563"/>
            <a:ext cx="2552691" cy="1698427"/>
          </a:xfrm>
          <a:prstGeom prst="rect">
            <a:avLst/>
          </a:prstGeom>
          <a:solidFill>
            <a:srgbClr val="EFF6FF"/>
          </a:solidFill>
          <a:ln/>
        </p:spPr>
      </p:sp>
      <p:sp>
        <p:nvSpPr>
          <p:cNvPr id="6" name="Shape 2"/>
          <p:cNvSpPr/>
          <p:nvPr/>
        </p:nvSpPr>
        <p:spPr>
          <a:xfrm>
            <a:off x="571500" y="2727127"/>
            <a:ext cx="2552691" cy="42863"/>
          </a:xfrm>
          <a:prstGeom prst="rect">
            <a:avLst/>
          </a:prstGeom>
          <a:solidFill>
            <a:srgbClr val="2563EB"/>
          </a:solidFill>
          <a:ln/>
        </p:spPr>
      </p:sp>
      <p:sp>
        <p:nvSpPr>
          <p:cNvPr id="7" name="Text 3"/>
          <p:cNvSpPr/>
          <p:nvPr/>
        </p:nvSpPr>
        <p:spPr>
          <a:xfrm>
            <a:off x="785813" y="1823442"/>
            <a:ext cx="2124066" cy="476845"/>
          </a:xfrm>
          <a:prstGeom prst="rect">
            <a:avLst/>
          </a:prstGeom>
          <a:noFill/>
          <a:ln/>
        </p:spPr>
        <p:txBody>
          <a:bodyPr wrap="square" lIns="0" tIns="0" rIns="0" bIns="0" rtlCol="0" anchor="t">
            <a:spAutoFit/>
          </a:bodyPr>
          <a:lstStyle/>
          <a:p>
            <a:pPr marL="0" indent="0" algn="ctr">
              <a:buNone/>
            </a:pPr>
            <a:r>
              <a:rPr lang="en-US" sz="2850" b="1" dirty="0">
                <a:solidFill>
                  <a:srgbClr val="0F172A"/>
                </a:solidFill>
                <a:latin typeface="Pretendard Variable" pitchFamily="34" charset="0"/>
                <a:ea typeface="Pretendard Variable" pitchFamily="34" charset="-122"/>
                <a:cs typeface="Pretendard Variable" pitchFamily="34" charset="-120"/>
              </a:rPr>
              <a:t>70%</a:t>
            </a:r>
            <a:endParaRPr lang="en-US" sz="2850" dirty="0"/>
          </a:p>
        </p:txBody>
      </p:sp>
      <p:sp>
        <p:nvSpPr>
          <p:cNvPr id="8" name="Text 4"/>
          <p:cNvSpPr/>
          <p:nvPr/>
        </p:nvSpPr>
        <p:spPr>
          <a:xfrm>
            <a:off x="785813" y="2357438"/>
            <a:ext cx="2124066" cy="169664"/>
          </a:xfrm>
          <a:prstGeom prst="rect">
            <a:avLst/>
          </a:prstGeom>
          <a:noFill/>
          <a:ln/>
        </p:spPr>
        <p:txBody>
          <a:bodyPr wrap="square" lIns="0" tIns="0" rIns="0" bIns="0" rtlCol="0" anchor="t">
            <a:spAutoFit/>
          </a:bodyPr>
          <a:lstStyle/>
          <a:p>
            <a:pPr marL="0" indent="0" algn="ctr">
              <a:buNone/>
            </a:pPr>
            <a:r>
              <a:rPr lang="en-US" sz="1000" b="1" dirty="0">
                <a:solidFill>
                  <a:srgbClr val="64748B"/>
                </a:solidFill>
                <a:latin typeface="Pretendard Variable" pitchFamily="34" charset="0"/>
                <a:ea typeface="Pretendard Variable" pitchFamily="34" charset="-122"/>
                <a:cs typeface="Pretendard Variable" pitchFamily="34" charset="-120"/>
              </a:rPr>
              <a:t>행정 처리 리드타임 단축</a:t>
            </a:r>
            <a:endParaRPr lang="en-US" sz="1000" dirty="0"/>
          </a:p>
        </p:txBody>
      </p:sp>
      <p:sp>
        <p:nvSpPr>
          <p:cNvPr id="9" name="Shape 5"/>
          <p:cNvSpPr/>
          <p:nvPr/>
        </p:nvSpPr>
        <p:spPr>
          <a:xfrm>
            <a:off x="3295641" y="1071563"/>
            <a:ext cx="2552691" cy="1698427"/>
          </a:xfrm>
          <a:prstGeom prst="rect">
            <a:avLst/>
          </a:prstGeom>
          <a:solidFill>
            <a:srgbClr val="EFF6FF"/>
          </a:solidFill>
          <a:ln/>
        </p:spPr>
      </p:sp>
      <p:sp>
        <p:nvSpPr>
          <p:cNvPr id="10" name="Shape 6"/>
          <p:cNvSpPr/>
          <p:nvPr/>
        </p:nvSpPr>
        <p:spPr>
          <a:xfrm>
            <a:off x="3295641" y="2727127"/>
            <a:ext cx="2552691" cy="42863"/>
          </a:xfrm>
          <a:prstGeom prst="rect">
            <a:avLst/>
          </a:prstGeom>
          <a:solidFill>
            <a:srgbClr val="2563EB"/>
          </a:solidFill>
          <a:ln/>
        </p:spPr>
      </p:sp>
      <p:pic>
        <p:nvPicPr>
          <p:cNvPr id="11" name="Image 1" descr="preencoded.png"/>
          <p:cNvPicPr>
            <a:picLocks noChangeAspect="1"/>
          </p:cNvPicPr>
          <p:nvPr/>
        </p:nvPicPr>
        <p:blipFill>
          <a:blip r:embed="rId4"/>
          <a:stretch>
            <a:fillRect/>
          </a:stretch>
        </p:blipFill>
        <p:spPr>
          <a:xfrm>
            <a:off x="4400522" y="1298377"/>
            <a:ext cx="342900" cy="342900"/>
          </a:xfrm>
          <a:prstGeom prst="rect">
            <a:avLst/>
          </a:prstGeom>
        </p:spPr>
      </p:pic>
      <p:sp>
        <p:nvSpPr>
          <p:cNvPr id="12" name="Text 7"/>
          <p:cNvSpPr/>
          <p:nvPr/>
        </p:nvSpPr>
        <p:spPr>
          <a:xfrm>
            <a:off x="3509953" y="1823442"/>
            <a:ext cx="2124066" cy="476845"/>
          </a:xfrm>
          <a:prstGeom prst="rect">
            <a:avLst/>
          </a:prstGeom>
          <a:noFill/>
          <a:ln/>
        </p:spPr>
        <p:txBody>
          <a:bodyPr wrap="square" lIns="0" tIns="0" rIns="0" bIns="0" rtlCol="0" anchor="t">
            <a:spAutoFit/>
          </a:bodyPr>
          <a:lstStyle/>
          <a:p>
            <a:pPr marL="0" indent="0" algn="ctr">
              <a:buNone/>
            </a:pPr>
            <a:r>
              <a:rPr lang="en-US" sz="2850" b="1" dirty="0">
                <a:solidFill>
                  <a:srgbClr val="0F172A"/>
                </a:solidFill>
                <a:latin typeface="Pretendard Variable" pitchFamily="34" charset="0"/>
                <a:ea typeface="Pretendard Variable" pitchFamily="34" charset="-122"/>
                <a:cs typeface="Pretendard Variable" pitchFamily="34" charset="-120"/>
              </a:rPr>
              <a:t>0건</a:t>
            </a:r>
            <a:endParaRPr lang="en-US" sz="2850" dirty="0"/>
          </a:p>
        </p:txBody>
      </p:sp>
      <p:sp>
        <p:nvSpPr>
          <p:cNvPr id="13" name="Text 8"/>
          <p:cNvSpPr/>
          <p:nvPr/>
        </p:nvSpPr>
        <p:spPr>
          <a:xfrm>
            <a:off x="3509953" y="2357438"/>
            <a:ext cx="2124066" cy="169664"/>
          </a:xfrm>
          <a:prstGeom prst="rect">
            <a:avLst/>
          </a:prstGeom>
          <a:noFill/>
          <a:ln/>
        </p:spPr>
        <p:txBody>
          <a:bodyPr wrap="square" lIns="0" tIns="0" rIns="0" bIns="0" rtlCol="0" anchor="t">
            <a:spAutoFit/>
          </a:bodyPr>
          <a:lstStyle/>
          <a:p>
            <a:pPr marL="0" indent="0" algn="ctr">
              <a:buNone/>
            </a:pPr>
            <a:r>
              <a:rPr lang="en-US" sz="1000" b="1" dirty="0">
                <a:solidFill>
                  <a:srgbClr val="64748B"/>
                </a:solidFill>
                <a:latin typeface="Pretendard Variable" pitchFamily="34" charset="0"/>
                <a:ea typeface="Pretendard Variable" pitchFamily="34" charset="-122"/>
                <a:cs typeface="Pretendard Variable" pitchFamily="34" charset="-120"/>
              </a:rPr>
              <a:t>비자/서류 행정 사고 발생</a:t>
            </a:r>
            <a:endParaRPr lang="en-US" sz="1000" dirty="0"/>
          </a:p>
        </p:txBody>
      </p:sp>
      <p:sp>
        <p:nvSpPr>
          <p:cNvPr id="14" name="Shape 9"/>
          <p:cNvSpPr/>
          <p:nvPr/>
        </p:nvSpPr>
        <p:spPr>
          <a:xfrm>
            <a:off x="6019781" y="1071563"/>
            <a:ext cx="2552719" cy="1698427"/>
          </a:xfrm>
          <a:prstGeom prst="rect">
            <a:avLst/>
          </a:prstGeom>
          <a:solidFill>
            <a:srgbClr val="EFF6FF"/>
          </a:solidFill>
          <a:ln/>
        </p:spPr>
      </p:sp>
      <p:sp>
        <p:nvSpPr>
          <p:cNvPr id="15" name="Shape 10"/>
          <p:cNvSpPr/>
          <p:nvPr/>
        </p:nvSpPr>
        <p:spPr>
          <a:xfrm>
            <a:off x="6019781" y="2727127"/>
            <a:ext cx="2552719" cy="42863"/>
          </a:xfrm>
          <a:prstGeom prst="rect">
            <a:avLst/>
          </a:prstGeom>
          <a:solidFill>
            <a:srgbClr val="2563EB"/>
          </a:solidFill>
          <a:ln/>
        </p:spPr>
      </p:sp>
      <p:pic>
        <p:nvPicPr>
          <p:cNvPr id="16" name="Image 2" descr="preencoded.png"/>
          <p:cNvPicPr>
            <a:picLocks noChangeAspect="1"/>
          </p:cNvPicPr>
          <p:nvPr/>
        </p:nvPicPr>
        <p:blipFill>
          <a:blip r:embed="rId5"/>
          <a:stretch>
            <a:fillRect/>
          </a:stretch>
        </p:blipFill>
        <p:spPr>
          <a:xfrm>
            <a:off x="7081828" y="1298377"/>
            <a:ext cx="428625" cy="342900"/>
          </a:xfrm>
          <a:prstGeom prst="rect">
            <a:avLst/>
          </a:prstGeom>
        </p:spPr>
      </p:pic>
      <p:sp>
        <p:nvSpPr>
          <p:cNvPr id="17" name="Text 11"/>
          <p:cNvSpPr/>
          <p:nvPr/>
        </p:nvSpPr>
        <p:spPr>
          <a:xfrm>
            <a:off x="6234094" y="1823442"/>
            <a:ext cx="2124094" cy="476845"/>
          </a:xfrm>
          <a:prstGeom prst="rect">
            <a:avLst/>
          </a:prstGeom>
          <a:noFill/>
          <a:ln/>
        </p:spPr>
        <p:txBody>
          <a:bodyPr wrap="square" lIns="0" tIns="0" rIns="0" bIns="0" rtlCol="0" anchor="t">
            <a:spAutoFit/>
          </a:bodyPr>
          <a:lstStyle/>
          <a:p>
            <a:pPr marL="0" indent="0" algn="ctr">
              <a:buNone/>
            </a:pPr>
            <a:r>
              <a:rPr lang="en-US" sz="2850" b="1" dirty="0">
                <a:solidFill>
                  <a:srgbClr val="0F172A"/>
                </a:solidFill>
                <a:latin typeface="Pretendard Variable" pitchFamily="34" charset="0"/>
                <a:ea typeface="Pretendard Variable" pitchFamily="34" charset="-122"/>
                <a:cs typeface="Pretendard Variable" pitchFamily="34" charset="-120"/>
              </a:rPr>
              <a:t>100%</a:t>
            </a:r>
            <a:endParaRPr lang="en-US" sz="2850" dirty="0"/>
          </a:p>
        </p:txBody>
      </p:sp>
      <p:sp>
        <p:nvSpPr>
          <p:cNvPr id="18" name="Text 12"/>
          <p:cNvSpPr/>
          <p:nvPr/>
        </p:nvSpPr>
        <p:spPr>
          <a:xfrm>
            <a:off x="6234094" y="2357438"/>
            <a:ext cx="2124094" cy="169664"/>
          </a:xfrm>
          <a:prstGeom prst="rect">
            <a:avLst/>
          </a:prstGeom>
          <a:noFill/>
          <a:ln/>
        </p:spPr>
        <p:txBody>
          <a:bodyPr wrap="square" lIns="0" tIns="0" rIns="0" bIns="0" rtlCol="0" anchor="t">
            <a:spAutoFit/>
          </a:bodyPr>
          <a:lstStyle/>
          <a:p>
            <a:pPr marL="0" indent="0" algn="ctr">
              <a:buNone/>
            </a:pPr>
            <a:r>
              <a:rPr lang="en-US" sz="1000" b="1" dirty="0">
                <a:solidFill>
                  <a:srgbClr val="64748B"/>
                </a:solidFill>
                <a:latin typeface="Pretendard Variable" pitchFamily="34" charset="0"/>
                <a:ea typeface="Pretendard Variable" pitchFamily="34" charset="-122"/>
                <a:cs typeface="Pretendard Variable" pitchFamily="34" charset="-120"/>
              </a:rPr>
              <a:t>다국어 소통 커버리지</a:t>
            </a:r>
            <a:endParaRPr lang="en-US" sz="1000" dirty="0"/>
          </a:p>
        </p:txBody>
      </p:sp>
      <p:sp>
        <p:nvSpPr>
          <p:cNvPr id="19" name="Shape 13"/>
          <p:cNvSpPr/>
          <p:nvPr/>
        </p:nvSpPr>
        <p:spPr>
          <a:xfrm>
            <a:off x="571500" y="3849812"/>
            <a:ext cx="8001000" cy="1222251"/>
          </a:xfrm>
          <a:prstGeom prst="rect">
            <a:avLst/>
          </a:prstGeom>
          <a:solidFill>
            <a:srgbClr val="0F172A"/>
          </a:solidFill>
          <a:ln/>
        </p:spPr>
      </p:sp>
      <p:sp>
        <p:nvSpPr>
          <p:cNvPr id="20" name="Text 14"/>
          <p:cNvSpPr/>
          <p:nvPr/>
        </p:nvSpPr>
        <p:spPr>
          <a:xfrm>
            <a:off x="1057275" y="4106987"/>
            <a:ext cx="3502223" cy="239316"/>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Pretendard Variable" pitchFamily="34" charset="0"/>
                <a:ea typeface="Pretendard Variable" pitchFamily="34" charset="-122"/>
                <a:cs typeface="Pretendard Variable" pitchFamily="34" charset="-120"/>
              </a:rPr>
              <a:t>지속 가능한 외국인 고용 거버넌스</a:t>
            </a:r>
            <a:endParaRPr lang="en-US" sz="1400" dirty="0"/>
          </a:p>
        </p:txBody>
      </p:sp>
      <p:sp>
        <p:nvSpPr>
          <p:cNvPr id="21" name="Text 15"/>
          <p:cNvSpPr/>
          <p:nvPr/>
        </p:nvSpPr>
        <p:spPr>
          <a:xfrm>
            <a:off x="1057275" y="4403452"/>
            <a:ext cx="350222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94A3B8"/>
                </a:solidFill>
                <a:latin typeface="Pretendard Variable" pitchFamily="34" charset="0"/>
                <a:ea typeface="Pretendard Variable" pitchFamily="34" charset="-122"/>
                <a:cs typeface="Pretendard Variable" pitchFamily="34" charset="-120"/>
              </a:rPr>
              <a:t>외고반장은 단순한 업무 효율화를 넘어, 법적 리스크가 완벽히 통제되는
안정적인 외국인 인력 운영 환경을 제공합니다.</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20588"/>
            <a:ext cx="4822031"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외고반장이 사장님께 드리는 5가지 가치</a:t>
            </a:r>
            <a:endParaRPr lang="en-US" sz="2250" dirty="0"/>
          </a:p>
        </p:txBody>
      </p:sp>
      <p:sp>
        <p:nvSpPr>
          <p:cNvPr id="5" name="Shape 1"/>
          <p:cNvSpPr/>
          <p:nvPr/>
        </p:nvSpPr>
        <p:spPr>
          <a:xfrm>
            <a:off x="571500" y="928688"/>
            <a:ext cx="8001000" cy="467916"/>
          </a:xfrm>
          <a:prstGeom prst="rect">
            <a:avLst/>
          </a:prstGeom>
          <a:solidFill>
            <a:srgbClr val="FFFFFF"/>
          </a:solidFill>
          <a:ln/>
        </p:spPr>
      </p:sp>
      <p:sp>
        <p:nvSpPr>
          <p:cNvPr id="6" name="Shape 2"/>
          <p:cNvSpPr/>
          <p:nvPr/>
        </p:nvSpPr>
        <p:spPr>
          <a:xfrm>
            <a:off x="571500" y="928688"/>
            <a:ext cx="42863" cy="467916"/>
          </a:xfrm>
          <a:prstGeom prst="rect">
            <a:avLst/>
          </a:prstGeom>
          <a:solidFill>
            <a:srgbClr val="2563EB"/>
          </a:solidFill>
          <a:ln/>
        </p:spPr>
      </p:sp>
      <p:pic>
        <p:nvPicPr>
          <p:cNvPr id="7" name="Image 1" descr="preencoded.png"/>
          <p:cNvPicPr>
            <a:picLocks noChangeAspect="1"/>
          </p:cNvPicPr>
          <p:nvPr/>
        </p:nvPicPr>
        <p:blipFill>
          <a:blip r:embed="rId4"/>
          <a:stretch>
            <a:fillRect/>
          </a:stretch>
        </p:blipFill>
        <p:spPr>
          <a:xfrm>
            <a:off x="801886" y="1059061"/>
            <a:ext cx="225028" cy="200025"/>
          </a:xfrm>
          <a:prstGeom prst="rect">
            <a:avLst/>
          </a:prstGeom>
        </p:spPr>
      </p:pic>
      <p:sp>
        <p:nvSpPr>
          <p:cNvPr id="8" name="Text 3"/>
          <p:cNvSpPr/>
          <p:nvPr/>
        </p:nvSpPr>
        <p:spPr>
          <a:xfrm>
            <a:off x="1228725" y="1068884"/>
            <a:ext cx="2971800" cy="187523"/>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무엇을 놓쳤는지 실시간으로 즉시 알 수 있습니다.</a:t>
            </a:r>
            <a:endParaRPr lang="en-US" sz="1100" dirty="0"/>
          </a:p>
        </p:txBody>
      </p:sp>
      <p:sp>
        <p:nvSpPr>
          <p:cNvPr id="9" name="Shape 4"/>
          <p:cNvSpPr/>
          <p:nvPr/>
        </p:nvSpPr>
        <p:spPr>
          <a:xfrm>
            <a:off x="571500" y="1482328"/>
            <a:ext cx="8001000" cy="467916"/>
          </a:xfrm>
          <a:prstGeom prst="rect">
            <a:avLst/>
          </a:prstGeom>
          <a:solidFill>
            <a:srgbClr val="FFFFFF"/>
          </a:solidFill>
          <a:ln/>
        </p:spPr>
      </p:sp>
      <p:sp>
        <p:nvSpPr>
          <p:cNvPr id="10" name="Shape 5"/>
          <p:cNvSpPr/>
          <p:nvPr/>
        </p:nvSpPr>
        <p:spPr>
          <a:xfrm>
            <a:off x="571500" y="1482328"/>
            <a:ext cx="42863" cy="467916"/>
          </a:xfrm>
          <a:prstGeom prst="rect">
            <a:avLst/>
          </a:prstGeom>
          <a:solidFill>
            <a:srgbClr val="2563EB"/>
          </a:solidFill>
          <a:ln/>
        </p:spPr>
      </p:sp>
      <p:pic>
        <p:nvPicPr>
          <p:cNvPr id="11" name="Image 2" descr="preencoded.png"/>
          <p:cNvPicPr>
            <a:picLocks noChangeAspect="1"/>
          </p:cNvPicPr>
          <p:nvPr/>
        </p:nvPicPr>
        <p:blipFill>
          <a:blip r:embed="rId5"/>
          <a:stretch>
            <a:fillRect/>
          </a:stretch>
        </p:blipFill>
        <p:spPr>
          <a:xfrm>
            <a:off x="814388" y="1612702"/>
            <a:ext cx="200025" cy="200025"/>
          </a:xfrm>
          <a:prstGeom prst="rect">
            <a:avLst/>
          </a:prstGeom>
        </p:spPr>
      </p:pic>
      <p:sp>
        <p:nvSpPr>
          <p:cNvPr id="12" name="Text 6"/>
          <p:cNvSpPr/>
          <p:nvPr/>
        </p:nvSpPr>
        <p:spPr>
          <a:xfrm>
            <a:off x="1228725" y="1622524"/>
            <a:ext cx="3089672" cy="187523"/>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누구에게 연락해야 하는지 AI가 명확히 짚어줍니다.</a:t>
            </a:r>
            <a:endParaRPr lang="en-US" sz="1100" dirty="0"/>
          </a:p>
        </p:txBody>
      </p:sp>
      <p:sp>
        <p:nvSpPr>
          <p:cNvPr id="13" name="Shape 7"/>
          <p:cNvSpPr/>
          <p:nvPr/>
        </p:nvSpPr>
        <p:spPr>
          <a:xfrm>
            <a:off x="571500" y="2035969"/>
            <a:ext cx="8001000" cy="467916"/>
          </a:xfrm>
          <a:prstGeom prst="rect">
            <a:avLst/>
          </a:prstGeom>
          <a:solidFill>
            <a:srgbClr val="FFFFFF"/>
          </a:solidFill>
          <a:ln/>
        </p:spPr>
      </p:sp>
      <p:sp>
        <p:nvSpPr>
          <p:cNvPr id="14" name="Shape 8"/>
          <p:cNvSpPr/>
          <p:nvPr/>
        </p:nvSpPr>
        <p:spPr>
          <a:xfrm>
            <a:off x="571500" y="2035969"/>
            <a:ext cx="42863" cy="467916"/>
          </a:xfrm>
          <a:prstGeom prst="rect">
            <a:avLst/>
          </a:prstGeom>
          <a:solidFill>
            <a:srgbClr val="2563EB"/>
          </a:solidFill>
          <a:ln/>
        </p:spPr>
      </p:sp>
      <p:pic>
        <p:nvPicPr>
          <p:cNvPr id="15" name="Image 3" descr="preencoded.png"/>
          <p:cNvPicPr>
            <a:picLocks noChangeAspect="1"/>
          </p:cNvPicPr>
          <p:nvPr/>
        </p:nvPicPr>
        <p:blipFill>
          <a:blip r:embed="rId6"/>
          <a:stretch>
            <a:fillRect/>
          </a:stretch>
        </p:blipFill>
        <p:spPr>
          <a:xfrm>
            <a:off x="789384" y="2166342"/>
            <a:ext cx="250031" cy="200025"/>
          </a:xfrm>
          <a:prstGeom prst="rect">
            <a:avLst/>
          </a:prstGeom>
        </p:spPr>
      </p:pic>
      <p:sp>
        <p:nvSpPr>
          <p:cNvPr id="16" name="Text 9"/>
          <p:cNvSpPr/>
          <p:nvPr/>
        </p:nvSpPr>
        <p:spPr>
          <a:xfrm>
            <a:off x="1228725" y="2176165"/>
            <a:ext cx="3143250" cy="187523"/>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외국어 메시지를 직접 쓸 필요 없이 자동 생성됩니다.</a:t>
            </a:r>
            <a:endParaRPr lang="en-US" sz="1100" dirty="0"/>
          </a:p>
        </p:txBody>
      </p:sp>
      <p:sp>
        <p:nvSpPr>
          <p:cNvPr id="17" name="Shape 10"/>
          <p:cNvSpPr/>
          <p:nvPr/>
        </p:nvSpPr>
        <p:spPr>
          <a:xfrm>
            <a:off x="571500" y="2589609"/>
            <a:ext cx="8001000" cy="467916"/>
          </a:xfrm>
          <a:prstGeom prst="rect">
            <a:avLst/>
          </a:prstGeom>
          <a:solidFill>
            <a:srgbClr val="FFFFFF"/>
          </a:solidFill>
          <a:ln/>
        </p:spPr>
      </p:sp>
      <p:sp>
        <p:nvSpPr>
          <p:cNvPr id="18" name="Shape 11"/>
          <p:cNvSpPr/>
          <p:nvPr/>
        </p:nvSpPr>
        <p:spPr>
          <a:xfrm>
            <a:off x="571500" y="2589609"/>
            <a:ext cx="42863" cy="467916"/>
          </a:xfrm>
          <a:prstGeom prst="rect">
            <a:avLst/>
          </a:prstGeom>
          <a:solidFill>
            <a:srgbClr val="2563EB"/>
          </a:solidFill>
          <a:ln/>
        </p:spPr>
      </p:sp>
      <p:pic>
        <p:nvPicPr>
          <p:cNvPr id="19" name="Image 4" descr="preencoded.png"/>
          <p:cNvPicPr>
            <a:picLocks noChangeAspect="1"/>
          </p:cNvPicPr>
          <p:nvPr/>
        </p:nvPicPr>
        <p:blipFill>
          <a:blip r:embed="rId7"/>
          <a:stretch>
            <a:fillRect/>
          </a:stretch>
        </p:blipFill>
        <p:spPr>
          <a:xfrm>
            <a:off x="839391" y="2719983"/>
            <a:ext cx="150019" cy="200025"/>
          </a:xfrm>
          <a:prstGeom prst="rect">
            <a:avLst/>
          </a:prstGeom>
        </p:spPr>
      </p:pic>
      <p:sp>
        <p:nvSpPr>
          <p:cNvPr id="20" name="Text 12"/>
          <p:cNvSpPr/>
          <p:nvPr/>
        </p:nvSpPr>
        <p:spPr>
          <a:xfrm>
            <a:off x="1228725" y="2729805"/>
            <a:ext cx="3207544" cy="187523"/>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행정사에게 넘길 복잡한 자료가 자동으로 정리됩니다.</a:t>
            </a:r>
            <a:endParaRPr lang="en-US" sz="1100" dirty="0"/>
          </a:p>
        </p:txBody>
      </p:sp>
      <p:sp>
        <p:nvSpPr>
          <p:cNvPr id="21" name="Shape 13"/>
          <p:cNvSpPr/>
          <p:nvPr/>
        </p:nvSpPr>
        <p:spPr>
          <a:xfrm>
            <a:off x="571500" y="3143250"/>
            <a:ext cx="8001000" cy="467916"/>
          </a:xfrm>
          <a:prstGeom prst="rect">
            <a:avLst/>
          </a:prstGeom>
          <a:solidFill>
            <a:srgbClr val="FFFFFF"/>
          </a:solidFill>
          <a:ln/>
        </p:spPr>
      </p:sp>
      <p:sp>
        <p:nvSpPr>
          <p:cNvPr id="22" name="Shape 14"/>
          <p:cNvSpPr/>
          <p:nvPr/>
        </p:nvSpPr>
        <p:spPr>
          <a:xfrm>
            <a:off x="571500" y="3143250"/>
            <a:ext cx="42863" cy="467916"/>
          </a:xfrm>
          <a:prstGeom prst="rect">
            <a:avLst/>
          </a:prstGeom>
          <a:solidFill>
            <a:srgbClr val="2563EB"/>
          </a:solidFill>
          <a:ln/>
        </p:spPr>
      </p:sp>
      <p:pic>
        <p:nvPicPr>
          <p:cNvPr id="23" name="Image 5" descr="preencoded.png"/>
          <p:cNvPicPr>
            <a:picLocks noChangeAspect="1"/>
          </p:cNvPicPr>
          <p:nvPr/>
        </p:nvPicPr>
        <p:blipFill>
          <a:blip r:embed="rId8"/>
          <a:stretch>
            <a:fillRect/>
          </a:stretch>
        </p:blipFill>
        <p:spPr>
          <a:xfrm>
            <a:off x="789384" y="3273623"/>
            <a:ext cx="250031" cy="200025"/>
          </a:xfrm>
          <a:prstGeom prst="rect">
            <a:avLst/>
          </a:prstGeom>
        </p:spPr>
      </p:pic>
      <p:sp>
        <p:nvSpPr>
          <p:cNvPr id="24" name="Text 15"/>
          <p:cNvSpPr/>
          <p:nvPr/>
        </p:nvSpPr>
        <p:spPr>
          <a:xfrm>
            <a:off x="1228725" y="3283446"/>
            <a:ext cx="4186238" cy="187523"/>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AI가 독단적으로 판단하지 않고, 오직 사장님의 승인 하에 실행됩니다.</a:t>
            </a:r>
            <a:endParaRPr lang="en-US" sz="1100" dirty="0"/>
          </a:p>
        </p:txBody>
      </p:sp>
      <p:sp>
        <p:nvSpPr>
          <p:cNvPr id="25" name="Text 16"/>
          <p:cNvSpPr/>
          <p:nvPr/>
        </p:nvSpPr>
        <p:spPr>
          <a:xfrm>
            <a:off x="571500" y="4704159"/>
            <a:ext cx="8572500" cy="153591"/>
          </a:xfrm>
          <a:prstGeom prst="rect">
            <a:avLst/>
          </a:prstGeom>
          <a:noFill/>
          <a:ln/>
        </p:spPr>
        <p:txBody>
          <a:bodyPr wrap="square" lIns="0" tIns="0" rIns="0" bIns="0" rtlCol="0" anchor="t">
            <a:spAutoFit/>
          </a:bodyPr>
          <a:lstStyle/>
          <a:p>
            <a:pPr marL="0" indent="0" algn="l">
              <a:buNone/>
            </a:pPr>
            <a:r>
              <a:rPr lang="en-US" sz="900" dirty="0">
                <a:solidFill>
                  <a:srgbClr val="64748B"/>
                </a:solidFill>
                <a:latin typeface="Pretendard Variable" pitchFamily="34" charset="0"/>
                <a:ea typeface="Pretendard Variable" pitchFamily="34" charset="-122"/>
                <a:cs typeface="Pretendard Variable" pitchFamily="34" charset="-120"/>
              </a:rPr>
              <a:t>"외고반장은 사장님의 </a:t>
            </a:r>
            <a:r>
              <a:rPr lang="en-US" sz="900" b="1" dirty="0">
                <a:solidFill>
                  <a:srgbClr val="64748B"/>
                </a:solidFill>
                <a:latin typeface="Pretendard Variable" pitchFamily="34" charset="0"/>
                <a:ea typeface="Pretendard Variable" pitchFamily="34" charset="-122"/>
                <a:cs typeface="Pretendard Variable" pitchFamily="34" charset="-120"/>
              </a:rPr>
              <a:t>가장 믿음직한 외국인 고용 관리 파트너</a:t>
            </a:r>
            <a:r>
              <a:rPr lang="en-US" sz="900" dirty="0">
                <a:solidFill>
                  <a:srgbClr val="64748B"/>
                </a:solidFill>
                <a:latin typeface="Pretendard Variable" pitchFamily="34" charset="0"/>
                <a:ea typeface="Pretendard Variable" pitchFamily="34" charset="-122"/>
                <a:cs typeface="Pretendard Variable" pitchFamily="34" charset="-120"/>
              </a:rPr>
              <a:t>가 됩니다."</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3862090" y="1160692"/>
            <a:ext cx="1419820" cy="312539"/>
          </a:xfrm>
          <a:prstGeom prst="rect">
            <a:avLst/>
          </a:prstGeom>
          <a:solidFill>
            <a:srgbClr val="2563EB"/>
          </a:solidFill>
          <a:ln/>
        </p:spPr>
      </p:sp>
      <p:sp>
        <p:nvSpPr>
          <p:cNvPr id="5" name="Text 1"/>
          <p:cNvSpPr/>
          <p:nvPr/>
        </p:nvSpPr>
        <p:spPr>
          <a:xfrm>
            <a:off x="3862090" y="1160692"/>
            <a:ext cx="1419820" cy="312539"/>
          </a:xfrm>
          <a:prstGeom prst="rect">
            <a:avLst/>
          </a:prstGeom>
          <a:noFill/>
          <a:ln/>
        </p:spPr>
        <p:txBody>
          <a:bodyPr wrap="square" lIns="204089" tIns="85090" rIns="204089" bIns="85090" rtlCol="0" anchor="t">
            <a:spAutoFit/>
          </a:bodyPr>
          <a:lstStyle/>
          <a:p>
            <a:pPr marL="0" indent="0" algn="ctr">
              <a:buNone/>
            </a:pPr>
            <a:r>
              <a:rPr lang="en-US" sz="1000" b="1" kern="0" spc="2" dirty="0">
                <a:solidFill>
                  <a:srgbClr val="FFFFFF"/>
                </a:solidFill>
                <a:latin typeface="Pretendard Variable" pitchFamily="34" charset="0"/>
                <a:ea typeface="Pretendard Variable" pitchFamily="34" charset="-122"/>
                <a:cs typeface="Pretendard Variable" pitchFamily="34" charset="-120"/>
              </a:rPr>
              <a:t>AGENTIC OS</a:t>
            </a:r>
            <a:endParaRPr lang="en-US" sz="1000" dirty="0"/>
          </a:p>
        </p:txBody>
      </p:sp>
      <p:sp>
        <p:nvSpPr>
          <p:cNvPr id="6" name="Text 2"/>
          <p:cNvSpPr/>
          <p:nvPr/>
        </p:nvSpPr>
        <p:spPr>
          <a:xfrm>
            <a:off x="3429000" y="1758981"/>
            <a:ext cx="2286000" cy="817959"/>
          </a:xfrm>
          <a:prstGeom prst="rect">
            <a:avLst/>
          </a:prstGeom>
          <a:noFill/>
          <a:ln/>
        </p:spPr>
        <p:txBody>
          <a:bodyPr wrap="square" lIns="0" tIns="0" rIns="0" bIns="0" rtlCol="0" anchor="t">
            <a:spAutoFit/>
          </a:bodyPr>
          <a:lstStyle/>
          <a:p>
            <a:pPr marL="0" indent="0" algn="ctr">
              <a:buNone/>
            </a:pPr>
            <a:r>
              <a:rPr lang="en-US" sz="4950" b="1" kern="0" spc="-2" dirty="0">
                <a:solidFill>
                  <a:srgbClr val="2563EB"/>
                </a:solidFill>
                <a:latin typeface="Pretendard Variable" pitchFamily="34" charset="0"/>
                <a:ea typeface="Pretendard Variable" pitchFamily="34" charset="-122"/>
                <a:cs typeface="Pretendard Variable" pitchFamily="34" charset="-120"/>
              </a:rPr>
              <a:t>외고반장</a:t>
            </a:r>
            <a:endParaRPr lang="en-US" sz="4950" dirty="0"/>
          </a:p>
        </p:txBody>
      </p:sp>
      <p:sp>
        <p:nvSpPr>
          <p:cNvPr id="7" name="Text 3"/>
          <p:cNvSpPr/>
          <p:nvPr/>
        </p:nvSpPr>
        <p:spPr>
          <a:xfrm>
            <a:off x="3228082" y="2791253"/>
            <a:ext cx="2687836" cy="720068"/>
          </a:xfrm>
          <a:prstGeom prst="rect">
            <a:avLst/>
          </a:prstGeom>
          <a:noFill/>
          <a:ln/>
        </p:spPr>
        <p:txBody>
          <a:bodyPr wrap="square" lIns="0" tIns="0" rIns="0" bIns="0" rtlCol="0" anchor="t">
            <a:spAutoFit/>
          </a:bodyPr>
          <a:lstStyle/>
          <a:p>
            <a:pPr marL="0" indent="0" algn="ctr">
              <a:lnSpc>
                <a:spcPct val="112000"/>
              </a:lnSpc>
              <a:buNone/>
            </a:pPr>
            <a:r>
              <a:rPr lang="en-US" sz="1800" b="1" dirty="0">
                <a:solidFill>
                  <a:srgbClr val="94A3B8"/>
                </a:solidFill>
                <a:latin typeface="Pretendard Variable" pitchFamily="34" charset="0"/>
                <a:ea typeface="Pretendard Variable" pitchFamily="34" charset="-122"/>
                <a:cs typeface="Pretendard Variable" pitchFamily="34" charset="-120"/>
              </a:rPr>
              <a:t>외국인 고용 업무,
놓치기 전에 먼저 챙깁니다.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테마">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3454</Words>
  <Application>Microsoft Office PowerPoint</Application>
  <PresentationFormat>화면 슬라이드 쇼(16:9)</PresentationFormat>
  <Paragraphs>287</Paragraphs>
  <Slides>21</Slides>
  <Notes>21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21</vt:i4>
      </vt:variant>
    </vt:vector>
  </HeadingPairs>
  <TitlesOfParts>
    <vt:vector size="25" baseType="lpstr">
      <vt:lpstr>Pretendard</vt:lpstr>
      <vt:lpstr>Pretendard Variable</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taena yim</cp:lastModifiedBy>
  <cp:revision>2</cp:revision>
  <dcterms:created xsi:type="dcterms:W3CDTF">2026-04-29T21:05:20Z</dcterms:created>
  <dcterms:modified xsi:type="dcterms:W3CDTF">2026-04-29T21:45:23Z</dcterms:modified>
</cp:coreProperties>
</file>