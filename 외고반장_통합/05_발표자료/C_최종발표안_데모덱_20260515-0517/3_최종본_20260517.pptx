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0" r:id="rId3"/>
    <p:sldId id="378" r:id="rId4"/>
    <p:sldId id="355" r:id="rId5"/>
    <p:sldId id="334" r:id="rId6"/>
    <p:sldId id="311" r:id="rId7"/>
    <p:sldId id="257" r:id="rId8"/>
    <p:sldId id="259" r:id="rId9"/>
    <p:sldId id="261" r:id="rId10"/>
    <p:sldId id="285" r:id="rId11"/>
    <p:sldId id="263" r:id="rId12"/>
    <p:sldId id="268" r:id="rId13"/>
    <p:sldId id="265" r:id="rId14"/>
    <p:sldId id="270" r:id="rId15"/>
    <p:sldId id="289" r:id="rId16"/>
    <p:sldId id="357" r:id="rId17"/>
    <p:sldId id="277" r:id="rId18"/>
    <p:sldId id="365" r:id="rId19"/>
    <p:sldId id="370" r:id="rId20"/>
    <p:sldId id="376" r:id="rId21"/>
    <p:sldId id="280" r:id="rId22"/>
    <p:sldId id="323" r:id="rId23"/>
    <p:sldId id="342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B881F3-0331-D68B-184D-5F558FC20CF4}" name="taena yim" initials="ty" userId="4888ef2eb66430d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4" autoAdjust="0"/>
    <p:restoredTop sz="94667" autoAdjust="0"/>
  </p:normalViewPr>
  <p:slideViewPr>
    <p:cSldViewPr snapToGrid="0" snapToObjects="1">
      <p:cViewPr varScale="1">
        <p:scale>
          <a:sx n="70" d="100"/>
          <a:sy n="70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87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493B-00CA-CE1B-3446-E3FEEB68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65B2F-D3EB-57A8-C746-FCCADDBFF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6D815-734B-A5A6-7F82-2968C9959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4D03-85F3-39C4-0BCE-4EC0DC8BF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33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AB01-F2DB-4BEA-D2B5-34F6B990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3E56B-4BCC-6395-6A84-E819E2C50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0B506-C2F5-8B44-5352-B481EAD77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9B34C-FBC4-0B09-7C58-7D42F3EC2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60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60C9B-89F2-4D5A-3D07-C96D2835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43DD8-BCD4-5719-5231-AAB45BB0F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295E6-4F05-D1A3-4C77-557DA673E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EC8E6-B777-B8D4-71DA-940ECBC7D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08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FDAA0-CE68-9A43-86F7-6AEAF2E1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45191-B7E6-FA57-3ECB-ADFB57E62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89081-F2F4-12DE-2FEE-2520E7F72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A879D-BA59-BBB2-FE14-00F255459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7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77BD-04CA-A581-1DCA-1360FE51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3E661-906E-A519-9B32-C945E55F6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285CC-605D-EAF2-B9BA-F70FACF00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565C7-32E2-4D28-60D5-F9228A25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10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Nr8O0WwL4k&amp;feature=youtu.b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0" y="-1714500"/>
            <a:ext cx="8382000" cy="8382000"/>
          </a:xfrm>
          <a:prstGeom prst="ellipse">
            <a:avLst/>
          </a:prstGeom>
          <a:solidFill>
            <a:srgbClr val="0066FF">
              <a:alpha val="1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334000" y="6286500"/>
            <a:ext cx="5334000" cy="5334000"/>
          </a:xfrm>
          <a:prstGeom prst="ellipse">
            <a:avLst/>
          </a:prstGeom>
          <a:solidFill>
            <a:srgbClr val="0066FF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43000" y="103437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695450" y="914400"/>
            <a:ext cx="338038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682546"/>
            <a:ext cx="1648206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kern="0" spc="-3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외고반장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143000" y="5168447"/>
            <a:ext cx="9240520" cy="721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kern="0" spc="-72" dirty="0" err="1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kern="0" spc="-72" dirty="0" err="1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업무, AI </a:t>
            </a:r>
            <a:r>
              <a:rPr lang="ko-KR" alt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반장이 </a:t>
            </a:r>
            <a:r>
              <a:rPr lang="en-US" sz="2800" b="1" kern="0" spc="-72" dirty="0" err="1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놓치기</a:t>
            </a:r>
            <a:r>
              <a:rPr lang="en-US" sz="2800" b="1" kern="0" spc="-72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전에 먼저 </a:t>
            </a:r>
            <a:r>
              <a:rPr lang="en-US" sz="2800" kern="0" spc="-72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챙깁니다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6120947"/>
            <a:ext cx="3451452" cy="538843"/>
          </a:xfrm>
          <a:prstGeom prst="roundRect">
            <a:avLst>
              <a:gd name="adj" fmla="val 50000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40757" y="6352268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93157" y="6281511"/>
            <a:ext cx="2990644" cy="29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리스크를 먼저 보여준다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46852" y="6120947"/>
            <a:ext cx="3029630" cy="538843"/>
          </a:xfrm>
          <a:prstGeom prst="roundRect">
            <a:avLst>
              <a:gd name="adj" fmla="val 50000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944609" y="6352268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97009" y="6281511"/>
            <a:ext cx="2557916" cy="29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Action을 준비해준다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28882" y="6120947"/>
            <a:ext cx="4389891" cy="538843"/>
          </a:xfrm>
          <a:prstGeom prst="roundRect">
            <a:avLst>
              <a:gd name="adj" fmla="val 50000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26639" y="6352268"/>
            <a:ext cx="76200" cy="76200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79039" y="6281511"/>
            <a:ext cx="3957236" cy="299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승인·증빙으로 안전하게 실행하고 남긴다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26103" y="1257491"/>
            <a:ext cx="778562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02970" y="1668363"/>
            <a:ext cx="16482060" cy="826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143250" y="2914055"/>
            <a:ext cx="4000500" cy="6267684"/>
          </a:xfrm>
          <a:prstGeom prst="roundRect">
            <a:avLst>
              <a:gd name="adj" fmla="val 4762"/>
            </a:avLst>
          </a:prstGeom>
          <a:solidFill>
            <a:srgbClr val="7030A0">
              <a:alpha val="12000"/>
            </a:srgbClr>
          </a:solidFill>
          <a:ln w="13607">
            <a:solidFill>
              <a:srgbClr val="A050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686279" y="3384777"/>
            <a:ext cx="914336" cy="914336"/>
          </a:xfrm>
          <a:prstGeom prst="ellipse">
            <a:avLst/>
          </a:prstGeom>
          <a:solidFill>
            <a:srgbClr val="7030A0">
              <a:alpha val="25000"/>
            </a:srgbClr>
          </a:solidFill>
          <a:ln w="13607">
            <a:solidFill>
              <a:srgbClr val="A050C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836" y="3613334"/>
            <a:ext cx="457115" cy="4571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27980" y="4527671"/>
            <a:ext cx="3031040" cy="69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임태나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953000" y="5263732"/>
            <a:ext cx="381000" cy="19029"/>
          </a:xfrm>
          <a:prstGeom prst="roundRect">
            <a:avLst>
              <a:gd name="adj" fmla="val 49999"/>
            </a:avLst>
          </a:prstGeom>
          <a:solidFill>
            <a:srgbClr val="C99E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627980" y="5435097"/>
            <a:ext cx="30310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확보 에이전트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627980" y="5892212"/>
            <a:ext cx="3031040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WorkforceRequirementAgent CandidateReadinessAgent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537857" y="6852153"/>
            <a:ext cx="3211286" cy="1470316"/>
          </a:xfrm>
          <a:prstGeom prst="roundRect">
            <a:avLst>
              <a:gd name="adj" fmla="val 6478"/>
            </a:avLst>
          </a:prstGeom>
          <a:solidFill>
            <a:srgbClr val="7030A0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685903" y="7004489"/>
            <a:ext cx="2915194" cy="120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채용 요청서 · 쿼터 · 후보 준비도 고용허가 절차 근거 검색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143750" y="2914055"/>
            <a:ext cx="4000500" cy="6267684"/>
          </a:xfrm>
          <a:prstGeom prst="roundRect">
            <a:avLst>
              <a:gd name="adj" fmla="val 4762"/>
            </a:avLst>
          </a:prstGeom>
          <a:solidFill>
            <a:srgbClr val="0066FF">
              <a:alpha val="10000"/>
            </a:srgbClr>
          </a:solidFill>
          <a:ln w="13607">
            <a:solidFill>
              <a:srgbClr val="0066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686779" y="3384777"/>
            <a:ext cx="914336" cy="914336"/>
          </a:xfrm>
          <a:prstGeom prst="ellipse">
            <a:avLst/>
          </a:prstGeom>
          <a:solidFill>
            <a:srgbClr val="0066FF">
              <a:alpha val="25000"/>
            </a:srgbClr>
          </a:solidFill>
          <a:ln w="13607">
            <a:solidFill>
              <a:srgbClr val="0066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337" y="3613334"/>
            <a:ext cx="457115" cy="4571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24398" y="4527671"/>
            <a:ext cx="2839205" cy="69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김현욱</a:t>
            </a:r>
            <a:endParaRPr lang="en-US" sz="3600" dirty="0"/>
          </a:p>
        </p:txBody>
      </p:sp>
      <p:sp>
        <p:nvSpPr>
          <p:cNvPr id="17" name="Shape 13"/>
          <p:cNvSpPr/>
          <p:nvPr/>
        </p:nvSpPr>
        <p:spPr>
          <a:xfrm>
            <a:off x="8953500" y="5263732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7724398" y="5435097"/>
            <a:ext cx="28392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및 서류 에이전트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7724398" y="5892212"/>
            <a:ext cx="2839205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VisaRiskSubAgent DocumentPrioritySubAgent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7538357" y="6852153"/>
            <a:ext cx="3211286" cy="1858863"/>
          </a:xfrm>
          <a:prstGeom prst="roundRect">
            <a:avLst>
              <a:gd name="adj" fmla="val 5124"/>
            </a:avLst>
          </a:prstGeom>
          <a:solidFill>
            <a:srgbClr val="0066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686403" y="7004489"/>
            <a:ext cx="2915194" cy="1592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· 체류만료 리스크 분석 누락서류 </a:t>
            </a:r>
            <a:r>
              <a:rPr lang="en-US" sz="18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1144250" y="2914055"/>
            <a:ext cx="4000500" cy="6267684"/>
          </a:xfrm>
          <a:prstGeom prst="roundRect">
            <a:avLst>
              <a:gd name="adj" fmla="val 4762"/>
            </a:avLst>
          </a:prstGeom>
          <a:solidFill>
            <a:srgbClr val="0A7A60">
              <a:alpha val="12000"/>
            </a:srgbClr>
          </a:solidFill>
          <a:ln w="13607">
            <a:solidFill>
              <a:srgbClr val="00A07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12687279" y="3384777"/>
            <a:ext cx="914336" cy="914336"/>
          </a:xfrm>
          <a:prstGeom prst="ellipse">
            <a:avLst/>
          </a:prstGeom>
          <a:solidFill>
            <a:srgbClr val="0A7A60">
              <a:alpha val="25000"/>
            </a:srgbClr>
          </a:solidFill>
          <a:ln w="13607">
            <a:solidFill>
              <a:srgbClr val="00A07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5836" y="3613334"/>
            <a:ext cx="457115" cy="45711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783589" y="4527671"/>
            <a:ext cx="2721717" cy="69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유현희</a:t>
            </a:r>
            <a:endParaRPr lang="en-US" sz="3600" dirty="0"/>
          </a:p>
        </p:txBody>
      </p:sp>
      <p:sp>
        <p:nvSpPr>
          <p:cNvPr id="26" name="Shape 21"/>
          <p:cNvSpPr/>
          <p:nvPr/>
        </p:nvSpPr>
        <p:spPr>
          <a:xfrm>
            <a:off x="12953894" y="5263732"/>
            <a:ext cx="381000" cy="19029"/>
          </a:xfrm>
          <a:prstGeom prst="roundRect">
            <a:avLst>
              <a:gd name="adj" fmla="val 49999"/>
            </a:avLst>
          </a:prstGeom>
          <a:solidFill>
            <a:srgbClr val="4DD9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11783589" y="5435097"/>
            <a:ext cx="27217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컨택 에이전트</a:t>
            </a:r>
            <a:endParaRPr lang="en-US" sz="2100" dirty="0"/>
          </a:p>
        </p:txBody>
      </p:sp>
      <p:sp>
        <p:nvSpPr>
          <p:cNvPr id="28" name="Text 23"/>
          <p:cNvSpPr/>
          <p:nvPr/>
        </p:nvSpPr>
        <p:spPr>
          <a:xfrm>
            <a:off x="11783589" y="5892212"/>
            <a:ext cx="2721717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OnboardingSubAgent ReplyInterpreterSubAgent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1538857" y="6852153"/>
            <a:ext cx="3211286" cy="1858863"/>
          </a:xfrm>
          <a:prstGeom prst="roundRect">
            <a:avLst>
              <a:gd name="adj" fmla="val 5124"/>
            </a:avLst>
          </a:prstGeom>
          <a:solidFill>
            <a:srgbClr val="0A7A60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11686903" y="7004489"/>
            <a:ext cx="2915194" cy="1592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메시지 초안 · 번역 품질 검증 근로자 답장 </a:t>
            </a:r>
            <a:r>
              <a:rPr lang="en-US" sz="18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R901"/>
          <p:cNvSpPr>
            <a:spLocks noGrp="1"/>
          </p:cNvSpPr>
          <p:nvPr/>
        </p:nvSpPr>
        <p:spPr>
          <a:xfrm>
            <a:off x="914400" y="736600"/>
            <a:ext cx="50800" cy="2794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T902"/>
          <p:cNvSpPr>
            <a:spLocks noGrp="1"/>
          </p:cNvSpPr>
          <p:nvPr/>
        </p:nvSpPr>
        <p:spPr>
          <a:xfrm>
            <a:off x="1041400" y="6858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0066FF"/>
                </a:solidFill>
                <a:latin typeface="Arial" pitchFamily="34" charset="0"/>
              </a:rPr>
              <a:t>TABLE OF CONTENTS</a:t>
            </a:r>
          </a:p>
        </p:txBody>
      </p:sp>
      <p:sp>
        <p:nvSpPr>
          <p:cNvPr id="903" name="T903"/>
          <p:cNvSpPr>
            <a:spLocks noGrp="1"/>
          </p:cNvSpPr>
          <p:nvPr/>
        </p:nvSpPr>
        <p:spPr>
          <a:xfrm>
            <a:off x="914400" y="1092200"/>
            <a:ext cx="889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4400" b="1" dirty="0">
                <a:solidFill>
                  <a:srgbClr val="0F0F10"/>
                </a:solidFill>
                <a:latin typeface="Arial" pitchFamily="34" charset="0"/>
              </a:rPr>
              <a:t>발표 목차</a:t>
            </a:r>
          </a:p>
        </p:txBody>
      </p:sp>
      <p:sp>
        <p:nvSpPr>
          <p:cNvPr id="910" name="R910"/>
          <p:cNvSpPr>
            <a:spLocks noGrp="1"/>
          </p:cNvSpPr>
          <p:nvPr/>
        </p:nvSpPr>
        <p:spPr>
          <a:xfrm>
            <a:off x="1270000" y="25400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1" name="R911"/>
          <p:cNvSpPr>
            <a:spLocks noGrp="1"/>
          </p:cNvSpPr>
          <p:nvPr/>
        </p:nvSpPr>
        <p:spPr>
          <a:xfrm>
            <a:off x="1270000" y="2540000"/>
            <a:ext cx="50800" cy="9652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T912"/>
          <p:cNvSpPr>
            <a:spLocks noGrp="1"/>
          </p:cNvSpPr>
          <p:nvPr/>
        </p:nvSpPr>
        <p:spPr>
          <a:xfrm>
            <a:off x="1473200" y="25400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CC2200"/>
                </a:solidFill>
                <a:latin typeface="Arial" pitchFamily="34" charset="0"/>
              </a:rPr>
              <a:t>01</a:t>
            </a:r>
          </a:p>
        </p:txBody>
      </p:sp>
      <p:sp>
        <p:nvSpPr>
          <p:cNvPr id="913" name="T913"/>
          <p:cNvSpPr>
            <a:spLocks noGrp="1"/>
          </p:cNvSpPr>
          <p:nvPr/>
        </p:nvSpPr>
        <p:spPr>
          <a:xfrm>
            <a:off x="2235200" y="25400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문제 정의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MARKET  ·  PROBLEM  ·  CUSTOMER  ·  GAP</a:t>
            </a:r>
          </a:p>
        </p:txBody>
      </p:sp>
      <p:sp>
        <p:nvSpPr>
          <p:cNvPr id="914" name="T914"/>
          <p:cNvSpPr>
            <a:spLocks noGrp="1"/>
          </p:cNvSpPr>
          <p:nvPr/>
        </p:nvSpPr>
        <p:spPr>
          <a:xfrm>
            <a:off x="15748000" y="25400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CC2200"/>
                </a:solidFill>
                <a:latin typeface="Arial" pitchFamily="34" charset="0"/>
              </a:rPr>
              <a:t>p.4–6</a:t>
            </a:r>
          </a:p>
        </p:txBody>
      </p:sp>
      <p:sp>
        <p:nvSpPr>
          <p:cNvPr id="915" name="R915"/>
          <p:cNvSpPr>
            <a:spLocks noGrp="1"/>
          </p:cNvSpPr>
          <p:nvPr/>
        </p:nvSpPr>
        <p:spPr>
          <a:xfrm>
            <a:off x="1473200" y="34036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R920"/>
          <p:cNvSpPr>
            <a:spLocks noGrp="1"/>
          </p:cNvSpPr>
          <p:nvPr/>
        </p:nvSpPr>
        <p:spPr>
          <a:xfrm>
            <a:off x="1270000" y="35433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1" name="R921"/>
          <p:cNvSpPr>
            <a:spLocks noGrp="1"/>
          </p:cNvSpPr>
          <p:nvPr/>
        </p:nvSpPr>
        <p:spPr>
          <a:xfrm>
            <a:off x="1270000" y="3543300"/>
            <a:ext cx="50800" cy="9652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T922"/>
          <p:cNvSpPr>
            <a:spLocks noGrp="1"/>
          </p:cNvSpPr>
          <p:nvPr/>
        </p:nvSpPr>
        <p:spPr>
          <a:xfrm>
            <a:off x="1473200" y="35433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0055CC"/>
                </a:solidFill>
                <a:latin typeface="Arial" pitchFamily="34" charset="0"/>
              </a:rPr>
              <a:t>02</a:t>
            </a:r>
          </a:p>
        </p:txBody>
      </p:sp>
      <p:sp>
        <p:nvSpPr>
          <p:cNvPr id="923" name="T923"/>
          <p:cNvSpPr>
            <a:spLocks noGrp="1"/>
          </p:cNvSpPr>
          <p:nvPr/>
        </p:nvSpPr>
        <p:spPr>
          <a:xfrm>
            <a:off x="2235200" y="35433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솔루션 &amp; 제품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SOLUTION  ·  PRODUCT</a:t>
            </a:r>
          </a:p>
        </p:txBody>
      </p:sp>
      <p:sp>
        <p:nvSpPr>
          <p:cNvPr id="924" name="T924"/>
          <p:cNvSpPr>
            <a:spLocks noGrp="1"/>
          </p:cNvSpPr>
          <p:nvPr/>
        </p:nvSpPr>
        <p:spPr>
          <a:xfrm>
            <a:off x="15748000" y="35433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0055CC"/>
                </a:solidFill>
                <a:latin typeface="Arial" pitchFamily="34" charset="0"/>
              </a:rPr>
              <a:t>p.7–8</a:t>
            </a:r>
          </a:p>
        </p:txBody>
      </p:sp>
      <p:sp>
        <p:nvSpPr>
          <p:cNvPr id="925" name="R925"/>
          <p:cNvSpPr>
            <a:spLocks noGrp="1"/>
          </p:cNvSpPr>
          <p:nvPr/>
        </p:nvSpPr>
        <p:spPr>
          <a:xfrm>
            <a:off x="1473200" y="44069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5" name="R935"/>
          <p:cNvSpPr>
            <a:spLocks noGrp="1"/>
          </p:cNvSpPr>
          <p:nvPr/>
        </p:nvSpPr>
        <p:spPr>
          <a:xfrm>
            <a:off x="1473200" y="44069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0" name="R940"/>
          <p:cNvSpPr>
            <a:spLocks noGrp="1"/>
          </p:cNvSpPr>
          <p:nvPr/>
        </p:nvSpPr>
        <p:spPr>
          <a:xfrm>
            <a:off x="1270000" y="45466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1" name="R941"/>
          <p:cNvSpPr>
            <a:spLocks noGrp="1"/>
          </p:cNvSpPr>
          <p:nvPr/>
        </p:nvSpPr>
        <p:spPr>
          <a:xfrm>
            <a:off x="1270000" y="4546600"/>
            <a:ext cx="50800" cy="965200"/>
          </a:xfrm>
          <a:prstGeom prst="rect">
            <a:avLst/>
          </a:prstGeom>
          <a:solidFill>
            <a:srgbClr val="7700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2" name="T942"/>
          <p:cNvSpPr>
            <a:spLocks noGrp="1"/>
          </p:cNvSpPr>
          <p:nvPr/>
        </p:nvSpPr>
        <p:spPr>
          <a:xfrm>
            <a:off x="1473200" y="45466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7700BB"/>
                </a:solidFill>
                <a:latin typeface="Arial" pitchFamily="34" charset="0"/>
              </a:rPr>
              <a:t>03</a:t>
            </a:r>
          </a:p>
        </p:txBody>
      </p:sp>
      <p:sp>
        <p:nvSpPr>
          <p:cNvPr id="943" name="T943"/>
          <p:cNvSpPr>
            <a:spLocks noGrp="1"/>
          </p:cNvSpPr>
          <p:nvPr/>
        </p:nvSpPr>
        <p:spPr>
          <a:xfrm>
            <a:off x="2235200" y="45466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아키텍처 · 구조 설계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워크플로우  ·  아키텍처  ·  에이전트 패턴  ·  청킹 전략</a:t>
            </a:r>
          </a:p>
        </p:txBody>
      </p:sp>
      <p:sp>
        <p:nvSpPr>
          <p:cNvPr id="944" name="T944"/>
          <p:cNvSpPr>
            <a:spLocks noGrp="1"/>
          </p:cNvSpPr>
          <p:nvPr/>
        </p:nvSpPr>
        <p:spPr>
          <a:xfrm>
            <a:off x="15748000" y="45466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7700BB"/>
                </a:solidFill>
                <a:latin typeface="Arial" pitchFamily="34" charset="0"/>
              </a:rPr>
              <a:t>p.9–10</a:t>
            </a:r>
          </a:p>
        </p:txBody>
      </p:sp>
      <p:sp>
        <p:nvSpPr>
          <p:cNvPr id="945" name="R945"/>
          <p:cNvSpPr>
            <a:spLocks noGrp="1"/>
          </p:cNvSpPr>
          <p:nvPr/>
        </p:nvSpPr>
        <p:spPr>
          <a:xfrm>
            <a:off x="1473200" y="54102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0" name="R950"/>
          <p:cNvSpPr>
            <a:spLocks noGrp="1"/>
          </p:cNvSpPr>
          <p:nvPr/>
        </p:nvSpPr>
        <p:spPr>
          <a:xfrm>
            <a:off x="1270000" y="55499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951"/>
          <p:cNvSpPr>
            <a:spLocks noGrp="1"/>
          </p:cNvSpPr>
          <p:nvPr/>
        </p:nvSpPr>
        <p:spPr>
          <a:xfrm>
            <a:off x="1270000" y="5549900"/>
            <a:ext cx="50800" cy="965200"/>
          </a:xfrm>
          <a:prstGeom prst="rect">
            <a:avLst/>
          </a:prstGeom>
          <a:solidFill>
            <a:srgbClr val="007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T952"/>
          <p:cNvSpPr>
            <a:spLocks noGrp="1"/>
          </p:cNvSpPr>
          <p:nvPr/>
        </p:nvSpPr>
        <p:spPr>
          <a:xfrm>
            <a:off x="1473200" y="55499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007744"/>
                </a:solidFill>
                <a:latin typeface="Arial" pitchFamily="34" charset="0"/>
              </a:rPr>
              <a:t>04</a:t>
            </a:r>
          </a:p>
        </p:txBody>
      </p:sp>
      <p:sp>
        <p:nvSpPr>
          <p:cNvPr id="953" name="T953"/>
          <p:cNvSpPr>
            <a:spLocks noGrp="1"/>
          </p:cNvSpPr>
          <p:nvPr/>
        </p:nvSpPr>
        <p:spPr>
          <a:xfrm>
            <a:off x="2235200" y="55499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엔지니어링 — 상세 설계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에이전트  ·  RAG  ·  기술스택  ·  비용  ·  보안</a:t>
            </a:r>
          </a:p>
        </p:txBody>
      </p:sp>
      <p:sp>
        <p:nvSpPr>
          <p:cNvPr id="954" name="T954"/>
          <p:cNvSpPr>
            <a:spLocks noGrp="1"/>
          </p:cNvSpPr>
          <p:nvPr/>
        </p:nvSpPr>
        <p:spPr>
          <a:xfrm>
            <a:off x="15748000" y="55499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007744"/>
                </a:solidFill>
                <a:latin typeface="Arial" pitchFamily="34" charset="0"/>
              </a:rPr>
              <a:t>p.11–20</a:t>
            </a:r>
          </a:p>
        </p:txBody>
      </p:sp>
      <p:sp>
        <p:nvSpPr>
          <p:cNvPr id="955" name="R955"/>
          <p:cNvSpPr>
            <a:spLocks noGrp="1"/>
          </p:cNvSpPr>
          <p:nvPr/>
        </p:nvSpPr>
        <p:spPr>
          <a:xfrm>
            <a:off x="1473200" y="64135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0" name="R960"/>
          <p:cNvSpPr>
            <a:spLocks noGrp="1"/>
          </p:cNvSpPr>
          <p:nvPr/>
        </p:nvSpPr>
        <p:spPr>
          <a:xfrm>
            <a:off x="1270000" y="6553200"/>
            <a:ext cx="15748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1" name="R961"/>
          <p:cNvSpPr>
            <a:spLocks noGrp="1"/>
          </p:cNvSpPr>
          <p:nvPr/>
        </p:nvSpPr>
        <p:spPr>
          <a:xfrm>
            <a:off x="1270000" y="6553200"/>
            <a:ext cx="50800" cy="965200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2" name="T962"/>
          <p:cNvSpPr>
            <a:spLocks noGrp="1"/>
          </p:cNvSpPr>
          <p:nvPr/>
        </p:nvSpPr>
        <p:spPr>
          <a:xfrm>
            <a:off x="1473200" y="65532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CC7700"/>
                </a:solidFill>
                <a:latin typeface="Arial" pitchFamily="34" charset="0"/>
              </a:rPr>
              <a:t>05</a:t>
            </a:r>
          </a:p>
        </p:txBody>
      </p:sp>
      <p:sp>
        <p:nvSpPr>
          <p:cNvPr id="963" name="T963"/>
          <p:cNvSpPr>
            <a:spLocks noGrp="1"/>
          </p:cNvSpPr>
          <p:nvPr/>
        </p:nvSpPr>
        <p:spPr>
          <a:xfrm>
            <a:off x="2235200" y="65532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Demo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시스템 화면 시연</a:t>
            </a:r>
          </a:p>
        </p:txBody>
      </p:sp>
      <p:sp>
        <p:nvSpPr>
          <p:cNvPr id="964" name="T964"/>
          <p:cNvSpPr>
            <a:spLocks noGrp="1"/>
          </p:cNvSpPr>
          <p:nvPr/>
        </p:nvSpPr>
        <p:spPr>
          <a:xfrm>
            <a:off x="15748000" y="65532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CC7700"/>
                </a:solidFill>
                <a:latin typeface="Arial" pitchFamily="34" charset="0"/>
              </a:rPr>
              <a:t>p.21</a:t>
            </a:r>
          </a:p>
        </p:txBody>
      </p:sp>
      <p:sp>
        <p:nvSpPr>
          <p:cNvPr id="965" name="R965"/>
          <p:cNvSpPr>
            <a:spLocks noGrp="1"/>
          </p:cNvSpPr>
          <p:nvPr/>
        </p:nvSpPr>
        <p:spPr>
          <a:xfrm>
            <a:off x="1473200" y="7416800"/>
            <a:ext cx="15341600" cy="127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" name="R999"/>
          <p:cNvSpPr>
            <a:spLocks noGrp="1"/>
          </p:cNvSpPr>
          <p:nvPr/>
        </p:nvSpPr>
        <p:spPr>
          <a:xfrm>
            <a:off x="914400" y="9880600"/>
            <a:ext cx="164846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" name="T1000"/>
          <p:cNvSpPr>
            <a:spLocks noGrp="1"/>
          </p:cNvSpPr>
          <p:nvPr/>
        </p:nvSpPr>
        <p:spPr>
          <a:xfrm>
            <a:off x="914400" y="9931400"/>
            <a:ext cx="16484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AAAAAA"/>
                </a:solidFill>
                <a:latin typeface="Arial" pitchFamily="34" charset="0"/>
              </a:rPr>
              <a:t>외고반장 — 외국인 고용 운영 AI 플랫폼</a:t>
            </a:r>
          </a:p>
        </p:txBody>
      </p:sp>
      <p:sp>
        <p:nvSpPr>
          <p:cNvPr id="981" name="R981"/>
          <p:cNvSpPr>
            <a:spLocks noGrp="1"/>
          </p:cNvSpPr>
          <p:nvPr/>
        </p:nvSpPr>
        <p:spPr>
          <a:xfrm>
            <a:off x="1270000" y="7556500"/>
            <a:ext cx="157480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982" name="R982"/>
          <p:cNvSpPr>
            <a:spLocks noGrp="1"/>
          </p:cNvSpPr>
          <p:nvPr/>
        </p:nvSpPr>
        <p:spPr>
          <a:xfrm>
            <a:off x="1270000" y="7556500"/>
            <a:ext cx="50800" cy="965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983" name="T983"/>
          <p:cNvSpPr>
            <a:spLocks noGrp="1"/>
          </p:cNvSpPr>
          <p:nvPr/>
        </p:nvSpPr>
        <p:spPr>
          <a:xfrm>
            <a:off x="1473200" y="7556500"/>
            <a:ext cx="660400" cy="965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888888"/>
                </a:solidFill>
                <a:latin typeface="Arial" pitchFamily="34" charset="0"/>
              </a:rPr>
              <a:t>06</a:t>
            </a:r>
          </a:p>
        </p:txBody>
      </p:sp>
      <p:sp>
        <p:nvSpPr>
          <p:cNvPr id="984" name="T984"/>
          <p:cNvSpPr>
            <a:spLocks noGrp="1"/>
          </p:cNvSpPr>
          <p:nvPr/>
        </p:nvSpPr>
        <p:spPr>
          <a:xfrm>
            <a:off x="2235200" y="7556500"/>
            <a:ext cx="12192000" cy="965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ko-KR" altLang="en-US" sz="2000" b="1" dirty="0">
                <a:solidFill>
                  <a:srgbClr val="0F0F10"/>
                </a:solidFill>
                <a:latin typeface="Arial" pitchFamily="34" charset="0"/>
              </a:rPr>
              <a:t>마무리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888888"/>
                </a:solidFill>
                <a:latin typeface="Arial" pitchFamily="34" charset="0"/>
              </a:rPr>
              <a:t>Q&amp;A</a:t>
            </a:r>
          </a:p>
        </p:txBody>
      </p:sp>
      <p:sp>
        <p:nvSpPr>
          <p:cNvPr id="985" name="T985"/>
          <p:cNvSpPr>
            <a:spLocks noGrp="1"/>
          </p:cNvSpPr>
          <p:nvPr/>
        </p:nvSpPr>
        <p:spPr>
          <a:xfrm>
            <a:off x="15748000" y="7556500"/>
            <a:ext cx="1193800" cy="965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888888"/>
                </a:solidFill>
                <a:latin typeface="Arial" pitchFamily="34" charset="0"/>
              </a:rPr>
              <a:t>p.23</a:t>
            </a:r>
          </a:p>
        </p:txBody>
      </p:sp>
    </p:spTree>
    <p:extLst>
      <p:ext uri="{BB962C8B-B14F-4D97-AF65-F5344CB8AC3E}">
        <p14:creationId xmlns:p14="http://schemas.microsoft.com/office/powerpoint/2010/main" val="116758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65712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199112" y="3961592"/>
            <a:ext cx="1889671" cy="351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kern="0" spc="252" dirty="0">
                <a:solidFill>
                  <a:srgbClr val="0066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241182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947861" y="4617286"/>
            <a:ext cx="4392172" cy="107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0" b="1" kern="0" spc="-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문제와 고객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7115715" y="5923891"/>
            <a:ext cx="4056570" cy="43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Customer · Gap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1A3932-E43B-0D16-3E65-6BE2DE07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60" y="1186520"/>
            <a:ext cx="16631679" cy="791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69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426D-2CB4-2B0C-D221-30C17F4A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13891F-CD13-ECDC-E50D-894C0AF05875}"/>
              </a:ext>
            </a:extLst>
          </p:cNvPr>
          <p:cNvSpPr/>
          <p:nvPr/>
        </p:nvSpPr>
        <p:spPr>
          <a:xfrm>
            <a:off x="1143000" y="914400"/>
            <a:ext cx="2441299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b="1" kern="0" spc="108" dirty="0">
                <a:solidFill>
                  <a:srgbClr val="0066FF"/>
                </a:solidFill>
                <a:latin typeface="Arial" pitchFamily="34" charset="0"/>
                <a:cs typeface="Arial" pitchFamily="34" charset="-120"/>
              </a:rPr>
              <a:t>CUSTOMER TRIANGLE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51CBEC-76F9-428A-083B-325D088CEC5E}"/>
              </a:ext>
            </a:extLst>
          </p:cNvPr>
          <p:cNvSpPr/>
          <p:nvPr/>
        </p:nvSpPr>
        <p:spPr>
          <a:xfrm>
            <a:off x="1143000" y="1335314"/>
            <a:ext cx="16482060" cy="161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4000" b="1" kern="0" spc="-173" dirty="0">
                <a:solidFill>
                  <a:srgbClr val="0F0F10"/>
                </a:solidFill>
                <a:latin typeface="Arial" pitchFamily="34" charset="0"/>
                <a:cs typeface="Arial" pitchFamily="34" charset="-120"/>
              </a:rPr>
              <a:t>외국인 고용 운영의 단절된 정보 흐름은 채워지지 않는다</a:t>
            </a:r>
            <a:r>
              <a:rPr lang="en-US" altLang="ko-KR" sz="4000" b="1" kern="0" spc="-173" dirty="0">
                <a:solidFill>
                  <a:srgbClr val="0F0F10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40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BBF2B7A-C73F-3FD7-2643-6DA873CAC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973" y="3103840"/>
            <a:ext cx="8322632" cy="5447856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233CE1E-7C10-B668-2006-858498E5F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1" y="2950709"/>
            <a:ext cx="8322632" cy="5447856"/>
          </a:xfrm>
          <a:prstGeom prst="rect">
            <a:avLst/>
          </a:prstGeom>
        </p:spPr>
      </p:pic>
      <p:sp>
        <p:nvSpPr>
          <p:cNvPr id="37" name="Shape 17">
            <a:extLst>
              <a:ext uri="{FF2B5EF4-FFF2-40B4-BE49-F238E27FC236}">
                <a16:creationId xmlns:a16="http://schemas.microsoft.com/office/drawing/2014/main" id="{E4A7455F-F97F-47AC-4AC7-E859A32A6B0A}"/>
              </a:ext>
            </a:extLst>
          </p:cNvPr>
          <p:cNvSpPr/>
          <p:nvPr/>
        </p:nvSpPr>
        <p:spPr>
          <a:xfrm>
            <a:off x="9139238" y="3091511"/>
            <a:ext cx="9525" cy="6155191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C54557E-F2ED-3097-4F4D-40BDA84D48E8}"/>
              </a:ext>
            </a:extLst>
          </p:cNvPr>
          <p:cNvCxnSpPr/>
          <p:nvPr/>
        </p:nvCxnSpPr>
        <p:spPr>
          <a:xfrm>
            <a:off x="7384356" y="3296450"/>
            <a:ext cx="404948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DEE83B-D628-AA32-8AB3-803A875912B4}"/>
              </a:ext>
            </a:extLst>
          </p:cNvPr>
          <p:cNvSpPr/>
          <p:nvPr/>
        </p:nvSpPr>
        <p:spPr>
          <a:xfrm>
            <a:off x="12088647" y="7898380"/>
            <a:ext cx="2827501" cy="1000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F80278-DF07-D3DC-D1E5-1CD711BD7334}"/>
              </a:ext>
            </a:extLst>
          </p:cNvPr>
          <p:cNvSpPr/>
          <p:nvPr/>
        </p:nvSpPr>
        <p:spPr>
          <a:xfrm>
            <a:off x="8081214" y="3683942"/>
            <a:ext cx="2735517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4B27E0-0B81-1879-E6E2-7772BD881415}"/>
              </a:ext>
            </a:extLst>
          </p:cNvPr>
          <p:cNvSpPr/>
          <p:nvPr/>
        </p:nvSpPr>
        <p:spPr>
          <a:xfrm>
            <a:off x="3371852" y="7848404"/>
            <a:ext cx="2827501" cy="1000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31524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ko-KR" alt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솔루션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161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5400" b="1" kern="0" spc="-173" dirty="0">
                <a:solidFill>
                  <a:srgbClr val="0F0F10"/>
                </a:solidFill>
                <a:latin typeface="Arial" pitchFamily="34" charset="0"/>
                <a:cs typeface="Arial" pitchFamily="34" charset="-120"/>
              </a:rPr>
              <a:t>인력 알선 및 채용 중심의 플랫폼 서비스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9139238" y="3369809"/>
            <a:ext cx="9525" cy="6155191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CDAB287-82CC-A4CE-8182-E88FA54BB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31" y="2541221"/>
            <a:ext cx="11854791" cy="64104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E79B07-7EF4-D87D-2993-9CBA60BDD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457" y="3967055"/>
            <a:ext cx="7991664" cy="4192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612775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플레이어는 내부 운영 단계를 채우지 않는다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784748" y="2581162"/>
            <a:ext cx="9525" cy="694383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43000" y="4030776"/>
            <a:ext cx="5418571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플레이어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4555105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09700" y="4745605"/>
            <a:ext cx="136921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시스템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92587" y="4769417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· 민원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5463722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09700" y="5654222"/>
            <a:ext cx="80837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행정사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92587" y="5678034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· 대행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6372338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09700" y="6562838"/>
            <a:ext cx="123133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· HR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092587" y="6586651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근태 · 급여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7280956"/>
            <a:ext cx="5260748" cy="794317"/>
          </a:xfrm>
          <a:prstGeom prst="roundRect">
            <a:avLst>
              <a:gd name="adj" fmla="val 1199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09700" y="7471456"/>
            <a:ext cx="152944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메신저 · 엑셀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092587" y="7495268"/>
            <a:ext cx="11206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 · 저장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73006" y="4240326"/>
            <a:ext cx="5260748" cy="3625396"/>
          </a:xfrm>
          <a:prstGeom prst="roundRect">
            <a:avLst>
              <a:gd name="adj" fmla="val 4204"/>
            </a:avLst>
          </a:prstGeom>
          <a:solidFill>
            <a:srgbClr val="0066FF">
              <a:alpha val="6000"/>
            </a:srgbClr>
          </a:solidFill>
          <a:ln w="14514">
            <a:solidFill>
              <a:srgbClr val="0066FF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62231" y="4559640"/>
            <a:ext cx="468229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있는 내부 운영 단계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530420" y="5936456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857445" y="5893140"/>
            <a:ext cx="288985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누구를 챙겨야 하지?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30420" y="6349773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857445" y="6306458"/>
            <a:ext cx="263850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뭘 준비해야 하지?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530420" y="6763090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7857445" y="6719774"/>
            <a:ext cx="2321038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승인해야 하지?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530420" y="7176407"/>
            <a:ext cx="250825" cy="364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7857445" y="7133091"/>
            <a:ext cx="339253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kern="0" spc="-1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증빙으로 남겨야 하지?</a:t>
            </a:r>
            <a:endParaRPr lang="en-US" sz="2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7154" y="5881574"/>
            <a:ext cx="342900" cy="3429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3462454" y="4910478"/>
            <a:ext cx="3682546" cy="2285093"/>
          </a:xfrm>
          <a:prstGeom prst="roundRect">
            <a:avLst>
              <a:gd name="adj" fmla="val 6669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13812612" y="5260635"/>
            <a:ext cx="307169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외고반장</a:t>
            </a:r>
            <a:endParaRPr lang="en-US" sz="3600" dirty="0"/>
          </a:p>
        </p:txBody>
      </p:sp>
      <p:sp>
        <p:nvSpPr>
          <p:cNvPr id="31" name="Text 28"/>
          <p:cNvSpPr/>
          <p:nvPr/>
        </p:nvSpPr>
        <p:spPr>
          <a:xfrm>
            <a:off x="13812612" y="6022635"/>
            <a:ext cx="3071699" cy="8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ko-KR" altLang="en-US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</a:t>
            </a:r>
            <a:r>
              <a:rPr lang="ko-KR" altLang="en-US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할일</a:t>
            </a:r>
            <a:r>
              <a:rPr lang="ko-KR" altLang="en-US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브리핑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누락탐지 승인 · </a:t>
            </a:r>
            <a:r>
              <a:rPr lang="ko-KR" alt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행동 제안 및 </a:t>
            </a:r>
            <a:r>
              <a:rPr lang="en-US" sz="1800" dirty="0" err="1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증빙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축적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46577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179977" y="3961592"/>
            <a:ext cx="1928047" cy="351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kern="0" spc="252" dirty="0">
                <a:solidFill>
                  <a:srgbClr val="0066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260424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537363" y="4617285"/>
            <a:ext cx="6182350" cy="149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0" b="1" kern="0" spc="-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&amp; </a:t>
            </a:r>
            <a:r>
              <a:rPr lang="ko-KR" altLang="en-US" sz="7800" b="1" kern="0" spc="-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7043888" y="5923891"/>
            <a:ext cx="4200118" cy="43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&amp; Main</a:t>
            </a:r>
            <a:r>
              <a:rPr lang="ko-KR" altLang="en-US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36706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외고반장의 운영 표준화 3요소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81162"/>
            <a:ext cx="5156200" cy="6943838"/>
          </a:xfrm>
          <a:prstGeom prst="roundRect">
            <a:avLst>
              <a:gd name="adj" fmla="val 3695"/>
            </a:avLst>
          </a:prstGeom>
          <a:solidFill>
            <a:srgbClr val="FFFFFF">
              <a:alpha val="13000"/>
            </a:srgbClr>
          </a:solidFill>
          <a:ln w="7257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569357" y="3045619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757" y="3198019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9357" y="3883819"/>
            <a:ext cx="44325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3600" b="1" kern="0" spc="-72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오늘 할 일 </a:t>
            </a:r>
            <a:r>
              <a:rPr lang="en-US" altLang="ko-KR" sz="3600" b="1" kern="0" spc="-72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&amp; </a:t>
            </a:r>
            <a:r>
              <a:rPr lang="ko-KR" altLang="en-US" sz="3600" b="1" kern="0" spc="-72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다음 할 일 제시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569357" y="4588669"/>
            <a:ext cx="4432590" cy="94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kern="0" spc="-11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오늘·이번 주 리스크와 해야 할 일을 선제적으로 제시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69357" y="8694851"/>
            <a:ext cx="443259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검색이 아니라 Next Action 제안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65900" y="2581162"/>
            <a:ext cx="5156200" cy="6943838"/>
          </a:xfrm>
          <a:prstGeom prst="roundRect">
            <a:avLst>
              <a:gd name="adj" fmla="val 3695"/>
            </a:avLst>
          </a:prstGeom>
          <a:solidFill>
            <a:srgbClr val="FFFFFF">
              <a:alpha val="13000"/>
            </a:srgbClr>
          </a:solidFill>
          <a:ln w="7257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992258" y="3045619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658" y="3198019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2258" y="3883819"/>
            <a:ext cx="44325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절차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992258" y="4588669"/>
            <a:ext cx="4432590" cy="94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kern="0" spc="-11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실행을 승인으로 통제 승인 전 외부 발송 불가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992258" y="8694851"/>
            <a:ext cx="443259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1988801" y="2581162"/>
            <a:ext cx="5156200" cy="6943838"/>
          </a:xfrm>
          <a:prstGeom prst="roundRect">
            <a:avLst>
              <a:gd name="adj" fmla="val 3695"/>
            </a:avLst>
          </a:prstGeom>
          <a:solidFill>
            <a:srgbClr val="FFFFFF">
              <a:alpha val="13000"/>
            </a:srgbClr>
          </a:solidFill>
          <a:ln w="7257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2415157" y="3045619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7557" y="3198019"/>
            <a:ext cx="304800" cy="304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15157" y="3883819"/>
            <a:ext cx="44325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3600" b="1" kern="0" spc="-72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증빙 이력 로그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12415157" y="4588669"/>
            <a:ext cx="4432590" cy="944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kern="0" spc="-11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결과를 증빙으로 축적 인수인계·감사·재현 가능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2415157" y="8694851"/>
            <a:ext cx="443259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r>
              <a:rPr lang="en-US" sz="18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축적</a:t>
            </a:r>
            <a:endParaRPr lang="en-US" sz="1800" dirty="0"/>
          </a:p>
        </p:txBody>
      </p:sp>
      <p:sp>
        <p:nvSpPr>
          <p:cNvPr id="202" name="TermBar_text"/>
          <p:cNvSpPr>
            <a:spLocks noGrp="1"/>
          </p:cNvSpPr>
          <p:nvPr/>
        </p:nvSpPr>
        <p:spPr>
          <a:xfrm>
            <a:off x="1143000" y="9842500"/>
            <a:ext cx="16484600" cy="355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r>
              <a:rPr lang="en-US" altLang="ko-KR" sz="800" dirty="0">
                <a:solidFill>
                  <a:srgbClr val="BBBBBB"/>
                </a:solidFill>
                <a:latin typeface="Arial" pitchFamily="34" charset="0"/>
              </a:rPr>
              <a:t>¹ Evidence-log(</a:t>
            </a:r>
            <a:r>
              <a:rPr lang="ko-KR" altLang="en-US" sz="800" dirty="0">
                <a:solidFill>
                  <a:srgbClr val="BBBBBB"/>
                </a:solidFill>
                <a:latin typeface="Arial" pitchFamily="34" charset="0"/>
              </a:rPr>
              <a:t>증빙 이력 로그</a:t>
            </a:r>
            <a:r>
              <a:rPr lang="en-US" altLang="ko-KR" sz="800" dirty="0">
                <a:solidFill>
                  <a:srgbClr val="BBBBBB"/>
                </a:solidFill>
                <a:latin typeface="Arial" pitchFamily="34" charset="0"/>
              </a:rPr>
              <a:t>, AI·</a:t>
            </a:r>
            <a:r>
              <a:rPr lang="ko-KR" altLang="en-US" sz="800" dirty="0">
                <a:solidFill>
                  <a:srgbClr val="BBBBBB"/>
                </a:solidFill>
                <a:latin typeface="Arial" pitchFamily="34" charset="0"/>
              </a:rPr>
              <a:t>담당자 행위를 시간순 불변 기록</a:t>
            </a:r>
            <a:r>
              <a:rPr lang="en-US" altLang="ko-KR" sz="800" dirty="0">
                <a:solidFill>
                  <a:srgbClr val="BBBBBB"/>
                </a:solidFill>
                <a:latin typeface="Arial" pitchFamily="34" charset="0"/>
              </a:rPr>
              <a:t>)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5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769" y="1525807"/>
            <a:ext cx="1302225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936679"/>
            <a:ext cx="4793143" cy="1615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할 </a:t>
            </a:r>
            <a:r>
              <a:rPr lang="en-US" sz="5400" b="1" kern="0" spc="-173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일이</a:t>
            </a: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화면에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818611"/>
            <a:ext cx="4653537" cy="1609470"/>
          </a:xfrm>
          <a:prstGeom prst="roundRect">
            <a:avLst>
              <a:gd name="adj" fmla="val 710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3818611"/>
            <a:ext cx="27214" cy="1609470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98772" y="4009111"/>
            <a:ext cx="429428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할 일 </a:t>
            </a:r>
            <a:r>
              <a:rPr lang="en-US" sz="2100" b="1" kern="0" spc="-1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8772" y="4460485"/>
            <a:ext cx="4294284" cy="81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 err="1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</a:t>
            </a: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자동 정리 — 즉시 확인·우선 확인·승인 대기 분류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5580417"/>
            <a:ext cx="4653537" cy="1609470"/>
          </a:xfrm>
          <a:prstGeom prst="roundRect">
            <a:avLst>
              <a:gd name="adj" fmla="val 710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5580417"/>
            <a:ext cx="27214" cy="1609470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98772" y="5770917"/>
            <a:ext cx="429428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altLang="ko-KR" sz="2100" b="1" kern="0" spc="-1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AI </a:t>
            </a: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반장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98772" y="6222292"/>
            <a:ext cx="4294284" cy="81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체류기간 임박·서류 보완·신규 채용·컨택 대기·응답 도착·승인 대기·행정사 검토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7342223"/>
            <a:ext cx="4653537" cy="1609470"/>
          </a:xfrm>
          <a:prstGeom prst="roundRect">
            <a:avLst>
              <a:gd name="adj" fmla="val 710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7342223"/>
            <a:ext cx="27214" cy="1609470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98772" y="7532723"/>
            <a:ext cx="429428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alt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할 일 제안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98772" y="7984098"/>
            <a:ext cx="4294284" cy="81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기한 임박순 정렬 — 다음 처리(초안 보기·승인 요청·응답 요약) 바로 실행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6094" y="523662"/>
            <a:ext cx="10738906" cy="9430282"/>
          </a:xfrm>
          <a:prstGeom prst="roundRect">
            <a:avLst>
              <a:gd name="adj" fmla="val 1616"/>
            </a:avLst>
          </a:prstGeom>
          <a:ln/>
          <a:effectLst>
            <a:outerShdw blurRad="457200" dist="762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6094" y="523662"/>
            <a:ext cx="10738906" cy="94302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42643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176043" y="3932975"/>
            <a:ext cx="1935807" cy="351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kern="0" spc="252" dirty="0">
                <a:solidFill>
                  <a:srgbClr val="0066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264250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041587" y="4617286"/>
            <a:ext cx="4204826" cy="107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ko-KR" altLang="en-US" sz="7800" b="1" kern="0" spc="-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6323957" y="5923891"/>
            <a:ext cx="5640087" cy="43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Agent · RAG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3455174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- WORKFLOW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케이스의 동일한 5단계 흐름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261621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646" y="5102452"/>
            <a:ext cx="285750" cy="28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5683" y="5778727"/>
            <a:ext cx="17177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745683" y="6426427"/>
            <a:ext cx="1717788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/ 필수조건 누락 · 변경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085204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527789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814" y="5102452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75036" y="5778727"/>
            <a:ext cx="11913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275036" y="6426427"/>
            <a:ext cx="1191305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레벨 이유 · 근거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51372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8793843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3868" y="5102452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71240" y="5778727"/>
            <a:ext cx="13310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8471240" y="6426427"/>
            <a:ext cx="1331005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패키지 메시지 · 서류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0617428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10941278" y="2581162"/>
            <a:ext cx="2937669" cy="6943838"/>
          </a:xfrm>
          <a:prstGeom prst="roundRect">
            <a:avLst>
              <a:gd name="adj" fmla="val 5188"/>
            </a:avLst>
          </a:prstGeom>
          <a:solidFill>
            <a:srgbClr val="0066FF">
              <a:alpha val="10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12067154" y="4902427"/>
            <a:ext cx="685800" cy="685800"/>
          </a:xfrm>
          <a:prstGeom prst="ellipse">
            <a:avLst/>
          </a:prstGeom>
          <a:solidFill>
            <a:srgbClr val="0066FF">
              <a:alpha val="35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7179" y="5102452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40558" y="5778727"/>
            <a:ext cx="173899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</a:t>
            </a:r>
            <a:endParaRPr lang="en-US" sz="3600" dirty="0"/>
          </a:p>
        </p:txBody>
      </p:sp>
      <p:sp>
        <p:nvSpPr>
          <p:cNvPr id="23" name="Text 17"/>
          <p:cNvSpPr/>
          <p:nvPr/>
        </p:nvSpPr>
        <p:spPr>
          <a:xfrm>
            <a:off x="11540558" y="6426427"/>
            <a:ext cx="1738993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전 실행 불가 Human Gate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897996" y="2581162"/>
            <a:ext cx="381000" cy="698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15340466" y="4902427"/>
            <a:ext cx="685800" cy="685800"/>
          </a:xfrm>
          <a:prstGeom prst="ellipse">
            <a:avLst/>
          </a:prstGeom>
          <a:solidFill>
            <a:srgbClr val="0066FF">
              <a:alpha val="20000"/>
            </a:srgbClr>
          </a:solidFill>
          <a:ln w="14514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0491" y="5102452"/>
            <a:ext cx="285750" cy="285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507823" y="5778727"/>
            <a:ext cx="23512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endParaRPr lang="en-US" sz="3600" dirty="0"/>
          </a:p>
        </p:txBody>
      </p:sp>
      <p:sp>
        <p:nvSpPr>
          <p:cNvPr id="28" name="Text 21"/>
          <p:cNvSpPr/>
          <p:nvPr/>
        </p:nvSpPr>
        <p:spPr>
          <a:xfrm>
            <a:off x="14507823" y="6426427"/>
            <a:ext cx="2351201" cy="81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Append-only 감사 · 재현 가능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769" y="500807"/>
            <a:ext cx="3986165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WORKFLOW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86205" y="907787"/>
            <a:ext cx="6688230" cy="1391756"/>
          </a:xfrm>
          <a:prstGeom prst="roundRect">
            <a:avLst>
              <a:gd name="adj" fmla="val 6844"/>
            </a:avLst>
          </a:prstGeom>
          <a:solidFill>
            <a:srgbClr val="F7F7F8"/>
          </a:solidFill>
          <a:ln w="6804">
            <a:solidFill>
              <a:srgbClr val="E0E0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40304" y="1051790"/>
            <a:ext cx="6482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채널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40304" y="1480415"/>
            <a:ext cx="2097839" cy="682909"/>
          </a:xfrm>
          <a:prstGeom prst="roundRect">
            <a:avLst>
              <a:gd name="adj" fmla="val 8369"/>
            </a:avLst>
          </a:prstGeom>
          <a:solidFill>
            <a:srgbClr val="FFFFFF"/>
          </a:solidFill>
          <a:ln w="6804">
            <a:solidFill>
              <a:srgbClr val="E0E0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23307" y="1563418"/>
            <a:ext cx="1931832" cy="5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Chat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38142" y="1480415"/>
            <a:ext cx="2097945" cy="682909"/>
          </a:xfrm>
          <a:prstGeom prst="roundRect">
            <a:avLst>
              <a:gd name="adj" fmla="val 8369"/>
            </a:avLst>
          </a:prstGeom>
          <a:solidFill>
            <a:srgbClr val="FFFFFF"/>
          </a:solidFill>
          <a:ln w="6804">
            <a:solidFill>
              <a:srgbClr val="E0E0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21146" y="1563418"/>
            <a:ext cx="1931938" cy="5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 Scheduler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36088" y="1480415"/>
            <a:ext cx="2097839" cy="682909"/>
          </a:xfrm>
          <a:prstGeom prst="roundRect">
            <a:avLst>
              <a:gd name="adj" fmla="val 8369"/>
            </a:avLst>
          </a:prstGeom>
          <a:solidFill>
            <a:srgbClr val="FFFFFF"/>
          </a:solidFill>
          <a:ln w="6804">
            <a:solidFill>
              <a:srgbClr val="E0E0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19091" y="1563418"/>
            <a:ext cx="1931832" cy="555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Upload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77601" y="2379549"/>
            <a:ext cx="19029" cy="1333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3000" y="2512857"/>
            <a:ext cx="6688230" cy="971422"/>
          </a:xfrm>
          <a:prstGeom prst="roundRect">
            <a:avLst>
              <a:gd name="adj" fmla="val 9805"/>
            </a:avLst>
          </a:prstGeom>
          <a:solidFill>
            <a:srgbClr val="EBF3FF"/>
          </a:solidFill>
          <a:ln w="13607">
            <a:solidFill>
              <a:srgbClr val="B3D0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1252907" y="2659771"/>
            <a:ext cx="64684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· 필터링 계층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52907" y="3078829"/>
            <a:ext cx="6468416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58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Masking · Tenant Scope · Rate Limit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77601" y="3560394"/>
            <a:ext cx="19029" cy="1333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3000" y="3693702"/>
            <a:ext cx="6688230" cy="964619"/>
          </a:xfrm>
          <a:prstGeom prst="roundRect">
            <a:avLst>
              <a:gd name="adj" fmla="val 9874"/>
            </a:avLst>
          </a:prstGeom>
          <a:solidFill>
            <a:srgbClr val="EDE8FF"/>
          </a:solidFill>
          <a:ln w="13607">
            <a:solidFill>
              <a:srgbClr val="B8A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52907" y="3840616"/>
            <a:ext cx="6468416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A3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52907" y="4178031"/>
            <a:ext cx="64684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B6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 분류 (상담·안전·생활·공지) → 미션 결정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2677" y="4734435"/>
            <a:ext cx="68888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미션 에이전트 · 순차 실행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5124896"/>
            <a:ext cx="2178631" cy="1751069"/>
          </a:xfrm>
          <a:prstGeom prst="roundRect">
            <a:avLst>
              <a:gd name="adj" fmla="val 5440"/>
            </a:avLst>
          </a:prstGeom>
          <a:solidFill>
            <a:srgbClr val="EDE8FF"/>
          </a:solidFill>
          <a:ln w="6804">
            <a:solidFill>
              <a:srgbClr val="B8A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25982" y="5245979"/>
            <a:ext cx="2012667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8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5982" y="5542572"/>
            <a:ext cx="2012667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5982" y="5829598"/>
            <a:ext cx="20126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B6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요건 · 후보 준비도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397746" y="5124896"/>
            <a:ext cx="2178738" cy="1751069"/>
          </a:xfrm>
          <a:prstGeom prst="roundRect">
            <a:avLst>
              <a:gd name="adj" fmla="val 5440"/>
            </a:avLst>
          </a:prstGeom>
          <a:solidFill>
            <a:srgbClr val="EDE8FF"/>
          </a:solidFill>
          <a:ln w="6804">
            <a:solidFill>
              <a:srgbClr val="B8A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480729" y="5245979"/>
            <a:ext cx="2012773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8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480729" y="5542572"/>
            <a:ext cx="2012773" cy="555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Document Agent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80729" y="6088134"/>
            <a:ext cx="201277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B6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· 누락 서류 · 핸드오프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52599" y="5124896"/>
            <a:ext cx="2178631" cy="1751069"/>
          </a:xfrm>
          <a:prstGeom prst="roundRect">
            <a:avLst>
              <a:gd name="adj" fmla="val 5440"/>
            </a:avLst>
          </a:prstGeom>
          <a:solidFill>
            <a:srgbClr val="EDE8FF"/>
          </a:solidFill>
          <a:ln w="6804">
            <a:solidFill>
              <a:srgbClr val="B8A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735581" y="5245979"/>
            <a:ext cx="2012667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8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35581" y="5542572"/>
            <a:ext cx="2012667" cy="555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Contact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35581" y="6088134"/>
            <a:ext cx="20126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B6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 분류 · 다국어 초안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43000" y="6952081"/>
            <a:ext cx="2178631" cy="1189243"/>
          </a:xfrm>
          <a:prstGeom prst="roundRect">
            <a:avLst>
              <a:gd name="adj" fmla="val 8009"/>
            </a:avLst>
          </a:prstGeom>
          <a:solidFill>
            <a:srgbClr val="E8F5ED"/>
          </a:solidFill>
          <a:ln w="6804">
            <a:solidFill>
              <a:srgbClr val="A8D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206954" y="7054135"/>
            <a:ext cx="2050724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06954" y="7372520"/>
            <a:ext cx="205072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A9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· 누락 · 충돌탐지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397746" y="6952081"/>
            <a:ext cx="2178738" cy="1189243"/>
          </a:xfrm>
          <a:prstGeom prst="roundRect">
            <a:avLst>
              <a:gd name="adj" fmla="val 8009"/>
            </a:avLst>
          </a:prstGeom>
          <a:solidFill>
            <a:srgbClr val="E8F5ED"/>
          </a:solidFill>
          <a:ln w="6804">
            <a:solidFill>
              <a:srgbClr val="A8D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461700" y="7054135"/>
            <a:ext cx="2050830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3461700" y="7372520"/>
            <a:ext cx="205083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A9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근거 · A/B/E 등급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652599" y="6952081"/>
            <a:ext cx="2178631" cy="1189243"/>
          </a:xfrm>
          <a:prstGeom prst="roundRect">
            <a:avLst>
              <a:gd name="adj" fmla="val 8009"/>
            </a:avLst>
          </a:prstGeom>
          <a:solidFill>
            <a:srgbClr val="E8F5ED"/>
          </a:solidFill>
          <a:ln w="6804">
            <a:solidFill>
              <a:srgbClr val="A8D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716552" y="7054135"/>
            <a:ext cx="2050724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TOOLS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5716552" y="7372520"/>
            <a:ext cx="205072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A9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데이터 · 케이스 상태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477601" y="8217439"/>
            <a:ext cx="19029" cy="1333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43000" y="8350746"/>
            <a:ext cx="3809681" cy="1549726"/>
          </a:xfrm>
          <a:prstGeom prst="roundRect">
            <a:avLst>
              <a:gd name="adj" fmla="val 6146"/>
            </a:avLst>
          </a:prstGeom>
          <a:solidFill>
            <a:srgbClr val="FFF5E6"/>
          </a:solidFill>
          <a:ln w="13607">
            <a:solidFill>
              <a:srgbClr val="FFB8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308943" y="8478632"/>
            <a:ext cx="3582128" cy="636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· Human-in-the-Loop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308943" y="9105837"/>
            <a:ext cx="358212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C88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발송 · 제출 전 사람이 최종 승인 · pending-first 구조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028796" y="8350746"/>
            <a:ext cx="2802434" cy="1549726"/>
          </a:xfrm>
          <a:prstGeom prst="roundRect">
            <a:avLst>
              <a:gd name="adj" fmla="val 6146"/>
            </a:avLst>
          </a:prstGeom>
          <a:solidFill>
            <a:srgbClr val="F7F7F8"/>
          </a:solidFill>
          <a:ln w="6804">
            <a:solidFill>
              <a:srgbClr val="E0E0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187936" y="8471829"/>
            <a:ext cx="2560354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Log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5187936" y="8799676"/>
            <a:ext cx="256035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근거 · 승인 이력 · 실행 기록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136009" y="685779"/>
            <a:ext cx="9525" cy="9029722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8450249" y="685779"/>
            <a:ext cx="8694752" cy="2111552"/>
          </a:xfrm>
          <a:prstGeom prst="roundRect">
            <a:avLst>
              <a:gd name="adj" fmla="val 5413"/>
            </a:avLst>
          </a:prstGeom>
          <a:ln w="6804">
            <a:solidFill>
              <a:srgbClr val="E0E0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8457052" y="692582"/>
            <a:ext cx="8681145" cy="609557"/>
          </a:xfrm>
          <a:prstGeom prst="rect">
            <a:avLst/>
          </a:prstGeom>
          <a:solidFill>
            <a:srgbClr val="1B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8647552" y="864054"/>
            <a:ext cx="266615" cy="266615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609452" y="864054"/>
            <a:ext cx="342815" cy="30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028446" y="806861"/>
            <a:ext cx="25050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· PII 마스킹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8457052" y="1302140"/>
            <a:ext cx="8681145" cy="5306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8457052" y="1826015"/>
            <a:ext cx="8681145" cy="9525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8647552" y="1397390"/>
            <a:ext cx="838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561888" y="1397390"/>
            <a:ext cx="76073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user_message = "체류만료 임박 서류 패키지 조안을 준비해줘"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457052" y="1832818"/>
            <a:ext cx="8681145" cy="5306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8457052" y="2356693"/>
            <a:ext cx="8681145" cy="9525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8647552" y="1928068"/>
            <a:ext cx="838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9561888" y="1928068"/>
            <a:ext cx="76073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normalize_runtime_input() → </a:t>
            </a:r>
            <a:r>
              <a:rPr lang="ko-KR" alt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</a:t>
            </a:r>
            <a:r>
              <a:rPr lang="en-US" altLang="ko-KR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구조화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8457052" y="2363497"/>
            <a:ext cx="8681145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8647552" y="2458747"/>
            <a:ext cx="838200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561888" y="2458747"/>
            <a:ext cx="76073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여권번호·외국인등록번호 자동 마스킹 → JSON 미노출 검증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450249" y="2911610"/>
            <a:ext cx="8694752" cy="2111552"/>
          </a:xfrm>
          <a:prstGeom prst="roundRect">
            <a:avLst>
              <a:gd name="adj" fmla="val 5413"/>
            </a:avLst>
          </a:prstGeom>
          <a:ln w="6804">
            <a:solidFill>
              <a:srgbClr val="B8AD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457052" y="2918413"/>
            <a:ext cx="8681145" cy="609557"/>
          </a:xfrm>
          <a:prstGeom prst="rect">
            <a:avLst/>
          </a:prstGeom>
          <a:solidFill>
            <a:srgbClr val="5A3F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8647552" y="3089885"/>
            <a:ext cx="266615" cy="266615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8609452" y="3089885"/>
            <a:ext cx="342815" cy="30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9028446" y="3032692"/>
            <a:ext cx="322375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 — 의도 분류</a:t>
            </a:r>
            <a:endParaRPr lang="en-US" sz="2100" dirty="0"/>
          </a:p>
        </p:txBody>
      </p:sp>
      <p:sp>
        <p:nvSpPr>
          <p:cNvPr id="70" name="Shape 68"/>
          <p:cNvSpPr/>
          <p:nvPr/>
        </p:nvSpPr>
        <p:spPr>
          <a:xfrm>
            <a:off x="8457052" y="3527971"/>
            <a:ext cx="8681145" cy="530679"/>
          </a:xfrm>
          <a:prstGeom prst="rect">
            <a:avLst/>
          </a:prstGeom>
          <a:solidFill>
            <a:srgbClr val="F9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8457052" y="4051846"/>
            <a:ext cx="8681145" cy="9525"/>
          </a:xfrm>
          <a:prstGeom prst="rect">
            <a:avLst/>
          </a:prstGeom>
          <a:solidFill>
            <a:srgbClr val="EDE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8647552" y="3623221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3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연장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9371388" y="3623221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"체류연장 서류 패키지 준비해줘" → </a:t>
            </a:r>
            <a:r>
              <a:rPr lang="en-US" sz="18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visa_agent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8457052" y="4058649"/>
            <a:ext cx="8681145" cy="530679"/>
          </a:xfrm>
          <a:prstGeom prst="rect">
            <a:avLst/>
          </a:prstGeom>
          <a:solidFill>
            <a:srgbClr val="F9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457052" y="4582524"/>
            <a:ext cx="8681145" cy="9525"/>
          </a:xfrm>
          <a:prstGeom prst="rect">
            <a:avLst/>
          </a:prstGeom>
          <a:solidFill>
            <a:srgbClr val="EDE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8647552" y="4153899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3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9371388" y="4153899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"체류기간 연장 공식 근거 찾아줘" → visa_agent (RAG 조문 검색)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8457052" y="4589328"/>
            <a:ext cx="8681145" cy="523875"/>
          </a:xfrm>
          <a:prstGeom prst="rect">
            <a:avLst/>
          </a:prstGeom>
          <a:solidFill>
            <a:srgbClr val="F9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8647552" y="4684578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9371388" y="4684578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"법적으로 비자 가능 여부 판단해줘" → 🚫 plan blocked, 승인 대기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450249" y="5137440"/>
            <a:ext cx="8694752" cy="2430257"/>
          </a:xfrm>
          <a:prstGeom prst="roundRect">
            <a:avLst>
              <a:gd name="adj" fmla="val 4703"/>
            </a:avLst>
          </a:prstGeom>
          <a:ln w="6804">
            <a:solidFill>
              <a:srgbClr val="A8D5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457052" y="5144244"/>
            <a:ext cx="8681145" cy="609557"/>
          </a:xfrm>
          <a:prstGeom prst="rect">
            <a:avLst/>
          </a:prstGeom>
          <a:solidFill>
            <a:srgbClr val="2A7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8647552" y="5315716"/>
            <a:ext cx="266615" cy="266615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8609452" y="5315716"/>
            <a:ext cx="342815" cy="30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9028446" y="5258523"/>
            <a:ext cx="16225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실행</a:t>
            </a:r>
            <a:endParaRPr lang="en-US" sz="2100" dirty="0"/>
          </a:p>
        </p:txBody>
      </p:sp>
      <p:sp>
        <p:nvSpPr>
          <p:cNvPr id="86" name="Shape 84"/>
          <p:cNvSpPr/>
          <p:nvPr/>
        </p:nvSpPr>
        <p:spPr>
          <a:xfrm>
            <a:off x="8457052" y="5753802"/>
            <a:ext cx="8681145" cy="864054"/>
          </a:xfrm>
          <a:prstGeom prst="rect">
            <a:avLst/>
          </a:prstGeom>
          <a:solidFill>
            <a:srgbClr val="F4FB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8457052" y="6611052"/>
            <a:ext cx="8681145" cy="9525"/>
          </a:xfrm>
          <a:prstGeom prst="rect">
            <a:avLst/>
          </a:prstGeom>
          <a:solidFill>
            <a:srgbClr val="E8F5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8647552" y="5849052"/>
            <a:ext cx="6477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9371388" y="5849052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체류만료일 × 계약만료일 교차 → risk_level: HIGH (D-14 이내)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8457052" y="6617855"/>
            <a:ext cx="8681145" cy="530679"/>
          </a:xfrm>
          <a:prstGeom prst="rect">
            <a:avLst/>
          </a:prstGeom>
          <a:solidFill>
            <a:srgbClr val="F4FB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8457052" y="7141730"/>
            <a:ext cx="8681145" cy="9525"/>
          </a:xfrm>
          <a:prstGeom prst="rect">
            <a:avLst/>
          </a:prstGeom>
          <a:solidFill>
            <a:srgbClr val="E8F5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8647552" y="6713105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9371388" y="6713105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E-9 필수 서류 묶음 (신청서·여권사본·재직증명서)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8457052" y="7148534"/>
            <a:ext cx="8681145" cy="523875"/>
          </a:xfrm>
          <a:prstGeom prst="rect">
            <a:avLst/>
          </a:prstGeom>
          <a:solidFill>
            <a:srgbClr val="F4FB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8647552" y="7243784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9371388" y="7243784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에이전트 서류 초안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누락 항목 목록 + 우선순위 순위 반환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8450249" y="7681976"/>
            <a:ext cx="8694752" cy="2033524"/>
          </a:xfrm>
          <a:prstGeom prst="roundRect">
            <a:avLst>
              <a:gd name="adj" fmla="val 5621"/>
            </a:avLst>
          </a:prstGeom>
          <a:ln w="6804">
            <a:solidFill>
              <a:srgbClr val="FFB0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8457052" y="7688780"/>
            <a:ext cx="8681145" cy="527915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8647552" y="7819430"/>
            <a:ext cx="266615" cy="266615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/>
          <p:nvPr/>
        </p:nvSpPr>
        <p:spPr>
          <a:xfrm>
            <a:off x="8609452" y="7819430"/>
            <a:ext cx="342815" cy="30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01" name="Text 99"/>
          <p:cNvSpPr/>
          <p:nvPr/>
        </p:nvSpPr>
        <p:spPr>
          <a:xfrm>
            <a:off x="9028446" y="7803059"/>
            <a:ext cx="3907657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· Evidence Log</a:t>
            </a:r>
            <a:endParaRPr lang="en-US" sz="2100" dirty="0"/>
          </a:p>
        </p:txBody>
      </p:sp>
      <p:sp>
        <p:nvSpPr>
          <p:cNvPr id="102" name="Shape 100"/>
          <p:cNvSpPr/>
          <p:nvPr/>
        </p:nvSpPr>
        <p:spPr>
          <a:xfrm>
            <a:off x="8457052" y="8216694"/>
            <a:ext cx="8681145" cy="530679"/>
          </a:xfrm>
          <a:prstGeom prst="rect">
            <a:avLst/>
          </a:prstGeom>
          <a:solidFill>
            <a:srgbClr val="FFF8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8457052" y="8740569"/>
            <a:ext cx="8681145" cy="9525"/>
          </a:xfrm>
          <a:prstGeom prst="rect">
            <a:avLst/>
          </a:prstGeom>
          <a:solidFill>
            <a:srgbClr val="FFE8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8647552" y="8311944"/>
            <a:ext cx="266615" cy="266615"/>
          </a:xfrm>
          <a:prstGeom prst="ellipse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/>
          <p:nvPr/>
        </p:nvSpPr>
        <p:spPr>
          <a:xfrm>
            <a:off x="8687417" y="8330973"/>
            <a:ext cx="262979" cy="266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9371388" y="8311944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"정부 포털 자동 제출" / "행정사 자동 전송" → 즉시 차단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8457052" y="8747373"/>
            <a:ext cx="8681145" cy="530679"/>
          </a:xfrm>
          <a:prstGeom prst="rect">
            <a:avLst/>
          </a:prstGeom>
          <a:solidFill>
            <a:srgbClr val="FFF8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8457052" y="9271248"/>
            <a:ext cx="8681145" cy="9525"/>
          </a:xfrm>
          <a:prstGeom prst="rect">
            <a:avLst/>
          </a:prstGeom>
          <a:solidFill>
            <a:srgbClr val="FFE8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8647552" y="8842623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9371388" y="8842623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approval_required=True → 담당자 검토·승인 후 전송 허용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8457052" y="9278052"/>
            <a:ext cx="8681145" cy="523875"/>
          </a:xfrm>
          <a:prstGeom prst="rect">
            <a:avLst/>
          </a:prstGeom>
          <a:solidFill>
            <a:srgbClr val="FFF8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/>
          <p:nvPr/>
        </p:nvSpPr>
        <p:spPr>
          <a:xfrm>
            <a:off x="8647552" y="9373302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9371388" y="9373302"/>
            <a:ext cx="78035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없는 상태로 DB 저장 · 판단 근거·승인 </a:t>
            </a:r>
            <a:r>
              <a:rPr lang="en-US" sz="18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769" y="609557"/>
            <a:ext cx="36756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에이전트 설계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095269"/>
            <a:ext cx="16482060" cy="826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 err="1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</a:t>
            </a:r>
            <a:r>
              <a:rPr lang="ko-KR" altLang="en-US" sz="5400" b="1" kern="0" spc="-173" dirty="0" err="1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036181"/>
            <a:ext cx="5206965" cy="1587500"/>
          </a:xfrm>
          <a:prstGeom prst="roundRect">
            <a:avLst>
              <a:gd name="adj" fmla="val 6303"/>
            </a:avLst>
          </a:prstGeom>
          <a:solidFill>
            <a:srgbClr val="1A4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33500" y="2188518"/>
            <a:ext cx="497074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확보 에이전트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2697085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65778" y="2697085"/>
            <a:ext cx="26437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채용 요청서 초안 생성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3030460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5778" y="3030460"/>
            <a:ext cx="18852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후보자 준비도 계산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33500" y="3363835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E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65778" y="3363835"/>
            <a:ext cx="21715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쿼터·서류 리스크 탐지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40465" y="2036181"/>
            <a:ext cx="5207071" cy="1587500"/>
          </a:xfrm>
          <a:prstGeom prst="roundRect">
            <a:avLst>
              <a:gd name="adj" fmla="val 6303"/>
            </a:avLst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30965" y="2188518"/>
            <a:ext cx="4970853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연락 에이전트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30965" y="2697085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63243" y="2697085"/>
            <a:ext cx="23692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메시지 초안 생성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30965" y="3030460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63243" y="3030460"/>
            <a:ext cx="16749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답장 요약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30965" y="3363835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63243" y="3363835"/>
            <a:ext cx="14647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품질 검증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938035" y="2036181"/>
            <a:ext cx="5206965" cy="1587500"/>
          </a:xfrm>
          <a:prstGeom prst="roundRect">
            <a:avLst>
              <a:gd name="adj" fmla="val 6303"/>
            </a:avLst>
          </a:prstGeom>
          <a:solidFill>
            <a:srgbClr val="7030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128535" y="2188518"/>
            <a:ext cx="497074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서류 에이전트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128535" y="2697085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60814" y="2697085"/>
            <a:ext cx="1653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D-day 조회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128535" y="3030460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60814" y="3030460"/>
            <a:ext cx="21715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계약·체류 리스크 판정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128535" y="3363835"/>
            <a:ext cx="232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60814" y="3363835"/>
            <a:ext cx="23692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서류 우선순위 분류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3911600"/>
            <a:ext cx="5668863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195901" y="3695432"/>
            <a:ext cx="45687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</a:t>
            </a:r>
            <a:r>
              <a:rPr lang="en-US" sz="1800" b="1" kern="0" spc="108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kern="0" spc="108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</a:t>
            </a:r>
            <a:r>
              <a:rPr lang="en-US" sz="1800" b="1" kern="0" spc="108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76137" y="3911600"/>
            <a:ext cx="5668863" cy="9525"/>
          </a:xfrm>
          <a:prstGeom prst="rect">
            <a:avLst/>
          </a:prstGeom>
          <a:solidFill>
            <a:srgbClr val="E8E8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143000" y="4127500"/>
            <a:ext cx="5270429" cy="3042153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43000" y="4127500"/>
            <a:ext cx="5270429" cy="27214"/>
          </a:xfrm>
          <a:prstGeom prst="rect">
            <a:avLst/>
          </a:prstGeom>
          <a:solidFill>
            <a:srgbClr val="1A4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295336" y="4370543"/>
            <a:ext cx="209529" cy="209529"/>
          </a:xfrm>
          <a:prstGeom prst="ellipse">
            <a:avLst/>
          </a:prstGeom>
          <a:solidFill>
            <a:srgbClr val="1A4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257236" y="4370543"/>
            <a:ext cx="285729" cy="24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80980" y="4292515"/>
            <a:ext cx="188520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채용 준비 에이전트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95336" y="4715293"/>
            <a:ext cx="51147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600" i="1" dirty="0">
                <a:solidFill>
                  <a:srgbClr val="888888"/>
                </a:solidFill>
                <a:latin typeface="Arial" pitchFamily="34" charset="0"/>
              </a:rPr>
              <a:t>지금 사람을 뽑을 수 있는 상태인가? 요청서 초안은?</a:t>
            </a:r>
          </a:p>
        </p:txBody>
      </p:sp>
      <p:sp>
        <p:nvSpPr>
          <p:cNvPr id="37" name="Text 35"/>
          <p:cNvSpPr/>
          <p:nvPr/>
        </p:nvSpPr>
        <p:spPr>
          <a:xfrm>
            <a:off x="1295336" y="5105754"/>
            <a:ext cx="5114729" cy="113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dirty="0">
                <a:solidFill>
                  <a:srgbClr val="555555"/>
                </a:solidFill>
                <a:latin typeface="Arial" pitchFamily="34" charset="0"/>
              </a:rPr>
              <a:t>① 회사 정보 조회 → ② 채용 가능 여부 확인 → ③ 채용 요청서 초안 자동 작성</a:t>
            </a:r>
          </a:p>
        </p:txBody>
      </p:sp>
      <p:sp>
        <p:nvSpPr>
          <p:cNvPr id="38" name="Shape 36"/>
          <p:cNvSpPr/>
          <p:nvPr/>
        </p:nvSpPr>
        <p:spPr>
          <a:xfrm>
            <a:off x="1295336" y="6593292"/>
            <a:ext cx="4965757" cy="447547"/>
          </a:xfrm>
          <a:prstGeom prst="roundRect">
            <a:avLst>
              <a:gd name="adj" fmla="val 12770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390586" y="6650442"/>
            <a:ext cx="4924229" cy="371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반드시 담당자 승인 후 진행</a:t>
            </a:r>
          </a:p>
        </p:txBody>
      </p:sp>
      <p:sp>
        <p:nvSpPr>
          <p:cNvPr id="40" name="Shape 38"/>
          <p:cNvSpPr/>
          <p:nvPr/>
        </p:nvSpPr>
        <p:spPr>
          <a:xfrm>
            <a:off x="6508679" y="4127500"/>
            <a:ext cx="5270536" cy="3042153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508679" y="4127500"/>
            <a:ext cx="5270536" cy="27214"/>
          </a:xfrm>
          <a:prstGeom prst="rect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661016" y="4370543"/>
            <a:ext cx="209529" cy="209529"/>
          </a:xfrm>
          <a:prstGeom prst="ellipse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622916" y="4370543"/>
            <a:ext cx="285729" cy="24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46659" y="4292515"/>
            <a:ext cx="209547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 온보딩 에이전트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661016" y="4715293"/>
            <a:ext cx="51148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"다국어 메시지 초안 생성"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661016" y="5105754"/>
            <a:ext cx="511483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근거 조회 → 메시지 템플릿 → 번역 품질 검토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661016" y="6593292"/>
            <a:ext cx="4965863" cy="447547"/>
          </a:xfrm>
          <a:prstGeom prst="roundRect">
            <a:avLst>
              <a:gd name="adj" fmla="val 12770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756266" y="6650442"/>
            <a:ext cx="4924339" cy="371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단순 번역 X — 운영 메시지 요건 필수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874465" y="4127500"/>
            <a:ext cx="5270536" cy="3042153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1874465" y="4127500"/>
            <a:ext cx="5270536" cy="27214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2026801" y="4370543"/>
            <a:ext cx="209529" cy="209529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1988701" y="4370543"/>
            <a:ext cx="285729" cy="24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2312445" y="4292515"/>
            <a:ext cx="2158943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만료 위험도 분석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026801" y="4715293"/>
            <a:ext cx="51148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"체류 가능 기간 위험도 판단"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026801" y="5105754"/>
            <a:ext cx="5114839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만료일 × 계약 만료일 교차 </a:t>
            </a:r>
            <a:r>
              <a:rPr lang="en-US" sz="18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맥락 보정(연장 신청 여부)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2026801" y="6593292"/>
            <a:ext cx="4965863" cy="447547"/>
          </a:xfrm>
          <a:prstGeom prst="roundRect">
            <a:avLst>
              <a:gd name="adj" fmla="val 12770"/>
            </a:avLst>
          </a:prstGeom>
          <a:solidFill>
            <a:srgbClr val="FFF8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2122051" y="6650442"/>
            <a:ext cx="4924339" cy="371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날짜 + 진행 맥락 함께 판단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143000" y="7264400"/>
            <a:ext cx="5270429" cy="3042153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143000" y="7264400"/>
            <a:ext cx="5270429" cy="27214"/>
          </a:xfrm>
          <a:prstGeom prst="rect">
            <a:avLst/>
          </a:prstGeom>
          <a:solidFill>
            <a:srgbClr val="1A4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295336" y="7507947"/>
            <a:ext cx="209529" cy="209529"/>
          </a:xfrm>
          <a:prstGeom prst="ellipse">
            <a:avLst/>
          </a:prstGeom>
          <a:solidFill>
            <a:srgbClr val="1A4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257236" y="7507947"/>
            <a:ext cx="285729" cy="24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580980" y="7429918"/>
            <a:ext cx="2095479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후보자 준비 에이전트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295336" y="7852697"/>
            <a:ext cx="51147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600" i="1" dirty="0">
                <a:solidFill>
                  <a:srgbClr val="888888"/>
                </a:solidFill>
                <a:latin typeface="Arial" pitchFamily="34" charset="0"/>
              </a:rPr>
              <a:t>후보자 중 서류가 갖춰진 사람이 누구인가?</a:t>
            </a:r>
          </a:p>
        </p:txBody>
      </p:sp>
      <p:sp>
        <p:nvSpPr>
          <p:cNvPr id="64" name="Text 62"/>
          <p:cNvSpPr/>
          <p:nvPr/>
        </p:nvSpPr>
        <p:spPr>
          <a:xfrm>
            <a:off x="1295336" y="8243158"/>
            <a:ext cx="5114729" cy="113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sz="1600" dirty="0">
                <a:solidFill>
                  <a:srgbClr val="555555"/>
                </a:solidFill>
                <a:latin typeface="Arial" pitchFamily="34" charset="0"/>
              </a:rPr>
              <a:t>① 후보자 프로필 조회 → ② 서류 준비 완성도 점수 계산 → ③ 관련 정책 문서 확인</a:t>
            </a:r>
          </a:p>
        </p:txBody>
      </p:sp>
      <p:sp>
        <p:nvSpPr>
          <p:cNvPr id="65" name="Shape 63"/>
          <p:cNvSpPr/>
          <p:nvPr/>
        </p:nvSpPr>
        <p:spPr>
          <a:xfrm>
            <a:off x="1295336" y="9397320"/>
            <a:ext cx="4965757" cy="780922"/>
          </a:xfrm>
          <a:prstGeom prst="roundRect">
            <a:avLst>
              <a:gd name="adj" fmla="val 7318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390586" y="9454470"/>
            <a:ext cx="4924229" cy="70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sz="1800" b="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성실도·이탈 가능성 등 인격 평가는 시스템에서 원천 차단</a:t>
            </a:r>
          </a:p>
        </p:txBody>
      </p:sp>
      <p:sp>
        <p:nvSpPr>
          <p:cNvPr id="67" name="Shape 65"/>
          <p:cNvSpPr/>
          <p:nvPr/>
        </p:nvSpPr>
        <p:spPr>
          <a:xfrm>
            <a:off x="6508679" y="7264400"/>
            <a:ext cx="5270536" cy="3042153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6508679" y="7264400"/>
            <a:ext cx="5270536" cy="27214"/>
          </a:xfrm>
          <a:prstGeom prst="rect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6661016" y="7507947"/>
            <a:ext cx="209529" cy="209529"/>
          </a:xfrm>
          <a:prstGeom prst="ellipse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622916" y="7507947"/>
            <a:ext cx="285729" cy="24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946659" y="7429918"/>
            <a:ext cx="188520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해석 에이전트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661016" y="7852697"/>
            <a:ext cx="51148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"근로자 답변 구조화"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6661016" y="8243158"/>
            <a:ext cx="5114839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수신 → 번역+요약 → 상태 업데이트 후보 생성(담당자 검토용)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6661016" y="9730695"/>
            <a:ext cx="4965863" cy="447547"/>
          </a:xfrm>
          <a:prstGeom prst="roundRect">
            <a:avLst>
              <a:gd name="adj" fmla="val 12770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6756266" y="9787845"/>
            <a:ext cx="4924339" cy="371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답변 ≠ 완료 — 자동 DB 반영 차단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1874465" y="7264400"/>
            <a:ext cx="5270536" cy="3042153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1874465" y="7264400"/>
            <a:ext cx="5270536" cy="27214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2026801" y="7507947"/>
            <a:ext cx="209529" cy="209529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11988701" y="7507947"/>
            <a:ext cx="285729" cy="247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2312445" y="7429918"/>
            <a:ext cx="230575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우선순위 에이전트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12026801" y="7852697"/>
            <a:ext cx="51148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단계 필요 서류 순위화"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2026801" y="8243158"/>
            <a:ext cx="5114839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서류 현황 조회 → 누락 항목 분류 → 우선순위 순위화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2026801" y="9397320"/>
            <a:ext cx="4965863" cy="780922"/>
          </a:xfrm>
          <a:prstGeom prst="roundRect">
            <a:avLst>
              <a:gd name="adj" fmla="val 7318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12122051" y="9454470"/>
            <a:ext cx="4924339" cy="70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누락 = 진짜 구멍 vs 진행 중인지 맥락 구분 필수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8309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769" y="914336"/>
            <a:ext cx="3318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RAG 설계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048"/>
            <a:ext cx="16482060" cy="826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및 Chunking 전략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455239"/>
            <a:ext cx="5206965" cy="7069761"/>
          </a:xfrm>
          <a:prstGeom prst="roundRect">
            <a:avLst>
              <a:gd name="adj" fmla="val 2927"/>
            </a:avLst>
          </a:prstGeom>
          <a:ln w="6804">
            <a:solidFill>
              <a:srgbClr val="0066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9804" y="2462042"/>
            <a:ext cx="5193357" cy="809625"/>
          </a:xfrm>
          <a:prstGeom prst="rect">
            <a:avLst/>
          </a:prstGeom>
          <a:solidFill>
            <a:srgbClr val="1A4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07317" y="2652542"/>
            <a:ext cx="48783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확보 에이전트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9804" y="3271667"/>
            <a:ext cx="5193357" cy="562996"/>
          </a:xfrm>
          <a:prstGeom prst="rect">
            <a:avLst/>
          </a:prstGeom>
          <a:solidFill>
            <a:srgbClr val="003CA0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9804" y="3827859"/>
            <a:ext cx="519335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40304" y="3366917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청크 유형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7019" y="3366917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 방식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33735" y="3366917"/>
            <a:ext cx="199512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목적/예시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9804" y="3834663"/>
            <a:ext cx="5193357" cy="639110"/>
          </a:xfrm>
          <a:prstGeom prst="rect">
            <a:avLst/>
          </a:prstGeom>
          <a:solidFill>
            <a:srgbClr val="ADC6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9804" y="4466970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40304" y="3967971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87019" y="3967971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조문 단위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33735" y="3967971"/>
            <a:ext cx="199512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고용허가 관련 조문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9804" y="5740513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40304" y="4607081"/>
            <a:ext cx="144680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 안내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87019" y="4607081"/>
            <a:ext cx="144680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단위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33735" y="4607081"/>
            <a:ext cx="1995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내국인 구인노력 → 고용허가 → 계약 체결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9804" y="5747317"/>
            <a:ext cx="5193357" cy="1198704"/>
          </a:xfrm>
          <a:prstGeom prst="rect">
            <a:avLst/>
          </a:prstGeom>
          <a:solidFill>
            <a:srgbClr val="ADC6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49804" y="6939218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340304" y="5880625"/>
            <a:ext cx="1446801" cy="963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서식/체크리스트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87019" y="5880625"/>
            <a:ext cx="1446801" cy="963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단위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33735" y="5880625"/>
            <a:ext cx="1995126" cy="963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사업장 정보·제출기한·institutional checklist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9804" y="7879386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340304" y="7079329"/>
            <a:ext cx="14468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후보자 준비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87019" y="7079329"/>
            <a:ext cx="14468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row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233735" y="7079329"/>
            <a:ext cx="19951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여권·EPS·건강검진 상태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9804" y="8872283"/>
            <a:ext cx="5193357" cy="645914"/>
          </a:xfrm>
          <a:prstGeom prst="rect">
            <a:avLst/>
          </a:prstGeom>
          <a:solidFill>
            <a:srgbClr val="0066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149804" y="8872283"/>
            <a:ext cx="5193357" cy="9525"/>
          </a:xfrm>
          <a:prstGeom prst="rect">
            <a:avLst/>
          </a:prstGeom>
          <a:solidFill>
            <a:srgbClr val="0066FF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340304" y="9012436"/>
            <a:ext cx="4968158" cy="41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목적: 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신규고용·쿼터·고용허가·후보자 서류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40465" y="2455239"/>
            <a:ext cx="5207071" cy="7069761"/>
          </a:xfrm>
          <a:prstGeom prst="roundRect">
            <a:avLst>
              <a:gd name="adj" fmla="val 2927"/>
            </a:avLst>
          </a:prstGeom>
          <a:ln w="6804">
            <a:solidFill>
              <a:srgbClr val="00A07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547268" y="2462042"/>
            <a:ext cx="5193464" cy="809625"/>
          </a:xfrm>
          <a:prstGeom prst="rect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704781" y="2652542"/>
            <a:ext cx="487843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연락 에이전트</a:t>
            </a:r>
            <a:endParaRPr lang="en-US" sz="2700" dirty="0"/>
          </a:p>
        </p:txBody>
      </p:sp>
      <p:sp>
        <p:nvSpPr>
          <p:cNvPr id="36" name="Shape 34"/>
          <p:cNvSpPr/>
          <p:nvPr/>
        </p:nvSpPr>
        <p:spPr>
          <a:xfrm>
            <a:off x="6547268" y="3271667"/>
            <a:ext cx="5193464" cy="562996"/>
          </a:xfrm>
          <a:prstGeom prst="rect">
            <a:avLst/>
          </a:prstGeom>
          <a:solidFill>
            <a:srgbClr val="008C6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547268" y="3827859"/>
            <a:ext cx="519346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737768" y="3366917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청크 유형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84484" y="3366917"/>
            <a:ext cx="144690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 방식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631306" y="3366917"/>
            <a:ext cx="199512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목적/예시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547268" y="3834663"/>
            <a:ext cx="5193464" cy="639110"/>
          </a:xfrm>
          <a:prstGeom prst="rect">
            <a:avLst/>
          </a:prstGeom>
          <a:solidFill>
            <a:srgbClr val="00C896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547268" y="4466970"/>
            <a:ext cx="5193464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737768" y="3967971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184484" y="3967971"/>
            <a:ext cx="1446907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조문 단위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631306" y="3967971"/>
            <a:ext cx="199512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통지 의무 조문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547268" y="5407138"/>
            <a:ext cx="5193464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737768" y="4607081"/>
            <a:ext cx="14468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절차/안내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184484" y="4607081"/>
            <a:ext cx="14469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단위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631306" y="4607081"/>
            <a:ext cx="19951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HiKorea · 정부24 안내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547268" y="5413942"/>
            <a:ext cx="5193464" cy="1004802"/>
          </a:xfrm>
          <a:prstGeom prst="rect">
            <a:avLst/>
          </a:prstGeom>
          <a:solidFill>
            <a:srgbClr val="00C896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547268" y="6411941"/>
            <a:ext cx="5193464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737768" y="5547250"/>
            <a:ext cx="1446801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안전/상담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184484" y="5547250"/>
            <a:ext cx="1446907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문장/안내 블록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631306" y="5547250"/>
            <a:ext cx="199512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혼재 보존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547268" y="7202431"/>
            <a:ext cx="5193464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6737768" y="6552052"/>
            <a:ext cx="1446801" cy="555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템플릿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184484" y="6552052"/>
            <a:ext cx="1446907" cy="555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record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631306" y="6552052"/>
            <a:ext cx="1995126" cy="555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+ lang + approval_required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547268" y="7209234"/>
            <a:ext cx="5193464" cy="1273543"/>
          </a:xfrm>
          <a:prstGeom prst="rect">
            <a:avLst/>
          </a:prstGeom>
          <a:solidFill>
            <a:srgbClr val="00C896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547268" y="8475974"/>
            <a:ext cx="5193464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6737768" y="7342542"/>
            <a:ext cx="144680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답장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184484" y="7342542"/>
            <a:ext cx="144690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input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631306" y="7342542"/>
            <a:ext cx="1995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요약/해석 대상, Evidence Log 저장 안 함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6547268" y="8872283"/>
            <a:ext cx="5193464" cy="645914"/>
          </a:xfrm>
          <a:prstGeom prst="rect">
            <a:avLst/>
          </a:prstGeom>
          <a:solidFill>
            <a:srgbClr val="00A07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547268" y="8872283"/>
            <a:ext cx="5193464" cy="9525"/>
          </a:xfrm>
          <a:prstGeom prst="rect">
            <a:avLst/>
          </a:prstGeom>
          <a:solidFill>
            <a:srgbClr val="00A078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6737768" y="9012436"/>
            <a:ext cx="4968268" cy="41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DD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목적: 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목적 기반 근거 검색·다국어 안내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1938035" y="2455239"/>
            <a:ext cx="5206965" cy="7069761"/>
          </a:xfrm>
          <a:prstGeom prst="roundRect">
            <a:avLst>
              <a:gd name="adj" fmla="val 2927"/>
            </a:avLst>
          </a:prstGeom>
          <a:ln w="6804">
            <a:solidFill>
              <a:srgbClr val="A050C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11944840" y="2462042"/>
            <a:ext cx="5193357" cy="809625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12102353" y="2652542"/>
            <a:ext cx="487833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서류 에이전트</a:t>
            </a:r>
            <a:endParaRPr lang="en-US" sz="2700" dirty="0"/>
          </a:p>
        </p:txBody>
      </p:sp>
      <p:sp>
        <p:nvSpPr>
          <p:cNvPr id="70" name="Shape 68"/>
          <p:cNvSpPr/>
          <p:nvPr/>
        </p:nvSpPr>
        <p:spPr>
          <a:xfrm>
            <a:off x="11944840" y="3271667"/>
            <a:ext cx="5193357" cy="562996"/>
          </a:xfrm>
          <a:prstGeom prst="rect">
            <a:avLst/>
          </a:prstGeom>
          <a:solidFill>
            <a:srgbClr val="8C3CB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11944840" y="3827859"/>
            <a:ext cx="519335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135340" y="3366917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청크 유형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3582055" y="3366917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 방식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5028771" y="3366917"/>
            <a:ext cx="199512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목적/예시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1944840" y="3834663"/>
            <a:ext cx="5193357" cy="639110"/>
          </a:xfrm>
          <a:prstGeom prst="rect">
            <a:avLst/>
          </a:prstGeom>
          <a:solidFill>
            <a:srgbClr val="B478DC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11944840" y="4466970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2135340" y="3967971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3582055" y="3967971"/>
            <a:ext cx="144680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조문 단위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5028771" y="3967971"/>
            <a:ext cx="199512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체류·취업 관련 조문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11944840" y="5407138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12135340" y="4607081"/>
            <a:ext cx="14468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체류연장 절차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3582055" y="4607081"/>
            <a:ext cx="14468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단위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5028771" y="4607081"/>
            <a:ext cx="19951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단계와 필요 서류 흐름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1944840" y="5413942"/>
            <a:ext cx="5193357" cy="1004802"/>
          </a:xfrm>
          <a:prstGeom prst="rect">
            <a:avLst/>
          </a:prstGeom>
          <a:solidFill>
            <a:srgbClr val="B478DC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11944840" y="6411941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12135340" y="5547250"/>
            <a:ext cx="1446801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비자 유형별 서류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13582055" y="5547250"/>
            <a:ext cx="1446801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bundle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5028771" y="5547250"/>
            <a:ext cx="199512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E-9 필수 서류 묶음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11944840" y="7416744"/>
            <a:ext cx="519335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12135340" y="6552052"/>
            <a:ext cx="1446801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계산 입력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13582055" y="6552052"/>
            <a:ext cx="1446801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row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15028771" y="6552052"/>
            <a:ext cx="199512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체류만료일·계약종료일·법적 근거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11944840" y="8872283"/>
            <a:ext cx="5193357" cy="645914"/>
          </a:xfrm>
          <a:prstGeom prst="rect">
            <a:avLst/>
          </a:prstGeom>
          <a:solidFill>
            <a:srgbClr val="8C3CB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11944840" y="8872283"/>
            <a:ext cx="5193357" cy="9525"/>
          </a:xfrm>
          <a:prstGeom prst="rect">
            <a:avLst/>
          </a:prstGeom>
          <a:solidFill>
            <a:srgbClr val="8C3CB4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/>
          <p:nvPr/>
        </p:nvSpPr>
        <p:spPr>
          <a:xfrm>
            <a:off x="12135340" y="9012436"/>
            <a:ext cx="4968158" cy="41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목적: </a:t>
            </a: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체류연장·제출서류·법적 근거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762000"/>
            <a:ext cx="3215123" cy="371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기술 스택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48229"/>
            <a:ext cx="5472646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341676"/>
            <a:ext cx="5313249" cy="156380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2341676"/>
            <a:ext cx="36286" cy="156380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07886" y="2532176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Backend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7886" y="2983593"/>
            <a:ext cx="496435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Next.js · TypeScript · Node.js · Python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3905477"/>
            <a:ext cx="5313249" cy="156380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3000" y="3905477"/>
            <a:ext cx="36286" cy="156380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07886" y="4095977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7886" y="4547394"/>
            <a:ext cx="496435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PostgreSQL · MongoDB · Redis · Chroma (Vector DB)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22698" y="5393078"/>
            <a:ext cx="5313249" cy="1563801"/>
          </a:xfrm>
          <a:prstGeom prst="roundRect">
            <a:avLst>
              <a:gd name="adj" fmla="val 730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3000" y="5469278"/>
            <a:ext cx="36286" cy="1563801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07886" y="5659778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07886" y="6111195"/>
            <a:ext cx="4964356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1.0 · Pydantic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7033079"/>
            <a:ext cx="5313249" cy="1198109"/>
          </a:xfrm>
          <a:prstGeom prst="roundRect">
            <a:avLst>
              <a:gd name="adj" fmla="val 9540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43000" y="7033079"/>
            <a:ext cx="36286" cy="1198109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407886" y="7223579"/>
            <a:ext cx="4964356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407886" y="7674995"/>
            <a:ext cx="4964356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· GitHub · Notion · Slack</a:t>
            </a:r>
            <a:endParaRPr lang="en-US" sz="18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9EDD954-D6E7-38C2-C480-99B1422D1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42" y="443435"/>
            <a:ext cx="11969869" cy="89774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BEBA2-0945-91B0-746E-BF2C34614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0B11915-3939-DA8F-3C7A-CC49D844AE16}"/>
              </a:ext>
            </a:extLst>
          </p:cNvPr>
          <p:cNvSpPr/>
          <p:nvPr/>
        </p:nvSpPr>
        <p:spPr>
          <a:xfrm>
            <a:off x="7642643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C4B1E3-8386-57F1-F5C1-F575CFD20B29}"/>
              </a:ext>
            </a:extLst>
          </p:cNvPr>
          <p:cNvSpPr/>
          <p:nvPr/>
        </p:nvSpPr>
        <p:spPr>
          <a:xfrm>
            <a:off x="8176043" y="3932975"/>
            <a:ext cx="1935807" cy="351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kern="0" spc="252" dirty="0">
                <a:solidFill>
                  <a:srgbClr val="0066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1AE8F9-4006-F69A-AEFF-205302AE6B9E}"/>
              </a:ext>
            </a:extLst>
          </p:cNvPr>
          <p:cNvSpPr/>
          <p:nvPr/>
        </p:nvSpPr>
        <p:spPr>
          <a:xfrm>
            <a:off x="10264250" y="4108507"/>
            <a:ext cx="381000" cy="19029"/>
          </a:xfrm>
          <a:prstGeom prst="roundRect">
            <a:avLst>
              <a:gd name="adj" fmla="val 49999"/>
            </a:avLst>
          </a:prstGeom>
          <a:solidFill>
            <a:srgbClr val="006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978628-FBC2-DACD-F655-CC462C24AD2C}"/>
              </a:ext>
            </a:extLst>
          </p:cNvPr>
          <p:cNvSpPr/>
          <p:nvPr/>
        </p:nvSpPr>
        <p:spPr>
          <a:xfrm>
            <a:off x="7041587" y="4617286"/>
            <a:ext cx="4204826" cy="107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800" b="1" kern="0" spc="-3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</a:t>
            </a:r>
            <a:endParaRPr lang="en-US" sz="7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443C54-D8AE-5375-D110-E92ECEA6D507}"/>
              </a:ext>
            </a:extLst>
          </p:cNvPr>
          <p:cNvSpPr/>
          <p:nvPr/>
        </p:nvSpPr>
        <p:spPr>
          <a:xfrm>
            <a:off x="6323957" y="5923891"/>
            <a:ext cx="5640087" cy="43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/>
            <a:r>
              <a:rPr lang="en-US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</a:t>
            </a:r>
            <a:r>
              <a:rPr lang="en-US" altLang="ko-KR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700" kern="0" spc="-27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Rate(Token) 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37642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914400"/>
            <a:ext cx="1827553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5314"/>
            <a:ext cx="16482060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엔지니어링이 보장해야 하는 2가지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7867650" cy="3338513"/>
          </a:xfrm>
          <a:prstGeom prst="roundRect">
            <a:avLst>
              <a:gd name="adj" fmla="val 5706"/>
            </a:avLst>
          </a:prstGeom>
          <a:solidFill>
            <a:srgbClr val="0066FF">
              <a:alpha val="12000"/>
            </a:srgbClr>
          </a:solidFill>
          <a:ln w="7257">
            <a:solidFill>
              <a:srgbClr val="006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612900" y="3898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0066FF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0" y="4025900"/>
            <a:ext cx="247650" cy="247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2900" y="4572000"/>
            <a:ext cx="714689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품질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612900" y="5232400"/>
            <a:ext cx="71468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근거 기반 RAG 파이프라인 라우팅 품질 · 불확실성 처리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71000" y="3429000"/>
            <a:ext cx="7867650" cy="3338513"/>
          </a:xfrm>
          <a:prstGeom prst="roundRect">
            <a:avLst>
              <a:gd name="adj" fmla="val 5706"/>
            </a:avLst>
          </a:prstGeom>
          <a:solidFill>
            <a:srgbClr val="FFFFFF">
              <a:alpha val="5000"/>
            </a:srgbClr>
          </a:solidFill>
          <a:ln w="7257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740900" y="38989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900" y="4025900"/>
            <a:ext cx="247650" cy="2476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40900" y="4572000"/>
            <a:ext cx="714689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9740900" y="5232400"/>
            <a:ext cx="71468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가능한 단가 캐싱 · 배치 · 계단식 추론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36390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A683-84C5-8537-B61E-002194AD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7CC442-B790-7BE1-0ACF-FE0695A3275B}"/>
              </a:ext>
            </a:extLst>
          </p:cNvPr>
          <p:cNvSpPr/>
          <p:nvPr/>
        </p:nvSpPr>
        <p:spPr>
          <a:xfrm>
            <a:off x="1285769" y="685779"/>
            <a:ext cx="32142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검색 품질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5D952E-39E2-2F4C-F571-8CD81A6E833D}"/>
              </a:ext>
            </a:extLst>
          </p:cNvPr>
          <p:cNvSpPr/>
          <p:nvPr/>
        </p:nvSpPr>
        <p:spPr>
          <a:xfrm>
            <a:off x="1143000" y="1171490"/>
            <a:ext cx="16482060" cy="826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 · 정답 생성이 아닌 근거 추적</a:t>
            </a:r>
            <a:endParaRPr lang="en-US" sz="5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9245BB-4AA3-A35E-D390-EFAF5585EFE1}"/>
              </a:ext>
            </a:extLst>
          </p:cNvPr>
          <p:cNvSpPr/>
          <p:nvPr/>
        </p:nvSpPr>
        <p:spPr>
          <a:xfrm>
            <a:off x="1143000" y="2017153"/>
            <a:ext cx="16482060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ko-KR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</a:rPr>
              <a:t>A / B / E 등급만 허용 · 근거 id 필수</a:t>
            </a:r>
          </a:p>
        </p:txBody>
      </p:sp>
      <p:sp>
        <p:nvSpPr>
          <p:cNvPr id="141" name="BotShape0"/>
          <p:cNvSpPr>
            <a:spLocks noGrp="1"/>
          </p:cNvSpPr>
          <p:nvPr/>
        </p:nvSpPr>
        <p:spPr>
          <a:xfrm>
            <a:off x="762000" y="2603500"/>
            <a:ext cx="4038600" cy="73025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42" name="BotAccent0"/>
          <p:cNvSpPr>
            <a:spLocks noGrp="1"/>
          </p:cNvSpPr>
          <p:nvPr/>
        </p:nvSpPr>
        <p:spPr>
          <a:xfrm>
            <a:off x="762000" y="2603500"/>
            <a:ext cx="4038600" cy="5080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143" name="BotTitle0"/>
          <p:cNvSpPr txBox="1">
            <a:spLocks noGrp="1"/>
          </p:cNvSpPr>
          <p:nvPr/>
        </p:nvSpPr>
        <p:spPr>
          <a:xfrm>
            <a:off x="965200" y="28321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buNone/>
            </a:pPr>
            <a:r>
              <a:rPr lang="ko-KR" sz="20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</a:rPr>
              <a:t>근거 수집 시기</a:t>
            </a:r>
          </a:p>
        </p:txBody>
      </p:sp>
      <p:sp>
        <p:nvSpPr>
          <p:cNvPr id="144" name="BotBody0"/>
          <p:cNvSpPr txBox="1">
            <a:spLocks noGrp="1"/>
          </p:cNvSpPr>
          <p:nvPr/>
        </p:nvSpPr>
        <p:spPr>
          <a:xfrm>
            <a:off x="965200" y="3390900"/>
            <a:ext cx="3632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고시·법령 개정 시 즉시 재인덱싱. 지연 시 폐지 업종을 "가능"으로 오답 생성</a:t>
            </a:r>
          </a:p>
        </p:txBody>
      </p:sp>
      <p:sp>
        <p:nvSpPr>
          <p:cNvPr id="145" name="BotExBg0"/>
          <p:cNvSpPr>
            <a:spLocks noGrp="1"/>
          </p:cNvSpPr>
          <p:nvPr/>
        </p:nvSpPr>
        <p:spPr>
          <a:xfrm>
            <a:off x="965200" y="4787900"/>
            <a:ext cx="3632200" cy="47625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46" name="BotExTxt0"/>
          <p:cNvSpPr txBox="1">
            <a:spLocks noGrp="1"/>
          </p:cNvSpPr>
          <p:nvPr/>
        </p:nvSpPr>
        <p:spPr>
          <a:xfrm>
            <a:off x="1066800" y="4889500"/>
            <a:ext cx="3429000" cy="46101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E-9 허용업종 고시 개정됐는데 기존 chunk 그대로 사용 → "이 업종 가능" 오답 → 개정 즉시 재인덱싱 필요</a:t>
            </a:r>
          </a:p>
        </p:txBody>
      </p:sp>
      <p:sp>
        <p:nvSpPr>
          <p:cNvPr id="147" name="BotShape1"/>
          <p:cNvSpPr>
            <a:spLocks noGrp="1"/>
          </p:cNvSpPr>
          <p:nvPr/>
        </p:nvSpPr>
        <p:spPr>
          <a:xfrm>
            <a:off x="5003800" y="2603500"/>
            <a:ext cx="4038600" cy="73025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48" name="BotAccent1"/>
          <p:cNvSpPr>
            <a:spLocks noGrp="1"/>
          </p:cNvSpPr>
          <p:nvPr/>
        </p:nvSpPr>
        <p:spPr>
          <a:xfrm>
            <a:off x="5003800" y="2603500"/>
            <a:ext cx="4038600" cy="5080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149" name="BotTitle1"/>
          <p:cNvSpPr txBox="1">
            <a:spLocks noGrp="1"/>
          </p:cNvSpPr>
          <p:nvPr/>
        </p:nvSpPr>
        <p:spPr>
          <a:xfrm>
            <a:off x="5207000" y="28321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60000"/>
              </a:lnSpc>
              <a:buNone/>
            </a:pPr>
            <a:r>
              <a:rPr lang="ko-KR" sz="20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</a:rPr>
              <a:t>공식 문서 등급</a:t>
            </a:r>
          </a:p>
        </p:txBody>
      </p:sp>
      <p:sp>
        <p:nvSpPr>
          <p:cNvPr id="150" name="BotBody1"/>
          <p:cNvSpPr txBox="1">
            <a:spLocks noGrp="1"/>
          </p:cNvSpPr>
          <p:nvPr/>
        </p:nvSpPr>
        <p:spPr>
          <a:xfrm>
            <a:off x="5207000" y="3390900"/>
            <a:ext cx="3632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D등급(상담</a:t>
            </a:r>
            <a:r>
              <a:rPr lang="en-US" alt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 </a:t>
            </a:r>
            <a:r>
              <a:rPr 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사례)·F등급(합성 데이터)은 응답 불가. A·B·E등급만 </a:t>
            </a:r>
            <a:r>
              <a:rPr lang="ko-KR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citation</a:t>
            </a:r>
            <a:r>
              <a:rPr 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 허용</a:t>
            </a:r>
            <a:r>
              <a:rPr lang="en-US" alt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 (</a:t>
            </a:r>
            <a:r>
              <a:rPr lang="ko-KR" alt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법령 등</a:t>
            </a:r>
            <a:r>
              <a:rPr lang="en-US" altLang="ko-KR" sz="160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)</a:t>
            </a:r>
            <a:endParaRPr lang="ko-KR" sz="1600" dirty="0">
              <a:solidFill>
                <a:srgbClr val="555555"/>
              </a:solidFill>
              <a:latin typeface="Arial" pitchFamily="34" charset="0"/>
              <a:ea typeface="Arial" pitchFamily="34" charset="-122"/>
            </a:endParaRPr>
          </a:p>
        </p:txBody>
      </p:sp>
      <p:sp>
        <p:nvSpPr>
          <p:cNvPr id="151" name="BotExBg1"/>
          <p:cNvSpPr>
            <a:spLocks noGrp="1"/>
          </p:cNvSpPr>
          <p:nvPr/>
        </p:nvSpPr>
        <p:spPr>
          <a:xfrm>
            <a:off x="5207000" y="4787900"/>
            <a:ext cx="3632200" cy="47625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52" name="BotExTxt1"/>
          <p:cNvSpPr txBox="1">
            <a:spLocks noGrp="1"/>
          </p:cNvSpPr>
          <p:nvPr/>
        </p:nvSpPr>
        <p:spPr>
          <a:xfrm>
            <a:off x="5308600" y="4889500"/>
            <a:ext cx="3429000" cy="46101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"후보자 성실해 보이냐" 질문에 D등급 상담사례 매칭 → D등급 응답 포함 불가 → 자동 필터</a:t>
            </a:r>
          </a:p>
        </p:txBody>
      </p:sp>
      <p:sp>
        <p:nvSpPr>
          <p:cNvPr id="159" name="BotShape3"/>
          <p:cNvSpPr>
            <a:spLocks noGrp="1"/>
          </p:cNvSpPr>
          <p:nvPr/>
        </p:nvSpPr>
        <p:spPr>
          <a:xfrm>
            <a:off x="9245600" y="2603500"/>
            <a:ext cx="4038600" cy="73025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60" name="BotAccent3"/>
          <p:cNvSpPr>
            <a:spLocks noGrp="1"/>
          </p:cNvSpPr>
          <p:nvPr/>
        </p:nvSpPr>
        <p:spPr>
          <a:xfrm>
            <a:off x="9245600" y="2603500"/>
            <a:ext cx="4038600" cy="5080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161" name="BotTitle3"/>
          <p:cNvSpPr txBox="1">
            <a:spLocks noGrp="1"/>
          </p:cNvSpPr>
          <p:nvPr/>
        </p:nvSpPr>
        <p:spPr>
          <a:xfrm>
            <a:off x="9448800" y="28321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60000"/>
              </a:lnSpc>
              <a:buNone/>
            </a:pPr>
            <a:r>
              <a:rPr lang="ko-KR" sz="20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</a:rPr>
              <a:t>답변 ↔ 근거 연결</a:t>
            </a:r>
          </a:p>
        </p:txBody>
      </p:sp>
      <p:sp>
        <p:nvSpPr>
          <p:cNvPr id="162" name="BotBody3"/>
          <p:cNvSpPr txBox="1">
            <a:spLocks noGrp="1"/>
          </p:cNvSpPr>
          <p:nvPr/>
        </p:nvSpPr>
        <p:spPr>
          <a:xfrm>
            <a:off x="9448800" y="3390900"/>
            <a:ext cx="3632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모든 응답에 citation_ids 필수. 미첨부 시 시스템 레벨에서 발신 차단</a:t>
            </a:r>
          </a:p>
        </p:txBody>
      </p:sp>
      <p:sp>
        <p:nvSpPr>
          <p:cNvPr id="163" name="BotExBg3"/>
          <p:cNvSpPr>
            <a:spLocks noGrp="1"/>
          </p:cNvSpPr>
          <p:nvPr/>
        </p:nvSpPr>
        <p:spPr>
          <a:xfrm>
            <a:off x="9448800" y="4787900"/>
            <a:ext cx="3632200" cy="47625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64" name="BotExTxt3"/>
          <p:cNvSpPr txBox="1">
            <a:spLocks noGrp="1"/>
          </p:cNvSpPr>
          <p:nvPr/>
        </p:nvSpPr>
        <p:spPr>
          <a:xfrm>
            <a:off x="9550400" y="4889500"/>
            <a:ext cx="3429000" cy="46101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"체류 연장 기한이 언제야?" 답변에 </a:t>
            </a:r>
            <a:r>
              <a:rPr lang="ko-KR" sz="1400" i="1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citation</a:t>
            </a:r>
            <a:r>
              <a:rPr lang="en-US" alt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(</a:t>
            </a:r>
            <a:r>
              <a:rPr lang="ko-KR" alt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인용</a:t>
            </a:r>
            <a:r>
              <a:rPr lang="en-US" alt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)</a:t>
            </a:r>
            <a:r>
              <a:rPr 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 없음 → citation_ids 없는 단언 → 시스템 레벨 차단</a:t>
            </a:r>
          </a:p>
        </p:txBody>
      </p:sp>
      <p:sp>
        <p:nvSpPr>
          <p:cNvPr id="165" name="BotShape4"/>
          <p:cNvSpPr>
            <a:spLocks noGrp="1"/>
          </p:cNvSpPr>
          <p:nvPr/>
        </p:nvSpPr>
        <p:spPr>
          <a:xfrm>
            <a:off x="13487400" y="2603500"/>
            <a:ext cx="4038600" cy="730250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66" name="BotAccent4"/>
          <p:cNvSpPr>
            <a:spLocks noGrp="1"/>
          </p:cNvSpPr>
          <p:nvPr/>
        </p:nvSpPr>
        <p:spPr>
          <a:xfrm>
            <a:off x="13487400" y="2603500"/>
            <a:ext cx="4038600" cy="50800"/>
          </a:xfrm>
          <a:prstGeom prst="rect">
            <a:avLst/>
          </a:prstGeom>
          <a:solidFill>
            <a:srgbClr val="E05A2B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167" name="BotTitle4"/>
          <p:cNvSpPr txBox="1">
            <a:spLocks noGrp="1"/>
          </p:cNvSpPr>
          <p:nvPr/>
        </p:nvSpPr>
        <p:spPr>
          <a:xfrm>
            <a:off x="13690600" y="2832100"/>
            <a:ext cx="3632200" cy="482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60000"/>
              </a:lnSpc>
              <a:buNone/>
            </a:pPr>
            <a:r>
              <a:rPr lang="ko-KR" sz="20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</a:rPr>
              <a:t>실패 Fallback</a:t>
            </a:r>
          </a:p>
        </p:txBody>
      </p:sp>
      <p:sp>
        <p:nvSpPr>
          <p:cNvPr id="168" name="BotBody4"/>
          <p:cNvSpPr txBox="1">
            <a:spLocks noGrp="1"/>
          </p:cNvSpPr>
          <p:nvPr/>
        </p:nvSpPr>
        <p:spPr>
          <a:xfrm>
            <a:off x="13690600" y="3390900"/>
            <a:ext cx="3632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55000"/>
              </a:lnSpc>
              <a:buNone/>
            </a:pPr>
            <a:r>
              <a:rPr lang="ko-KR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</a:rPr>
              <a:t>검색 0건이어도 "모름" 반환 금지. 재질문 유도 또는 전문가 에스컬레이션 필수</a:t>
            </a:r>
          </a:p>
        </p:txBody>
      </p:sp>
      <p:sp>
        <p:nvSpPr>
          <p:cNvPr id="169" name="BotExBg4"/>
          <p:cNvSpPr>
            <a:spLocks noGrp="1"/>
          </p:cNvSpPr>
          <p:nvPr/>
        </p:nvSpPr>
        <p:spPr>
          <a:xfrm>
            <a:off x="13690600" y="4787900"/>
            <a:ext cx="3632200" cy="47625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170" name="BotExTxt4"/>
          <p:cNvSpPr txBox="1">
            <a:spLocks noGrp="1"/>
          </p:cNvSpPr>
          <p:nvPr/>
        </p:nvSpPr>
        <p:spPr>
          <a:xfrm>
            <a:off x="13792200" y="4889500"/>
            <a:ext cx="3429000" cy="46101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E-9 허용업종 검색 결과 0건 </a:t>
            </a:r>
            <a:endParaRPr lang="en-US" altLang="ko-KR" sz="1400" i="1" dirty="0">
              <a:solidFill>
                <a:srgbClr val="666666"/>
              </a:solidFill>
              <a:latin typeface="Arial" pitchFamily="34" charset="0"/>
              <a:ea typeface="Arial" pitchFamily="34" charset="-122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ko-KR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</a:rPr>
              <a:t>→ "담당자·행정사에게 업종 코드 확인 후 재질문 권장"으로 에스컬레이션</a:t>
            </a:r>
          </a:p>
        </p:txBody>
      </p:sp>
    </p:spTree>
    <p:extLst>
      <p:ext uri="{BB962C8B-B14F-4D97-AF65-F5344CB8AC3E}">
        <p14:creationId xmlns:p14="http://schemas.microsoft.com/office/powerpoint/2010/main" val="3880332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769" y="914336"/>
            <a:ext cx="26733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비용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00048"/>
            <a:ext cx="16482060" cy="826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설계 원칙 — DB vs RAG 결정 구조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493403"/>
            <a:ext cx="5181558" cy="1051364"/>
          </a:xfrm>
          <a:prstGeom prst="roundRect">
            <a:avLst>
              <a:gd name="adj" fmla="val 9060"/>
            </a:avLst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261492" y="2626710"/>
            <a:ext cx="494457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DB로 처리 — RAG 불필요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61492" y="3078085"/>
            <a:ext cx="49445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상태 질문 → SQL 조회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3697103"/>
            <a:ext cx="5181558" cy="1439806"/>
          </a:xfrm>
          <a:prstGeom prst="roundRect">
            <a:avLst>
              <a:gd name="adj" fmla="val 6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43000" y="3697103"/>
            <a:ext cx="27214" cy="1439806"/>
          </a:xfrm>
          <a:prstGeom prst="rect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41579" y="3849439"/>
            <a:ext cx="49559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"Vu V. 여권 사본 제출했어?"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1579" y="4253189"/>
            <a:ext cx="4955962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worker_documents 테이블 직접 조회 — 공식 문서 검색 불필요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5136909"/>
            <a:ext cx="5181558" cy="1074114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3000" y="5136909"/>
            <a:ext cx="27214" cy="1074114"/>
          </a:xfrm>
          <a:prstGeom prst="rect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41579" y="5289245"/>
            <a:ext cx="49559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"체류만료까지 며칠 남았어?"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1579" y="5692995"/>
            <a:ext cx="49559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Base가 날짜 계산 — 벡터 검색 비용 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6211023"/>
            <a:ext cx="5181558" cy="1439806"/>
          </a:xfrm>
          <a:prstGeom prst="roundRect">
            <a:avLst>
              <a:gd name="adj" fmla="val 66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3000" y="6211023"/>
            <a:ext cx="27214" cy="1439806"/>
          </a:xfrm>
          <a:prstGeom prst="rect">
            <a:avLst/>
          </a:prstGeom>
          <a:solidFill>
            <a:srgbClr val="0A7A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41579" y="6363359"/>
            <a:ext cx="4955962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"서류 누락된 사람 알려줘"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41579" y="6767108"/>
            <a:ext cx="4955962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DB/브리핑 테이블 기준 조회 — 긴 컨텍스트 미사용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8616086"/>
            <a:ext cx="5181558" cy="908915"/>
          </a:xfrm>
          <a:prstGeom prst="roundRect">
            <a:avLst>
              <a:gd name="adj" fmla="val 8384"/>
            </a:avLst>
          </a:prstGeom>
          <a:solidFill>
            <a:srgbClr val="E8F5F0"/>
          </a:solidFill>
          <a:ln w="6804">
            <a:solidFill>
              <a:srgbClr val="B2DF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302140" y="8737168"/>
            <a:ext cx="50091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7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DB가 정답인 질문에 RAG를 쓰면 불필요한 벡터 검색 비용 + LLM 토큰 낭비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53115" y="2493403"/>
            <a:ext cx="5181664" cy="1051364"/>
          </a:xfrm>
          <a:prstGeom prst="roundRect">
            <a:avLst>
              <a:gd name="adj" fmla="val 9060"/>
            </a:avLst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71605" y="2626710"/>
            <a:ext cx="494468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RAG가 필요한 경우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671605" y="3078085"/>
            <a:ext cx="49446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절차 질문 → 문서 검색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53115" y="3697103"/>
            <a:ext cx="5181664" cy="1074114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553115" y="3697103"/>
            <a:ext cx="27214" cy="1074114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751694" y="3849439"/>
            <a:ext cx="495607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"E-9 체류기간 연장 시 어떤 서류가 필요해?"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51694" y="4253189"/>
            <a:ext cx="495607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출입국법·HiKorea 공식 문서에서 근거 검색 필요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53115" y="4771217"/>
            <a:ext cx="5181664" cy="1074114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553115" y="4771217"/>
            <a:ext cx="27214" cy="1074114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51694" y="4923554"/>
            <a:ext cx="495607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"담당자가 확인해야 할 공식 근거가 뭐야?"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51694" y="5327303"/>
            <a:ext cx="495607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citation_ids 포함한 근거 기반 답변 생성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53115" y="5845331"/>
            <a:ext cx="5181664" cy="1074114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553115" y="5845331"/>
            <a:ext cx="27214" cy="1074114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751694" y="5997667"/>
            <a:ext cx="495607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"고용허가 관련 단계별 기준을 설명해줘"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51694" y="6401417"/>
            <a:ext cx="4956071" cy="403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문서 + 내부 근거 문서를 LLM에 주입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53115" y="8616086"/>
            <a:ext cx="5181664" cy="908915"/>
          </a:xfrm>
          <a:prstGeom prst="roundRect">
            <a:avLst>
              <a:gd name="adj" fmla="val 8384"/>
            </a:avLst>
          </a:prstGeom>
          <a:solidFill>
            <a:srgbClr val="EBF3FF"/>
          </a:solidFill>
          <a:ln w="6804">
            <a:solidFill>
              <a:srgbClr val="CCE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712255" y="8737168"/>
            <a:ext cx="500928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필요 질문에만 RAG 사용 — 불필요한 검색 차단이 핵심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963336" y="2493403"/>
            <a:ext cx="5181664" cy="1051364"/>
          </a:xfrm>
          <a:prstGeom prst="roundRect">
            <a:avLst>
              <a:gd name="adj" fmla="val 9060"/>
            </a:avLst>
          </a:prstGeom>
          <a:solidFill>
            <a:srgbClr val="0F0F1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2081826" y="2626710"/>
            <a:ext cx="4944684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 3포인트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2081826" y="3078085"/>
            <a:ext cx="49446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DB/RAG 분리의 실제 효과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963336" y="3697103"/>
            <a:ext cx="5181664" cy="1590760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1963336" y="3697103"/>
            <a:ext cx="5181664" cy="27214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2153836" y="3969034"/>
            <a:ext cx="266615" cy="266615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2115736" y="3969034"/>
            <a:ext cx="342815" cy="30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515701" y="3895683"/>
            <a:ext cx="273836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불필요한 검색 비용 제거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2153836" y="4385115"/>
            <a:ext cx="4944684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근거가 필요한 질문에만 벡터 검색 사용 — 나머지는 DB 직접 조회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1963336" y="5402142"/>
            <a:ext cx="5181664" cy="1590760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963336" y="5402142"/>
            <a:ext cx="5181664" cy="27214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2153836" y="5674072"/>
            <a:ext cx="266615" cy="266615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2115736" y="5674072"/>
            <a:ext cx="342815" cy="30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515701" y="5600722"/>
            <a:ext cx="2174039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길이 단축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12153836" y="6090153"/>
            <a:ext cx="4944684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답변 질문엔 공식 문서를 컨텍스트에 넣지 않음 → LLM 입력 토큰 절감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1963336" y="7107181"/>
            <a:ext cx="5181664" cy="1590760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1963336" y="7107181"/>
            <a:ext cx="5181664" cy="27214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2153836" y="7379111"/>
            <a:ext cx="266615" cy="266615"/>
          </a:xfrm>
          <a:prstGeom prst="ellipse">
            <a:avLst/>
          </a:prstGeom>
          <a:solidFill>
            <a:srgbClr val="006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2115736" y="7379111"/>
            <a:ext cx="342815" cy="304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2515701" y="7305760"/>
            <a:ext cx="2753580" cy="451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b="1" kern="0" spc="-11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재질문·재작업 비용 감소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2153836" y="7795192"/>
            <a:ext cx="4944684" cy="769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섞어 처리하면 "DB는 제출 완료 / RAG는 누락" 충돌 발생 → 분리로 안정성 확보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8589-7035-9D4D-5CFD-9B21922BE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27D6AB-7EFD-B2B3-4DDE-215C1CDEA8D2}"/>
              </a:ext>
            </a:extLst>
          </p:cNvPr>
          <p:cNvSpPr/>
          <p:nvPr/>
        </p:nvSpPr>
        <p:spPr>
          <a:xfrm>
            <a:off x="1285875" y="914400"/>
            <a:ext cx="2287928" cy="306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View</a:t>
            </a:r>
            <a:endParaRPr lang="en-US" sz="1800" dirty="0"/>
          </a:p>
        </p:txBody>
      </p:sp>
      <p:sp>
        <p:nvSpPr>
          <p:cNvPr id="3" name="Text 1">
            <a:hlinkClick r:id="rId3"/>
            <a:extLst>
              <a:ext uri="{FF2B5EF4-FFF2-40B4-BE49-F238E27FC236}">
                <a16:creationId xmlns:a16="http://schemas.microsoft.com/office/drawing/2014/main" id="{A8D46322-B3D9-EB09-B706-D69344046219}"/>
              </a:ext>
            </a:extLst>
          </p:cNvPr>
          <p:cNvSpPr/>
          <p:nvPr/>
        </p:nvSpPr>
        <p:spPr>
          <a:xfrm>
            <a:off x="7175368" y="4730126"/>
            <a:ext cx="3937264" cy="826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5400" b="1" kern="0" spc="-173" dirty="0">
                <a:solidFill>
                  <a:srgbClr val="0F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영상 시연</a:t>
            </a:r>
            <a:endParaRPr lang="en-US" sz="5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BD3658-F077-49F5-BC90-36293F745718}"/>
              </a:ext>
            </a:extLst>
          </p:cNvPr>
          <p:cNvSpPr/>
          <p:nvPr/>
        </p:nvSpPr>
        <p:spPr>
          <a:xfrm>
            <a:off x="6705600" y="2705100"/>
            <a:ext cx="4876800" cy="4876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763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E9102-66E7-DB97-0034-0ADA3595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5F88E1-AEA8-3D0B-90BA-CE8A1F9361F1}"/>
              </a:ext>
            </a:extLst>
          </p:cNvPr>
          <p:cNvSpPr/>
          <p:nvPr/>
        </p:nvSpPr>
        <p:spPr>
          <a:xfrm>
            <a:off x="7359129" y="4421874"/>
            <a:ext cx="7626113" cy="328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800" b="1" kern="0" spc="108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684913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9DA418-F360-484C-AF58-8D703708D843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c6fcf447-0a55-45b5-895d-3b3dc7f711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1768</Words>
  <Application>Microsoft Office PowerPoint</Application>
  <PresentationFormat>사용자 지정</PresentationFormat>
  <Paragraphs>382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taena yim</cp:lastModifiedBy>
  <cp:revision>48</cp:revision>
  <dcterms:created xsi:type="dcterms:W3CDTF">2026-05-14T07:47:40Z</dcterms:created>
  <dcterms:modified xsi:type="dcterms:W3CDTF">2026-05-17T13:09:47Z</dcterms:modified>
</cp:coreProperties>
</file>