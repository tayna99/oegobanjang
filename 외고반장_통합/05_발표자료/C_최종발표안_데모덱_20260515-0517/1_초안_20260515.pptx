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310" r:id="rId3"/>
    <p:sldId id="257" r:id="rId4"/>
    <p:sldId id="259" r:id="rId5"/>
    <p:sldId id="285" r:id="rId6"/>
    <p:sldId id="261" r:id="rId7"/>
    <p:sldId id="262" r:id="rId8"/>
    <p:sldId id="263" r:id="rId9"/>
    <p:sldId id="286" r:id="rId10"/>
    <p:sldId id="265" r:id="rId11"/>
    <p:sldId id="277" r:id="rId12"/>
    <p:sldId id="287" r:id="rId13"/>
    <p:sldId id="267" r:id="rId14"/>
    <p:sldId id="288" r:id="rId15"/>
    <p:sldId id="289" r:id="rId16"/>
    <p:sldId id="308" r:id="rId17"/>
    <p:sldId id="291" r:id="rId18"/>
    <p:sldId id="292" r:id="rId19"/>
    <p:sldId id="302" r:id="rId20"/>
    <p:sldId id="303" r:id="rId21"/>
    <p:sldId id="305" r:id="rId22"/>
    <p:sldId id="294" r:id="rId23"/>
    <p:sldId id="276" r:id="rId24"/>
    <p:sldId id="297" r:id="rId25"/>
    <p:sldId id="279" r:id="rId26"/>
    <p:sldId id="280" r:id="rId27"/>
    <p:sldId id="281" r:id="rId2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8" d="100"/>
          <a:sy n="38" d="100"/>
        </p:scale>
        <p:origin x="1752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874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-1714500"/>
            <a:ext cx="8382000" cy="8382000"/>
          </a:xfrm>
          <a:prstGeom prst="ellipse">
            <a:avLst/>
          </a:prstGeom>
          <a:solidFill>
            <a:srgbClr val="0066FF">
              <a:alpha val="1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334000" y="6286500"/>
            <a:ext cx="5334000" cy="5334000"/>
          </a:xfrm>
          <a:prstGeom prst="ellipse">
            <a:avLst/>
          </a:prstGeom>
          <a:solidFill>
            <a:srgbClr val="0066FF">
              <a:alpha val="7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43000" y="103437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695450" y="914400"/>
            <a:ext cx="3380388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682546"/>
            <a:ext cx="1648206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b="1" kern="0" spc="-3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외고반장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143000" y="5168447"/>
            <a:ext cx="9240520" cy="721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kern="0" spc="-72" dirty="0" err="1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</a:t>
            </a:r>
            <a:r>
              <a:rPr 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kern="0" spc="-72" dirty="0" err="1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</a:t>
            </a:r>
            <a:r>
              <a:rPr 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</a:t>
            </a:r>
            <a:r>
              <a:rPr 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업무, AI </a:t>
            </a:r>
            <a:r>
              <a:rPr lang="ko-KR" alt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반장이 </a:t>
            </a:r>
            <a:r>
              <a:rPr lang="en-US" sz="2800" b="1" kern="0" spc="-72" dirty="0" err="1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놓치기</a:t>
            </a:r>
            <a:r>
              <a:rPr lang="en-US" sz="2800" b="1" kern="0" spc="-72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전에 먼저 </a:t>
            </a:r>
            <a:r>
              <a:rPr 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챙깁니다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6120947"/>
            <a:ext cx="3451452" cy="538843"/>
          </a:xfrm>
          <a:prstGeom prst="roundRect">
            <a:avLst>
              <a:gd name="adj" fmla="val 50000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40757" y="6352268"/>
            <a:ext cx="76200" cy="762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93157" y="6281511"/>
            <a:ext cx="2990644" cy="299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D-day 리스크를 먼저 보여준다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46852" y="6120947"/>
            <a:ext cx="3029630" cy="538843"/>
          </a:xfrm>
          <a:prstGeom prst="roundRect">
            <a:avLst>
              <a:gd name="adj" fmla="val 50000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944609" y="6352268"/>
            <a:ext cx="76200" cy="762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97009" y="6281511"/>
            <a:ext cx="2557916" cy="299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Action을 준비해준다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928882" y="6120947"/>
            <a:ext cx="4389891" cy="538843"/>
          </a:xfrm>
          <a:prstGeom prst="roundRect">
            <a:avLst>
              <a:gd name="adj" fmla="val 50000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126639" y="6352268"/>
            <a:ext cx="76200" cy="762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79039" y="6281511"/>
            <a:ext cx="3957236" cy="299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승인·증빙으로 안전하게 실행하고 남긴다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9159308"/>
            <a:ext cx="16482060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 + Approval + Evidence 기반 외국인 고용 업무 관리 시스템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900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R901"/>
          <p:cNvSpPr>
            <a:spLocks noGrp="1"/>
          </p:cNvSpPr>
          <p:nvPr/>
        </p:nvSpPr>
        <p:spPr>
          <a:xfrm>
            <a:off x="914400" y="736600"/>
            <a:ext cx="50800" cy="2794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T902"/>
          <p:cNvSpPr>
            <a:spLocks noGrp="1"/>
          </p:cNvSpPr>
          <p:nvPr/>
        </p:nvSpPr>
        <p:spPr>
          <a:xfrm>
            <a:off x="1041400" y="6858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0066FF"/>
                </a:solidFill>
                <a:latin typeface="Arial" pitchFamily="34" charset="0"/>
              </a:rPr>
              <a:t>TABLE OF CONTENTS</a:t>
            </a:r>
          </a:p>
        </p:txBody>
      </p:sp>
      <p:sp>
        <p:nvSpPr>
          <p:cNvPr id="903" name="T903"/>
          <p:cNvSpPr>
            <a:spLocks noGrp="1"/>
          </p:cNvSpPr>
          <p:nvPr/>
        </p:nvSpPr>
        <p:spPr>
          <a:xfrm>
            <a:off x="914400" y="1092200"/>
            <a:ext cx="88900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4400" b="1" dirty="0">
                <a:solidFill>
                  <a:srgbClr val="0F0F10"/>
                </a:solidFill>
                <a:latin typeface="Arial" pitchFamily="34" charset="0"/>
              </a:rPr>
              <a:t>발표 목차</a:t>
            </a:r>
          </a:p>
        </p:txBody>
      </p:sp>
      <p:sp>
        <p:nvSpPr>
          <p:cNvPr id="910" name="R910"/>
          <p:cNvSpPr>
            <a:spLocks noGrp="1"/>
          </p:cNvSpPr>
          <p:nvPr/>
        </p:nvSpPr>
        <p:spPr>
          <a:xfrm>
            <a:off x="1270000" y="24384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1" name="R911"/>
          <p:cNvSpPr>
            <a:spLocks noGrp="1"/>
          </p:cNvSpPr>
          <p:nvPr/>
        </p:nvSpPr>
        <p:spPr>
          <a:xfrm>
            <a:off x="1270000" y="2438400"/>
            <a:ext cx="50800" cy="9652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T912"/>
          <p:cNvSpPr>
            <a:spLocks noGrp="1"/>
          </p:cNvSpPr>
          <p:nvPr/>
        </p:nvSpPr>
        <p:spPr>
          <a:xfrm>
            <a:off x="1473200" y="24384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CC2200"/>
                </a:solidFill>
                <a:latin typeface="Arial" pitchFamily="34" charset="0"/>
              </a:rPr>
              <a:t>01</a:t>
            </a:r>
          </a:p>
        </p:txBody>
      </p:sp>
      <p:sp>
        <p:nvSpPr>
          <p:cNvPr id="913" name="T913"/>
          <p:cNvSpPr>
            <a:spLocks noGrp="1"/>
          </p:cNvSpPr>
          <p:nvPr/>
        </p:nvSpPr>
        <p:spPr>
          <a:xfrm>
            <a:off x="2235200" y="24384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문제 정의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PROBLEM  ·  CUSTOMER  ·  GAP</a:t>
            </a:r>
          </a:p>
        </p:txBody>
      </p:sp>
      <p:sp>
        <p:nvSpPr>
          <p:cNvPr id="914" name="T914"/>
          <p:cNvSpPr>
            <a:spLocks noGrp="1"/>
          </p:cNvSpPr>
          <p:nvPr/>
        </p:nvSpPr>
        <p:spPr>
          <a:xfrm>
            <a:off x="15748000" y="24384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CC2200"/>
                </a:solidFill>
                <a:latin typeface="Arial" pitchFamily="34" charset="0"/>
              </a:rPr>
              <a:t>p.2–4</a:t>
            </a:r>
          </a:p>
        </p:txBody>
      </p:sp>
      <p:sp>
        <p:nvSpPr>
          <p:cNvPr id="915" name="R915"/>
          <p:cNvSpPr>
            <a:spLocks noGrp="1"/>
          </p:cNvSpPr>
          <p:nvPr/>
        </p:nvSpPr>
        <p:spPr>
          <a:xfrm>
            <a:off x="1473200" y="33782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R920"/>
          <p:cNvSpPr>
            <a:spLocks noGrp="1"/>
          </p:cNvSpPr>
          <p:nvPr/>
        </p:nvSpPr>
        <p:spPr>
          <a:xfrm>
            <a:off x="1270000" y="34798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1" name="R921"/>
          <p:cNvSpPr>
            <a:spLocks noGrp="1"/>
          </p:cNvSpPr>
          <p:nvPr/>
        </p:nvSpPr>
        <p:spPr>
          <a:xfrm>
            <a:off x="1270000" y="3479800"/>
            <a:ext cx="50800" cy="965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T922"/>
          <p:cNvSpPr>
            <a:spLocks noGrp="1"/>
          </p:cNvSpPr>
          <p:nvPr/>
        </p:nvSpPr>
        <p:spPr>
          <a:xfrm>
            <a:off x="1473200" y="34798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0066FF"/>
                </a:solidFill>
                <a:latin typeface="Arial" pitchFamily="34" charset="0"/>
              </a:rPr>
              <a:t>02</a:t>
            </a:r>
          </a:p>
        </p:txBody>
      </p:sp>
      <p:sp>
        <p:nvSpPr>
          <p:cNvPr id="923" name="T923"/>
          <p:cNvSpPr>
            <a:spLocks noGrp="1"/>
          </p:cNvSpPr>
          <p:nvPr/>
        </p:nvSpPr>
        <p:spPr>
          <a:xfrm>
            <a:off x="2235200" y="34798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솔루션 &amp; 제품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SOLUTION  ·  PRODUCT  ·  DEMO</a:t>
            </a:r>
          </a:p>
        </p:txBody>
      </p:sp>
      <p:sp>
        <p:nvSpPr>
          <p:cNvPr id="924" name="T924"/>
          <p:cNvSpPr>
            <a:spLocks noGrp="1"/>
          </p:cNvSpPr>
          <p:nvPr/>
        </p:nvSpPr>
        <p:spPr>
          <a:xfrm>
            <a:off x="15748000" y="34798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0066FF"/>
                </a:solidFill>
                <a:latin typeface="Arial" pitchFamily="34" charset="0"/>
              </a:rPr>
              <a:t>p.5–9</a:t>
            </a:r>
          </a:p>
        </p:txBody>
      </p:sp>
      <p:sp>
        <p:nvSpPr>
          <p:cNvPr id="925" name="R925"/>
          <p:cNvSpPr>
            <a:spLocks noGrp="1"/>
          </p:cNvSpPr>
          <p:nvPr/>
        </p:nvSpPr>
        <p:spPr>
          <a:xfrm>
            <a:off x="1473200" y="44196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" name="R930"/>
          <p:cNvSpPr>
            <a:spLocks noGrp="1"/>
          </p:cNvSpPr>
          <p:nvPr/>
        </p:nvSpPr>
        <p:spPr>
          <a:xfrm>
            <a:off x="1270000" y="45212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1" name="R931"/>
          <p:cNvSpPr>
            <a:spLocks noGrp="1"/>
          </p:cNvSpPr>
          <p:nvPr/>
        </p:nvSpPr>
        <p:spPr>
          <a:xfrm>
            <a:off x="1270000" y="4521200"/>
            <a:ext cx="50800" cy="9652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T932"/>
          <p:cNvSpPr>
            <a:spLocks noGrp="1"/>
          </p:cNvSpPr>
          <p:nvPr/>
        </p:nvSpPr>
        <p:spPr>
          <a:xfrm>
            <a:off x="1473200" y="45212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0099CC"/>
                </a:solidFill>
                <a:latin typeface="Arial" pitchFamily="34" charset="0"/>
              </a:rPr>
              <a:t>03</a:t>
            </a:r>
          </a:p>
        </p:txBody>
      </p:sp>
      <p:sp>
        <p:nvSpPr>
          <p:cNvPr id="933" name="T933"/>
          <p:cNvSpPr>
            <a:spLocks noGrp="1"/>
          </p:cNvSpPr>
          <p:nvPr/>
        </p:nvSpPr>
        <p:spPr>
          <a:xfrm>
            <a:off x="2235200" y="45212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워크플로우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5단계 케이스 흐름</a:t>
            </a:r>
          </a:p>
        </p:txBody>
      </p:sp>
      <p:sp>
        <p:nvSpPr>
          <p:cNvPr id="934" name="T934"/>
          <p:cNvSpPr>
            <a:spLocks noGrp="1"/>
          </p:cNvSpPr>
          <p:nvPr/>
        </p:nvSpPr>
        <p:spPr>
          <a:xfrm>
            <a:off x="15748000" y="45212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0099CC"/>
                </a:solidFill>
                <a:latin typeface="Arial" pitchFamily="34" charset="0"/>
              </a:rPr>
              <a:t>p.10</a:t>
            </a:r>
          </a:p>
        </p:txBody>
      </p:sp>
      <p:sp>
        <p:nvSpPr>
          <p:cNvPr id="935" name="R935"/>
          <p:cNvSpPr>
            <a:spLocks noGrp="1"/>
          </p:cNvSpPr>
          <p:nvPr/>
        </p:nvSpPr>
        <p:spPr>
          <a:xfrm>
            <a:off x="1473200" y="54610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R940"/>
          <p:cNvSpPr>
            <a:spLocks noGrp="1"/>
          </p:cNvSpPr>
          <p:nvPr/>
        </p:nvSpPr>
        <p:spPr>
          <a:xfrm>
            <a:off x="1270000" y="55626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1" name="R941"/>
          <p:cNvSpPr>
            <a:spLocks noGrp="1"/>
          </p:cNvSpPr>
          <p:nvPr/>
        </p:nvSpPr>
        <p:spPr>
          <a:xfrm>
            <a:off x="1270000" y="5562600"/>
            <a:ext cx="50800" cy="965200"/>
          </a:xfrm>
          <a:prstGeom prst="rect">
            <a:avLst/>
          </a:prstGeom>
          <a:solidFill>
            <a:srgbClr val="7B3FE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T942"/>
          <p:cNvSpPr>
            <a:spLocks noGrp="1"/>
          </p:cNvSpPr>
          <p:nvPr/>
        </p:nvSpPr>
        <p:spPr>
          <a:xfrm>
            <a:off x="1473200" y="55626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7B3FE4"/>
                </a:solidFill>
                <a:latin typeface="Arial" pitchFamily="34" charset="0"/>
              </a:rPr>
              <a:t>04</a:t>
            </a:r>
          </a:p>
        </p:txBody>
      </p:sp>
      <p:sp>
        <p:nvSpPr>
          <p:cNvPr id="943" name="T943"/>
          <p:cNvSpPr>
            <a:spLocks noGrp="1"/>
          </p:cNvSpPr>
          <p:nvPr/>
        </p:nvSpPr>
        <p:spPr>
          <a:xfrm>
            <a:off x="2235200" y="55626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엔지니어링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기술 스택  ·  아키텍처  ·  신뢰 설계  ·  에이전트</a:t>
            </a:r>
          </a:p>
        </p:txBody>
      </p:sp>
      <p:sp>
        <p:nvSpPr>
          <p:cNvPr id="944" name="T944"/>
          <p:cNvSpPr>
            <a:spLocks noGrp="1"/>
          </p:cNvSpPr>
          <p:nvPr/>
        </p:nvSpPr>
        <p:spPr>
          <a:xfrm>
            <a:off x="15748000" y="55626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7B3FE4"/>
                </a:solidFill>
                <a:latin typeface="Arial" pitchFamily="34" charset="0"/>
              </a:rPr>
              <a:t>p.11–18</a:t>
            </a:r>
          </a:p>
        </p:txBody>
      </p:sp>
      <p:sp>
        <p:nvSpPr>
          <p:cNvPr id="945" name="R945"/>
          <p:cNvSpPr>
            <a:spLocks noGrp="1"/>
          </p:cNvSpPr>
          <p:nvPr/>
        </p:nvSpPr>
        <p:spPr>
          <a:xfrm>
            <a:off x="1473200" y="65024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R950"/>
          <p:cNvSpPr>
            <a:spLocks noGrp="1"/>
          </p:cNvSpPr>
          <p:nvPr/>
        </p:nvSpPr>
        <p:spPr>
          <a:xfrm>
            <a:off x="1270000" y="66040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R951"/>
          <p:cNvSpPr>
            <a:spLocks noGrp="1"/>
          </p:cNvSpPr>
          <p:nvPr/>
        </p:nvSpPr>
        <p:spPr>
          <a:xfrm>
            <a:off x="1270000" y="6604000"/>
            <a:ext cx="50800" cy="965200"/>
          </a:xfrm>
          <a:prstGeom prst="rect">
            <a:avLst/>
          </a:prstGeom>
          <a:solidFill>
            <a:srgbClr val="00AA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T952"/>
          <p:cNvSpPr>
            <a:spLocks noGrp="1"/>
          </p:cNvSpPr>
          <p:nvPr/>
        </p:nvSpPr>
        <p:spPr>
          <a:xfrm>
            <a:off x="1473200" y="66040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00AA6E"/>
                </a:solidFill>
                <a:latin typeface="Arial" pitchFamily="34" charset="0"/>
              </a:rPr>
              <a:t>05</a:t>
            </a:r>
          </a:p>
        </p:txBody>
      </p:sp>
      <p:sp>
        <p:nvSpPr>
          <p:cNvPr id="953" name="T953"/>
          <p:cNvSpPr>
            <a:spLocks noGrp="1"/>
          </p:cNvSpPr>
          <p:nvPr/>
        </p:nvSpPr>
        <p:spPr>
          <a:xfrm>
            <a:off x="2235200" y="66040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검색·비용·보안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RAG 파이프라인  ·  비용 설계  ·  데이터 격리</a:t>
            </a:r>
          </a:p>
        </p:txBody>
      </p:sp>
      <p:sp>
        <p:nvSpPr>
          <p:cNvPr id="954" name="T954"/>
          <p:cNvSpPr>
            <a:spLocks noGrp="1"/>
          </p:cNvSpPr>
          <p:nvPr/>
        </p:nvSpPr>
        <p:spPr>
          <a:xfrm>
            <a:off x="15748000" y="66040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00AA6E"/>
                </a:solidFill>
                <a:latin typeface="Arial" pitchFamily="34" charset="0"/>
              </a:rPr>
              <a:t>p.19–23</a:t>
            </a:r>
          </a:p>
        </p:txBody>
      </p:sp>
      <p:sp>
        <p:nvSpPr>
          <p:cNvPr id="955" name="R955"/>
          <p:cNvSpPr>
            <a:spLocks noGrp="1"/>
          </p:cNvSpPr>
          <p:nvPr/>
        </p:nvSpPr>
        <p:spPr>
          <a:xfrm>
            <a:off x="1473200" y="75438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R960"/>
          <p:cNvSpPr>
            <a:spLocks noGrp="1"/>
          </p:cNvSpPr>
          <p:nvPr/>
        </p:nvSpPr>
        <p:spPr>
          <a:xfrm>
            <a:off x="1270000" y="76454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1" name="R961"/>
          <p:cNvSpPr>
            <a:spLocks noGrp="1"/>
          </p:cNvSpPr>
          <p:nvPr/>
        </p:nvSpPr>
        <p:spPr>
          <a:xfrm>
            <a:off x="1270000" y="7645400"/>
            <a:ext cx="50800" cy="965200"/>
          </a:xfrm>
          <a:prstGeom prst="rect">
            <a:avLst/>
          </a:prstGeom>
          <a:solidFill>
            <a:srgbClr val="E07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T962"/>
          <p:cNvSpPr>
            <a:spLocks noGrp="1"/>
          </p:cNvSpPr>
          <p:nvPr/>
        </p:nvSpPr>
        <p:spPr>
          <a:xfrm>
            <a:off x="1473200" y="76454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E07000"/>
                </a:solidFill>
                <a:latin typeface="Arial" pitchFamily="34" charset="0"/>
              </a:rPr>
              <a:t>06</a:t>
            </a:r>
          </a:p>
        </p:txBody>
      </p:sp>
      <p:sp>
        <p:nvSpPr>
          <p:cNvPr id="963" name="T963"/>
          <p:cNvSpPr>
            <a:spLocks noGrp="1"/>
          </p:cNvSpPr>
          <p:nvPr/>
        </p:nvSpPr>
        <p:spPr>
          <a:xfrm>
            <a:off x="2235200" y="76454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검증 &amp; 비즈니스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VALIDATION  ·  MARKET &amp; GTM</a:t>
            </a:r>
          </a:p>
        </p:txBody>
      </p:sp>
      <p:sp>
        <p:nvSpPr>
          <p:cNvPr id="964" name="T964"/>
          <p:cNvSpPr>
            <a:spLocks noGrp="1"/>
          </p:cNvSpPr>
          <p:nvPr/>
        </p:nvSpPr>
        <p:spPr>
          <a:xfrm>
            <a:off x="15748000" y="76454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E07000"/>
                </a:solidFill>
                <a:latin typeface="Arial" pitchFamily="34" charset="0"/>
              </a:rPr>
              <a:t>p.24–25</a:t>
            </a:r>
          </a:p>
        </p:txBody>
      </p:sp>
      <p:sp>
        <p:nvSpPr>
          <p:cNvPr id="965" name="R965"/>
          <p:cNvSpPr>
            <a:spLocks noGrp="1"/>
          </p:cNvSpPr>
          <p:nvPr/>
        </p:nvSpPr>
        <p:spPr>
          <a:xfrm>
            <a:off x="1473200" y="85852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0" name="R970"/>
          <p:cNvSpPr>
            <a:spLocks noGrp="1"/>
          </p:cNvSpPr>
          <p:nvPr/>
        </p:nvSpPr>
        <p:spPr>
          <a:xfrm>
            <a:off x="1270000" y="86868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1" name="R971"/>
          <p:cNvSpPr>
            <a:spLocks noGrp="1"/>
          </p:cNvSpPr>
          <p:nvPr/>
        </p:nvSpPr>
        <p:spPr>
          <a:xfrm>
            <a:off x="1270000" y="8686800"/>
            <a:ext cx="50800" cy="9652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T972"/>
          <p:cNvSpPr>
            <a:spLocks noGrp="1"/>
          </p:cNvSpPr>
          <p:nvPr/>
        </p:nvSpPr>
        <p:spPr>
          <a:xfrm>
            <a:off x="1473200" y="86868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555555"/>
                </a:solidFill>
                <a:latin typeface="Arial" pitchFamily="34" charset="0"/>
              </a:rPr>
              <a:t>07</a:t>
            </a:r>
          </a:p>
        </p:txBody>
      </p:sp>
      <p:sp>
        <p:nvSpPr>
          <p:cNvPr id="973" name="T973"/>
          <p:cNvSpPr>
            <a:spLocks noGrp="1"/>
          </p:cNvSpPr>
          <p:nvPr/>
        </p:nvSpPr>
        <p:spPr>
          <a:xfrm>
            <a:off x="2235200" y="86868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파일럿 &amp; 로드맵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파일럿 검증 계획  ·  ROADMAP &amp; ASK</a:t>
            </a:r>
          </a:p>
        </p:txBody>
      </p:sp>
      <p:sp>
        <p:nvSpPr>
          <p:cNvPr id="974" name="T974"/>
          <p:cNvSpPr>
            <a:spLocks noGrp="1"/>
          </p:cNvSpPr>
          <p:nvPr/>
        </p:nvSpPr>
        <p:spPr>
          <a:xfrm>
            <a:off x="15748000" y="86868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555555"/>
                </a:solidFill>
                <a:latin typeface="Arial" pitchFamily="34" charset="0"/>
              </a:rPr>
              <a:t>p.26–27</a:t>
            </a:r>
          </a:p>
        </p:txBody>
      </p:sp>
      <p:sp>
        <p:nvSpPr>
          <p:cNvPr id="999" name="R999"/>
          <p:cNvSpPr>
            <a:spLocks noGrp="1"/>
          </p:cNvSpPr>
          <p:nvPr/>
        </p:nvSpPr>
        <p:spPr>
          <a:xfrm>
            <a:off x="914400" y="9880600"/>
            <a:ext cx="16484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" name="T1000"/>
          <p:cNvSpPr>
            <a:spLocks noGrp="1"/>
          </p:cNvSpPr>
          <p:nvPr/>
        </p:nvSpPr>
        <p:spPr>
          <a:xfrm>
            <a:off x="914400" y="9931400"/>
            <a:ext cx="16484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AAAAAA"/>
                </a:solidFill>
                <a:latin typeface="Arial" pitchFamily="34" charset="0"/>
              </a:rPr>
              <a:t>외고반장 — 외국인 고용 운영 AI 플랫폼</a:t>
            </a:r>
          </a:p>
        </p:txBody>
      </p:sp>
    </p:spTree>
    <p:extLst>
      <p:ext uri="{BB962C8B-B14F-4D97-AF65-F5344CB8AC3E}">
        <p14:creationId xmlns:p14="http://schemas.microsoft.com/office/powerpoint/2010/main" val="419482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131524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161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챙겨야 할 일이 한 화면에 없다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121150"/>
            <a:ext cx="784369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고용 업무는 이렇게 분산돼 있습니다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4763067"/>
            <a:ext cx="3693319" cy="1326923"/>
          </a:xfrm>
          <a:prstGeom prst="roundRect">
            <a:avLst>
              <a:gd name="adj" fmla="val 8614"/>
            </a:avLst>
          </a:prstGeom>
          <a:solidFill>
            <a:srgbClr val="F7F7F8"/>
          </a:solidFill>
          <a:ln w="7257">
            <a:solidFill>
              <a:srgbClr val="E8E8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16957" y="5017974"/>
            <a:ext cx="3239767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/ 폴더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6957" y="5469391"/>
            <a:ext cx="323976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서류 저장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64919" y="4763067"/>
            <a:ext cx="3693319" cy="1326923"/>
          </a:xfrm>
          <a:prstGeom prst="roundRect">
            <a:avLst>
              <a:gd name="adj" fmla="val 8614"/>
            </a:avLst>
          </a:prstGeom>
          <a:solidFill>
            <a:srgbClr val="F7F7F8"/>
          </a:solidFill>
          <a:ln w="7257">
            <a:solidFill>
              <a:srgbClr val="E8E8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38876" y="5017974"/>
            <a:ext cx="3239767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메신저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338876" y="5469391"/>
            <a:ext cx="323976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소통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6318590"/>
            <a:ext cx="3693319" cy="1326923"/>
          </a:xfrm>
          <a:prstGeom prst="roundRect">
            <a:avLst>
              <a:gd name="adj" fmla="val 8614"/>
            </a:avLst>
          </a:prstGeom>
          <a:solidFill>
            <a:srgbClr val="F7F7F8"/>
          </a:solidFill>
          <a:ln w="7257">
            <a:solidFill>
              <a:srgbClr val="E8E8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16957" y="6573498"/>
            <a:ext cx="3239767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시스템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16957" y="7024914"/>
            <a:ext cx="323976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· 민원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64919" y="6318590"/>
            <a:ext cx="3693319" cy="1326923"/>
          </a:xfrm>
          <a:prstGeom prst="roundRect">
            <a:avLst>
              <a:gd name="adj" fmla="val 8614"/>
            </a:avLst>
          </a:prstGeom>
          <a:solidFill>
            <a:srgbClr val="F7F7F8"/>
          </a:solidFill>
          <a:ln w="7257">
            <a:solidFill>
              <a:srgbClr val="E8E8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38876" y="6573498"/>
            <a:ext cx="3239767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행정사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338876" y="7024914"/>
            <a:ext cx="323976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· 대행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7836014"/>
            <a:ext cx="7615238" cy="937646"/>
          </a:xfrm>
          <a:prstGeom prst="roundRect">
            <a:avLst>
              <a:gd name="adj" fmla="val 12190"/>
            </a:avLst>
          </a:prstGeom>
          <a:solidFill>
            <a:srgbClr val="F7F7F8"/>
          </a:solidFill>
          <a:ln w="14514">
            <a:solidFill>
              <a:srgbClr val="CACAC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18422" y="8098178"/>
            <a:ext cx="7264393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AAA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매일의 운영 업무 → 담당자의 기억에 의존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39238" y="3369809"/>
            <a:ext cx="9525" cy="6155191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529763" y="3976801"/>
            <a:ext cx="784369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결과로 생기는 운영 리스크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529763" y="4618718"/>
            <a:ext cx="7615238" cy="1331459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529763" y="4618718"/>
            <a:ext cx="36286" cy="1331459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832749" y="4866368"/>
            <a:ext cx="725691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체류만료 · 서류누락 · 기한초과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832749" y="5336835"/>
            <a:ext cx="725691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 공백 / 벌금·제재 / 행정사 재요청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9763" y="6102577"/>
            <a:ext cx="7615238" cy="1331459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9763" y="6102577"/>
            <a:ext cx="36286" cy="1331459"/>
          </a:xfrm>
          <a:prstGeom prst="rect">
            <a:avLst/>
          </a:prstGeom>
          <a:solidFill>
            <a:srgbClr val="FF92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832749" y="6350227"/>
            <a:ext cx="725691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사람의 기억에 의존하는 운영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832749" y="6820694"/>
            <a:ext cx="725691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인수인계 불가 / 뒷북 대응 반복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29763" y="7586436"/>
            <a:ext cx="7615238" cy="1331459"/>
          </a:xfrm>
          <a:prstGeom prst="rect">
            <a:avLst/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529763" y="7586436"/>
            <a:ext cx="36286" cy="1331459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832749" y="7834086"/>
            <a:ext cx="725691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정부·행정사 시스템의 공백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832749" y="8304553"/>
            <a:ext cx="725691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내부의 매일 업무 단계가 비어 있음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612775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플레이어는 내부 운영 단계를 채우지 않는다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784748" y="2581162"/>
            <a:ext cx="9525" cy="694383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43000" y="4030776"/>
            <a:ext cx="5418571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플레이어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4555105"/>
            <a:ext cx="5260748" cy="794317"/>
          </a:xfrm>
          <a:prstGeom prst="roundRect">
            <a:avLst>
              <a:gd name="adj" fmla="val 119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09700" y="4745605"/>
            <a:ext cx="136921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시스템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92587" y="4769417"/>
            <a:ext cx="11206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· 민원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5463722"/>
            <a:ext cx="5260748" cy="794317"/>
          </a:xfrm>
          <a:prstGeom prst="roundRect">
            <a:avLst>
              <a:gd name="adj" fmla="val 119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09700" y="5654222"/>
            <a:ext cx="80837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행정사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92587" y="5678034"/>
            <a:ext cx="11206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· 대행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6372338"/>
            <a:ext cx="5260748" cy="794317"/>
          </a:xfrm>
          <a:prstGeom prst="roundRect">
            <a:avLst>
              <a:gd name="adj" fmla="val 119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409700" y="6562838"/>
            <a:ext cx="1231333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· HR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092587" y="6586651"/>
            <a:ext cx="11206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근태 · 급여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7280956"/>
            <a:ext cx="5260748" cy="794317"/>
          </a:xfrm>
          <a:prstGeom prst="roundRect">
            <a:avLst>
              <a:gd name="adj" fmla="val 119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409700" y="7471456"/>
            <a:ext cx="1529443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메신저 · 엑셀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092587" y="7495268"/>
            <a:ext cx="11206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소통 · 저장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173006" y="4240326"/>
            <a:ext cx="5260748" cy="3625396"/>
          </a:xfrm>
          <a:prstGeom prst="roundRect">
            <a:avLst>
              <a:gd name="adj" fmla="val 4204"/>
            </a:avLst>
          </a:prstGeom>
          <a:solidFill>
            <a:srgbClr val="0066FF">
              <a:alpha val="6000"/>
            </a:srgbClr>
          </a:solidFill>
          <a:ln w="14514">
            <a:solidFill>
              <a:srgbClr val="0066FF">
                <a:alpha val="45000"/>
              </a:srgbClr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62231" y="4559640"/>
            <a:ext cx="468229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있는 내부 운영 단계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530420" y="5936456"/>
            <a:ext cx="250825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7857445" y="5893140"/>
            <a:ext cx="288985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누구를 챙겨야 하지?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530420" y="6349773"/>
            <a:ext cx="250825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857445" y="6306458"/>
            <a:ext cx="263850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뭘 준비해야 하지?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530420" y="6763090"/>
            <a:ext cx="250825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7857445" y="6719774"/>
            <a:ext cx="232103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승인해야 하지?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530420" y="7176407"/>
            <a:ext cx="250825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7857445" y="7133091"/>
            <a:ext cx="339253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증빙으로 남겨야 하지?</a:t>
            </a:r>
            <a:endParaRPr lang="en-US" sz="21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7154" y="5881574"/>
            <a:ext cx="342900" cy="34290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13462454" y="4910478"/>
            <a:ext cx="3682546" cy="2285093"/>
          </a:xfrm>
          <a:prstGeom prst="roundRect">
            <a:avLst>
              <a:gd name="adj" fmla="val 6669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13812612" y="5260635"/>
            <a:ext cx="307169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외고반장</a:t>
            </a:r>
            <a:endParaRPr lang="en-US" sz="3600" dirty="0"/>
          </a:p>
        </p:txBody>
      </p:sp>
      <p:sp>
        <p:nvSpPr>
          <p:cNvPr id="31" name="Text 28"/>
          <p:cNvSpPr/>
          <p:nvPr/>
        </p:nvSpPr>
        <p:spPr>
          <a:xfrm>
            <a:off x="13812612" y="6022635"/>
            <a:ext cx="3071699" cy="8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ko-KR" altLang="en-US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</a:t>
            </a:r>
            <a:r>
              <a:rPr lang="ko-KR" altLang="en-US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할일</a:t>
            </a:r>
            <a:r>
              <a:rPr lang="ko-KR" altLang="en-US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브리핑</a:t>
            </a: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누락탐지 승인 · </a:t>
            </a:r>
            <a:r>
              <a:rPr lang="ko-KR" alt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행동 제안 및 </a:t>
            </a:r>
            <a:r>
              <a:rPr lang="en-US" sz="18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증빙</a:t>
            </a: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축적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136706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외고반장의 운영 표준화 3요소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81162"/>
            <a:ext cx="5156200" cy="6943838"/>
          </a:xfrm>
          <a:prstGeom prst="roundRect">
            <a:avLst>
              <a:gd name="adj" fmla="val 3695"/>
            </a:avLst>
          </a:prstGeom>
          <a:solidFill>
            <a:srgbClr val="FFFFFF">
              <a:alpha val="13000"/>
            </a:srgbClr>
          </a:solidFill>
          <a:ln w="7257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569357" y="3045619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757" y="3198019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69357" y="3883819"/>
            <a:ext cx="44325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569357" y="4588669"/>
            <a:ext cx="4432590" cy="94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kern="0" spc="-11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오늘·이번 주 리스크와 해야 할 일을 선제적으로 제시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569357" y="8694851"/>
            <a:ext cx="4432590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검색이 아니라 Next Action 제안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65900" y="2581162"/>
            <a:ext cx="5156200" cy="6943838"/>
          </a:xfrm>
          <a:prstGeom prst="roundRect">
            <a:avLst>
              <a:gd name="adj" fmla="val 3695"/>
            </a:avLst>
          </a:prstGeom>
          <a:solidFill>
            <a:srgbClr val="FFFFFF">
              <a:alpha val="13000"/>
            </a:srgbClr>
          </a:solidFill>
          <a:ln w="7257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992258" y="3045619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658" y="3198019"/>
            <a:ext cx="304800" cy="304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2258" y="3883819"/>
            <a:ext cx="44325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6992258" y="4588669"/>
            <a:ext cx="4432590" cy="94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kern="0" spc="-11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중요한 실행을 승인으로 통제 승인 전 외부 발송 불가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992258" y="8694851"/>
            <a:ext cx="4432590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Gate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1988801" y="2581162"/>
            <a:ext cx="5156200" cy="6943838"/>
          </a:xfrm>
          <a:prstGeom prst="roundRect">
            <a:avLst>
              <a:gd name="adj" fmla="val 3695"/>
            </a:avLst>
          </a:prstGeom>
          <a:solidFill>
            <a:srgbClr val="FFFFFF">
              <a:alpha val="13000"/>
            </a:srgbClr>
          </a:solidFill>
          <a:ln w="7257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2415157" y="3045619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7557" y="3198019"/>
            <a:ext cx="304800" cy="304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415157" y="3883819"/>
            <a:ext cx="44325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12415157" y="4588669"/>
            <a:ext cx="4432590" cy="94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kern="0" spc="-11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결과를 증빙으로 축적 인수인계·감사·재현 가능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12415157" y="8694851"/>
            <a:ext cx="4432590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기록 축적</a:t>
            </a:r>
            <a:endParaRPr lang="en-US" sz="1800" dirty="0"/>
          </a:p>
        </p:txBody>
      </p:sp>
      <p:sp>
        <p:nvSpPr>
          <p:cNvPr id="202" name="TermBar_text"/>
          <p:cNvSpPr>
            <a:spLocks noGrp="1"/>
          </p:cNvSpPr>
          <p:nvPr/>
        </p:nvSpPr>
        <p:spPr>
          <a:xfrm>
            <a:off x="1143000" y="9842500"/>
            <a:ext cx="16484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r>
              <a:rPr lang="en-US" altLang="ko-KR" sz="800" dirty="0">
                <a:solidFill>
                  <a:srgbClr val="BBBBBB"/>
                </a:solidFill>
                <a:latin typeface="Arial" pitchFamily="34" charset="0"/>
              </a:rPr>
              <a:t>¹ Evidence-log(</a:t>
            </a:r>
            <a:r>
              <a:rPr lang="ko-KR" altLang="en-US" sz="800" dirty="0">
                <a:solidFill>
                  <a:srgbClr val="BBBBBB"/>
                </a:solidFill>
                <a:latin typeface="Arial" pitchFamily="34" charset="0"/>
              </a:rPr>
              <a:t>증빙 이력 로그</a:t>
            </a:r>
            <a:r>
              <a:rPr lang="en-US" altLang="ko-KR" sz="800" dirty="0">
                <a:solidFill>
                  <a:srgbClr val="BBBBBB"/>
                </a:solidFill>
                <a:latin typeface="Arial" pitchFamily="34" charset="0"/>
              </a:rPr>
              <a:t>, AI·</a:t>
            </a:r>
            <a:r>
              <a:rPr lang="ko-KR" altLang="en-US" sz="800" dirty="0">
                <a:solidFill>
                  <a:srgbClr val="BBBBBB"/>
                </a:solidFill>
                <a:latin typeface="Arial" pitchFamily="34" charset="0"/>
              </a:rPr>
              <a:t>담당자 행위를 시간순 불변 기록</a:t>
            </a:r>
            <a:r>
              <a:rPr lang="en-US" altLang="ko-KR" sz="800" dirty="0">
                <a:solidFill>
                  <a:srgbClr val="BBBBBB"/>
                </a:solidFill>
                <a:latin typeface="Arial" pitchFamily="34" charset="0"/>
              </a:rPr>
              <a:t>)</a:t>
            </a: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854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1520371"/>
            <a:ext cx="130254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941286"/>
            <a:ext cx="4793136" cy="161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할 </a:t>
            </a:r>
            <a:r>
              <a:rPr lang="en-US" sz="5400" b="1" kern="0" spc="-173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일이</a:t>
            </a: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화면에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823380"/>
            <a:ext cx="4653530" cy="1609612"/>
          </a:xfrm>
          <a:prstGeom prst="roundRect">
            <a:avLst>
              <a:gd name="adj" fmla="val 7101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3823380"/>
            <a:ext cx="21771" cy="1609612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93371" y="4013880"/>
            <a:ext cx="429979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데일리 브리핑 </a:t>
            </a:r>
            <a:r>
              <a:rPr lang="en-US" sz="2100" b="1" kern="0" spc="-1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93371" y="4465298"/>
            <a:ext cx="4299795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케이스 자동 정리 — 즉시 확인·우선 확인·승인 대기 분류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5585392"/>
            <a:ext cx="4653530" cy="1609612"/>
          </a:xfrm>
          <a:prstGeom prst="roundRect">
            <a:avLst>
              <a:gd name="adj" fmla="val 7101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43000" y="5585392"/>
            <a:ext cx="21771" cy="1609612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93371" y="5775892"/>
            <a:ext cx="429979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</a:t>
            </a:r>
            <a:r>
              <a:rPr lang="en-US" sz="2100" b="1" kern="0" spc="-1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</a:t>
            </a: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7종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93371" y="6227309"/>
            <a:ext cx="4299795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체류기간 임박·서류 보완·신규 채용·컨택 대기·응답 도착·승인 대기·행정사 검토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7347404"/>
            <a:ext cx="4653530" cy="1609612"/>
          </a:xfrm>
          <a:prstGeom prst="roundRect">
            <a:avLst>
              <a:gd name="adj" fmla="val 7101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3000" y="7347404"/>
            <a:ext cx="21771" cy="1609612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93371" y="7537904"/>
            <a:ext cx="429979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업무 큐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93371" y="7989320"/>
            <a:ext cx="4299795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기한 임박순 정렬 — 다음 처리(초안 보기·승인 요청·응답 요약) 바로 실행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6129" y="523648"/>
            <a:ext cx="10738871" cy="9430203"/>
          </a:xfrm>
          <a:prstGeom prst="roundRect">
            <a:avLst>
              <a:gd name="adj" fmla="val 1616"/>
            </a:avLst>
          </a:prstGeom>
          <a:ln/>
          <a:effectLst>
            <a:outerShdw blurRad="4572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D93E9E3-F53B-7960-57FD-B0563B51E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902" y="3040261"/>
            <a:ext cx="11119870" cy="58521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2287928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SCENE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3937264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브리핑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4586745" y="914400"/>
            <a:ext cx="2558256" cy="656431"/>
          </a:xfrm>
          <a:prstGeom prst="roundRect">
            <a:avLst>
              <a:gd name="adj" fmla="val 14510"/>
            </a:avLst>
          </a:prstGeom>
          <a:solidFill>
            <a:srgbClr val="FFF0F0"/>
          </a:solidFill>
          <a:ln w="7257">
            <a:solidFill>
              <a:srgbClr val="FF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4822601" y="1035957"/>
            <a:ext cx="722993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D-30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583694" y="1059770"/>
            <a:ext cx="1401649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체류만료 감지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2466862"/>
            <a:ext cx="9160555" cy="7058138"/>
          </a:xfrm>
          <a:prstGeom prst="roundRect">
            <a:avLst>
              <a:gd name="adj" fmla="val 2699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2847862"/>
            <a:ext cx="161324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브리핑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51308" y="2871674"/>
            <a:ext cx="134744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2026. 05. 14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24000" y="3451679"/>
            <a:ext cx="8398555" cy="9525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524000" y="3651704"/>
            <a:ext cx="8398555" cy="2694895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524000" y="3651704"/>
            <a:ext cx="43543" cy="2694895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872343" y="3918404"/>
            <a:ext cx="342955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Nguyen Van 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872343" y="4369820"/>
            <a:ext cx="342955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· E-9 · 화성 2공장 조립라인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817429" y="3918404"/>
            <a:ext cx="800327" cy="363764"/>
          </a:xfrm>
          <a:prstGeom prst="roundRect">
            <a:avLst>
              <a:gd name="adj" fmla="val 15711"/>
            </a:avLst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969829" y="3966029"/>
            <a:ext cx="571727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D-30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872343" y="4868863"/>
            <a:ext cx="1587046" cy="424543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7257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012950" y="4914220"/>
            <a:ext cx="138203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서류 누락 2건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573689" y="4868863"/>
            <a:ext cx="1606663" cy="424543"/>
          </a:xfrm>
          <a:prstGeom prst="roundRect">
            <a:avLst>
              <a:gd name="adj" fmla="val 13462"/>
            </a:avLst>
          </a:prstGeom>
          <a:solidFill>
            <a:srgbClr val="F0F5FF"/>
          </a:solidFill>
          <a:ln w="7257">
            <a:solidFill>
              <a:srgbClr val="CC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714297" y="4914220"/>
            <a:ext cx="1401649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체류만료 임박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872343" y="5464855"/>
            <a:ext cx="1943554" cy="615043"/>
          </a:xfrm>
          <a:prstGeom prst="roundRect">
            <a:avLst>
              <a:gd name="adj" fmla="val 12389"/>
            </a:avLst>
          </a:prstGeom>
          <a:solidFill>
            <a:srgbClr val="F7F7F8"/>
          </a:solidFill>
          <a:ln w="7257">
            <a:solidFill>
              <a:srgbClr val="E8E8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41500" y="5605463"/>
            <a:ext cx="2005239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보기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815896" y="5464855"/>
            <a:ext cx="1943667" cy="615043"/>
          </a:xfrm>
          <a:prstGeom prst="roundRect">
            <a:avLst>
              <a:gd name="adj" fmla="val 12389"/>
            </a:avLst>
          </a:prstGeom>
          <a:solidFill>
            <a:srgbClr val="F7F7F8"/>
          </a:solidFill>
          <a:ln w="7257">
            <a:solidFill>
              <a:srgbClr val="E8E8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785054" y="5605463"/>
            <a:ext cx="2005353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요청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759564" y="5464855"/>
            <a:ext cx="3858192" cy="615043"/>
          </a:xfrm>
          <a:prstGeom prst="roundRect">
            <a:avLst>
              <a:gd name="adj" fmla="val 12389"/>
            </a:avLst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701691" y="5598205"/>
            <a:ext cx="3973938" cy="386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보내기 승인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684556" y="4160611"/>
            <a:ext cx="381000" cy="3810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0646456" y="4160611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256056" y="4160611"/>
            <a:ext cx="397580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D-30 감지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1256056" y="4612028"/>
            <a:ext cx="397580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체류만료 자동 감지 + 누락 서류 2건 확인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865531" y="5168220"/>
            <a:ext cx="19050" cy="228600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684556" y="5587320"/>
            <a:ext cx="381000" cy="3810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0646456" y="558732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256056" y="5587320"/>
            <a:ext cx="3713953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 추천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1256056" y="6038737"/>
            <a:ext cx="3713953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여권 사본 + 표준근로계약서 요청 준비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865531" y="6594929"/>
            <a:ext cx="19050" cy="228600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684556" y="7014029"/>
            <a:ext cx="381000" cy="3810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0646456" y="701402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256056" y="7014029"/>
            <a:ext cx="2738367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화면으로 바로 이동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1256056" y="7465445"/>
            <a:ext cx="273836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확인 → 승인 후 실행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2287928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SCENE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상세: 리스크 근거 + 다국어 초안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466862"/>
            <a:ext cx="7722961" cy="7355114"/>
          </a:xfrm>
          <a:prstGeom prst="roundRect">
            <a:avLst>
              <a:gd name="adj" fmla="val 2072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485900" y="2809762"/>
            <a:ext cx="724827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상세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485900" y="3451679"/>
            <a:ext cx="7037161" cy="9525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85900" y="3689804"/>
            <a:ext cx="724827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레벨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85900" y="4131695"/>
            <a:ext cx="876300" cy="363764"/>
          </a:xfrm>
          <a:prstGeom prst="roundRect">
            <a:avLst>
              <a:gd name="adj" fmla="val 15711"/>
            </a:avLst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638300" y="4179320"/>
            <a:ext cx="647700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85900" y="4724060"/>
            <a:ext cx="724827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 서류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85900" y="5165952"/>
            <a:ext cx="7037161" cy="594292"/>
          </a:xfrm>
          <a:prstGeom prst="roundRect">
            <a:avLst>
              <a:gd name="adj" fmla="val 12822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638300" y="5424941"/>
            <a:ext cx="76200" cy="76200"/>
          </a:xfrm>
          <a:prstGeom prst="ellipse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828800" y="5280252"/>
            <a:ext cx="9809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여권 사본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85900" y="5760244"/>
            <a:ext cx="7037161" cy="594292"/>
          </a:xfrm>
          <a:prstGeom prst="roundRect">
            <a:avLst>
              <a:gd name="adj" fmla="val 12822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638300" y="6019233"/>
            <a:ext cx="76200" cy="76200"/>
          </a:xfrm>
          <a:prstGeom prst="ellipse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28800" y="5874544"/>
            <a:ext cx="203256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표준근로계약서 사본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5900" y="6583136"/>
            <a:ext cx="724827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기록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85900" y="7025028"/>
            <a:ext cx="7037161" cy="562429"/>
          </a:xfrm>
          <a:prstGeom prst="roundRect">
            <a:avLst>
              <a:gd name="adj" fmla="val 13548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638300" y="7139328"/>
            <a:ext cx="6943475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3일 전 서류 요청 기록 있음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865961" y="2466862"/>
            <a:ext cx="8279039" cy="2554401"/>
          </a:xfrm>
          <a:prstGeom prst="roundRect">
            <a:avLst>
              <a:gd name="adj" fmla="val 5966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208861" y="2809762"/>
            <a:ext cx="259306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초안 (베트남어)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6241373" y="2836749"/>
            <a:ext cx="560728" cy="359229"/>
          </a:xfrm>
          <a:prstGeom prst="roundRect">
            <a:avLst>
              <a:gd name="adj" fmla="val 15909"/>
            </a:avLst>
          </a:prstGeom>
          <a:solidFill>
            <a:srgbClr val="FFF8E0"/>
          </a:solidFill>
          <a:ln w="7257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6362930" y="2882106"/>
            <a:ext cx="393813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08861" y="3375479"/>
            <a:ext cx="7821037" cy="1340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chào anh Nguyen Van A, Thị thực của anh sẽ hết hạn vào ngày 20/06/2026. Vui lòng chuẩn bị: Bản sao hộ chiếu / Hợp đồng lao động tiêu chuẩn.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865961" y="5211763"/>
            <a:ext cx="8279039" cy="2554401"/>
          </a:xfrm>
          <a:prstGeom prst="roundRect">
            <a:avLst>
              <a:gd name="adj" fmla="val 5966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208861" y="5554663"/>
            <a:ext cx="136921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요약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6228786" y="5581650"/>
            <a:ext cx="573314" cy="359229"/>
          </a:xfrm>
          <a:prstGeom prst="roundRect">
            <a:avLst>
              <a:gd name="adj" fmla="val 15909"/>
            </a:avLst>
          </a:prstGeom>
          <a:solidFill>
            <a:srgbClr val="EBF3FF"/>
          </a:solidFill>
          <a:ln w="7257">
            <a:solidFill>
              <a:srgbClr val="CC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6350343" y="5627007"/>
            <a:ext cx="406400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08861" y="6120379"/>
            <a:ext cx="7821037" cy="1340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안녕하세요 Nguyen Van A 씨, 체류기간 만료(2026.06.20)가 임박해 있습니다. 여권 사본 + 표준근로계약서 사본 제출이 필요합니다.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865961" y="7956664"/>
            <a:ext cx="8279039" cy="1865313"/>
          </a:xfrm>
          <a:prstGeom prst="roundRect">
            <a:avLst>
              <a:gd name="adj" fmla="val 7149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132661" y="8166214"/>
            <a:ext cx="7978009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응답 시나리오 → 다음 행동 제안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32661" y="8646205"/>
            <a:ext cx="2480242" cy="966221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9246961" y="8760505"/>
            <a:ext cx="225164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46961" y="9164298"/>
            <a:ext cx="225164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서류 수신 확인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765303" y="8646205"/>
            <a:ext cx="2480355" cy="966221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1879603" y="8760505"/>
            <a:ext cx="225175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879603" y="9164298"/>
            <a:ext cx="2251755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안내 제안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4398058" y="8646205"/>
            <a:ext cx="2480242" cy="966221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4512358" y="8760505"/>
            <a:ext cx="225164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지연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4512358" y="9164298"/>
            <a:ext cx="225164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에스컬레이션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2287928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SCENE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전 실행 불가 — 기록은 자동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919424"/>
            <a:ext cx="784369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Agent 처리 단계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4523241"/>
            <a:ext cx="7615238" cy="794317"/>
          </a:xfrm>
          <a:prstGeom prst="roundRect">
            <a:avLst>
              <a:gd name="adj" fmla="val 14390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409700" y="4758418"/>
            <a:ext cx="323850" cy="32385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71600" y="475841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85950" y="4713741"/>
            <a:ext cx="192994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정보 확인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98656" y="4724400"/>
            <a:ext cx="269081" cy="429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5431858"/>
            <a:ext cx="7615238" cy="794317"/>
          </a:xfrm>
          <a:prstGeom prst="roundRect">
            <a:avLst>
              <a:gd name="adj" fmla="val 14390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409700" y="5667035"/>
            <a:ext cx="323850" cy="32385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71600" y="566703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85950" y="5622358"/>
            <a:ext cx="296331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대화 / 업무 기록 확인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298656" y="5633017"/>
            <a:ext cx="269081" cy="429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6340475"/>
            <a:ext cx="7615238" cy="794317"/>
          </a:xfrm>
          <a:prstGeom prst="roundRect">
            <a:avLst>
              <a:gd name="adj" fmla="val 14390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409700" y="6575652"/>
            <a:ext cx="323850" cy="32385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71600" y="6575652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85950" y="6530975"/>
            <a:ext cx="192994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초안 생성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98656" y="6541634"/>
            <a:ext cx="269081" cy="429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7249092"/>
            <a:ext cx="7615238" cy="823346"/>
          </a:xfrm>
          <a:prstGeom prst="roundRect">
            <a:avLst>
              <a:gd name="adj" fmla="val 13882"/>
            </a:avLst>
          </a:prstGeom>
          <a:solidFill>
            <a:srgbClr val="FFF8E0"/>
          </a:solidFill>
          <a:ln w="14514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424214" y="7498783"/>
            <a:ext cx="323850" cy="323850"/>
          </a:xfrm>
          <a:prstGeom prst="ellipse">
            <a:avLst/>
          </a:prstGeom>
          <a:solidFill>
            <a:srgbClr val="FF92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386114" y="749878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900464" y="7454107"/>
            <a:ext cx="200274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발송 전 승인 대기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110764" y="7482908"/>
            <a:ext cx="442459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39238" y="2466862"/>
            <a:ext cx="9525" cy="7058138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29763" y="3008313"/>
            <a:ext cx="784369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후 — Evidence Log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529763" y="3650230"/>
            <a:ext cx="7615238" cy="3984512"/>
          </a:xfrm>
          <a:prstGeom prst="roundRect">
            <a:avLst>
              <a:gd name="adj" fmla="val 3825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96463" y="3916930"/>
            <a:ext cx="7081838" cy="1061471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796463" y="3916930"/>
            <a:ext cx="36286" cy="1061471"/>
          </a:xfrm>
          <a:prstGeom prst="rect">
            <a:avLst/>
          </a:prstGeom>
          <a:solidFill>
            <a:srgbClr val="00BF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061349" y="4088380"/>
            <a:ext cx="319094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발송 승인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61349" y="4473121"/>
            <a:ext cx="3190946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승인 · 2026.05.14 14:32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013906" y="4313351"/>
            <a:ext cx="71199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#4789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796463" y="5111750"/>
            <a:ext cx="7081838" cy="1061471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796463" y="5111750"/>
            <a:ext cx="36286" cy="1061471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0061349" y="5283200"/>
            <a:ext cx="3548104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베트남어 요청 메시지 발송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061349" y="5667942"/>
            <a:ext cx="3548104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Nguyen Van A · 체류만료 서류 요청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013906" y="5508171"/>
            <a:ext cx="71199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#4790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796463" y="6306571"/>
            <a:ext cx="7081838" cy="1061471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796463" y="6306571"/>
            <a:ext cx="36286" cy="1061471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061349" y="6478021"/>
            <a:ext cx="321430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자동 저장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061349" y="6862763"/>
            <a:ext cx="3214305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근거 · 승인 이력 · 실행 기록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013906" y="6702992"/>
            <a:ext cx="71199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#4791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529763" y="7825241"/>
            <a:ext cx="7615238" cy="1158195"/>
          </a:xfrm>
          <a:prstGeom prst="roundRect">
            <a:avLst>
              <a:gd name="adj" fmla="val 9869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9758363" y="8015741"/>
            <a:ext cx="7372779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기록 </a:t>
            </a:r>
            <a:r>
              <a:rPr lang="en-US" sz="1800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원문 PII 저장 없이 trace_id 기반으로 감사·재현이 가능합니다</a:t>
            </a:r>
            <a:endParaRPr lang="en-US" sz="1800" dirty="0"/>
          </a:p>
        </p:txBody>
      </p:sp>
      <p:sp>
        <p:nvSpPr>
          <p:cNvPr id="202" name="TermBar_text"/>
          <p:cNvSpPr>
            <a:spLocks noGrp="1"/>
          </p:cNvSpPr>
          <p:nvPr/>
        </p:nvSpPr>
        <p:spPr>
          <a:xfrm>
            <a:off x="1143000" y="9842500"/>
            <a:ext cx="16484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 marL="0" indent="0" algn="l">
              <a:buNone/>
            </a:pP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¹ Append-only(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추가 전용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, 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기록된 데이터는 수정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·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삭제 없이 추가만 허용 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— 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감사 추적 필수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</a:t>
            </a: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158262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케이스의 동일한 5단계 흐름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2261621" y="4902427"/>
            <a:ext cx="685800" cy="685800"/>
          </a:xfrm>
          <a:prstGeom prst="ellipse">
            <a:avLst/>
          </a:prstGeom>
          <a:solidFill>
            <a:srgbClr val="0066FF">
              <a:alpha val="20000"/>
            </a:srgbClr>
          </a:solidFill>
          <a:ln w="14514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646" y="5102452"/>
            <a:ext cx="285750" cy="285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5683" y="5778727"/>
            <a:ext cx="17177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감지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745683" y="6426427"/>
            <a:ext cx="1717788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D-day / 필수조건 누락 · 변경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85204" y="2581162"/>
            <a:ext cx="381000" cy="698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527789" y="4902427"/>
            <a:ext cx="685800" cy="685800"/>
          </a:xfrm>
          <a:prstGeom prst="ellipse">
            <a:avLst/>
          </a:prstGeom>
          <a:solidFill>
            <a:srgbClr val="0066FF">
              <a:alpha val="20000"/>
            </a:srgbClr>
          </a:solidFill>
          <a:ln w="14514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814" y="5102452"/>
            <a:ext cx="28575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75036" y="5778727"/>
            <a:ext cx="11913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5275036" y="6426427"/>
            <a:ext cx="1191305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레벨 이유 · 근거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51372" y="2581162"/>
            <a:ext cx="381000" cy="698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8793843" y="4902427"/>
            <a:ext cx="685800" cy="685800"/>
          </a:xfrm>
          <a:prstGeom prst="ellipse">
            <a:avLst/>
          </a:prstGeom>
          <a:solidFill>
            <a:srgbClr val="0066FF">
              <a:alpha val="20000"/>
            </a:srgbClr>
          </a:solidFill>
          <a:ln w="14514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3868" y="5102452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71240" y="5778727"/>
            <a:ext cx="13310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8471240" y="6426427"/>
            <a:ext cx="1331005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패키지 메시지 · 서류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0617428" y="2581162"/>
            <a:ext cx="381000" cy="698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10941278" y="2581162"/>
            <a:ext cx="2937669" cy="6943838"/>
          </a:xfrm>
          <a:prstGeom prst="roundRect">
            <a:avLst>
              <a:gd name="adj" fmla="val 5188"/>
            </a:avLst>
          </a:prstGeom>
          <a:solidFill>
            <a:srgbClr val="0066FF">
              <a:alpha val="10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12067154" y="4902427"/>
            <a:ext cx="685800" cy="685800"/>
          </a:xfrm>
          <a:prstGeom prst="ellipse">
            <a:avLst/>
          </a:prstGeom>
          <a:solidFill>
            <a:srgbClr val="0066FF">
              <a:alpha val="35000"/>
            </a:srgbClr>
          </a:solidFill>
          <a:ln w="14514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7179" y="5102452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40558" y="5778727"/>
            <a:ext cx="173899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</a:t>
            </a:r>
            <a:endParaRPr lang="en-US" sz="3600" dirty="0"/>
          </a:p>
        </p:txBody>
      </p:sp>
      <p:sp>
        <p:nvSpPr>
          <p:cNvPr id="23" name="Text 17"/>
          <p:cNvSpPr/>
          <p:nvPr/>
        </p:nvSpPr>
        <p:spPr>
          <a:xfrm>
            <a:off x="11540558" y="6426427"/>
            <a:ext cx="1738993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전 실행 불가 Human Gate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897996" y="2581162"/>
            <a:ext cx="381000" cy="698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15340466" y="4902427"/>
            <a:ext cx="685800" cy="685800"/>
          </a:xfrm>
          <a:prstGeom prst="ellipse">
            <a:avLst/>
          </a:prstGeom>
          <a:solidFill>
            <a:srgbClr val="0066FF">
              <a:alpha val="20000"/>
            </a:srgbClr>
          </a:solidFill>
          <a:ln w="14514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0491" y="5102452"/>
            <a:ext cx="285750" cy="2857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507823" y="5778727"/>
            <a:ext cx="235120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</a:t>
            </a:r>
            <a:endParaRPr lang="en-US" sz="3600" dirty="0"/>
          </a:p>
        </p:txBody>
      </p:sp>
      <p:sp>
        <p:nvSpPr>
          <p:cNvPr id="28" name="Text 21"/>
          <p:cNvSpPr/>
          <p:nvPr/>
        </p:nvSpPr>
        <p:spPr>
          <a:xfrm>
            <a:off x="14507823" y="6426427"/>
            <a:ext cx="2351201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Append-only 감사 · 재현 가능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762000"/>
            <a:ext cx="3215123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기술 스택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48229"/>
            <a:ext cx="5472646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341676"/>
            <a:ext cx="5313249" cy="1563801"/>
          </a:xfrm>
          <a:prstGeom prst="roundRect">
            <a:avLst>
              <a:gd name="adj" fmla="val 730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2341676"/>
            <a:ext cx="36286" cy="1563801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07886" y="2532176"/>
            <a:ext cx="496435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Backend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07886" y="2983593"/>
            <a:ext cx="4964356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Next.js · TypeScript · Node.js · Spring Boot · Python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3905477"/>
            <a:ext cx="5313249" cy="1563801"/>
          </a:xfrm>
          <a:prstGeom prst="roundRect">
            <a:avLst>
              <a:gd name="adj" fmla="val 730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43000" y="3905477"/>
            <a:ext cx="36286" cy="1563801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07886" y="4095977"/>
            <a:ext cx="496435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07886" y="4547394"/>
            <a:ext cx="4964356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· PostgreSQL · MongoDB · Redis · Chroma (Vector DB)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5469278"/>
            <a:ext cx="5313249" cy="1563801"/>
          </a:xfrm>
          <a:prstGeom prst="roundRect">
            <a:avLst>
              <a:gd name="adj" fmla="val 730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3000" y="5469278"/>
            <a:ext cx="36286" cy="1563801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07886" y="5659778"/>
            <a:ext cx="496435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· AI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07886" y="6111195"/>
            <a:ext cx="4964356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GitHub Actions · AWS · LangChain 1.0 · Pydantic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7033079"/>
            <a:ext cx="5313249" cy="1198109"/>
          </a:xfrm>
          <a:prstGeom prst="roundRect">
            <a:avLst>
              <a:gd name="adj" fmla="val 954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43000" y="7033079"/>
            <a:ext cx="36286" cy="1198109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407886" y="7223579"/>
            <a:ext cx="496435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407886" y="7674995"/>
            <a:ext cx="496435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· GitHub · Figma · Notion · Slack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799150" y="762000"/>
            <a:ext cx="10345851" cy="895350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7257">
            <a:solidFill>
              <a:srgbClr val="E8E8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3664" y="762000"/>
            <a:ext cx="10331337" cy="89389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762000"/>
            <a:ext cx="2044246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182914"/>
            <a:ext cx="6638608" cy="161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026909"/>
            <a:ext cx="6445250" cy="984363"/>
          </a:xfrm>
          <a:prstGeom prst="roundRect">
            <a:avLst>
              <a:gd name="adj" fmla="val 11612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4004015"/>
            <a:ext cx="6445250" cy="9525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52550" y="3179309"/>
            <a:ext cx="6206935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ko-KR" altLang="en-US" b="1" kern="0" spc="108" dirty="0">
                <a:solidFill>
                  <a:srgbClr val="888888"/>
                </a:solidFill>
                <a:latin typeface="Arial" pitchFamily="34" charset="0"/>
                <a:cs typeface="Arial" pitchFamily="34" charset="-120"/>
              </a:rPr>
              <a:t>외부 요청 </a:t>
            </a:r>
            <a:r>
              <a:rPr lang="ko-KR" altLang="en-US" b="1" kern="0" spc="108" dirty="0" err="1">
                <a:solidFill>
                  <a:srgbClr val="888888"/>
                </a:solidFill>
                <a:latin typeface="Arial" pitchFamily="34" charset="0"/>
                <a:cs typeface="Arial" pitchFamily="34" charset="-120"/>
              </a:rPr>
              <a:t>진입점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2550" y="3485923"/>
            <a:ext cx="620693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Chat · Daily Briefing Scheduler · Admin Upload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4011272"/>
            <a:ext cx="6445250" cy="984363"/>
          </a:xfrm>
          <a:prstGeom prst="rect">
            <a:avLst/>
          </a:prstGeom>
          <a:solidFill>
            <a:srgbClr val="FFF8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43000" y="4988379"/>
            <a:ext cx="6445250" cy="9525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52550" y="4163672"/>
            <a:ext cx="6206935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ko-KR" altLang="en-US" sz="1800" b="1" kern="0" spc="108" dirty="0">
                <a:solidFill>
                  <a:srgbClr val="9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및 필터링 계층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52550" y="4470287"/>
            <a:ext cx="620693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Masking · Tenant Scope · Rate Limit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4995636"/>
            <a:ext cx="6445250" cy="984363"/>
          </a:xfrm>
          <a:prstGeom prst="rect">
            <a:avLst/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3000" y="5972742"/>
            <a:ext cx="6445250" cy="9525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52550" y="5148036"/>
            <a:ext cx="6206935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ko-KR" altLang="en-US" sz="1800" b="1" kern="0" spc="108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허용된 범위 내에서만 요청 분기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52550" y="5454650"/>
            <a:ext cx="620693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의도 분류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5979999"/>
            <a:ext cx="6445250" cy="984363"/>
          </a:xfrm>
          <a:prstGeom prst="rect">
            <a:avLst/>
          </a:prstGeom>
          <a:solidFill>
            <a:srgbClr val="EB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43000" y="6957105"/>
            <a:ext cx="6445250" cy="9525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52550" y="6132399"/>
            <a:ext cx="6206935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ko-KR" altLang="en-US" dirty="0"/>
              <a:t>에이전트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52550" y="6439013"/>
            <a:ext cx="620693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· Visa Document · Multilingual Contact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6964363"/>
            <a:ext cx="6445250" cy="984363"/>
          </a:xfrm>
          <a:prstGeom prst="rect">
            <a:avLst/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43000" y="7941469"/>
            <a:ext cx="6445250" cy="9525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352550" y="7116763"/>
            <a:ext cx="6206935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· RAG · DB TOOLS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52550" y="7423377"/>
            <a:ext cx="620693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D-day · 누락서류 · 공식 근거 · 내부 데이터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7948726"/>
            <a:ext cx="6445250" cy="984363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143000" y="8925832"/>
            <a:ext cx="6445250" cy="9525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52550" y="8101126"/>
            <a:ext cx="6206935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ko-KR" altLang="en-US" sz="1800" b="1" kern="0" spc="108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발송 전 사람이 최종 승인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52550" y="8407740"/>
            <a:ext cx="620693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발송 전 사람 승인 · pending-first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43000" y="8933090"/>
            <a:ext cx="6445250" cy="977106"/>
          </a:xfrm>
          <a:prstGeom prst="rect">
            <a:avLst/>
          </a:prstGeom>
          <a:solidFill>
            <a:srgbClr val="F0F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352550" y="9085490"/>
            <a:ext cx="6206935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ko-KR" altLang="en-US" sz="1800" b="1" kern="0" spc="108" dirty="0">
                <a:solidFill>
                  <a:srgbClr val="00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및 승인 변경 이력 감사 기록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52550" y="9392103"/>
            <a:ext cx="620693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근거 · 승인 이력 · 실행 기록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121650" y="762000"/>
            <a:ext cx="9023350" cy="8016308"/>
          </a:xfrm>
          <a:prstGeom prst="roundRect">
            <a:avLst>
              <a:gd name="adj" fmla="val 1901"/>
            </a:avLst>
          </a:prstGeom>
          <a:solidFill>
            <a:srgbClr val="F7F7F8"/>
          </a:solidFill>
          <a:ln w="7257">
            <a:solidFill>
              <a:srgbClr val="E8E8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55591" y="1068613"/>
            <a:ext cx="8550059" cy="7594301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121650" y="8968808"/>
            <a:ext cx="9023350" cy="746692"/>
          </a:xfrm>
          <a:prstGeom prst="roundRect">
            <a:avLst>
              <a:gd name="adj" fmla="val 15308"/>
            </a:avLst>
          </a:prstGeom>
          <a:solidFill>
            <a:srgbClr val="0F0F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8261001" y="9159308"/>
            <a:ext cx="8744649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준비하고, 사람은 승인하며, </a:t>
            </a: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외부 실행은 통제됩니다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61213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2423999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TRUST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안전·신뢰 설계 6원칙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04962"/>
            <a:ext cx="5207000" cy="2299267"/>
          </a:xfrm>
          <a:prstGeom prst="roundRect">
            <a:avLst>
              <a:gd name="adj" fmla="val 6628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485900" y="2847862"/>
            <a:ext cx="465683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단일 안전 기준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85900" y="3261179"/>
            <a:ext cx="465683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요청은 PII 마스킹·tenant scope·rate limit을 거친 뒤 Agent Runtime으로 진입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40500" y="2504962"/>
            <a:ext cx="5207000" cy="2299267"/>
          </a:xfrm>
          <a:prstGeom prst="roundRect">
            <a:avLst>
              <a:gd name="adj" fmla="val 6628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83400" y="2847862"/>
            <a:ext cx="465683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3개의 Mission Agent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83400" y="3261179"/>
            <a:ext cx="465683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Workforce / M2 Visa Document / M3 Multilingual Contact — 각자 세부 작업 순차 처리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938000" y="2504962"/>
            <a:ext cx="5207000" cy="2299267"/>
          </a:xfrm>
          <a:prstGeom prst="roundRect">
            <a:avLst>
              <a:gd name="adj" fmla="val 6628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280900" y="2847862"/>
            <a:ext cx="465683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순차 실행 선택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280900" y="3261179"/>
            <a:ext cx="465683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대신 순차 실행 — 상태 충돌·중복 호출·감사 로그 누락 방지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4994729"/>
            <a:ext cx="5207000" cy="1899217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85900" y="5337629"/>
            <a:ext cx="465683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Rule/RAG + LLM 분리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85900" y="5750945"/>
            <a:ext cx="465683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판단은 결정론적 Rule과 근거 — LLM은 설명·초안·요약에만 집중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40500" y="4994729"/>
            <a:ext cx="5207000" cy="1899217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83400" y="5337629"/>
            <a:ext cx="465683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Approval Gate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883400" y="5750945"/>
            <a:ext cx="465683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발송·제출 자동 실행 없음 — pending-first 승인 구조 + outbox 기록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938000" y="4994729"/>
            <a:ext cx="5207000" cy="1899217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280900" y="5337629"/>
            <a:ext cx="465683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Evidence Log + Metrics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280900" y="5750945"/>
            <a:ext cx="465683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근거·승인 이력·실행 상태 추적 — 원문 PII 미저장, trace_id 기반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1827553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엔지니어링이 보장해야 하는 4가지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81162"/>
            <a:ext cx="7867650" cy="3338513"/>
          </a:xfrm>
          <a:prstGeom prst="roundRect">
            <a:avLst>
              <a:gd name="adj" fmla="val 5706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607457" y="3045619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0066FF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282" y="3169444"/>
            <a:ext cx="247650" cy="247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7457" y="3731419"/>
            <a:ext cx="714689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품질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607457" y="4398169"/>
            <a:ext cx="71468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근거 기반 RAG 파이프라인 라우팅 품질 · 불확실성 처리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277350" y="2581162"/>
            <a:ext cx="7867650" cy="3338513"/>
          </a:xfrm>
          <a:prstGeom prst="roundRect">
            <a:avLst>
              <a:gd name="adj" fmla="val 5706"/>
            </a:avLst>
          </a:prstGeom>
          <a:solidFill>
            <a:srgbClr val="FFFFFF">
              <a:alpha val="5000"/>
            </a:srgbClr>
          </a:solidFill>
          <a:ln w="7257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741807" y="3045619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5633" y="3169444"/>
            <a:ext cx="247650" cy="2476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41807" y="3731419"/>
            <a:ext cx="714689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9741807" y="4398169"/>
            <a:ext cx="71468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가능한 단가 캐싱 · 배치 · 계단식 추론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143000" y="6186374"/>
            <a:ext cx="7867650" cy="3338626"/>
          </a:xfrm>
          <a:prstGeom prst="roundRect">
            <a:avLst>
              <a:gd name="adj" fmla="val 5706"/>
            </a:avLst>
          </a:prstGeom>
          <a:solidFill>
            <a:srgbClr val="FFFFFF">
              <a:alpha val="5000"/>
            </a:srgbClr>
          </a:solidFill>
          <a:ln w="7257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1607457" y="6650831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282" y="6774656"/>
            <a:ext cx="247650" cy="2476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7457" y="7336631"/>
            <a:ext cx="714689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1607457" y="8003381"/>
            <a:ext cx="71468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/ 권한 / 감사 테넌트 격리 · Human Gate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9277350" y="6186374"/>
            <a:ext cx="7867650" cy="3338626"/>
          </a:xfrm>
          <a:prstGeom prst="roundRect">
            <a:avLst>
              <a:gd name="adj" fmla="val 5706"/>
            </a:avLst>
          </a:prstGeom>
          <a:solidFill>
            <a:srgbClr val="FFFFFF">
              <a:alpha val="5000"/>
            </a:srgbClr>
          </a:solidFill>
          <a:ln w="7257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9741807" y="6650831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5633" y="6774656"/>
            <a:ext cx="247650" cy="2476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41807" y="7336631"/>
            <a:ext cx="714689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</a:t>
            </a:r>
            <a:endParaRPr lang="en-US" sz="3600" dirty="0"/>
          </a:p>
        </p:txBody>
      </p:sp>
      <p:sp>
        <p:nvSpPr>
          <p:cNvPr id="23" name="Text 17"/>
          <p:cNvSpPr/>
          <p:nvPr/>
        </p:nvSpPr>
        <p:spPr>
          <a:xfrm>
            <a:off x="9741807" y="8003381"/>
            <a:ext cx="71468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지표로 검증 Route / Rule / Citation / Approval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23653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3676579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에이전트 패턴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0629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· Mission Agent · Guardrail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532176"/>
            <a:ext cx="533704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흐름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3097893"/>
            <a:ext cx="5181600" cy="908163"/>
          </a:xfrm>
          <a:prstGeom prst="roundRect">
            <a:avLst>
              <a:gd name="adj" fmla="val 10488"/>
            </a:avLst>
          </a:prstGeom>
          <a:solidFill>
            <a:srgbClr val="0066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43000" y="3998799"/>
            <a:ext cx="5181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33500" y="3231243"/>
            <a:ext cx="494461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채널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3500" y="3596935"/>
            <a:ext cx="4944618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 (Scheduler) / User Chat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4006056"/>
            <a:ext cx="5181600" cy="973478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4972277"/>
            <a:ext cx="5181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33500" y="4139406"/>
            <a:ext cx="494461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Router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33500" y="4505098"/>
            <a:ext cx="494461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intent 정규화 → 미션 결정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4979534"/>
            <a:ext cx="5181600" cy="973478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43000" y="5945754"/>
            <a:ext cx="5181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33500" y="5112884"/>
            <a:ext cx="494461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Rule Engine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5478576"/>
            <a:ext cx="494461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D-7 / D-30 경보 · 누락 감지 · 충돌 탐지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5953012"/>
            <a:ext cx="5181600" cy="1176678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000" y="7122432"/>
            <a:ext cx="5181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33500" y="6086362"/>
            <a:ext cx="494461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Agent (LLM)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33500" y="6452054"/>
            <a:ext cx="4944618" cy="575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/ Visa Document / Multilingual Contact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7129689"/>
            <a:ext cx="5181600" cy="973478"/>
          </a:xfrm>
          <a:prstGeom prst="rect">
            <a:avLst/>
          </a:prstGeom>
          <a:solidFill>
            <a:srgbClr val="FF9200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43000" y="8095910"/>
            <a:ext cx="5181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333500" y="7263039"/>
            <a:ext cx="494461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33500" y="7628731"/>
            <a:ext cx="494461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발송·제출 전 반드시 사람 승인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43000" y="8103167"/>
            <a:ext cx="5181600" cy="966221"/>
          </a:xfrm>
          <a:prstGeom prst="rect">
            <a:avLst/>
          </a:prstGeom>
          <a:solidFill>
            <a:srgbClr val="00BF40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33500" y="8236517"/>
            <a:ext cx="494461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Log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33500" y="8602209"/>
            <a:ext cx="494461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근거 + 실행 이력 저장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53200" y="2532176"/>
            <a:ext cx="533704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vs LLM 책임 분리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6553200" y="3097893"/>
            <a:ext cx="5181600" cy="3137354"/>
          </a:xfrm>
          <a:prstGeom prst="roundRect">
            <a:avLst>
              <a:gd name="adj" fmla="val 364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553200" y="3097893"/>
            <a:ext cx="21771" cy="3137354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803571" y="3326493"/>
            <a:ext cx="484370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- Base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803571" y="3854110"/>
            <a:ext cx="484370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D-7 / D-30 임계값 경보·우선순위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03571" y="4264139"/>
            <a:ext cx="484370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서류 누락 감지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03571" y="4674167"/>
            <a:ext cx="484370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계약-체류일 불일치 탐지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03571" y="5084195"/>
            <a:ext cx="484370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생성 / 중복 방지 / Idempotency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553200" y="6387647"/>
            <a:ext cx="5181600" cy="3137354"/>
          </a:xfrm>
          <a:prstGeom prst="roundRect">
            <a:avLst>
              <a:gd name="adj" fmla="val 364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553200" y="6387647"/>
            <a:ext cx="21771" cy="3137354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803571" y="6616247"/>
            <a:ext cx="484370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(생성)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6803571" y="7143863"/>
            <a:ext cx="484370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메시지 초안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03571" y="7553892"/>
            <a:ext cx="484370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요약 / 행정사 전달문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03571" y="7963921"/>
            <a:ext cx="484370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질문 자연어 응답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03571" y="8373949"/>
            <a:ext cx="4843708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 생성 (사용자 이해용)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1963400" y="2532176"/>
            <a:ext cx="533704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/ Guardrail 체크리스트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1963400" y="3097893"/>
            <a:ext cx="5181600" cy="600529"/>
          </a:xfrm>
          <a:prstGeom prst="roundRect">
            <a:avLst>
              <a:gd name="adj" fmla="val 12689"/>
            </a:avLst>
          </a:prstGeom>
          <a:solidFill>
            <a:srgbClr val="FF4242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1963400" y="3097893"/>
            <a:ext cx="21771" cy="600529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2156622" y="3231243"/>
            <a:ext cx="4961437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단독 법률 판단 금지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1963400" y="3698422"/>
            <a:ext cx="5181600" cy="600529"/>
          </a:xfrm>
          <a:prstGeom prst="roundRect">
            <a:avLst>
              <a:gd name="adj" fmla="val 12689"/>
            </a:avLst>
          </a:prstGeom>
          <a:solidFill>
            <a:srgbClr val="FF4242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963400" y="3698422"/>
            <a:ext cx="21771" cy="600529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2156622" y="3831772"/>
            <a:ext cx="4961437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비자 발급 가능 여부 확정 금지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1963400" y="4298950"/>
            <a:ext cx="5181600" cy="600529"/>
          </a:xfrm>
          <a:prstGeom prst="roundRect">
            <a:avLst>
              <a:gd name="adj" fmla="val 12689"/>
            </a:avLst>
          </a:prstGeom>
          <a:solidFill>
            <a:srgbClr val="FF4242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1963400" y="4298950"/>
            <a:ext cx="21771" cy="600529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2156622" y="4432300"/>
            <a:ext cx="4961437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국적·성실도 등 가치 판단 금지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1963400" y="4899479"/>
            <a:ext cx="5181600" cy="600529"/>
          </a:xfrm>
          <a:prstGeom prst="roundRect">
            <a:avLst>
              <a:gd name="adj" fmla="val 12689"/>
            </a:avLst>
          </a:prstGeom>
          <a:solidFill>
            <a:srgbClr val="FF4242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963400" y="4899479"/>
            <a:ext cx="21771" cy="600529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2156622" y="5032829"/>
            <a:ext cx="4961437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승인 전 외부 발송 금지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1963400" y="5500007"/>
            <a:ext cx="5181600" cy="600529"/>
          </a:xfrm>
          <a:prstGeom prst="roundRect">
            <a:avLst>
              <a:gd name="adj" fmla="val 12689"/>
            </a:avLst>
          </a:prstGeom>
          <a:solidFill>
            <a:srgbClr val="FF4242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1963400" y="5500007"/>
            <a:ext cx="21771" cy="600529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12156622" y="5633357"/>
            <a:ext cx="4961437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포털 자동 제출 금지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1963400" y="6100536"/>
            <a:ext cx="5181600" cy="600529"/>
          </a:xfrm>
          <a:prstGeom prst="roundRect">
            <a:avLst>
              <a:gd name="adj" fmla="val 12689"/>
            </a:avLst>
          </a:prstGeom>
          <a:solidFill>
            <a:srgbClr val="FF4242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1963400" y="6100536"/>
            <a:ext cx="21771" cy="600529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2156622" y="6233886"/>
            <a:ext cx="4961437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원문 로그 저장 금지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1963400" y="7575096"/>
            <a:ext cx="5181600" cy="1949904"/>
          </a:xfrm>
          <a:prstGeom prst="roundRect">
            <a:avLst>
              <a:gd name="adj" fmla="val 4885"/>
            </a:avLst>
          </a:prstGeom>
          <a:solidFill>
            <a:srgbClr val="0066FF">
              <a:alpha val="15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2180208" y="7772853"/>
            <a:ext cx="4890425" cy="1592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Router가 미션을 고르고, Rule Engine이 케이스를 확정하고, Mission Agent는 승인 가능한 초안을 만들며, Approval Gate를 통과한 뒤에만 실행된다</a:t>
            </a:r>
            <a:endParaRPr lang="en-US" sz="1800" dirty="0"/>
          </a:p>
        </p:txBody>
      </p:sp>
      <p:sp>
        <p:nvSpPr>
          <p:cNvPr id="202" name="TermBar_text"/>
          <p:cNvSpPr>
            <a:spLocks noGrp="1"/>
          </p:cNvSpPr>
          <p:nvPr/>
        </p:nvSpPr>
        <p:spPr>
          <a:xfrm>
            <a:off x="1143000" y="9842500"/>
            <a:ext cx="16484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 marL="0" indent="0" algn="l">
              <a:buNone/>
            </a:pP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¹ Idempotency(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멱등성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, 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동일 요청을 여러 번 실행해도 결과가 동일하게 보장 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— 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중복 처리 방지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</a:t>
            </a: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386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2293030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AGENT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 확보 에이전트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428762"/>
            <a:ext cx="514643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구조</a:t>
            </a:r>
          </a:p>
        </p:txBody>
      </p:sp>
      <p:sp>
        <p:nvSpPr>
          <p:cNvPr id="5" name="Shape 3"/>
          <p:cNvSpPr/>
          <p:nvPr/>
        </p:nvSpPr>
        <p:spPr>
          <a:xfrm>
            <a:off x="1143000" y="2956379"/>
            <a:ext cx="4996543" cy="1466510"/>
          </a:xfrm>
          <a:prstGeom prst="roundRect">
            <a:avLst>
              <a:gd name="adj" fmla="val 6495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43000" y="2956379"/>
            <a:ext cx="36286" cy="1466510"/>
          </a:xfrm>
          <a:prstGeom prst="rect">
            <a:avLst/>
          </a:prstGeom>
          <a:solidFill>
            <a:srgbClr val="00BF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50736" y="3089729"/>
            <a:ext cx="475587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(CSV + 정책DB)</a:t>
            </a:r>
          </a:p>
        </p:txBody>
      </p:sp>
      <p:sp>
        <p:nvSpPr>
          <p:cNvPr id="8" name="Text 6"/>
          <p:cNvSpPr/>
          <p:nvPr/>
        </p:nvSpPr>
        <p:spPr>
          <a:xfrm>
            <a:off x="1350736" y="3483995"/>
            <a:ext cx="4755878" cy="843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companies.csv · candidates.csv 고용정책 문서 (RAG)</a:t>
            </a:r>
          </a:p>
        </p:txBody>
      </p:sp>
      <p:sp>
        <p:nvSpPr>
          <p:cNvPr id="9" name="Shape 7"/>
          <p:cNvSpPr/>
          <p:nvPr/>
        </p:nvSpPr>
        <p:spPr>
          <a:xfrm>
            <a:off x="1143000" y="4422888"/>
            <a:ext cx="4996543" cy="1466510"/>
          </a:xfrm>
          <a:prstGeom prst="roundRect">
            <a:avLst>
              <a:gd name="adj" fmla="val 6495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4422888"/>
            <a:ext cx="36286" cy="1466510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50736" y="4556238"/>
            <a:ext cx="475587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(순차 서브에이전트)</a:t>
            </a:r>
          </a:p>
        </p:txBody>
      </p:sp>
      <p:sp>
        <p:nvSpPr>
          <p:cNvPr id="12" name="Text 10"/>
          <p:cNvSpPr/>
          <p:nvPr/>
        </p:nvSpPr>
        <p:spPr>
          <a:xfrm>
            <a:off x="1350736" y="4950505"/>
            <a:ext cx="4755878" cy="843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인력요건 분석 → ② 후보 준비도 체크 → HITL 승인</a:t>
            </a:r>
          </a:p>
        </p:txBody>
      </p:sp>
      <p:sp>
        <p:nvSpPr>
          <p:cNvPr id="13" name="Shape 11"/>
          <p:cNvSpPr/>
          <p:nvPr/>
        </p:nvSpPr>
        <p:spPr>
          <a:xfrm>
            <a:off x="1143000" y="5889398"/>
            <a:ext cx="4996543" cy="1197996"/>
          </a:xfrm>
          <a:prstGeom prst="roundRect">
            <a:avLst>
              <a:gd name="adj" fmla="val 7951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43000" y="5889398"/>
            <a:ext cx="36286" cy="1197996"/>
          </a:xfrm>
          <a:prstGeom prst="rect">
            <a:avLst/>
          </a:prstGeom>
          <a:solidFill>
            <a:srgbClr val="FF92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50736" y="6022748"/>
            <a:ext cx="475587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(핵심 제한)</a:t>
            </a:r>
          </a:p>
        </p:txBody>
      </p:sp>
      <p:sp>
        <p:nvSpPr>
          <p:cNvPr id="16" name="Text 14"/>
          <p:cNvSpPr/>
          <p:nvPr/>
        </p:nvSpPr>
        <p:spPr>
          <a:xfrm>
            <a:off x="1350736" y="6417015"/>
            <a:ext cx="4755878" cy="575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점수·순위·성실도 판단 금지 approval_required = true (항상)</a:t>
            </a:r>
          </a:p>
        </p:txBody>
      </p:sp>
      <p:sp>
        <p:nvSpPr>
          <p:cNvPr id="17" name="Shape 15"/>
          <p:cNvSpPr/>
          <p:nvPr/>
        </p:nvSpPr>
        <p:spPr>
          <a:xfrm>
            <a:off x="1143000" y="7087394"/>
            <a:ext cx="4996543" cy="1197996"/>
          </a:xfrm>
          <a:prstGeom prst="roundRect">
            <a:avLst>
              <a:gd name="adj" fmla="val 7951"/>
            </a:avLst>
          </a:prstGeom>
          <a:solidFill>
            <a:srgbClr val="FFF0F0"/>
          </a:solidFill>
          <a:ln/>
          <a:effectLst>
            <a:outerShdw blurRad="57150" dist="9525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000" y="7087394"/>
            <a:ext cx="36286" cy="1197996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50736" y="7220744"/>
            <a:ext cx="475587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(HITL 승인 전 초안)</a:t>
            </a:r>
          </a:p>
        </p:txBody>
      </p:sp>
      <p:sp>
        <p:nvSpPr>
          <p:cNvPr id="20" name="Text 18"/>
          <p:cNvSpPr/>
          <p:nvPr/>
        </p:nvSpPr>
        <p:spPr>
          <a:xfrm>
            <a:off x="1350736" y="7615011"/>
            <a:ext cx="4755878" cy="575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인력 요청서 초안 + 후보 준비도 테이블</a:t>
            </a:r>
          </a:p>
        </p:txBody>
      </p:sp>
      <p:sp>
        <p:nvSpPr>
          <p:cNvPr id="21" name="Text 19"/>
          <p:cNvSpPr/>
          <p:nvPr/>
        </p:nvSpPr>
        <p:spPr>
          <a:xfrm>
            <a:off x="6368143" y="2428762"/>
            <a:ext cx="571826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 에이전트 (순차 실행)</a:t>
            </a:r>
          </a:p>
        </p:txBody>
      </p:sp>
      <p:sp>
        <p:nvSpPr>
          <p:cNvPr id="22" name="Shape 20"/>
          <p:cNvSpPr/>
          <p:nvPr/>
        </p:nvSpPr>
        <p:spPr>
          <a:xfrm>
            <a:off x="6368143" y="2956379"/>
            <a:ext cx="5551715" cy="3093811"/>
          </a:xfrm>
          <a:prstGeom prst="roundRect">
            <a:avLst>
              <a:gd name="adj" fmla="val 369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96743" y="3165929"/>
            <a:ext cx="524735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WorkforceRequirementAgent</a:t>
            </a:r>
          </a:p>
        </p:txBody>
      </p:sp>
      <p:sp>
        <p:nvSpPr>
          <p:cNvPr id="24" name="Text 22"/>
          <p:cNvSpPr/>
          <p:nvPr/>
        </p:nvSpPr>
        <p:spPr>
          <a:xfrm>
            <a:off x="6596743" y="3674495"/>
            <a:ext cx="5247350" cy="705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companies.csv → 필수 필드 검증 visa_type=E-9 고정</a:t>
            </a:r>
          </a:p>
        </p:txBody>
      </p:sp>
      <p:sp>
        <p:nvSpPr>
          <p:cNvPr id="25" name="Text 23"/>
          <p:cNvSpPr/>
          <p:nvPr/>
        </p:nvSpPr>
        <p:spPr>
          <a:xfrm>
            <a:off x="6596743" y="4342153"/>
            <a:ext cx="5247350" cy="705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WORKFORCE_CHECKS 5개 자동 포함 handoff_questions 5개 생성</a:t>
            </a:r>
          </a:p>
        </p:txBody>
      </p:sp>
      <p:sp>
        <p:nvSpPr>
          <p:cNvPr id="26" name="Text 24"/>
          <p:cNvSpPr/>
          <p:nvPr/>
        </p:nvSpPr>
        <p:spPr>
          <a:xfrm>
            <a:off x="6596743" y="5009810"/>
            <a:ext cx="5247350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항상 HITL 승인 필요</a:t>
            </a:r>
          </a:p>
        </p:txBody>
      </p:sp>
      <p:sp>
        <p:nvSpPr>
          <p:cNvPr id="27" name="Shape 25"/>
          <p:cNvSpPr/>
          <p:nvPr/>
        </p:nvSpPr>
        <p:spPr>
          <a:xfrm>
            <a:off x="6558643" y="6164489"/>
            <a:ext cx="19050" cy="152400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368143" y="6431189"/>
            <a:ext cx="5551715" cy="3093811"/>
          </a:xfrm>
          <a:prstGeom prst="roundRect">
            <a:avLst>
              <a:gd name="adj" fmla="val 369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596743" y="6640739"/>
            <a:ext cx="524735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CandidateReadinessAgent</a:t>
            </a:r>
          </a:p>
        </p:txBody>
      </p:sp>
      <p:sp>
        <p:nvSpPr>
          <p:cNvPr id="30" name="Text 28"/>
          <p:cNvSpPr/>
          <p:nvPr/>
        </p:nvSpPr>
        <p:spPr>
          <a:xfrm>
            <a:off x="6596743" y="7149307"/>
            <a:ext cx="5247350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candidates.csv → 7항목 rule-based 체크</a:t>
            </a:r>
          </a:p>
        </p:txBody>
      </p:sp>
      <p:sp>
        <p:nvSpPr>
          <p:cNvPr id="31" name="Text 29"/>
          <p:cNvSpPr/>
          <p:nvPr/>
        </p:nvSpPr>
        <p:spPr>
          <a:xfrm>
            <a:off x="6596743" y="7483135"/>
            <a:ext cx="5247350" cy="705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 항목: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여권·증명사진·건강검진·근무가능일·희망직무·숙소·근무조건</a:t>
            </a:r>
          </a:p>
        </p:txBody>
      </p:sp>
      <p:sp>
        <p:nvSpPr>
          <p:cNvPr id="32" name="Text 30"/>
          <p:cNvSpPr/>
          <p:nvPr/>
        </p:nvSpPr>
        <p:spPr>
          <a:xfrm>
            <a:off x="6596743" y="8150792"/>
            <a:ext cx="5247350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금지: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점수·순위·성실도 평가 (가드레일)</a:t>
            </a:r>
          </a:p>
        </p:txBody>
      </p:sp>
      <p:sp>
        <p:nvSpPr>
          <p:cNvPr id="33" name="Text 31"/>
          <p:cNvSpPr/>
          <p:nvPr/>
        </p:nvSpPr>
        <p:spPr>
          <a:xfrm>
            <a:off x="12148457" y="2428762"/>
            <a:ext cx="514643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출력물 (HITL 승인 전)</a:t>
            </a:r>
          </a:p>
        </p:txBody>
      </p:sp>
      <p:sp>
        <p:nvSpPr>
          <p:cNvPr id="34" name="Shape 32"/>
          <p:cNvSpPr/>
          <p:nvPr/>
        </p:nvSpPr>
        <p:spPr>
          <a:xfrm>
            <a:off x="12148457" y="2956379"/>
            <a:ext cx="4996543" cy="1042421"/>
          </a:xfrm>
          <a:prstGeom prst="roundRect">
            <a:avLst>
              <a:gd name="adj" fmla="val 9137"/>
            </a:avLst>
          </a:prstGeom>
          <a:solidFill>
            <a:srgbClr val="EB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2319907" y="3108779"/>
            <a:ext cx="479325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인력 요청서 초안</a:t>
            </a:r>
          </a:p>
        </p:txBody>
      </p:sp>
      <p:sp>
        <p:nvSpPr>
          <p:cNvPr id="36" name="Text 34"/>
          <p:cNvSpPr/>
          <p:nvPr/>
        </p:nvSpPr>
        <p:spPr>
          <a:xfrm>
            <a:off x="12319907" y="3512570"/>
            <a:ext cx="479325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정보 필드 + missing_inputs + citations</a:t>
            </a:r>
          </a:p>
        </p:txBody>
      </p:sp>
      <p:sp>
        <p:nvSpPr>
          <p:cNvPr id="37" name="Shape 35"/>
          <p:cNvSpPr/>
          <p:nvPr/>
        </p:nvSpPr>
        <p:spPr>
          <a:xfrm>
            <a:off x="12148457" y="3998799"/>
            <a:ext cx="4996543" cy="1376249"/>
          </a:xfrm>
          <a:prstGeom prst="roundRect">
            <a:avLst>
              <a:gd name="adj" fmla="val 6921"/>
            </a:avLst>
          </a:prstGeom>
          <a:solidFill>
            <a:srgbClr val="EB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2319907" y="4151199"/>
            <a:ext cx="479325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 체크리스트 5개</a:t>
            </a:r>
          </a:p>
        </p:txBody>
      </p:sp>
      <p:sp>
        <p:nvSpPr>
          <p:cNvPr id="39" name="Text 37"/>
          <p:cNvSpPr/>
          <p:nvPr/>
        </p:nvSpPr>
        <p:spPr>
          <a:xfrm>
            <a:off x="12319907" y="4554991"/>
            <a:ext cx="4793252" cy="705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업종 / 내국인구인노력 / 고용허가 / 표준계약 / 숙소·교대</a:t>
            </a:r>
          </a:p>
        </p:txBody>
      </p:sp>
      <p:sp>
        <p:nvSpPr>
          <p:cNvPr id="40" name="Shape 38"/>
          <p:cNvSpPr/>
          <p:nvPr/>
        </p:nvSpPr>
        <p:spPr>
          <a:xfrm>
            <a:off x="12148457" y="5375048"/>
            <a:ext cx="4996543" cy="977106"/>
          </a:xfrm>
          <a:prstGeom prst="roundRect">
            <a:avLst>
              <a:gd name="adj" fmla="val 9748"/>
            </a:avLst>
          </a:prstGeom>
          <a:solidFill>
            <a:srgbClr val="EB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2319907" y="5527448"/>
            <a:ext cx="479325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준비도 테이블</a:t>
            </a:r>
          </a:p>
        </p:txBody>
      </p:sp>
      <p:sp>
        <p:nvSpPr>
          <p:cNvPr id="42" name="Text 40"/>
          <p:cNvSpPr/>
          <p:nvPr/>
        </p:nvSpPr>
        <p:spPr>
          <a:xfrm>
            <a:off x="12319907" y="5931240"/>
            <a:ext cx="4793252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/ missing_required_info + risk_flag</a:t>
            </a:r>
          </a:p>
        </p:txBody>
      </p:sp>
      <p:sp>
        <p:nvSpPr>
          <p:cNvPr id="43" name="Shape 41"/>
          <p:cNvSpPr/>
          <p:nvPr/>
        </p:nvSpPr>
        <p:spPr>
          <a:xfrm>
            <a:off x="12148457" y="6352155"/>
            <a:ext cx="4996543" cy="1056935"/>
          </a:xfrm>
          <a:prstGeom prst="roundRect">
            <a:avLst>
              <a:gd name="adj" fmla="val 9012"/>
            </a:avLst>
          </a:prstGeom>
          <a:solidFill>
            <a:srgbClr val="FFF0F0"/>
          </a:solidFill>
          <a:ln w="7257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2327165" y="6511812"/>
            <a:ext cx="4778303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시 행정사 핸드오프</a:t>
            </a:r>
          </a:p>
        </p:txBody>
      </p:sp>
      <p:sp>
        <p:nvSpPr>
          <p:cNvPr id="45" name="Text 43"/>
          <p:cNvSpPr/>
          <p:nvPr/>
        </p:nvSpPr>
        <p:spPr>
          <a:xfrm>
            <a:off x="12327165" y="6915603"/>
            <a:ext cx="4778303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핸드오프 패키지 초안 자동 생성</a:t>
            </a:r>
          </a:p>
        </p:txBody>
      </p:sp>
      <p:sp>
        <p:nvSpPr>
          <p:cNvPr id="202" name="TermBar_text"/>
          <p:cNvSpPr>
            <a:spLocks noGrp="1"/>
          </p:cNvSpPr>
          <p:nvPr/>
        </p:nvSpPr>
        <p:spPr>
          <a:xfrm>
            <a:off x="1143000" y="9842500"/>
            <a:ext cx="16484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 marL="0" indent="0" algn="l">
              <a:buNone/>
            </a:pP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¹ HITL(Human-in-the-Loop, 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사람 승인 구조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  ² Guardrail(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가드레일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, AI 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행동 제한 규칙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  ³ SAFE_READ/SAFE_CALCULATE(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읽기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·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계산 전용 도구 등급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  ⁴ ReAct loop(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추론→행동→관찰 반복 구조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</a:t>
            </a: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</p:txBody>
      </p:sp>
      <p:sp>
        <p:nvSpPr>
          <p:cNvPr id="900" name="Rect900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Rect901"/>
          <p:cNvSpPr>
            <a:spLocks noGrp="1"/>
          </p:cNvSpPr>
          <p:nvPr/>
        </p:nvSpPr>
        <p:spPr>
          <a:xfrm>
            <a:off x="914400" y="736600"/>
            <a:ext cx="50800" cy="2794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MR902"/>
          <p:cNvSpPr>
            <a:spLocks noGrp="1"/>
          </p:cNvSpPr>
          <p:nvPr/>
        </p:nvSpPr>
        <p:spPr>
          <a:xfrm>
            <a:off x="1041400" y="6858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0066FF"/>
                </a:solidFill>
                <a:latin typeface="Arial" pitchFamily="34" charset="0"/>
              </a:rPr>
              <a:t>AGENT 1 — 인력 확보</a:t>
            </a:r>
          </a:p>
        </p:txBody>
      </p:sp>
      <p:sp>
        <p:nvSpPr>
          <p:cNvPr id="903" name="Shape903"/>
          <p:cNvSpPr>
            <a:spLocks noGrp="1"/>
          </p:cNvSpPr>
          <p:nvPr/>
        </p:nvSpPr>
        <p:spPr>
          <a:xfrm>
            <a:off x="914400" y="1092200"/>
            <a:ext cx="11430000" cy="93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4400" b="1" dirty="0">
                <a:solidFill>
                  <a:srgbClr val="0F0F10"/>
                </a:solidFill>
                <a:latin typeface="Arial" pitchFamily="34" charset="0"/>
              </a:rPr>
              <a:t>E-9 인력 확보 에이전트</a:t>
            </a:r>
          </a:p>
        </p:txBody>
      </p:sp>
      <p:sp>
        <p:nvSpPr>
          <p:cNvPr id="904" name="Rect904"/>
          <p:cNvSpPr>
            <a:spLocks noGrp="1"/>
          </p:cNvSpPr>
          <p:nvPr/>
        </p:nvSpPr>
        <p:spPr>
          <a:xfrm>
            <a:off x="12065000" y="1193800"/>
            <a:ext cx="5410200" cy="5334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5" name="Shape905"/>
          <p:cNvSpPr>
            <a:spLocks noGrp="1"/>
          </p:cNvSpPr>
          <p:nvPr/>
        </p:nvSpPr>
        <p:spPr>
          <a:xfrm>
            <a:off x="12065000" y="1193800"/>
            <a:ext cx="54102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</a:rPr>
              <a:t>요청서·핸드오프 문서화 + 후보 준비도 7항목 rule check</a:t>
            </a:r>
          </a:p>
        </p:txBody>
      </p:sp>
      <p:sp>
        <p:nvSpPr>
          <p:cNvPr id="910" name="Rect910"/>
          <p:cNvSpPr>
            <a:spLocks noGrp="1"/>
          </p:cNvSpPr>
          <p:nvPr/>
        </p:nvSpPr>
        <p:spPr>
          <a:xfrm>
            <a:off x="914400" y="2133600"/>
            <a:ext cx="5156200" cy="7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1" name="Shape911"/>
          <p:cNvSpPr>
            <a:spLocks noGrp="1"/>
          </p:cNvSpPr>
          <p:nvPr/>
        </p:nvSpPr>
        <p:spPr>
          <a:xfrm>
            <a:off x="1143000" y="2286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rgbClr val="0F0F10"/>
                </a:solidFill>
                <a:latin typeface="Arial" pitchFamily="34" charset="0"/>
              </a:rPr>
              <a:t>설계</a:t>
            </a:r>
          </a:p>
        </p:txBody>
      </p:sp>
      <p:sp>
        <p:nvSpPr>
          <p:cNvPr id="912" name="Rect912"/>
          <p:cNvSpPr>
            <a:spLocks noGrp="1"/>
          </p:cNvSpPr>
          <p:nvPr/>
        </p:nvSpPr>
        <p:spPr>
          <a:xfrm>
            <a:off x="1066800" y="2768600"/>
            <a:ext cx="4953000" cy="1397000"/>
          </a:xfrm>
          <a:prstGeom prst="rect">
            <a:avLst/>
          </a:prstGeom>
          <a:solidFill>
            <a:srgbClr val="F0F4FF"/>
          </a:solidFill>
          <a:ln w="19050">
            <a:solidFill>
              <a:srgbClr val="0066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3" name="Rect913"/>
          <p:cNvSpPr>
            <a:spLocks noGrp="1"/>
          </p:cNvSpPr>
          <p:nvPr/>
        </p:nvSpPr>
        <p:spPr>
          <a:xfrm>
            <a:off x="1066800" y="2768600"/>
            <a:ext cx="50800" cy="1397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Shape914"/>
          <p:cNvSpPr>
            <a:spLocks noGrp="1"/>
          </p:cNvSpPr>
          <p:nvPr/>
        </p:nvSpPr>
        <p:spPr>
          <a:xfrm>
            <a:off x="1244600" y="2844800"/>
            <a:ext cx="469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0066FF"/>
                </a:solidFill>
                <a:latin typeface="Arial" pitchFamily="34" charset="0"/>
              </a:rPr>
              <a:t>WorkforceAgent (Orchestrator)</a:t>
            </a:r>
          </a:p>
        </p:txBody>
      </p:sp>
      <p:sp>
        <p:nvSpPr>
          <p:cNvPr id="915" name="Shape915"/>
          <p:cNvSpPr>
            <a:spLocks noGrp="1"/>
          </p:cNvSpPr>
          <p:nvPr/>
        </p:nvSpPr>
        <p:spPr>
          <a:xfrm>
            <a:off x="1244600" y="3200400"/>
            <a:ext cx="4699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444444"/>
                </a:solidFill>
                <a:latin typeface="Arial" pitchFamily="34" charset="0"/>
              </a:rPr>
              <a:t>ForeignHiringState 입력 → 서브에이전트 순차 실행</a:t>
            </a:r>
          </a:p>
        </p:txBody>
      </p:sp>
      <p:sp>
        <p:nvSpPr>
          <p:cNvPr id="916" name="Rect916"/>
          <p:cNvSpPr>
            <a:spLocks noGrp="1"/>
          </p:cNvSpPr>
          <p:nvPr/>
        </p:nvSpPr>
        <p:spPr>
          <a:xfrm>
            <a:off x="1066800" y="4267200"/>
            <a:ext cx="4953000" cy="25400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7" name="Rect917"/>
          <p:cNvSpPr>
            <a:spLocks noGrp="1"/>
          </p:cNvSpPr>
          <p:nvPr/>
        </p:nvSpPr>
        <p:spPr>
          <a:xfrm>
            <a:off x="1066800" y="4267200"/>
            <a:ext cx="50800" cy="2540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MR918"/>
          <p:cNvSpPr>
            <a:spLocks noGrp="1"/>
          </p:cNvSpPr>
          <p:nvPr/>
        </p:nvSpPr>
        <p:spPr>
          <a:xfrm>
            <a:off x="1244600" y="4343400"/>
            <a:ext cx="4699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0066FF"/>
                </a:solidFill>
                <a:latin typeface="Arial" pitchFamily="34" charset="0"/>
              </a:rPr>
              <a:t>① </a:t>
            </a:r>
            <a:r>
              <a:rPr lang="ko-KR" altLang="en-US" sz="1400" b="1" dirty="0">
                <a:solidFill>
                  <a:srgbClr val="0066FF"/>
                </a:solidFill>
                <a:latin typeface="Arial" pitchFamily="34" charset="0"/>
              </a:rPr>
              <a:t>WorkforceRequirementAgent</a:t>
            </a:r>
          </a:p>
        </p:txBody>
      </p:sp>
      <p:sp>
        <p:nvSpPr>
          <p:cNvPr id="919" name="Shape919"/>
          <p:cNvSpPr>
            <a:spLocks noGrp="1"/>
          </p:cNvSpPr>
          <p:nvPr/>
        </p:nvSpPr>
        <p:spPr>
          <a:xfrm>
            <a:off x="1244600" y="4749800"/>
            <a:ext cx="4699000" cy="198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444444"/>
                </a:solidFill>
                <a:latin typeface="Arial" pitchFamily="34" charset="0"/>
              </a:rPr>
              <a:t>companies.csv → 필수필드 검증 → visa_type=E-9 고정
WORKFORCE_CHECKS 5개 + handoff_questions 5개</a:t>
            </a:r>
          </a:p>
        </p:txBody>
      </p:sp>
      <p:sp>
        <p:nvSpPr>
          <p:cNvPr id="920" name="Shape920"/>
          <p:cNvSpPr>
            <a:spLocks noGrp="1"/>
          </p:cNvSpPr>
          <p:nvPr/>
        </p:nvSpPr>
        <p:spPr>
          <a:xfrm>
            <a:off x="1244600" y="6172200"/>
            <a:ext cx="4699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E07000"/>
                </a:solidFill>
                <a:latin typeface="Arial" pitchFamily="34" charset="0"/>
              </a:rPr>
              <a:t>approval_required=true 항상</a:t>
            </a:r>
          </a:p>
        </p:txBody>
      </p:sp>
      <p:sp>
        <p:nvSpPr>
          <p:cNvPr id="921" name="Rect921"/>
          <p:cNvSpPr>
            <a:spLocks noGrp="1"/>
          </p:cNvSpPr>
          <p:nvPr/>
        </p:nvSpPr>
        <p:spPr>
          <a:xfrm>
            <a:off x="1066800" y="6908800"/>
            <a:ext cx="4953000" cy="26670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2" name="Rect922"/>
          <p:cNvSpPr>
            <a:spLocks noGrp="1"/>
          </p:cNvSpPr>
          <p:nvPr/>
        </p:nvSpPr>
        <p:spPr>
          <a:xfrm>
            <a:off x="1066800" y="6908800"/>
            <a:ext cx="50800" cy="2667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R923"/>
          <p:cNvSpPr>
            <a:spLocks noGrp="1"/>
          </p:cNvSpPr>
          <p:nvPr/>
        </p:nvSpPr>
        <p:spPr>
          <a:xfrm>
            <a:off x="1244600" y="6985000"/>
            <a:ext cx="4699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0066FF"/>
                </a:solidFill>
                <a:latin typeface="Arial" pitchFamily="34" charset="0"/>
              </a:rPr>
              <a:t>② </a:t>
            </a:r>
            <a:r>
              <a:rPr lang="ko-KR" altLang="en-US" sz="1400" b="1" dirty="0">
                <a:solidFill>
                  <a:srgbClr val="0066FF"/>
                </a:solidFill>
                <a:latin typeface="Arial" pitchFamily="34" charset="0"/>
              </a:rPr>
              <a:t>CandidateReadinessAgent</a:t>
            </a:r>
          </a:p>
        </p:txBody>
      </p:sp>
      <p:sp>
        <p:nvSpPr>
          <p:cNvPr id="924" name="Shape924"/>
          <p:cNvSpPr>
            <a:spLocks noGrp="1"/>
          </p:cNvSpPr>
          <p:nvPr/>
        </p:nvSpPr>
        <p:spPr>
          <a:xfrm>
            <a:off x="1244600" y="7391400"/>
            <a:ext cx="4699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444444"/>
                </a:solidFill>
                <a:latin typeface="Arial" pitchFamily="34" charset="0"/>
              </a:rPr>
              <a:t>candidates.csv → 7항목 rule-based 체크
여권·증명사진·건강검진·근무가능일·희망직무·숙소·근무조건</a:t>
            </a:r>
          </a:p>
        </p:txBody>
      </p:sp>
      <p:sp>
        <p:nvSpPr>
          <p:cNvPr id="925" name="Shape925"/>
          <p:cNvSpPr>
            <a:spLocks noGrp="1"/>
          </p:cNvSpPr>
          <p:nvPr/>
        </p:nvSpPr>
        <p:spPr>
          <a:xfrm>
            <a:off x="1244600" y="8788400"/>
            <a:ext cx="469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CC2200"/>
                </a:solidFill>
                <a:latin typeface="Arial" pitchFamily="34" charset="0"/>
              </a:rPr>
              <a:t>점수·순위·성실도 판단 금지</a:t>
            </a:r>
          </a:p>
        </p:txBody>
      </p:sp>
      <p:sp>
        <p:nvSpPr>
          <p:cNvPr id="930" name="Rect930"/>
          <p:cNvSpPr>
            <a:spLocks noGrp="1"/>
          </p:cNvSpPr>
          <p:nvPr/>
        </p:nvSpPr>
        <p:spPr>
          <a:xfrm>
            <a:off x="6311900" y="2133600"/>
            <a:ext cx="5664200" cy="7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1" name="Shape931"/>
          <p:cNvSpPr>
            <a:spLocks noGrp="1"/>
          </p:cNvSpPr>
          <p:nvPr/>
        </p:nvSpPr>
        <p:spPr>
          <a:xfrm>
            <a:off x="6540500" y="2286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rgbClr val="0F0F10"/>
                </a:solidFill>
                <a:latin typeface="Arial" pitchFamily="34" charset="0"/>
              </a:rPr>
              <a:t>입력</a:t>
            </a:r>
          </a:p>
        </p:txBody>
      </p:sp>
      <p:sp>
        <p:nvSpPr>
          <p:cNvPr id="932" name="Rect932"/>
          <p:cNvSpPr>
            <a:spLocks noGrp="1"/>
          </p:cNvSpPr>
          <p:nvPr/>
        </p:nvSpPr>
        <p:spPr>
          <a:xfrm>
            <a:off x="6464300" y="2768600"/>
            <a:ext cx="5461000" cy="15240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3" name="Rect933"/>
          <p:cNvSpPr>
            <a:spLocks noGrp="1"/>
          </p:cNvSpPr>
          <p:nvPr/>
        </p:nvSpPr>
        <p:spPr>
          <a:xfrm>
            <a:off x="6464300" y="2768600"/>
            <a:ext cx="50800" cy="1524000"/>
          </a:xfrm>
          <a:prstGeom prst="rect">
            <a:avLst/>
          </a:prstGeom>
          <a:solidFill>
            <a:srgbClr val="00AA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" name="Shape934"/>
          <p:cNvSpPr>
            <a:spLocks noGrp="1"/>
          </p:cNvSpPr>
          <p:nvPr/>
        </p:nvSpPr>
        <p:spPr>
          <a:xfrm>
            <a:off x="6642100" y="2844800"/>
            <a:ext cx="520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0F0F10"/>
                </a:solidFill>
                <a:latin typeface="Arial" pitchFamily="34" charset="0"/>
              </a:rPr>
              <a:t>공식 정책 문서 (Grade A/B)</a:t>
            </a:r>
          </a:p>
        </p:txBody>
      </p:sp>
      <p:sp>
        <p:nvSpPr>
          <p:cNvPr id="935" name="Shape935"/>
          <p:cNvSpPr>
            <a:spLocks noGrp="1"/>
          </p:cNvSpPr>
          <p:nvPr/>
        </p:nvSpPr>
        <p:spPr>
          <a:xfrm>
            <a:off x="6642100" y="3225800"/>
            <a:ext cx="5207000" cy="99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555555"/>
                </a:solidFill>
                <a:latin typeface="Arial" pitchFamily="34" charset="0"/>
              </a:rPr>
              <a:t>EPS 고용절차·구비서류·E-9 허용업종·표준근로계약서</a:t>
            </a:r>
          </a:p>
        </p:txBody>
      </p:sp>
      <p:sp>
        <p:nvSpPr>
          <p:cNvPr id="936" name="Rect936"/>
          <p:cNvSpPr>
            <a:spLocks noGrp="1"/>
          </p:cNvSpPr>
          <p:nvPr/>
        </p:nvSpPr>
        <p:spPr>
          <a:xfrm>
            <a:off x="6464300" y="4394200"/>
            <a:ext cx="5461000" cy="15240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7" name="Rect937"/>
          <p:cNvSpPr>
            <a:spLocks noGrp="1"/>
          </p:cNvSpPr>
          <p:nvPr/>
        </p:nvSpPr>
        <p:spPr>
          <a:xfrm>
            <a:off x="6464300" y="4394200"/>
            <a:ext cx="50800" cy="1524000"/>
          </a:xfrm>
          <a:prstGeom prst="rect">
            <a:avLst/>
          </a:prstGeom>
          <a:solidFill>
            <a:srgbClr val="00AA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8" name="Shape938"/>
          <p:cNvSpPr>
            <a:spLocks noGrp="1"/>
          </p:cNvSpPr>
          <p:nvPr/>
        </p:nvSpPr>
        <p:spPr>
          <a:xfrm>
            <a:off x="6642100" y="4470400"/>
            <a:ext cx="520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0F0F10"/>
                </a:solidFill>
                <a:latin typeface="Arial" pitchFamily="34" charset="0"/>
              </a:rPr>
              <a:t>내부 템플릿·DB (Grade E)</a:t>
            </a:r>
          </a:p>
        </p:txBody>
      </p:sp>
      <p:sp>
        <p:nvSpPr>
          <p:cNvPr id="939" name="Shape939"/>
          <p:cNvSpPr>
            <a:spLocks noGrp="1"/>
          </p:cNvSpPr>
          <p:nvPr/>
        </p:nvSpPr>
        <p:spPr>
          <a:xfrm>
            <a:off x="6642100" y="4851400"/>
            <a:ext cx="5207000" cy="99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555555"/>
                </a:solidFill>
                <a:latin typeface="Arial" pitchFamily="34" charset="0"/>
              </a:rPr>
              <a:t>요청서 템플릿 · 체크리스트 · companies.csv · candidates.csv</a:t>
            </a:r>
          </a:p>
        </p:txBody>
      </p:sp>
      <p:sp>
        <p:nvSpPr>
          <p:cNvPr id="940" name="Rect940"/>
          <p:cNvSpPr>
            <a:spLocks noGrp="1"/>
          </p:cNvSpPr>
          <p:nvPr/>
        </p:nvSpPr>
        <p:spPr>
          <a:xfrm>
            <a:off x="6464300" y="6019800"/>
            <a:ext cx="5461000" cy="12700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1" name="Rect941"/>
          <p:cNvSpPr>
            <a:spLocks noGrp="1"/>
          </p:cNvSpPr>
          <p:nvPr/>
        </p:nvSpPr>
        <p:spPr>
          <a:xfrm>
            <a:off x="6464300" y="6019800"/>
            <a:ext cx="50800" cy="12700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Shape942"/>
          <p:cNvSpPr>
            <a:spLocks noGrp="1"/>
          </p:cNvSpPr>
          <p:nvPr/>
        </p:nvSpPr>
        <p:spPr>
          <a:xfrm>
            <a:off x="6642100" y="6096000"/>
            <a:ext cx="520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777777"/>
                </a:solidFill>
                <a:latin typeface="Arial" pitchFamily="34" charset="0"/>
              </a:rPr>
              <a:t>현재 없는 데이터 (외부 연동 필요)</a:t>
            </a:r>
          </a:p>
        </p:txBody>
      </p:sp>
      <p:sp>
        <p:nvSpPr>
          <p:cNvPr id="943" name="Shape943"/>
          <p:cNvSpPr>
            <a:spLocks noGrp="1"/>
          </p:cNvSpPr>
          <p:nvPr/>
        </p:nvSpPr>
        <p:spPr>
          <a:xfrm>
            <a:off x="6642100" y="6477000"/>
            <a:ext cx="5207000" cy="73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999999"/>
                </a:solidFill>
                <a:latin typeface="Arial" pitchFamily="34" charset="0"/>
              </a:rPr>
              <a:t>고용조정·임금체불·보험가입·구인노력 진행 상태</a:t>
            </a:r>
          </a:p>
        </p:txBody>
      </p:sp>
      <p:sp>
        <p:nvSpPr>
          <p:cNvPr id="944" name="Rect944"/>
          <p:cNvSpPr>
            <a:spLocks noGrp="1"/>
          </p:cNvSpPr>
          <p:nvPr/>
        </p:nvSpPr>
        <p:spPr>
          <a:xfrm>
            <a:off x="6464300" y="7391400"/>
            <a:ext cx="5461000" cy="101600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5" name="Rect945"/>
          <p:cNvSpPr>
            <a:spLocks noGrp="1"/>
          </p:cNvSpPr>
          <p:nvPr/>
        </p:nvSpPr>
        <p:spPr>
          <a:xfrm>
            <a:off x="6464300" y="7391400"/>
            <a:ext cx="50800" cy="1016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6" name="Shape946"/>
          <p:cNvSpPr>
            <a:spLocks noGrp="1"/>
          </p:cNvSpPr>
          <p:nvPr/>
        </p:nvSpPr>
        <p:spPr>
          <a:xfrm>
            <a:off x="6642100" y="7467600"/>
            <a:ext cx="520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0F0F10"/>
                </a:solidFill>
                <a:latin typeface="Arial" pitchFamily="34" charset="0"/>
              </a:rPr>
              <a:t>RAG — similarity ≥ 0.4 게이트</a:t>
            </a:r>
          </a:p>
        </p:txBody>
      </p:sp>
      <p:sp>
        <p:nvSpPr>
          <p:cNvPr id="947" name="Shape947"/>
          <p:cNvSpPr>
            <a:spLocks noGrp="1"/>
          </p:cNvSpPr>
          <p:nvPr/>
        </p:nvSpPr>
        <p:spPr>
          <a:xfrm>
            <a:off x="6642100" y="7848600"/>
            <a:ext cx="5207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555555"/>
                </a:solidFill>
                <a:latin typeface="Arial" pitchFamily="34" charset="0"/>
              </a:rPr>
              <a:t>visa_type / evidence_grade 필터 + 버킷 분리 반환</a:t>
            </a:r>
          </a:p>
        </p:txBody>
      </p:sp>
      <p:sp>
        <p:nvSpPr>
          <p:cNvPr id="950" name="Rect950"/>
          <p:cNvSpPr>
            <a:spLocks noGrp="1"/>
          </p:cNvSpPr>
          <p:nvPr/>
        </p:nvSpPr>
        <p:spPr>
          <a:xfrm>
            <a:off x="12217400" y="2133600"/>
            <a:ext cx="5156200" cy="7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Shape951"/>
          <p:cNvSpPr>
            <a:spLocks noGrp="1"/>
          </p:cNvSpPr>
          <p:nvPr/>
        </p:nvSpPr>
        <p:spPr>
          <a:xfrm>
            <a:off x="12446000" y="2286000"/>
            <a:ext cx="49022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rgbClr val="0F0F10"/>
                </a:solidFill>
                <a:latin typeface="Arial" pitchFamily="34" charset="0"/>
              </a:rPr>
              <a:t>출력 (Human Approval 전)</a:t>
            </a:r>
          </a:p>
        </p:txBody>
      </p:sp>
      <p:sp>
        <p:nvSpPr>
          <p:cNvPr id="952" name="Rect952"/>
          <p:cNvSpPr>
            <a:spLocks noGrp="1"/>
          </p:cNvSpPr>
          <p:nvPr/>
        </p:nvSpPr>
        <p:spPr>
          <a:xfrm>
            <a:off x="12369800" y="2768600"/>
            <a:ext cx="4953000" cy="1117600"/>
          </a:xfrm>
          <a:prstGeom prst="rect">
            <a:avLst/>
          </a:prstGeom>
          <a:solidFill>
            <a:srgbClr val="EBF4FF"/>
          </a:solidFill>
          <a:ln w="9525">
            <a:solidFill>
              <a:srgbClr val="B8D4F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3" name="Shape953"/>
          <p:cNvSpPr>
            <a:spLocks noGrp="1"/>
          </p:cNvSpPr>
          <p:nvPr/>
        </p:nvSpPr>
        <p:spPr>
          <a:xfrm>
            <a:off x="12547600" y="2844800"/>
            <a:ext cx="472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A4A8A"/>
                </a:solidFill>
                <a:latin typeface="Arial" pitchFamily="34" charset="0"/>
              </a:rPr>
              <a:t>신규 인력 요청서 초안 (필드 + missing_inputs + citations)</a:t>
            </a:r>
          </a:p>
        </p:txBody>
      </p:sp>
      <p:sp>
        <p:nvSpPr>
          <p:cNvPr id="954" name="Rect954"/>
          <p:cNvSpPr>
            <a:spLocks noGrp="1"/>
          </p:cNvSpPr>
          <p:nvPr/>
        </p:nvSpPr>
        <p:spPr>
          <a:xfrm>
            <a:off x="12369800" y="3987800"/>
            <a:ext cx="4953000" cy="1117600"/>
          </a:xfrm>
          <a:prstGeom prst="rect">
            <a:avLst/>
          </a:prstGeom>
          <a:solidFill>
            <a:srgbClr val="EBF4FF"/>
          </a:solidFill>
          <a:ln w="9525">
            <a:solidFill>
              <a:srgbClr val="B8D4F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5" name="Shape955"/>
          <p:cNvSpPr>
            <a:spLocks noGrp="1"/>
          </p:cNvSpPr>
          <p:nvPr/>
        </p:nvSpPr>
        <p:spPr>
          <a:xfrm>
            <a:off x="12547600" y="4064000"/>
            <a:ext cx="4724400" cy="965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A4A8A"/>
                </a:solidFill>
                <a:latin typeface="Arial" pitchFamily="34" charset="0"/>
              </a:rPr>
              <a:t>제도 체크리스트 5개 (업종·내국인구인 노력·고용허가·표준계약·숙소)</a:t>
            </a:r>
          </a:p>
        </p:txBody>
      </p:sp>
      <p:sp>
        <p:nvSpPr>
          <p:cNvPr id="956" name="Rect956"/>
          <p:cNvSpPr>
            <a:spLocks noGrp="1"/>
          </p:cNvSpPr>
          <p:nvPr/>
        </p:nvSpPr>
        <p:spPr>
          <a:xfrm>
            <a:off x="12369800" y="5207000"/>
            <a:ext cx="4953000" cy="1016000"/>
          </a:xfrm>
          <a:prstGeom prst="rect">
            <a:avLst/>
          </a:prstGeom>
          <a:solidFill>
            <a:srgbClr val="EBF4FF"/>
          </a:solidFill>
          <a:ln w="9525">
            <a:solidFill>
              <a:srgbClr val="B8D4F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7" name="Shape957"/>
          <p:cNvSpPr>
            <a:spLocks noGrp="1"/>
          </p:cNvSpPr>
          <p:nvPr/>
        </p:nvSpPr>
        <p:spPr>
          <a:xfrm>
            <a:off x="12547600" y="5283200"/>
            <a:ext cx="4724400" cy="863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A4A8A"/>
                </a:solidFill>
                <a:latin typeface="Arial" pitchFamily="34" charset="0"/>
              </a:rPr>
              <a:t>후보 준비도 테이블 (ready / missing + risk_flag)</a:t>
            </a:r>
          </a:p>
        </p:txBody>
      </p:sp>
      <p:sp>
        <p:nvSpPr>
          <p:cNvPr id="958" name="Rect958"/>
          <p:cNvSpPr>
            <a:spLocks noGrp="1"/>
          </p:cNvSpPr>
          <p:nvPr/>
        </p:nvSpPr>
        <p:spPr>
          <a:xfrm>
            <a:off x="12369800" y="6324600"/>
            <a:ext cx="4953000" cy="965200"/>
          </a:xfrm>
          <a:prstGeom prst="rect">
            <a:avLst/>
          </a:prstGeom>
          <a:solidFill>
            <a:srgbClr val="FFF0F0"/>
          </a:solidFill>
          <a:ln w="9525">
            <a:solidFill>
              <a:srgbClr val="FF999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9" name="MR959"/>
          <p:cNvSpPr>
            <a:spLocks noGrp="1"/>
          </p:cNvSpPr>
          <p:nvPr/>
        </p:nvSpPr>
        <p:spPr>
          <a:xfrm>
            <a:off x="12547600" y="6426200"/>
            <a:ext cx="4724400" cy="78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300" b="1" dirty="0">
                <a:solidFill>
                  <a:srgbClr val="CC0000"/>
                </a:solidFill>
                <a:latin typeface="Arial" pitchFamily="34" charset="0"/>
              </a:rPr>
              <a:t>CRITICAL → 행정사 핸드오프 패키지 초안</a:t>
            </a:r>
          </a:p>
        </p:txBody>
      </p:sp>
      <p:sp>
        <p:nvSpPr>
          <p:cNvPr id="963" name="Shape963"/>
          <p:cNvSpPr>
            <a:spLocks noGrp="1"/>
          </p:cNvSpPr>
          <p:nvPr/>
        </p:nvSpPr>
        <p:spPr>
          <a:xfrm>
            <a:off x="12573000" y="8657046"/>
            <a:ext cx="22606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Arial" pitchFamily="34" charset="0"/>
              </a:rPr>
              <a:t>APPROVAL_REQUIRED</a:t>
            </a:r>
          </a:p>
        </p:txBody>
      </p:sp>
      <p:sp>
        <p:nvSpPr>
          <p:cNvPr id="990" name="Rect990"/>
          <p:cNvSpPr>
            <a:spLocks noGrp="1"/>
          </p:cNvSpPr>
          <p:nvPr/>
        </p:nvSpPr>
        <p:spPr>
          <a:xfrm>
            <a:off x="914400" y="9880600"/>
            <a:ext cx="16484600" cy="30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1" name="Shape991"/>
          <p:cNvSpPr>
            <a:spLocks noGrp="1"/>
          </p:cNvSpPr>
          <p:nvPr/>
        </p:nvSpPr>
        <p:spPr>
          <a:xfrm>
            <a:off x="914400" y="9880600"/>
            <a:ext cx="16484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AAAAAA"/>
                </a:solidFill>
                <a:latin typeface="Arial" pitchFamily="34" charset="0"/>
              </a:rPr>
              <a:t>¹ HITL(Human-in-the-Loop, 사람 승인 구조)  ² Guardrail(가드레일, AI 행동 제한 규칙)  ³ SAFE_READ/SAFE_CALCULATE(읽기·계산 전용 도구 등급)  ⁴ ReAct loop(추론→행동→관찰 반복 구조)</a:t>
            </a:r>
          </a:p>
        </p:txBody>
      </p:sp>
      <p:sp>
        <p:nvSpPr>
          <p:cNvPr id="46" name="DarkBoxText"/>
          <p:cNvSpPr>
            <a:spLocks noGrp="1"/>
          </p:cNvSpPr>
          <p:nvPr/>
        </p:nvSpPr>
        <p:spPr>
          <a:xfrm>
            <a:off x="12573000" y="7874000"/>
            <a:ext cx="4699000" cy="147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CCCCCC"/>
                </a:solidFill>
                <a:latin typeface="Arial" pitchFamily="34" charset="0"/>
              </a:rPr>
              <a:t>외부 실행(send_expert_package 등)은 </a:t>
            </a:r>
            <a:r>
              <a:rPr lang="en-US" altLang="ko-KR" sz="1200" b="1" dirty="0">
                <a:solidFill>
                  <a:srgbClr val="FFFFFF"/>
                </a:solidFill>
                <a:latin typeface="Arial" pitchFamily="34" charset="0"/>
              </a:rPr>
              <a:t>APPROVAL_REQUIRED</a:t>
            </a:r>
            <a:r>
              <a:rPr lang="ko-KR" altLang="en-US" sz="1200" dirty="0">
                <a:solidFill>
                  <a:srgbClr val="CCCCCC"/>
                </a:solidFill>
                <a:latin typeface="Arial" pitchFamily="34" charset="0"/>
              </a:rPr>
              <a:t>로 분리,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CCCCCC"/>
                </a:solidFill>
                <a:latin typeface="Arial" pitchFamily="34" charset="0"/>
              </a:rPr>
              <a:t>나머지는 </a:t>
            </a:r>
            <a:r>
              <a:rPr lang="en-US" altLang="ko-KR" sz="1200" b="1" dirty="0">
                <a:solidFill>
                  <a:srgbClr val="FFFFFF"/>
                </a:solidFill>
                <a:latin typeface="Arial" pitchFamily="34" charset="0"/>
              </a:rPr>
              <a:t>SAFE_*</a:t>
            </a:r>
            <a:r>
              <a:rPr lang="ko-KR" altLang="en-US" sz="1200" dirty="0">
                <a:solidFill>
                  <a:srgbClr val="CCCCCC"/>
                </a:solidFill>
                <a:latin typeface="Arial" pitchFamily="34" charset="0"/>
              </a:rPr>
              <a:t>로 안전하게 분해</a:t>
            </a:r>
          </a:p>
        </p:txBody>
      </p:sp>
      <p:sp>
        <p:nvSpPr>
          <p:cNvPr id="960" name="DarkBox"/>
          <p:cNvSpPr>
            <a:spLocks noGrp="1"/>
          </p:cNvSpPr>
          <p:nvPr/>
        </p:nvSpPr>
        <p:spPr>
          <a:xfrm>
            <a:off x="12369800" y="7391400"/>
            <a:ext cx="4953000" cy="2159000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ko-KR" altLang="en-US" sz="1300" b="1" dirty="0">
                <a:solidFill>
                  <a:srgbClr val="4488FF"/>
                </a:solidFill>
                <a:latin typeface="Arial" pitchFamily="34" charset="0"/>
              </a:rPr>
              <a:t>핵심 포인트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150" dirty="0">
                <a:solidFill>
                  <a:srgbClr val="BBBBBB"/>
                </a:solidFill>
                <a:latin typeface="Arial" pitchFamily="34" charset="0"/>
              </a:rPr>
              <a:t>외부 실행(send_expert_package 등)은 </a:t>
            </a:r>
            <a:r>
              <a:rPr lang="en-US" altLang="ko-KR" sz="1150" b="1" dirty="0">
                <a:solidFill>
                  <a:srgbClr val="FFFFFF"/>
                </a:solidFill>
                <a:latin typeface="Arial" pitchFamily="34" charset="0"/>
              </a:rPr>
              <a:t>APPROVAL_REQUIRED</a:t>
            </a:r>
            <a:r>
              <a:rPr lang="ko-KR" altLang="en-US" sz="1150" dirty="0">
                <a:solidFill>
                  <a:srgbClr val="BBBBBB"/>
                </a:solidFill>
                <a:latin typeface="Arial" pitchFamily="34" charset="0"/>
              </a:rPr>
              <a:t>로 분리,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150" dirty="0">
                <a:solidFill>
                  <a:srgbClr val="BBBBBB"/>
                </a:solidFill>
                <a:latin typeface="Arial" pitchFamily="34" charset="0"/>
              </a:rPr>
              <a:t>나머지는 </a:t>
            </a:r>
            <a:r>
              <a:rPr lang="en-US" altLang="ko-KR" sz="1150" b="1" dirty="0">
                <a:solidFill>
                  <a:srgbClr val="FFFFFF"/>
                </a:solidFill>
                <a:latin typeface="Arial" pitchFamily="34" charset="0"/>
              </a:rPr>
              <a:t>SAFE_*</a:t>
            </a:r>
            <a:r>
              <a:rPr lang="ko-KR" altLang="en-US" sz="1150" dirty="0">
                <a:solidFill>
                  <a:srgbClr val="BBBBBB"/>
                </a:solidFill>
                <a:latin typeface="Arial" pitchFamily="34" charset="0"/>
              </a:rPr>
              <a:t>로 안전하게 분해</a:t>
            </a:r>
          </a:p>
        </p:txBody>
      </p:sp>
    </p:spTree>
    <p:extLst>
      <p:ext uri="{BB962C8B-B14F-4D97-AF65-F5344CB8AC3E}">
        <p14:creationId xmlns:p14="http://schemas.microsoft.com/office/powerpoint/2010/main" val="4222120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2293030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AGENT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컨택 에이전트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428762"/>
            <a:ext cx="533704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→ 분류 → RAG 필터</a:t>
            </a:r>
          </a:p>
        </p:txBody>
      </p:sp>
      <p:sp>
        <p:nvSpPr>
          <p:cNvPr id="5" name="Shape 3"/>
          <p:cNvSpPr/>
          <p:nvPr/>
        </p:nvSpPr>
        <p:spPr>
          <a:xfrm>
            <a:off x="1143000" y="4007984"/>
            <a:ext cx="5181600" cy="1032896"/>
          </a:xfrm>
          <a:prstGeom prst="roundRect">
            <a:avLst>
              <a:gd name="adj" fmla="val 9222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43000" y="4007984"/>
            <a:ext cx="21771" cy="1032896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36221" y="4160384"/>
            <a:ext cx="496143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의도 분류 — infer_intent()</a:t>
            </a:r>
          </a:p>
        </p:txBody>
      </p:sp>
      <p:sp>
        <p:nvSpPr>
          <p:cNvPr id="8" name="Text 6"/>
          <p:cNvSpPr/>
          <p:nvPr/>
        </p:nvSpPr>
        <p:spPr>
          <a:xfrm>
            <a:off x="1336221" y="4554651"/>
            <a:ext cx="4961437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/ 안전 / 생활 / 공지 4가지 카테고리 분류</a:t>
            </a:r>
          </a:p>
        </p:txBody>
      </p:sp>
      <p:sp>
        <p:nvSpPr>
          <p:cNvPr id="9" name="Shape 7"/>
          <p:cNvSpPr/>
          <p:nvPr/>
        </p:nvSpPr>
        <p:spPr>
          <a:xfrm>
            <a:off x="1143000" y="5040880"/>
            <a:ext cx="5181600" cy="1032896"/>
          </a:xfrm>
          <a:prstGeom prst="roundRect">
            <a:avLst>
              <a:gd name="adj" fmla="val 9222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5040880"/>
            <a:ext cx="21771" cy="1032896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36221" y="5193280"/>
            <a:ext cx="496143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언어 감지 — infer_language_code()</a:t>
            </a:r>
          </a:p>
        </p:txBody>
      </p:sp>
      <p:sp>
        <p:nvSpPr>
          <p:cNvPr id="12" name="Text 10"/>
          <p:cNvSpPr/>
          <p:nvPr/>
        </p:nvSpPr>
        <p:spPr>
          <a:xfrm>
            <a:off x="1336221" y="5587547"/>
            <a:ext cx="4961437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(베트남어) / id (인도네시아어) 자동 감지</a:t>
            </a:r>
          </a:p>
        </p:txBody>
      </p:sp>
      <p:sp>
        <p:nvSpPr>
          <p:cNvPr id="13" name="Shape 11"/>
          <p:cNvSpPr/>
          <p:nvPr/>
        </p:nvSpPr>
        <p:spPr>
          <a:xfrm>
            <a:off x="1143000" y="6073775"/>
            <a:ext cx="5181600" cy="1366724"/>
          </a:xfrm>
          <a:prstGeom prst="roundRect">
            <a:avLst>
              <a:gd name="adj" fmla="val 6969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43000" y="6073775"/>
            <a:ext cx="21771" cy="1366724"/>
          </a:xfrm>
          <a:prstGeom prst="rect">
            <a:avLst/>
          </a:prstGeom>
          <a:solidFill>
            <a:srgbClr val="00BF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36221" y="6226175"/>
            <a:ext cx="496143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RAG 안전 필터 (핵심 포인트)</a:t>
            </a:r>
          </a:p>
        </p:txBody>
      </p:sp>
      <p:sp>
        <p:nvSpPr>
          <p:cNvPr id="16" name="Text 14"/>
          <p:cNvSpPr/>
          <p:nvPr/>
        </p:nvSpPr>
        <p:spPr>
          <a:xfrm>
            <a:off x="1336221" y="6620442"/>
            <a:ext cx="4961437" cy="705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A/B/E 등급만 인용 허용 F등급 · 금지 마커 자동 차단 — 3단계 Fallback 적용 (특정→관련→전체 doc_type)</a:t>
            </a:r>
          </a:p>
        </p:txBody>
      </p:sp>
      <p:sp>
        <p:nvSpPr>
          <p:cNvPr id="17" name="Shape 15"/>
          <p:cNvSpPr/>
          <p:nvPr/>
        </p:nvSpPr>
        <p:spPr>
          <a:xfrm>
            <a:off x="1143000" y="7440499"/>
            <a:ext cx="5181600" cy="1032896"/>
          </a:xfrm>
          <a:prstGeom prst="roundRect">
            <a:avLst>
              <a:gd name="adj" fmla="val 9222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000" y="7440499"/>
            <a:ext cx="21771" cy="1032896"/>
          </a:xfrm>
          <a:prstGeom prst="rect">
            <a:avLst/>
          </a:prstGeom>
          <a:solidFill>
            <a:srgbClr val="FF92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36221" y="7592899"/>
            <a:ext cx="496143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Human Approval Gate</a:t>
            </a:r>
          </a:p>
        </p:txBody>
      </p:sp>
      <p:sp>
        <p:nvSpPr>
          <p:cNvPr id="20" name="Text 18"/>
          <p:cNvSpPr/>
          <p:nvPr/>
        </p:nvSpPr>
        <p:spPr>
          <a:xfrm>
            <a:off x="1336221" y="7987166"/>
            <a:ext cx="4961437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외부 발송 전 담당자 승인 필수</a:t>
            </a:r>
          </a:p>
        </p:txBody>
      </p:sp>
      <p:sp>
        <p:nvSpPr>
          <p:cNvPr id="21" name="Text 19"/>
          <p:cNvSpPr/>
          <p:nvPr/>
        </p:nvSpPr>
        <p:spPr>
          <a:xfrm>
            <a:off x="6553200" y="2428762"/>
            <a:ext cx="533704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 에이전트</a:t>
            </a:r>
          </a:p>
        </p:txBody>
      </p:sp>
      <p:sp>
        <p:nvSpPr>
          <p:cNvPr id="22" name="Shape 20"/>
          <p:cNvSpPr/>
          <p:nvPr/>
        </p:nvSpPr>
        <p:spPr>
          <a:xfrm>
            <a:off x="6553200" y="2956379"/>
            <a:ext cx="5181600" cy="3093811"/>
          </a:xfrm>
          <a:prstGeom prst="roundRect">
            <a:avLst>
              <a:gd name="adj" fmla="val 3694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781800" y="3165929"/>
            <a:ext cx="4866132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Onboarding Subagent</a:t>
            </a:r>
          </a:p>
        </p:txBody>
      </p:sp>
      <p:sp>
        <p:nvSpPr>
          <p:cNvPr id="24" name="Text 22"/>
          <p:cNvSpPr/>
          <p:nvPr/>
        </p:nvSpPr>
        <p:spPr>
          <a:xfrm>
            <a:off x="6781800" y="3674495"/>
            <a:ext cx="486613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템플릿 로드 + RAG 검색</a:t>
            </a:r>
          </a:p>
        </p:txBody>
      </p:sp>
      <p:sp>
        <p:nvSpPr>
          <p:cNvPr id="25" name="Text 23"/>
          <p:cNvSpPr/>
          <p:nvPr/>
        </p:nvSpPr>
        <p:spPr>
          <a:xfrm>
            <a:off x="6781800" y="4008324"/>
            <a:ext cx="486613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번역 품질 검증</a:t>
            </a:r>
          </a:p>
        </p:txBody>
      </p:sp>
      <p:sp>
        <p:nvSpPr>
          <p:cNvPr id="26" name="Text 24"/>
          <p:cNvSpPr/>
          <p:nvPr/>
        </p:nvSpPr>
        <p:spPr>
          <a:xfrm>
            <a:off x="6781800" y="4342153"/>
            <a:ext cx="486613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+ VI/ID 초안 + citation_ids</a:t>
            </a:r>
          </a:p>
        </p:txBody>
      </p:sp>
      <p:sp>
        <p:nvSpPr>
          <p:cNvPr id="27" name="Shape 25"/>
          <p:cNvSpPr/>
          <p:nvPr/>
        </p:nvSpPr>
        <p:spPr>
          <a:xfrm>
            <a:off x="6743700" y="6164489"/>
            <a:ext cx="19050" cy="152400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553200" y="6431189"/>
            <a:ext cx="5181600" cy="3093811"/>
          </a:xfrm>
          <a:prstGeom prst="roundRect">
            <a:avLst>
              <a:gd name="adj" fmla="val 3694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781800" y="6640739"/>
            <a:ext cx="4866132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Reply Interpreter Subagent</a:t>
            </a:r>
          </a:p>
        </p:txBody>
      </p:sp>
      <p:sp>
        <p:nvSpPr>
          <p:cNvPr id="30" name="Text 28"/>
          <p:cNvSpPr/>
          <p:nvPr/>
        </p:nvSpPr>
        <p:spPr>
          <a:xfrm>
            <a:off x="6781800" y="7149307"/>
            <a:ext cx="486613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답장 번역 → 한국어 요약</a:t>
            </a:r>
          </a:p>
        </p:txBody>
      </p:sp>
      <p:sp>
        <p:nvSpPr>
          <p:cNvPr id="31" name="Text 29"/>
          <p:cNvSpPr/>
          <p:nvPr/>
        </p:nvSpPr>
        <p:spPr>
          <a:xfrm>
            <a:off x="6781800" y="7483135"/>
            <a:ext cx="486613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업데이트 후보 (rule-based) 제안</a:t>
            </a:r>
          </a:p>
        </p:txBody>
      </p:sp>
      <p:sp>
        <p:nvSpPr>
          <p:cNvPr id="32" name="Text 30"/>
          <p:cNvSpPr/>
          <p:nvPr/>
        </p:nvSpPr>
        <p:spPr>
          <a:xfrm>
            <a:off x="11963400" y="2428762"/>
            <a:ext cx="533704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→ Human Approval → 발송</a:t>
            </a:r>
          </a:p>
        </p:txBody>
      </p:sp>
      <p:sp>
        <p:nvSpPr>
          <p:cNvPr id="33" name="Shape 31"/>
          <p:cNvSpPr/>
          <p:nvPr/>
        </p:nvSpPr>
        <p:spPr>
          <a:xfrm>
            <a:off x="11963400" y="3745820"/>
            <a:ext cx="5181600" cy="1042421"/>
          </a:xfrm>
          <a:prstGeom prst="roundRect">
            <a:avLst>
              <a:gd name="adj" fmla="val 9137"/>
            </a:avLst>
          </a:prstGeom>
          <a:solidFill>
            <a:srgbClr val="EB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2134850" y="3898220"/>
            <a:ext cx="498386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초안</a:t>
            </a:r>
          </a:p>
        </p:txBody>
      </p:sp>
      <p:sp>
        <p:nvSpPr>
          <p:cNvPr id="35" name="Text 33"/>
          <p:cNvSpPr/>
          <p:nvPr/>
        </p:nvSpPr>
        <p:spPr>
          <a:xfrm>
            <a:off x="12134850" y="4302012"/>
            <a:ext cx="4983861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원문 + VI/ID 번역 + citation_ids 포함</a:t>
            </a:r>
          </a:p>
        </p:txBody>
      </p:sp>
      <p:sp>
        <p:nvSpPr>
          <p:cNvPr id="36" name="Shape 34"/>
          <p:cNvSpPr/>
          <p:nvPr/>
        </p:nvSpPr>
        <p:spPr>
          <a:xfrm>
            <a:off x="11963400" y="4788240"/>
            <a:ext cx="5181600" cy="1042421"/>
          </a:xfrm>
          <a:prstGeom prst="roundRect">
            <a:avLst>
              <a:gd name="adj" fmla="val 9137"/>
            </a:avLst>
          </a:prstGeom>
          <a:solidFill>
            <a:srgbClr val="EB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2134850" y="4940640"/>
            <a:ext cx="498386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응답 시나리오</a:t>
            </a:r>
          </a:p>
        </p:txBody>
      </p:sp>
      <p:sp>
        <p:nvSpPr>
          <p:cNvPr id="38" name="Text 36"/>
          <p:cNvSpPr/>
          <p:nvPr/>
        </p:nvSpPr>
        <p:spPr>
          <a:xfrm>
            <a:off x="12134850" y="5344433"/>
            <a:ext cx="4983861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 / 질문 / 지연 3가지 시나리오 사전 준비</a:t>
            </a:r>
          </a:p>
        </p:txBody>
      </p:sp>
      <p:sp>
        <p:nvSpPr>
          <p:cNvPr id="39" name="Shape 37"/>
          <p:cNvSpPr/>
          <p:nvPr/>
        </p:nvSpPr>
        <p:spPr>
          <a:xfrm>
            <a:off x="11963400" y="5830661"/>
            <a:ext cx="5181600" cy="1390763"/>
          </a:xfrm>
          <a:prstGeom prst="roundRect">
            <a:avLst>
              <a:gd name="adj" fmla="val 6849"/>
            </a:avLst>
          </a:prstGeom>
          <a:solidFill>
            <a:srgbClr val="FFF8E0"/>
          </a:solidFill>
          <a:ln w="7257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2142108" y="5990318"/>
            <a:ext cx="496891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Gate</a:t>
            </a:r>
          </a:p>
        </p:txBody>
      </p:sp>
      <p:sp>
        <p:nvSpPr>
          <p:cNvPr id="41" name="Text 39"/>
          <p:cNvSpPr/>
          <p:nvPr/>
        </p:nvSpPr>
        <p:spPr>
          <a:xfrm>
            <a:off x="12142108" y="6394110"/>
            <a:ext cx="4968911" cy="705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후 ExternalDeliveryJob → </a:t>
            </a:r>
            <a:r>
              <a:rPr lang="en-US" sz="18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수동</a:t>
            </a:r>
          </a:p>
        </p:txBody>
      </p:sp>
      <p:sp>
        <p:nvSpPr>
          <p:cNvPr id="42" name="Shape 40"/>
          <p:cNvSpPr/>
          <p:nvPr/>
        </p:nvSpPr>
        <p:spPr>
          <a:xfrm>
            <a:off x="11963400" y="7221424"/>
            <a:ext cx="5181600" cy="1514135"/>
          </a:xfrm>
          <a:prstGeom prst="roundRect">
            <a:avLst>
              <a:gd name="adj" fmla="val 6291"/>
            </a:avLst>
          </a:prstGeom>
          <a:solidFill>
            <a:srgbClr val="F0F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2134850" y="7373824"/>
            <a:ext cx="498386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EvidenceEvent 자동 기록</a:t>
            </a:r>
          </a:p>
        </p:txBody>
      </p:sp>
      <p:sp>
        <p:nvSpPr>
          <p:cNvPr id="44" name="Text 42"/>
          <p:cNvSpPr/>
          <p:nvPr/>
        </p:nvSpPr>
        <p:spPr>
          <a:xfrm>
            <a:off x="12134850" y="7777616"/>
            <a:ext cx="4983861" cy="843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RAG_RETRIEVED / APPROVAL_REQUESTED trace_id + redacted_hash 불변 감사 로그</a:t>
            </a:r>
          </a:p>
        </p:txBody>
      </p:sp>
      <p:sp>
        <p:nvSpPr>
          <p:cNvPr id="202" name="TermBar_text"/>
          <p:cNvSpPr>
            <a:spLocks noGrp="1"/>
          </p:cNvSpPr>
          <p:nvPr/>
        </p:nvSpPr>
        <p:spPr>
          <a:xfrm>
            <a:off x="1143000" y="9842500"/>
            <a:ext cx="16484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 marL="0" indent="0" algn="l">
              <a:buNone/>
            </a:pP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¹ RAG(Retrieval-Augmented Generation, 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검색 결합 생성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  ² infer_intent / infer_language_code(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의도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·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언어 분류 함수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  ³ Fallback(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단계적 후퇴 재검색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  ⁴ EvidenceEvent(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증빙 이벤트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, trace_id·hash 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불변 기록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  ⁵ ExternalDeliveryJob(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외부 채널 비동기 발송 작업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</a:t>
            </a: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872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2293030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AGENT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비자 서류 에이전트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428762"/>
            <a:ext cx="16002000" cy="1801246"/>
          </a:xfrm>
          <a:prstGeom prst="roundRect">
            <a:avLst>
              <a:gd name="adj" fmla="val 7403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447800" y="2657362"/>
            <a:ext cx="15854172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런타임 흐름 (7단계)</a:t>
            </a:r>
          </a:p>
        </p:txBody>
      </p:sp>
      <p:sp>
        <p:nvSpPr>
          <p:cNvPr id="6" name="Shape 4"/>
          <p:cNvSpPr/>
          <p:nvPr/>
        </p:nvSpPr>
        <p:spPr>
          <a:xfrm>
            <a:off x="1447800" y="3248479"/>
            <a:ext cx="1902846" cy="727529"/>
          </a:xfrm>
          <a:prstGeom prst="roundRect">
            <a:avLst>
              <a:gd name="adj" fmla="val 10474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562100" y="3343729"/>
            <a:ext cx="1674246" cy="575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Router</a:t>
            </a:r>
          </a:p>
        </p:txBody>
      </p:sp>
      <p:sp>
        <p:nvSpPr>
          <p:cNvPr id="8" name="Text 6"/>
          <p:cNvSpPr/>
          <p:nvPr/>
        </p:nvSpPr>
        <p:spPr>
          <a:xfrm>
            <a:off x="3407795" y="3497943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93545" y="3382736"/>
            <a:ext cx="1902959" cy="459014"/>
          </a:xfrm>
          <a:prstGeom prst="roundRect">
            <a:avLst>
              <a:gd name="adj" fmla="val 16601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807845" y="3477986"/>
            <a:ext cx="1674359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</a:p>
        </p:txBody>
      </p:sp>
      <p:sp>
        <p:nvSpPr>
          <p:cNvPr id="11" name="Text 9"/>
          <p:cNvSpPr/>
          <p:nvPr/>
        </p:nvSpPr>
        <p:spPr>
          <a:xfrm>
            <a:off x="5653654" y="3497943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39404" y="3248479"/>
            <a:ext cx="1902846" cy="727529"/>
          </a:xfrm>
          <a:prstGeom prst="roundRect">
            <a:avLst>
              <a:gd name="adj" fmla="val 10474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053704" y="3343729"/>
            <a:ext cx="1674246" cy="575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Loader</a:t>
            </a:r>
          </a:p>
        </p:txBody>
      </p:sp>
      <p:sp>
        <p:nvSpPr>
          <p:cNvPr id="14" name="Text 12"/>
          <p:cNvSpPr/>
          <p:nvPr/>
        </p:nvSpPr>
        <p:spPr>
          <a:xfrm>
            <a:off x="7899400" y="3497943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85150" y="3382736"/>
            <a:ext cx="1902959" cy="459014"/>
          </a:xfrm>
          <a:prstGeom prst="roundRect">
            <a:avLst>
              <a:gd name="adj" fmla="val 16601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99450" y="3477986"/>
            <a:ext cx="1674359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</a:t>
            </a:r>
          </a:p>
        </p:txBody>
      </p:sp>
      <p:sp>
        <p:nvSpPr>
          <p:cNvPr id="17" name="Text 15"/>
          <p:cNvSpPr/>
          <p:nvPr/>
        </p:nvSpPr>
        <p:spPr>
          <a:xfrm>
            <a:off x="10145259" y="3497943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31009" y="3223079"/>
            <a:ext cx="1917473" cy="778329"/>
          </a:xfrm>
          <a:prstGeom prst="roundRect">
            <a:avLst>
              <a:gd name="adj" fmla="val 9790"/>
            </a:avLst>
          </a:prstGeom>
          <a:solidFill>
            <a:srgbClr val="FFF8E0"/>
          </a:solidFill>
          <a:ln w="7257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552566" y="3325586"/>
            <a:ext cx="1674359" cy="611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 🔒</a:t>
            </a:r>
          </a:p>
        </p:txBody>
      </p:sp>
      <p:sp>
        <p:nvSpPr>
          <p:cNvPr id="20" name="Text 18"/>
          <p:cNvSpPr/>
          <p:nvPr/>
        </p:nvSpPr>
        <p:spPr>
          <a:xfrm>
            <a:off x="12405632" y="3497943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691382" y="3382736"/>
            <a:ext cx="1902959" cy="459014"/>
          </a:xfrm>
          <a:prstGeom prst="roundRect">
            <a:avLst>
              <a:gd name="adj" fmla="val 16601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805682" y="3477986"/>
            <a:ext cx="1674359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</a:t>
            </a:r>
          </a:p>
        </p:txBody>
      </p:sp>
      <p:sp>
        <p:nvSpPr>
          <p:cNvPr id="23" name="Text 21"/>
          <p:cNvSpPr/>
          <p:nvPr/>
        </p:nvSpPr>
        <p:spPr>
          <a:xfrm>
            <a:off x="14651492" y="3497943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937242" y="3248479"/>
            <a:ext cx="1902959" cy="727529"/>
          </a:xfrm>
          <a:prstGeom prst="roundRect">
            <a:avLst>
              <a:gd name="adj" fmla="val 10474"/>
            </a:avLst>
          </a:prstGeom>
          <a:solidFill>
            <a:srgbClr val="F0F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5051542" y="3343729"/>
            <a:ext cx="1674359" cy="575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Logger</a:t>
            </a:r>
          </a:p>
        </p:txBody>
      </p:sp>
      <p:sp>
        <p:nvSpPr>
          <p:cNvPr id="26" name="Shape 24"/>
          <p:cNvSpPr/>
          <p:nvPr/>
        </p:nvSpPr>
        <p:spPr>
          <a:xfrm>
            <a:off x="1143000" y="4420507"/>
            <a:ext cx="5181600" cy="5104493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409700" y="4687207"/>
            <a:ext cx="478764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1 — 비자 위험도</a:t>
            </a:r>
          </a:p>
        </p:txBody>
      </p:sp>
      <p:sp>
        <p:nvSpPr>
          <p:cNvPr id="28" name="Text 26"/>
          <p:cNvSpPr/>
          <p:nvPr/>
        </p:nvSpPr>
        <p:spPr>
          <a:xfrm>
            <a:off x="1409700" y="5233874"/>
            <a:ext cx="4787646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여권 만료일 · 체류 유형 · 계약서</a:t>
            </a:r>
          </a:p>
        </p:txBody>
      </p:sp>
      <p:sp>
        <p:nvSpPr>
          <p:cNvPr id="29" name="Text 27"/>
          <p:cNvSpPr/>
          <p:nvPr/>
        </p:nvSpPr>
        <p:spPr>
          <a:xfrm>
            <a:off x="1409700" y="5643903"/>
            <a:ext cx="4787646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D-day · 체류유형 · 계약 교차 분석 ReAct LLM 루프</a:t>
            </a:r>
          </a:p>
        </p:txBody>
      </p:sp>
      <p:sp>
        <p:nvSpPr>
          <p:cNvPr id="30" name="Text 28"/>
          <p:cNvSpPr/>
          <p:nvPr/>
        </p:nvSpPr>
        <p:spPr>
          <a:xfrm>
            <a:off x="1409700" y="6053932"/>
            <a:ext cx="4787646" cy="575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툴: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calculate_visa_d_day · assess_visa_risk</a:t>
            </a:r>
          </a:p>
        </p:txBody>
      </p:sp>
      <p:sp>
        <p:nvSpPr>
          <p:cNvPr id="31" name="Shape 29"/>
          <p:cNvSpPr/>
          <p:nvPr/>
        </p:nvSpPr>
        <p:spPr>
          <a:xfrm>
            <a:off x="6553200" y="4420507"/>
            <a:ext cx="5181600" cy="5104493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819900" y="4687207"/>
            <a:ext cx="478764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2 — 서류 우선순위</a:t>
            </a:r>
          </a:p>
        </p:txBody>
      </p:sp>
      <p:sp>
        <p:nvSpPr>
          <p:cNvPr id="33" name="Text 31"/>
          <p:cNvSpPr/>
          <p:nvPr/>
        </p:nvSpPr>
        <p:spPr>
          <a:xfrm>
            <a:off x="6819900" y="5233874"/>
            <a:ext cx="4787646" cy="64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 서류 목록 · 비자 D-day</a:t>
            </a:r>
          </a:p>
        </p:txBody>
      </p:sp>
      <p:sp>
        <p:nvSpPr>
          <p:cNvPr id="34" name="Text 32"/>
          <p:cNvSpPr/>
          <p:nvPr/>
        </p:nvSpPr>
        <p:spPr>
          <a:xfrm>
            <a:off x="6819900" y="5912417"/>
            <a:ext cx="4787646" cy="705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vs SUPPLEMENTARY 분류 ReAct LLM 루프</a:t>
            </a:r>
          </a:p>
        </p:txBody>
      </p:sp>
      <p:sp>
        <p:nvSpPr>
          <p:cNvPr id="35" name="Text 33"/>
          <p:cNvSpPr/>
          <p:nvPr/>
        </p:nvSpPr>
        <p:spPr>
          <a:xfrm>
            <a:off x="6819900" y="6656274"/>
            <a:ext cx="4787646" cy="843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툴: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calculate_missing_documents · assess_document_priority</a:t>
            </a:r>
          </a:p>
        </p:txBody>
      </p:sp>
      <p:sp>
        <p:nvSpPr>
          <p:cNvPr id="36" name="Shape 34"/>
          <p:cNvSpPr/>
          <p:nvPr/>
        </p:nvSpPr>
        <p:spPr>
          <a:xfrm>
            <a:off x="11963400" y="4420507"/>
            <a:ext cx="5181600" cy="5104493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2230100" y="4687207"/>
            <a:ext cx="478764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구조 (Human Approval 전)</a:t>
            </a:r>
          </a:p>
        </p:txBody>
      </p:sp>
      <p:sp>
        <p:nvSpPr>
          <p:cNvPr id="38" name="Text 36"/>
          <p:cNvSpPr/>
          <p:nvPr/>
        </p:nvSpPr>
        <p:spPr>
          <a:xfrm>
            <a:off x="12230100" y="5233874"/>
            <a:ext cx="4787646" cy="64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DailyBriefingItem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요약 + D-day + citation_ids</a:t>
            </a:r>
          </a:p>
        </p:txBody>
      </p:sp>
      <p:sp>
        <p:nvSpPr>
          <p:cNvPr id="39" name="Text 37"/>
          <p:cNvSpPr/>
          <p:nvPr/>
        </p:nvSpPr>
        <p:spPr>
          <a:xfrm>
            <a:off x="12230100" y="5912417"/>
            <a:ext cx="4787646" cy="575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NextAction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request_document / create_handoff</a:t>
            </a:r>
          </a:p>
        </p:txBody>
      </p:sp>
      <p:sp>
        <p:nvSpPr>
          <p:cNvPr id="40" name="Text 38"/>
          <p:cNvSpPr/>
          <p:nvPr/>
        </p:nvSpPr>
        <p:spPr>
          <a:xfrm>
            <a:off x="12230100" y="6525646"/>
            <a:ext cx="4787646" cy="575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EvidenceEvent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· node_name · actor_type</a:t>
            </a:r>
          </a:p>
        </p:txBody>
      </p:sp>
      <p:sp>
        <p:nvSpPr>
          <p:cNvPr id="41" name="Text 39"/>
          <p:cNvSpPr/>
          <p:nvPr/>
        </p:nvSpPr>
        <p:spPr>
          <a:xfrm>
            <a:off x="12230100" y="7138874"/>
            <a:ext cx="4787646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후 → 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ExternalDeliveryJob 생성</a:t>
            </a:r>
          </a:p>
        </p:txBody>
      </p:sp>
      <p:sp>
        <p:nvSpPr>
          <p:cNvPr id="202" name="TermBar_text"/>
          <p:cNvSpPr>
            <a:spLocks noGrp="1"/>
          </p:cNvSpPr>
          <p:nvPr/>
        </p:nvSpPr>
        <p:spPr>
          <a:xfrm>
            <a:off x="1143000" y="9842500"/>
            <a:ext cx="16484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 marL="0" indent="0" algn="l">
              <a:buNone/>
            </a:pP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¹ LangGraph(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상태 기반 에이전트 워크플로 프레임워크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  ² Intent Router(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의도 분기 노드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  ³ Executor(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도구 호출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·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실행 노드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  ⁴ Aggregator(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병렬 결과 취합 노드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  ⁵ CRITICAL / SUPPLEMENTARY(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필수 서류 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/ </a:t>
            </a:r>
            <a:r>
              <a:rPr lang="ko-KR" altLang="en-US" sz="800">
                <a:solidFill>
                  <a:srgbClr val="BBBBBB"/>
                </a:solidFill>
                <a:latin typeface="Arial" pitchFamily="34" charset="0"/>
              </a:rPr>
              <a:t>보완 서류 등급</a:t>
            </a:r>
            <a:r>
              <a:rPr lang="en-US" altLang="ko-KR" sz="800">
                <a:solidFill>
                  <a:srgbClr val="BBBBBB"/>
                </a:solidFill>
                <a:latin typeface="Arial" pitchFamily="34" charset="0"/>
              </a:rPr>
              <a:t>)</a:t>
            </a: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12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3215123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검색 품질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0629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파이프라인 + </a:t>
            </a:r>
            <a:r>
              <a:rPr lang="en-US" sz="5400" b="1" kern="0" spc="-173" dirty="0" err="1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</a:t>
            </a:r>
            <a:endParaRPr lang="en-US" sz="5400" dirty="0"/>
          </a:p>
        </p:txBody>
      </p:sp>
      <p:sp>
        <p:nvSpPr>
          <p:cNvPr id="50" name="LC_Title"/>
          <p:cNvSpPr>
            <a:spLocks noGrp="1"/>
          </p:cNvSpPr>
          <p:nvPr/>
        </p:nvSpPr>
        <p:spPr>
          <a:xfrm>
            <a:off x="1143000" y="2425700"/>
            <a:ext cx="749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kern="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파이프라인</a:t>
            </a:r>
          </a:p>
        </p:txBody>
      </p:sp>
      <p:sp>
        <p:nvSpPr>
          <p:cNvPr id="51" name="Step1_bg"/>
          <p:cNvSpPr>
            <a:spLocks noGrp="1"/>
          </p:cNvSpPr>
          <p:nvPr/>
        </p:nvSpPr>
        <p:spPr>
          <a:xfrm>
            <a:off x="1143000" y="3022600"/>
            <a:ext cx="7493000" cy="13208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Step1_line"/>
          <p:cNvSpPr>
            <a:spLocks noGrp="1"/>
          </p:cNvSpPr>
          <p:nvPr/>
        </p:nvSpPr>
        <p:spPr>
          <a:xfrm>
            <a:off x="1143000" y="3022600"/>
            <a:ext cx="38100" cy="1320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Step1_txt"/>
          <p:cNvSpPr>
            <a:spLocks noGrp="1"/>
          </p:cNvSpPr>
          <p:nvPr/>
        </p:nvSpPr>
        <p:spPr>
          <a:xfrm>
            <a:off x="1320800" y="3149600"/>
            <a:ext cx="7264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문서 소스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사내문서 · PDF · Wiki · DB</a:t>
            </a:r>
          </a:p>
        </p:txBody>
      </p:sp>
      <p:sp>
        <p:nvSpPr>
          <p:cNvPr id="54" name="Step2_bg"/>
          <p:cNvSpPr>
            <a:spLocks noGrp="1"/>
          </p:cNvSpPr>
          <p:nvPr/>
        </p:nvSpPr>
        <p:spPr>
          <a:xfrm>
            <a:off x="1143000" y="4381500"/>
            <a:ext cx="7493000" cy="13208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Step2_line"/>
          <p:cNvSpPr>
            <a:spLocks noGrp="1"/>
          </p:cNvSpPr>
          <p:nvPr/>
        </p:nvSpPr>
        <p:spPr>
          <a:xfrm>
            <a:off x="1143000" y="4381500"/>
            <a:ext cx="38100" cy="1320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Step2_txt"/>
          <p:cNvSpPr>
            <a:spLocks noGrp="1"/>
          </p:cNvSpPr>
          <p:nvPr/>
        </p:nvSpPr>
        <p:spPr>
          <a:xfrm>
            <a:off x="1320800" y="4508500"/>
            <a:ext cx="7264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정규화 / 청킹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text hash 기반 임베딩 캐시</a:t>
            </a:r>
          </a:p>
        </p:txBody>
      </p:sp>
      <p:sp>
        <p:nvSpPr>
          <p:cNvPr id="57" name="Step3_bg"/>
          <p:cNvSpPr>
            <a:spLocks noGrp="1"/>
          </p:cNvSpPr>
          <p:nvPr/>
        </p:nvSpPr>
        <p:spPr>
          <a:xfrm>
            <a:off x="1143000" y="5740400"/>
            <a:ext cx="7493000" cy="13208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Step3_line"/>
          <p:cNvSpPr>
            <a:spLocks noGrp="1"/>
          </p:cNvSpPr>
          <p:nvPr/>
        </p:nvSpPr>
        <p:spPr>
          <a:xfrm>
            <a:off x="1143000" y="5740400"/>
            <a:ext cx="38100" cy="1320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Step3_txt"/>
          <p:cNvSpPr>
            <a:spLocks noGrp="1"/>
          </p:cNvSpPr>
          <p:nvPr/>
        </p:nvSpPr>
        <p:spPr>
          <a:xfrm>
            <a:off x="1320800" y="5867400"/>
            <a:ext cx="7264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인덱싱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변경분 중심 업데이트 · 버전/유효기간 관리</a:t>
            </a:r>
          </a:p>
        </p:txBody>
      </p:sp>
      <p:sp>
        <p:nvSpPr>
          <p:cNvPr id="60" name="Step4_bg"/>
          <p:cNvSpPr>
            <a:spLocks noGrp="1"/>
          </p:cNvSpPr>
          <p:nvPr/>
        </p:nvSpPr>
        <p:spPr>
          <a:xfrm>
            <a:off x="1143000" y="7099300"/>
            <a:ext cx="7493000" cy="13208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tep4_line"/>
          <p:cNvSpPr>
            <a:spLocks noGrp="1"/>
          </p:cNvSpPr>
          <p:nvPr/>
        </p:nvSpPr>
        <p:spPr>
          <a:xfrm>
            <a:off x="1143000" y="7099300"/>
            <a:ext cx="38100" cy="1320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tep4_txt"/>
          <p:cNvSpPr>
            <a:spLocks noGrp="1"/>
          </p:cNvSpPr>
          <p:nvPr/>
        </p:nvSpPr>
        <p:spPr>
          <a:xfrm>
            <a:off x="1320800" y="7226300"/>
            <a:ext cx="7264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검색 → 인용 (Citation)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evidence 탐지 차단 · A/B/E 등급 허용</a:t>
            </a:r>
          </a:p>
        </p:txBody>
      </p:sp>
      <p:sp>
        <p:nvSpPr>
          <p:cNvPr id="63" name="Step5_bg"/>
          <p:cNvSpPr>
            <a:spLocks noGrp="1"/>
          </p:cNvSpPr>
          <p:nvPr/>
        </p:nvSpPr>
        <p:spPr>
          <a:xfrm>
            <a:off x="1143000" y="8458200"/>
            <a:ext cx="7493000" cy="13208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tep5_line"/>
          <p:cNvSpPr>
            <a:spLocks noGrp="1"/>
          </p:cNvSpPr>
          <p:nvPr/>
        </p:nvSpPr>
        <p:spPr>
          <a:xfrm>
            <a:off x="1143000" y="8458200"/>
            <a:ext cx="38100" cy="1320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Step5_txt"/>
          <p:cNvSpPr>
            <a:spLocks noGrp="1"/>
          </p:cNvSpPr>
          <p:nvPr/>
        </p:nvSpPr>
        <p:spPr>
          <a:xfrm>
            <a:off x="1320800" y="8585200"/>
            <a:ext cx="7264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답변 생성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없으면 강한 결론 금지 → 보류 / 재질문 / 승인 요청</a:t>
            </a:r>
          </a:p>
        </p:txBody>
      </p:sp>
      <p:sp>
        <p:nvSpPr>
          <p:cNvPr id="80" name="RC_Title"/>
          <p:cNvSpPr>
            <a:spLocks noGrp="1"/>
          </p:cNvSpPr>
          <p:nvPr/>
        </p:nvSpPr>
        <p:spPr>
          <a:xfrm>
            <a:off x="8953500" y="2425700"/>
            <a:ext cx="86741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kern="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품질 — 정답 생성이 아닌 근거 추적</a:t>
            </a:r>
          </a:p>
        </p:txBody>
      </p:sp>
      <p:sp>
        <p:nvSpPr>
          <p:cNvPr id="81" name="Divider"/>
          <p:cNvSpPr>
            <a:spLocks noGrp="1"/>
          </p:cNvSpPr>
          <p:nvPr/>
        </p:nvSpPr>
        <p:spPr>
          <a:xfrm>
            <a:off x="8851900" y="2425700"/>
            <a:ext cx="12700" cy="7239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Qual1_bg"/>
          <p:cNvSpPr>
            <a:spLocks noGrp="1"/>
          </p:cNvSpPr>
          <p:nvPr/>
        </p:nvSpPr>
        <p:spPr>
          <a:xfrm>
            <a:off x="8953500" y="3022600"/>
            <a:ext cx="8674100" cy="13208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Qual1_line"/>
          <p:cNvSpPr>
            <a:spLocks noGrp="1"/>
          </p:cNvSpPr>
          <p:nvPr/>
        </p:nvSpPr>
        <p:spPr>
          <a:xfrm>
            <a:off x="8953500" y="3022600"/>
            <a:ext cx="38100" cy="1320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Qual1_txt"/>
          <p:cNvSpPr>
            <a:spLocks noGrp="1"/>
          </p:cNvSpPr>
          <p:nvPr/>
        </p:nvSpPr>
        <p:spPr>
          <a:xfrm>
            <a:off x="9131300" y="3149600"/>
            <a:ext cx="8445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수집 시기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업데이트 시 즉시 재인덱싱 — 운영 중 gap 방지</a:t>
            </a:r>
          </a:p>
        </p:txBody>
      </p:sp>
      <p:sp>
        <p:nvSpPr>
          <p:cNvPr id="93" name="Qual2_bg"/>
          <p:cNvSpPr>
            <a:spLocks noGrp="1"/>
          </p:cNvSpPr>
          <p:nvPr/>
        </p:nvSpPr>
        <p:spPr>
          <a:xfrm>
            <a:off x="8953500" y="4381500"/>
            <a:ext cx="8674100" cy="13208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Qual2_line"/>
          <p:cNvSpPr>
            <a:spLocks noGrp="1"/>
          </p:cNvSpPr>
          <p:nvPr/>
        </p:nvSpPr>
        <p:spPr>
          <a:xfrm>
            <a:off x="8953500" y="4381500"/>
            <a:ext cx="38100" cy="1320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" name="Qual2_txt"/>
          <p:cNvSpPr>
            <a:spLocks noGrp="1"/>
          </p:cNvSpPr>
          <p:nvPr/>
        </p:nvSpPr>
        <p:spPr>
          <a:xfrm>
            <a:off x="9131300" y="4508500"/>
            <a:ext cx="8445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문서 여부 (A~F 등급)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A/B/E만 허용 · F등급·금지 마커 자동 차단</a:t>
            </a:r>
          </a:p>
        </p:txBody>
      </p:sp>
      <p:sp>
        <p:nvSpPr>
          <p:cNvPr id="96" name="Qual3_bg"/>
          <p:cNvSpPr>
            <a:spLocks noGrp="1"/>
          </p:cNvSpPr>
          <p:nvPr/>
        </p:nvSpPr>
        <p:spPr>
          <a:xfrm>
            <a:off x="8953500" y="5740400"/>
            <a:ext cx="8674100" cy="13208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" name="Qual3_line"/>
          <p:cNvSpPr>
            <a:spLocks noGrp="1"/>
          </p:cNvSpPr>
          <p:nvPr/>
        </p:nvSpPr>
        <p:spPr>
          <a:xfrm>
            <a:off x="8953500" y="5740400"/>
            <a:ext cx="38100" cy="1320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8" name="Qual3_txt"/>
          <p:cNvSpPr>
            <a:spLocks noGrp="1"/>
          </p:cNvSpPr>
          <p:nvPr/>
        </p:nvSpPr>
        <p:spPr>
          <a:xfrm>
            <a:off x="9131300" y="5867400"/>
            <a:ext cx="8445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Evidence 탐지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유효기간 만료 · 버전 불일치 청크 자동 차단</a:t>
            </a:r>
          </a:p>
        </p:txBody>
      </p:sp>
      <p:sp>
        <p:nvSpPr>
          <p:cNvPr id="99" name="Qual4_bg"/>
          <p:cNvSpPr>
            <a:spLocks noGrp="1"/>
          </p:cNvSpPr>
          <p:nvPr/>
        </p:nvSpPr>
        <p:spPr>
          <a:xfrm>
            <a:off x="8953500" y="7099300"/>
            <a:ext cx="8674100" cy="13208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Qual4_line"/>
          <p:cNvSpPr>
            <a:spLocks noGrp="1"/>
          </p:cNvSpPr>
          <p:nvPr/>
        </p:nvSpPr>
        <p:spPr>
          <a:xfrm>
            <a:off x="8953500" y="7099300"/>
            <a:ext cx="38100" cy="1320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Qual4_txt"/>
          <p:cNvSpPr>
            <a:spLocks noGrp="1"/>
          </p:cNvSpPr>
          <p:nvPr/>
        </p:nvSpPr>
        <p:spPr>
          <a:xfrm>
            <a:off x="9131300" y="7226300"/>
            <a:ext cx="8445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↔ 근거 연결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citation_ids 필수 · 근거 없는 강한 단언 금지</a:t>
            </a:r>
          </a:p>
        </p:txBody>
      </p:sp>
      <p:sp>
        <p:nvSpPr>
          <p:cNvPr id="102" name="Qual5_bg"/>
          <p:cNvSpPr>
            <a:spLocks noGrp="1"/>
          </p:cNvSpPr>
          <p:nvPr/>
        </p:nvSpPr>
        <p:spPr>
          <a:xfrm>
            <a:off x="8953500" y="8458200"/>
            <a:ext cx="8674100" cy="13208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Qual5_line"/>
          <p:cNvSpPr>
            <a:spLocks noGrp="1"/>
          </p:cNvSpPr>
          <p:nvPr/>
        </p:nvSpPr>
        <p:spPr>
          <a:xfrm>
            <a:off x="8953500" y="8458200"/>
            <a:ext cx="38100" cy="1320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Qual5_txt"/>
          <p:cNvSpPr>
            <a:spLocks noGrp="1"/>
          </p:cNvSpPr>
          <p:nvPr/>
        </p:nvSpPr>
        <p:spPr>
          <a:xfrm>
            <a:off x="9131300" y="8585200"/>
            <a:ext cx="8445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실패 Fallback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0건 → 재질문 / 범위 확대 / 담당자 에스컬레이션</a:t>
            </a:r>
          </a:p>
        </p:txBody>
      </p:sp>
      <p:sp>
        <p:nvSpPr>
          <p:cNvPr id="202" name="TermBar_text"/>
          <p:cNvSpPr>
            <a:spLocks noGrp="1"/>
          </p:cNvSpPr>
          <p:nvPr/>
        </p:nvSpPr>
        <p:spPr>
          <a:xfrm>
            <a:off x="1143000" y="9842500"/>
            <a:ext cx="16484600" cy="35560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/>
          <a:lstStyle/>
          <a:p>
            <a:pPr algn="l">
              <a:buNone/>
            </a:pP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¹ RAG(Retrieval-Augmented Generation, 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검색 결합 생성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)  ² Stale Evidence(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유효기간 만료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·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버전 불일치 근거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)  ³ Citation(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답변 내 근거 출처 참조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)</a:t>
            </a:r>
            <a:endParaRPr lang="en-US" sz="800" dirty="0">
              <a:solidFill>
                <a:srgbClr val="555555"/>
              </a:solidFill>
              <a:latin typeface="Arial" pitchFamily="34" charset="0"/>
              <a:ea typeface="Arial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8926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3215123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검색 품질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0629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라우팅 품질</a:t>
            </a:r>
          </a:p>
        </p:txBody>
      </p:sp>
      <p:sp>
        <p:nvSpPr>
          <p:cNvPr id="11" name="Box1_bg"/>
          <p:cNvSpPr>
            <a:spLocks noGrp="1"/>
          </p:cNvSpPr>
          <p:nvPr/>
        </p:nvSpPr>
        <p:spPr>
          <a:xfrm>
            <a:off x="1143000" y="3022600"/>
            <a:ext cx="16484600" cy="2159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ox1_line"/>
          <p:cNvSpPr>
            <a:spLocks noGrp="1"/>
          </p:cNvSpPr>
          <p:nvPr/>
        </p:nvSpPr>
        <p:spPr>
          <a:xfrm>
            <a:off x="1143000" y="3022600"/>
            <a:ext cx="50800" cy="21590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Box1_txt"/>
          <p:cNvSpPr>
            <a:spLocks noGrp="1"/>
          </p:cNvSpPr>
          <p:nvPr/>
        </p:nvSpPr>
        <p:spPr>
          <a:xfrm>
            <a:off x="1346200" y="3175000"/>
            <a:ext cx="16230600" cy="195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</a:t>
            </a:r>
            <a:r>
              <a:rPr lang="ko-KR" alt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의도적 범위 제한</a:t>
            </a:r>
            <a:r>
              <a:rPr lang="en-US" altLang="ko-KR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 카테고리 밖 실행 차단</a:t>
            </a:r>
            <a:r>
              <a:rPr lang="en-US" sz="17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구조화된 Plan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에이전트는 사용자의 자유 텍스트 요청을 바로 실행하지 않고, 먼저 의도(Intent)를 4가지 카테고리로 분류한 뒤 구조화된 Plan으로 변환합니다.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인용: 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/ 안전 / 생활 / 공지 — 분류 이외 경로는 실행 차단</a:t>
            </a:r>
          </a:p>
        </p:txBody>
      </p:sp>
      <p:sp>
        <p:nvSpPr>
          <p:cNvPr id="21" name="Box2_bg"/>
          <p:cNvSpPr>
            <a:spLocks noGrp="1"/>
          </p:cNvSpPr>
          <p:nvPr/>
        </p:nvSpPr>
        <p:spPr>
          <a:xfrm>
            <a:off x="1143000" y="5245100"/>
            <a:ext cx="16484600" cy="21590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Box2_line"/>
          <p:cNvSpPr>
            <a:spLocks noGrp="1"/>
          </p:cNvSpPr>
          <p:nvPr/>
        </p:nvSpPr>
        <p:spPr>
          <a:xfrm>
            <a:off x="1143000" y="5245100"/>
            <a:ext cx="50800" cy="21590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Box2_txt"/>
          <p:cNvSpPr>
            <a:spLocks noGrp="1"/>
          </p:cNvSpPr>
          <p:nvPr/>
        </p:nvSpPr>
        <p:spPr>
          <a:xfrm>
            <a:off x="1346200" y="5397500"/>
            <a:ext cx="16230600" cy="195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Rule vs LLM 책임 분리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</a:t>
            </a:r>
            <a:r>
              <a:rPr lang="en-US" sz="1600" b="1" dirty="0" err="1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</a:t>
            </a:r>
            <a:r>
              <a:rPr lang="en-US" sz="16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조건 체크 · 리스크 등급 판정 · 금지 항목 차단 · 승인 요청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</a:t>
            </a:r>
            <a:r>
              <a:rPr lang="en-US" sz="1600" b="1" dirty="0" err="1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</a:t>
            </a:r>
            <a:r>
              <a:rPr lang="en-US" sz="16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· 메시지 작성 · 설명 생성 · 플랜 제안</a:t>
            </a:r>
          </a:p>
        </p:txBody>
      </p:sp>
      <p:sp>
        <p:nvSpPr>
          <p:cNvPr id="31" name="Box3_bg"/>
          <p:cNvSpPr>
            <a:spLocks noGrp="1"/>
          </p:cNvSpPr>
          <p:nvPr/>
        </p:nvSpPr>
        <p:spPr>
          <a:xfrm>
            <a:off x="1143000" y="7467600"/>
            <a:ext cx="16484600" cy="215900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Box3_line"/>
          <p:cNvSpPr>
            <a:spLocks noGrp="1"/>
          </p:cNvSpPr>
          <p:nvPr/>
        </p:nvSpPr>
        <p:spPr>
          <a:xfrm>
            <a:off x="1143000" y="7467600"/>
            <a:ext cx="50800" cy="2159000"/>
          </a:xfrm>
          <a:prstGeom prst="rect">
            <a:avLst/>
          </a:prstGeom>
          <a:solidFill>
            <a:srgbClr val="00BF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Box3_txt"/>
          <p:cNvSpPr>
            <a:spLocks noGrp="1"/>
          </p:cNvSpPr>
          <p:nvPr/>
        </p:nvSpPr>
        <p:spPr>
          <a:xfrm>
            <a:off x="1346200" y="7620000"/>
            <a:ext cx="16230600" cy="195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00B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불확실성 처리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low_confidence: 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재질문으로 의도 명확화 요청 — 추측 기반 실행 금지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intent: 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조회 전용 모드로 제한 — 쓰기·발송·수정 동작 차단</a:t>
            </a:r>
          </a:p>
        </p:txBody>
      </p:sp>
      <p:sp>
        <p:nvSpPr>
          <p:cNvPr id="202" name="TermBar_text"/>
          <p:cNvSpPr>
            <a:spLocks noGrp="1"/>
          </p:cNvSpPr>
          <p:nvPr/>
        </p:nvSpPr>
        <p:spPr>
          <a:xfrm>
            <a:off x="1143000" y="9842500"/>
            <a:ext cx="16484600" cy="35560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/>
          <a:lstStyle/>
          <a:p>
            <a:pPr algn="l">
              <a:buNone/>
            </a:pP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¹ Bounded Intent(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의도 범위 제한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, 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허용 카테고리 밖 실행 차단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)  ² Rule 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영역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(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결정론 코드 로직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)  ³ LLM 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영역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(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언어 모델 생성 로직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)  ⁴ low_confidence(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분류 신뢰도 낮을 때 재질문 트리거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)</a:t>
            </a:r>
            <a:endParaRPr lang="en-US" sz="800" dirty="0">
              <a:solidFill>
                <a:srgbClr val="555555"/>
              </a:solidFill>
              <a:latin typeface="Arial" pitchFamily="34" charset="0"/>
              <a:ea typeface="Arial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3259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2674014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비용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0629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설계 원칙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532176"/>
            <a:ext cx="780270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비용이 터지는 지점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3097893"/>
            <a:ext cx="7575437" cy="1061471"/>
          </a:xfrm>
          <a:prstGeom prst="roundRect">
            <a:avLst>
              <a:gd name="adj" fmla="val 8973"/>
            </a:avLst>
          </a:prstGeom>
          <a:solidFill>
            <a:srgbClr val="FFF8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43000" y="3097893"/>
            <a:ext cx="21771" cy="1061471"/>
          </a:xfrm>
          <a:prstGeom prst="rect">
            <a:avLst/>
          </a:prstGeom>
          <a:solidFill>
            <a:srgbClr val="FF92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74321" y="3269343"/>
            <a:ext cx="734860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인덱싱 / 검색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4321" y="3654085"/>
            <a:ext cx="734860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재인덱싱 → 변경분 중심 업데이트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4273664"/>
            <a:ext cx="7575437" cy="1061471"/>
          </a:xfrm>
          <a:prstGeom prst="roundRect">
            <a:avLst>
              <a:gd name="adj" fmla="val 8973"/>
            </a:avLst>
          </a:prstGeom>
          <a:solidFill>
            <a:srgbClr val="FFF8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4273664"/>
            <a:ext cx="21771" cy="1061471"/>
          </a:xfrm>
          <a:prstGeom prst="rect">
            <a:avLst/>
          </a:prstGeom>
          <a:solidFill>
            <a:srgbClr val="FF92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74321" y="4445114"/>
            <a:ext cx="734860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호출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4321" y="4829855"/>
            <a:ext cx="734860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질문 풀 생성 → 라우팅·룰로 좁힌 뒤 필요 단계만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5449434"/>
            <a:ext cx="7575437" cy="1061471"/>
          </a:xfrm>
          <a:prstGeom prst="roundRect">
            <a:avLst>
              <a:gd name="adj" fmla="val 8973"/>
            </a:avLst>
          </a:prstGeom>
          <a:solidFill>
            <a:srgbClr val="FFF8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43000" y="5449434"/>
            <a:ext cx="21771" cy="1061471"/>
          </a:xfrm>
          <a:prstGeom prst="rect">
            <a:avLst/>
          </a:prstGeom>
          <a:solidFill>
            <a:srgbClr val="FF92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74321" y="5620884"/>
            <a:ext cx="734860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대량 이벤트 (스케줄러)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4321" y="6005626"/>
            <a:ext cx="734860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사업장·근로자 증가 → 배치 / 큐잉 / 캐싱 전략 필요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18437" y="2532176"/>
            <a:ext cx="9525" cy="6992824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727962" y="2532176"/>
            <a:ext cx="866955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비용을 낮추는 설계 원칙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727962" y="2945493"/>
            <a:ext cx="4141788" cy="1516176"/>
          </a:xfrm>
          <a:prstGeom prst="roundRect">
            <a:avLst>
              <a:gd name="adj" fmla="val 10052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956562" y="3155043"/>
            <a:ext cx="379512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ko-KR" altLang="en-US" sz="1800" b="1" dirty="0" err="1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</a:t>
            </a:r>
            <a:r>
              <a:rPr lang="ko-KR" alt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캐시</a:t>
            </a:r>
            <a:r>
              <a:rPr lang="en-US" altLang="ko-KR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변환 재사용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56562" y="3520735"/>
            <a:ext cx="3795125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text hash 기반 — 중복 재생성 방지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003099" y="2945493"/>
            <a:ext cx="4141901" cy="1516176"/>
          </a:xfrm>
          <a:prstGeom prst="roundRect">
            <a:avLst>
              <a:gd name="adj" fmla="val 10052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3231699" y="3155043"/>
            <a:ext cx="379524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/ Cost Guard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31699" y="3520735"/>
            <a:ext cx="3795242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재시도 · 루프 차단 (circuit breaker)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727962" y="4595019"/>
            <a:ext cx="4141788" cy="1516176"/>
          </a:xfrm>
          <a:prstGeom prst="roundRect">
            <a:avLst>
              <a:gd name="adj" fmla="val 10052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956562" y="4804569"/>
            <a:ext cx="379512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ko-KR" alt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실행 결과 동일 보장</a:t>
            </a: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56562" y="5170261"/>
            <a:ext cx="379512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case_id 중복 실행 방지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003099" y="4595019"/>
            <a:ext cx="4141901" cy="1516176"/>
          </a:xfrm>
          <a:prstGeom prst="roundRect">
            <a:avLst>
              <a:gd name="adj" fmla="val 10052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3231699" y="4804569"/>
            <a:ext cx="379524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미들웨어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231699" y="5170261"/>
            <a:ext cx="3795242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케이스 컨텍스트 절약 — 토큰 일정 유지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727962" y="6244545"/>
            <a:ext cx="4141788" cy="1516176"/>
          </a:xfrm>
          <a:prstGeom prst="roundRect">
            <a:avLst>
              <a:gd name="adj" fmla="val 10052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956562" y="6454095"/>
            <a:ext cx="3795125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계단식 추론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56562" y="6819787"/>
            <a:ext cx="3795125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소형 모델 분류 후 → 큰 모델은 생성 단계만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003099" y="6244545"/>
            <a:ext cx="4141901" cy="1516176"/>
          </a:xfrm>
          <a:prstGeom prst="roundRect">
            <a:avLst>
              <a:gd name="adj" fmla="val 10052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3231699" y="6454095"/>
            <a:ext cx="379524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↔ 확정 분리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231699" y="6819787"/>
            <a:ext cx="3795242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전 초안만 — 승인 후 확정·발송·패키지 생성</a:t>
            </a:r>
            <a:endParaRPr lang="en-US" sz="1800" dirty="0"/>
          </a:p>
        </p:txBody>
      </p:sp>
      <p:sp>
        <p:nvSpPr>
          <p:cNvPr id="202" name="TermBar_text"/>
          <p:cNvSpPr>
            <a:spLocks noGrp="1"/>
          </p:cNvSpPr>
          <p:nvPr/>
        </p:nvSpPr>
        <p:spPr>
          <a:xfrm>
            <a:off x="1143000" y="9677400"/>
            <a:ext cx="164846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 marL="0" indent="0" algn="l">
              <a:buNone/>
            </a:pPr>
            <a:r>
              <a:rPr lang="en-US" altLang="ko-KR" sz="800">
                <a:solidFill>
                  <a:srgbClr val="555555"/>
                </a:solidFill>
                <a:latin typeface="Arial" pitchFamily="34" charset="0"/>
              </a:rPr>
              <a:t>¹ Embedding Cache(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</a:rPr>
              <a:t>임베딩 캐시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</a:rPr>
              <a:t>, 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</a:rPr>
              <a:t>벡터 변환 재사용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</a:rPr>
              <a:t>)  ² Rate/Cost Guard(API 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</a:rPr>
              <a:t>속도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</a:rPr>
              <a:t>·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</a:rPr>
              <a:t>비용 제한 장치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</a:rPr>
              <a:t>)  ³ 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</a:rPr>
              <a:t>계단식 추론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</a:rPr>
              <a:t>(Chain-of-Thought, 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</a:rPr>
              <a:t>단계적 중간 추론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</a:rPr>
              <a:t>)  ⁴ 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</a:rPr>
              <a:t>초안↔확정 분리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</a:rPr>
              <a:t>(draft/approved </a:t>
            </a:r>
            <a:r>
              <a:rPr lang="ko-KR" altLang="en-US" sz="800">
                <a:solidFill>
                  <a:srgbClr val="555555"/>
                </a:solidFill>
                <a:latin typeface="Arial" pitchFamily="34" charset="0"/>
              </a:rPr>
              <a:t>별도 상태 관리</a:t>
            </a:r>
            <a:r>
              <a:rPr lang="en-US" altLang="ko-KR" sz="800">
                <a:solidFill>
                  <a:srgbClr val="555555"/>
                </a:solidFill>
                <a:latin typeface="Arial" pitchFamily="34" charset="0"/>
              </a:rPr>
              <a:t>)</a:t>
            </a:r>
            <a:endParaRPr lang="en-US" sz="800" dirty="0">
              <a:solidFill>
                <a:srgbClr val="555555"/>
              </a:solidFill>
              <a:latin typeface="Arial" pitchFamily="34" charset="0"/>
            </a:endParaRPr>
          </a:p>
        </p:txBody>
      </p:sp>
      <p:sp>
        <p:nvSpPr>
          <p:cNvPr id="110" name="RuleSection_title"/>
          <p:cNvSpPr>
            <a:spLocks noGrp="1"/>
          </p:cNvSpPr>
          <p:nvPr/>
        </p:nvSpPr>
        <p:spPr>
          <a:xfrm>
            <a:off x="1143000" y="7747000"/>
            <a:ext cx="16484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영역 핵심 요약 (에이전트별)</a:t>
            </a:r>
          </a:p>
        </p:txBody>
      </p:sp>
      <p:sp>
        <p:nvSpPr>
          <p:cNvPr id="111" name="Rule1_bg"/>
          <p:cNvSpPr>
            <a:spLocks noGrp="1"/>
          </p:cNvSpPr>
          <p:nvPr/>
        </p:nvSpPr>
        <p:spPr>
          <a:xfrm>
            <a:off x="1143000" y="8089900"/>
            <a:ext cx="5334000" cy="15494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Rule1_line"/>
          <p:cNvSpPr>
            <a:spLocks noGrp="1"/>
          </p:cNvSpPr>
          <p:nvPr/>
        </p:nvSpPr>
        <p:spPr>
          <a:xfrm>
            <a:off x="1143000" y="8089900"/>
            <a:ext cx="38100" cy="15494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Rule1_txt"/>
          <p:cNvSpPr>
            <a:spLocks noGrp="1"/>
          </p:cNvSpPr>
          <p:nvPr/>
        </p:nvSpPr>
        <p:spPr>
          <a:xfrm>
            <a:off x="1295400" y="8191500"/>
            <a:ext cx="5130800" cy="1422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인력확보 — Rule 5+1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생성 트리거 (결원·라인증설·임계치)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= 필요시점 − 리드타임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 제약 (정원/직무/숙소/예산·E-9 쿼터)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생성 방지 (idempotency_key)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라우팅 + 승인 게이트 강제</a:t>
            </a:r>
          </a:p>
          <a:p>
            <a:pPr marL="91440" indent="-91440" algn="l">
              <a:lnSpc>
                <a:spcPct val="135000"/>
              </a:lnSpc>
              <a:buChar char="→"/>
            </a:pPr>
            <a:r>
              <a:rPr lang="en-US" sz="12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준비도: 충족/누락만 — 점수·순위 금지</a:t>
            </a:r>
          </a:p>
        </p:txBody>
      </p:sp>
      <p:sp>
        <p:nvSpPr>
          <p:cNvPr id="121" name="Rule2_bg"/>
          <p:cNvSpPr>
            <a:spLocks noGrp="1"/>
          </p:cNvSpPr>
          <p:nvPr/>
        </p:nvSpPr>
        <p:spPr>
          <a:xfrm>
            <a:off x="6591300" y="8089900"/>
            <a:ext cx="5334000" cy="1549400"/>
          </a:xfrm>
          <a:prstGeom prst="rect">
            <a:avLst/>
          </a:prstGeom>
          <a:solidFill>
            <a:srgbClr val="EDF9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Rule2_line"/>
          <p:cNvSpPr>
            <a:spLocks noGrp="1"/>
          </p:cNvSpPr>
          <p:nvPr/>
        </p:nvSpPr>
        <p:spPr>
          <a:xfrm>
            <a:off x="6591300" y="8089900"/>
            <a:ext cx="38100" cy="1549400"/>
          </a:xfrm>
          <a:prstGeom prst="rect">
            <a:avLst/>
          </a:prstGeom>
          <a:solidFill>
            <a:srgbClr val="00BF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Rule2_txt"/>
          <p:cNvSpPr>
            <a:spLocks noGrp="1"/>
          </p:cNvSpPr>
          <p:nvPr/>
        </p:nvSpPr>
        <p:spPr>
          <a:xfrm>
            <a:off x="6743700" y="8191500"/>
            <a:ext cx="5130800" cy="1422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비자·서류 — Rule 3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D-7 CRITICAL / D-30 HIGH 리스크 등급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서류 누락 판정: missing_document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충돌 감지: 계약종료 &lt; 체류만료 → contract_visa_conflict</a:t>
            </a:r>
          </a:p>
        </p:txBody>
      </p:sp>
      <p:sp>
        <p:nvSpPr>
          <p:cNvPr id="131" name="Rule3_bg"/>
          <p:cNvSpPr>
            <a:spLocks noGrp="1"/>
          </p:cNvSpPr>
          <p:nvPr/>
        </p:nvSpPr>
        <p:spPr>
          <a:xfrm>
            <a:off x="12039600" y="8089900"/>
            <a:ext cx="5334000" cy="15494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Rule3_line"/>
          <p:cNvSpPr>
            <a:spLocks noGrp="1"/>
          </p:cNvSpPr>
          <p:nvPr/>
        </p:nvSpPr>
        <p:spPr>
          <a:xfrm>
            <a:off x="12039600" y="8089900"/>
            <a:ext cx="38100" cy="1549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3" name="Rule3_txt"/>
          <p:cNvSpPr>
            <a:spLocks noGrp="1"/>
          </p:cNvSpPr>
          <p:nvPr/>
        </p:nvSpPr>
        <p:spPr>
          <a:xfrm>
            <a:off x="12192000" y="8191500"/>
            <a:ext cx="5130800" cy="1422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다국어컨택 — Rule 5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 확정 + 템플릿 선택 (선호언어/국적/케이스타입)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금칙 룰: 법적 '확정' 표현 금지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감지 → 마스킹/차단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발송 정책: 채널 허용·야간·휴일·재발송 쿨다운</a:t>
            </a:r>
          </a:p>
          <a:p>
            <a:pPr marL="91440" indent="-91440" algn="l">
              <a:lnSpc>
                <a:spcPct val="135000"/>
              </a:lnSpc>
              <a:buChar char="·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게이트 + 상태 전이 규칙</a:t>
            </a:r>
          </a:p>
        </p:txBody>
      </p:sp>
    </p:spTree>
    <p:extLst>
      <p:ext uri="{BB962C8B-B14F-4D97-AF65-F5344CB8AC3E}">
        <p14:creationId xmlns:p14="http://schemas.microsoft.com/office/powerpoint/2010/main" val="724840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2674014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보안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0629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사업장 단위 데이터</a:t>
            </a: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격리 · PII 취급 · 권한 모델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646476"/>
            <a:ext cx="7922181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경계와 권한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3212193"/>
            <a:ext cx="7691438" cy="1266712"/>
          </a:xfrm>
          <a:prstGeom prst="roundRect">
            <a:avLst>
              <a:gd name="adj" fmla="val 902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43000" y="3212193"/>
            <a:ext cx="36286" cy="1266712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45986" y="3421743"/>
            <a:ext cx="733540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사업장</a:t>
            </a: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단위 데이터 격리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45986" y="3892210"/>
            <a:ext cx="7335404" cy="415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사업장 간 데이터가 섞이면 즉시 치명적 — 격리는 제품의 전제조건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4593205"/>
            <a:ext cx="7691438" cy="1643856"/>
          </a:xfrm>
          <a:prstGeom prst="roundRect">
            <a:avLst>
              <a:gd name="adj" fmla="val 695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4593205"/>
            <a:ext cx="36286" cy="1643856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445986" y="4802755"/>
            <a:ext cx="733540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역할 3단계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45986" y="5273222"/>
            <a:ext cx="7335404" cy="792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작성자(담당) </a:t>
            </a: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8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승인자(결재) </a:t>
            </a: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8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열람자(감사/관리) </a:t>
            </a: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모델 없이 승인·증빙은 그럴듯한 UI에 불과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6351361"/>
            <a:ext cx="7691438" cy="1266712"/>
          </a:xfrm>
          <a:prstGeom prst="roundRect">
            <a:avLst>
              <a:gd name="adj" fmla="val 902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43000" y="6351361"/>
            <a:ext cx="36286" cy="1266712"/>
          </a:xfrm>
          <a:prstGeom prst="rect">
            <a:avLst/>
          </a:prstGeom>
          <a:solidFill>
            <a:srgbClr val="FF92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445986" y="6560911"/>
            <a:ext cx="733540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미들웨어 중앙 통제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45986" y="7031378"/>
            <a:ext cx="7335404" cy="415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· rate limit · 재시도 · 감사 로그 — 툴 호출은 곧 외부 영향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39238" y="2646476"/>
            <a:ext cx="9525" cy="687852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453563" y="2646476"/>
            <a:ext cx="7922181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/ 민감정보 취급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53563" y="3212193"/>
            <a:ext cx="7691438" cy="1266712"/>
          </a:xfrm>
          <a:prstGeom prst="roundRect">
            <a:avLst>
              <a:gd name="adj" fmla="val 902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453563" y="3212193"/>
            <a:ext cx="36286" cy="1266712"/>
          </a:xfrm>
          <a:prstGeom prst="rect">
            <a:avLst/>
          </a:prstGeom>
          <a:solidFill>
            <a:srgbClr val="00BF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756549" y="3421743"/>
            <a:ext cx="733540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최소화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756549" y="3892210"/>
            <a:ext cx="7335404" cy="415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입력 단계에서 불필요한 PII 제거·마스킹 — 유출 면적 자체를 줄인다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53563" y="4593205"/>
            <a:ext cx="7691438" cy="1266712"/>
          </a:xfrm>
          <a:prstGeom prst="roundRect">
            <a:avLst>
              <a:gd name="adj" fmla="val 9023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453563" y="4593205"/>
            <a:ext cx="36286" cy="1266712"/>
          </a:xfrm>
          <a:prstGeom prst="rect">
            <a:avLst/>
          </a:prstGeom>
          <a:solidFill>
            <a:srgbClr val="00BF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756549" y="4802755"/>
            <a:ext cx="733540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로그·트레이스 </a:t>
            </a:r>
            <a:r>
              <a:rPr lang="en-US" sz="2100" b="1" kern="0" spc="-1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</a:t>
            </a: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kern="0" spc="-1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비저장</a:t>
            </a: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추적 고유 식별자</a:t>
            </a:r>
            <a:r>
              <a:rPr lang="en-US" altLang="ko-KR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756549" y="5273222"/>
            <a:ext cx="7335404" cy="415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 필드는 별도 보관 (권한 기반) — 운영 가능성과 보안을 동시에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453563" y="5974216"/>
            <a:ext cx="7691438" cy="1281226"/>
          </a:xfrm>
          <a:prstGeom prst="roundRect">
            <a:avLst>
              <a:gd name="adj" fmla="val 8921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727520" y="6191023"/>
            <a:ext cx="735782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Gate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727520" y="6661490"/>
            <a:ext cx="7357829" cy="415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전 외부 발송·제출 구조적 차단 — 실수 한 번의 비용을 막는다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73931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3445909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시스템 구성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0629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Contract · DB Schema · Observability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532176"/>
            <a:ext cx="288856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Contract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3135993"/>
            <a:ext cx="2804432" cy="9270546"/>
          </a:xfrm>
          <a:prstGeom prst="roundRect">
            <a:avLst>
              <a:gd name="adj" fmla="val 4755"/>
            </a:avLst>
          </a:prstGeom>
          <a:solidFill>
            <a:srgbClr val="0F0F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47800" y="3402693"/>
            <a:ext cx="2271032" cy="313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최소 필수 필드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47800" y="3811814"/>
            <a:ext cx="22710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tenantId · userId · currentScreen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47800" y="4650014"/>
            <a:ext cx="2271032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selectedCaseId · workerId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47800" y="5272314"/>
            <a:ext cx="219483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47800" y="5396139"/>
            <a:ext cx="2271032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· caseId · riskLevel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47800" y="5980340"/>
            <a:ext cx="2271032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nextActions · evidenceEventIds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47432" y="2532176"/>
            <a:ext cx="327141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Schema — 상태 모델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947432" y="3135993"/>
            <a:ext cx="3176134" cy="718117"/>
          </a:xfrm>
          <a:prstGeom prst="roundRect">
            <a:avLst>
              <a:gd name="adj" fmla="val 13264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37932" y="3288393"/>
            <a:ext cx="70847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95056" y="3312205"/>
            <a:ext cx="2114210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위험·업무 단위 (중심)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47432" y="3854110"/>
            <a:ext cx="3176134" cy="718117"/>
          </a:xfrm>
          <a:prstGeom prst="roundRect">
            <a:avLst>
              <a:gd name="adj" fmla="val 13264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37932" y="4006510"/>
            <a:ext cx="147070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NextAction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28305" y="4030322"/>
            <a:ext cx="9809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단위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47432" y="4572227"/>
            <a:ext cx="3176134" cy="718117"/>
          </a:xfrm>
          <a:prstGeom prst="roundRect">
            <a:avLst>
              <a:gd name="adj" fmla="val 13264"/>
            </a:avLst>
          </a:prstGeom>
          <a:solidFill>
            <a:srgbClr val="FFF8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137932" y="4724627"/>
            <a:ext cx="122146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028305" y="4748439"/>
            <a:ext cx="9809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 단위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947432" y="5290344"/>
            <a:ext cx="3176134" cy="1767568"/>
          </a:xfrm>
          <a:prstGeom prst="roundRect">
            <a:avLst>
              <a:gd name="adj" fmla="val 5389"/>
            </a:avLst>
          </a:prstGeom>
          <a:solidFill>
            <a:srgbClr val="F0F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137932" y="5967413"/>
            <a:ext cx="195625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EvidenceEvent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017986" y="5442744"/>
            <a:ext cx="991280" cy="1500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감사·재현 (append-only)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947432" y="7057912"/>
            <a:ext cx="3176134" cy="9525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947432" y="7067437"/>
            <a:ext cx="3271418" cy="1500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확장: Worker · Document · Contract HandoffPackage · DispatchLog · Tenant · User/Role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947432" y="8720705"/>
            <a:ext cx="3176134" cy="3685835"/>
          </a:xfrm>
          <a:prstGeom prst="roundRect">
            <a:avLst>
              <a:gd name="adj" fmla="val 2999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118882" y="8873105"/>
            <a:ext cx="291823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체크리스트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118882" y="9314997"/>
            <a:ext cx="2918231" cy="1039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중복 생성 방지 — idempotency 키 / 스케줄러 중복 실행 방지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18882" y="10316482"/>
            <a:ext cx="2918231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상태 전이 정의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118882" y="10650310"/>
            <a:ext cx="2918231" cy="705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취소·수정 가능 범위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118882" y="11317968"/>
            <a:ext cx="2918231" cy="64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EvidenceEvent append-only 여부 / 버전 관리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118882" y="11920311"/>
            <a:ext cx="2918231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문서 버전 저장 방식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123566" y="2532176"/>
            <a:ext cx="2641487" cy="9874364"/>
          </a:xfrm>
          <a:prstGeom prst="roundRect">
            <a:avLst>
              <a:gd name="adj" fmla="val 3606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333116" y="7262699"/>
            <a:ext cx="70847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7965395" y="7103609"/>
            <a:ext cx="1666308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상태의 중심 (업무 묶음)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765053" y="2532176"/>
            <a:ext cx="2200842" cy="9874364"/>
          </a:xfrm>
          <a:prstGeom prst="roundRect">
            <a:avLst>
              <a:gd name="adj" fmla="val 4328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9974603" y="7262699"/>
            <a:ext cx="147070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NextAction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1369108" y="6737917"/>
            <a:ext cx="463437" cy="1500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단위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965895" y="2532176"/>
            <a:ext cx="2007621" cy="9874364"/>
          </a:xfrm>
          <a:prstGeom prst="roundRect">
            <a:avLst>
              <a:gd name="adj" fmla="val 4744"/>
            </a:avLst>
          </a:prstGeom>
          <a:solidFill>
            <a:srgbClr val="FFF8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2175445" y="7262699"/>
            <a:ext cx="122146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3320713" y="7103609"/>
            <a:ext cx="519453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 단위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3973516" y="2532176"/>
            <a:ext cx="3171485" cy="9874364"/>
          </a:xfrm>
          <a:prstGeom prst="roundRect">
            <a:avLst>
              <a:gd name="adj" fmla="val 3003"/>
            </a:avLst>
          </a:prstGeom>
          <a:solidFill>
            <a:srgbClr val="F0F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4183066" y="7262699"/>
            <a:ext cx="1236663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5343527" y="7103609"/>
            <a:ext cx="1668122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감사·재현 (append-only)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0" y="10287000"/>
            <a:ext cx="1883664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/ Observability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0" y="10890817"/>
            <a:ext cx="18288000" cy="3231696"/>
          </a:xfrm>
          <a:prstGeom prst="roundRect">
            <a:avLst>
              <a:gd name="adj" fmla="val 4126"/>
            </a:avLst>
          </a:prstGeom>
          <a:solidFill>
            <a:srgbClr val="0F0F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04800" y="11157517"/>
            <a:ext cx="18208752" cy="313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최소 로그 필드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04800" y="11566638"/>
            <a:ext cx="1820875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trace_id · tenant_id · user_id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304800" y="11820639"/>
            <a:ext cx="1820875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· route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304800" y="12112739"/>
            <a:ext cx="17678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04800" y="12160364"/>
            <a:ext cx="1820875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retrieved_docs_count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304800" y="12414363"/>
            <a:ext cx="1820875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risk_rule_result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304800" y="12706464"/>
            <a:ext cx="17678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04800" y="12754089"/>
            <a:ext cx="1820875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case_id · next_action_ids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304800" y="13008089"/>
            <a:ext cx="1820875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approval_id · evidence_event_ids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304800" y="13300188"/>
            <a:ext cx="17678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304800" y="13347813"/>
            <a:ext cx="1820875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latency_ms · model_name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304800" y="13601814"/>
            <a:ext cx="1820875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token_usage · fallback_reason</a:t>
            </a:r>
            <a:endParaRPr lang="en-US" sz="1800" dirty="0"/>
          </a:p>
        </p:txBody>
      </p:sp>
      <p:sp>
        <p:nvSpPr>
          <p:cNvPr id="60" name="TermBar_text">
            <a:extLst>
              <a:ext uri="{FF2B5EF4-FFF2-40B4-BE49-F238E27FC236}">
                <a16:creationId xmlns:a16="http://schemas.microsoft.com/office/drawing/2014/main" id="{7085E2F7-9C90-41B3-8AC4-8C765B5AE42C}"/>
              </a:ext>
            </a:extLst>
          </p:cNvPr>
          <p:cNvSpPr txBox="1"/>
          <p:nvPr/>
        </p:nvSpPr>
        <p:spPr>
          <a:xfrm>
            <a:off x="1143000" y="9842500"/>
            <a:ext cx="164846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800">
                <a:solidFill>
                  <a:srgbClr val="555555"/>
                </a:solidFill>
              </a:rPr>
              <a:t>¹ API Contract(API </a:t>
            </a:r>
            <a:r>
              <a:rPr lang="ko-KR" altLang="en-US" sz="800">
                <a:solidFill>
                  <a:srgbClr val="555555"/>
                </a:solidFill>
              </a:rPr>
              <a:t>계약</a:t>
            </a:r>
            <a:r>
              <a:rPr lang="en-US" altLang="ko-KR" sz="800">
                <a:solidFill>
                  <a:srgbClr val="555555"/>
                </a:solidFill>
              </a:rPr>
              <a:t>, </a:t>
            </a:r>
            <a:r>
              <a:rPr lang="ko-KR" altLang="en-US" sz="800">
                <a:solidFill>
                  <a:srgbClr val="555555"/>
                </a:solidFill>
              </a:rPr>
              <a:t>입출력 스펙</a:t>
            </a:r>
            <a:r>
              <a:rPr lang="en-US" altLang="ko-KR" sz="800">
                <a:solidFill>
                  <a:srgbClr val="555555"/>
                </a:solidFill>
              </a:rPr>
              <a:t>·</a:t>
            </a:r>
            <a:r>
              <a:rPr lang="ko-KR" altLang="en-US" sz="800">
                <a:solidFill>
                  <a:srgbClr val="555555"/>
                </a:solidFill>
              </a:rPr>
              <a:t>오류 코드</a:t>
            </a:r>
            <a:r>
              <a:rPr lang="en-US" altLang="ko-KR" sz="800">
                <a:solidFill>
                  <a:srgbClr val="555555"/>
                </a:solidFill>
              </a:rPr>
              <a:t>·</a:t>
            </a:r>
            <a:r>
              <a:rPr lang="ko-KR" altLang="en-US" sz="800">
                <a:solidFill>
                  <a:srgbClr val="555555"/>
                </a:solidFill>
              </a:rPr>
              <a:t>버전 정책 공식 문서화</a:t>
            </a:r>
            <a:r>
              <a:rPr lang="en-US" altLang="ko-KR" sz="800">
                <a:solidFill>
                  <a:srgbClr val="555555"/>
                </a:solidFill>
              </a:rPr>
              <a:t>)  ² DB Schema(</a:t>
            </a:r>
            <a:r>
              <a:rPr lang="ko-KR" altLang="en-US" sz="800">
                <a:solidFill>
                  <a:srgbClr val="555555"/>
                </a:solidFill>
              </a:rPr>
              <a:t>데이터베이스 스키마</a:t>
            </a:r>
            <a:r>
              <a:rPr lang="en-US" altLang="ko-KR" sz="800">
                <a:solidFill>
                  <a:srgbClr val="555555"/>
                </a:solidFill>
              </a:rPr>
              <a:t>, </a:t>
            </a:r>
            <a:r>
              <a:rPr lang="ko-KR" altLang="en-US" sz="800">
                <a:solidFill>
                  <a:srgbClr val="555555"/>
                </a:solidFill>
              </a:rPr>
              <a:t>테이블</a:t>
            </a:r>
            <a:r>
              <a:rPr lang="en-US" altLang="ko-KR" sz="800">
                <a:solidFill>
                  <a:srgbClr val="555555"/>
                </a:solidFill>
              </a:rPr>
              <a:t>·</a:t>
            </a:r>
            <a:r>
              <a:rPr lang="ko-KR" altLang="en-US" sz="800">
                <a:solidFill>
                  <a:srgbClr val="555555"/>
                </a:solidFill>
              </a:rPr>
              <a:t>컬럼</a:t>
            </a:r>
            <a:r>
              <a:rPr lang="en-US" altLang="ko-KR" sz="800">
                <a:solidFill>
                  <a:srgbClr val="555555"/>
                </a:solidFill>
              </a:rPr>
              <a:t>·</a:t>
            </a:r>
            <a:r>
              <a:rPr lang="ko-KR" altLang="en-US" sz="800">
                <a:solidFill>
                  <a:srgbClr val="555555"/>
                </a:solidFill>
              </a:rPr>
              <a:t>관계 정의</a:t>
            </a:r>
            <a:r>
              <a:rPr lang="en-US" altLang="ko-KR" sz="800">
                <a:solidFill>
                  <a:srgbClr val="555555"/>
                </a:solidFill>
              </a:rPr>
              <a:t>)  ³ Observability(</a:t>
            </a:r>
            <a:r>
              <a:rPr lang="ko-KR" altLang="en-US" sz="800">
                <a:solidFill>
                  <a:srgbClr val="555555"/>
                </a:solidFill>
              </a:rPr>
              <a:t>관찰가능성</a:t>
            </a:r>
            <a:r>
              <a:rPr lang="en-US" altLang="ko-KR" sz="800">
                <a:solidFill>
                  <a:srgbClr val="555555"/>
                </a:solidFill>
              </a:rPr>
              <a:t>, </a:t>
            </a:r>
            <a:r>
              <a:rPr lang="ko-KR" altLang="en-US" sz="800">
                <a:solidFill>
                  <a:srgbClr val="555555"/>
                </a:solidFill>
              </a:rPr>
              <a:t>로그</a:t>
            </a:r>
            <a:r>
              <a:rPr lang="en-US" altLang="ko-KR" sz="800">
                <a:solidFill>
                  <a:srgbClr val="555555"/>
                </a:solidFill>
              </a:rPr>
              <a:t>·</a:t>
            </a:r>
            <a:r>
              <a:rPr lang="ko-KR" altLang="en-US" sz="800">
                <a:solidFill>
                  <a:srgbClr val="555555"/>
                </a:solidFill>
              </a:rPr>
              <a:t>메트릭</a:t>
            </a:r>
            <a:r>
              <a:rPr lang="en-US" altLang="ko-KR" sz="800">
                <a:solidFill>
                  <a:srgbClr val="555555"/>
                </a:solidFill>
              </a:rPr>
              <a:t>·</a:t>
            </a:r>
            <a:r>
              <a:rPr lang="ko-KR" altLang="en-US" sz="800">
                <a:solidFill>
                  <a:srgbClr val="555555"/>
                </a:solidFill>
              </a:rPr>
              <a:t>트레이스 </a:t>
            </a:r>
            <a:r>
              <a:rPr lang="en-US" altLang="ko-KR" sz="800">
                <a:solidFill>
                  <a:srgbClr val="555555"/>
                </a:solidFill>
              </a:rPr>
              <a:t>3</a:t>
            </a:r>
            <a:r>
              <a:rPr lang="ko-KR" altLang="en-US" sz="800">
                <a:solidFill>
                  <a:srgbClr val="555555"/>
                </a:solidFill>
              </a:rPr>
              <a:t>요소</a:t>
            </a:r>
            <a:r>
              <a:rPr lang="en-US" altLang="ko-KR" sz="800">
                <a:solidFill>
                  <a:srgbClr val="555555"/>
                </a:solidFill>
              </a:rPr>
              <a:t>)</a:t>
            </a:r>
            <a:endParaRPr lang="ko-KR" altLang="en-US" sz="8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1576388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데모가 아니라 운영 신뢰성으로 검증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730500"/>
            <a:ext cx="9466376" cy="1435100"/>
          </a:xfrm>
          <a:prstGeom prst="roundRect">
            <a:avLst>
              <a:gd name="adj" fmla="val 9246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2730500"/>
            <a:ext cx="36286" cy="1435100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45986" y="2882900"/>
            <a:ext cx="9163591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라우팅 정확도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45986" y="3289300"/>
            <a:ext cx="916359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intent_type 일치율 · 4개 의도 카테고리 정확도 · 오분류율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b="1" i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r>
              <a:rPr lang="en-US" sz="1100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 분류된 의도는 전체 처리 경로를 잘못 이끈다 — 다운스트림 오류의 근원</a:t>
            </a:r>
          </a:p>
        </p:txBody>
      </p:sp>
      <p:sp>
        <p:nvSpPr>
          <p:cNvPr id="8" name="Shape 6"/>
          <p:cNvSpPr/>
          <p:nvPr/>
        </p:nvSpPr>
        <p:spPr>
          <a:xfrm>
            <a:off x="1143000" y="4191000"/>
            <a:ext cx="9466376" cy="1435100"/>
          </a:xfrm>
          <a:prstGeom prst="roundRect">
            <a:avLst>
              <a:gd name="adj" fmla="val 9246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43000" y="4191000"/>
            <a:ext cx="36286" cy="1435100"/>
          </a:xfrm>
          <a:prstGeom prst="rect">
            <a:avLst/>
          </a:prstGeom>
          <a:solidFill>
            <a:srgbClr val="FF42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45986" y="4343400"/>
            <a:ext cx="9163591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규칙 정확도</a:t>
            </a:r>
            <a:r>
              <a:rPr lang="en-US" altLang="ko-KR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D-day </a:t>
            </a: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 서류 탐지 적중률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45986" y="4749800"/>
            <a:ext cx="916359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D-30 HIGH 탐지 · 누락서류 분류 · 계약/체류 충돌 탐지 정확도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b="1" i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r>
              <a:rPr lang="en-US" sz="1100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결정론 로직이 흔들리면 비자/서류 브리핑 전체가 무너진다</a:t>
            </a:r>
          </a:p>
        </p:txBody>
      </p:sp>
      <p:sp>
        <p:nvSpPr>
          <p:cNvPr id="12" name="Shape 10"/>
          <p:cNvSpPr/>
          <p:nvPr/>
        </p:nvSpPr>
        <p:spPr>
          <a:xfrm>
            <a:off x="1143000" y="5651500"/>
            <a:ext cx="9466376" cy="1435100"/>
          </a:xfrm>
          <a:prstGeom prst="roundRect">
            <a:avLst>
              <a:gd name="adj" fmla="val 9246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3000" y="5651500"/>
            <a:ext cx="36286" cy="1435100"/>
          </a:xfrm>
          <a:prstGeom prst="rect">
            <a:avLst/>
          </a:prstGeom>
          <a:solidFill>
            <a:srgbClr val="00BF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45986" y="5803900"/>
            <a:ext cx="9163591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인용 정확도</a:t>
            </a:r>
            <a:r>
              <a:rPr lang="en-US" altLang="ko-KR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RAG </a:t>
            </a: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출처 정확도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45986" y="6210300"/>
            <a:ext cx="916359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Hit@3 · citation accuracy · hallucinated citation rate · stale evidence detection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b="1" i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r>
              <a:rPr lang="en-US" sz="1100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evidence = 과거엔 맞지만 지금은 틀린 인용 — 운영 신뢰 훼손의 최대 요인</a:t>
            </a:r>
          </a:p>
        </p:txBody>
      </p:sp>
      <p:sp>
        <p:nvSpPr>
          <p:cNvPr id="16" name="Shape 14"/>
          <p:cNvSpPr/>
          <p:nvPr/>
        </p:nvSpPr>
        <p:spPr>
          <a:xfrm>
            <a:off x="1143000" y="7112000"/>
            <a:ext cx="9466376" cy="1435100"/>
          </a:xfrm>
          <a:prstGeom prst="roundRect">
            <a:avLst>
              <a:gd name="adj" fmla="val 9246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43000" y="7112000"/>
            <a:ext cx="36286" cy="1435100"/>
          </a:xfrm>
          <a:prstGeom prst="rect">
            <a:avLst/>
          </a:prstGeom>
          <a:solidFill>
            <a:srgbClr val="FF92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445986" y="7264400"/>
            <a:ext cx="9163591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정확도</a:t>
            </a:r>
            <a:r>
              <a:rPr lang="en-US" altLang="ko-KR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게이트 </a:t>
            </a:r>
            <a:r>
              <a:rPr lang="ko-KR" altLang="en-US" sz="2100" b="1" kern="0" spc="-1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준수율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445986" y="7670800"/>
            <a:ext cx="916359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전 외부 발송 차단 · 승인 후 dispatch 생성 · 중복 승인 방지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b="1" i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r>
              <a:rPr lang="en-US" sz="1100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위반은 기능 버그가 아닌 안전 사고 — 발생 시 시스템 신뢰 즉시 붕괴</a:t>
            </a:r>
          </a:p>
        </p:txBody>
      </p:sp>
      <p:sp>
        <p:nvSpPr>
          <p:cNvPr id="20" name="Shape 18"/>
          <p:cNvSpPr/>
          <p:nvPr/>
        </p:nvSpPr>
        <p:spPr>
          <a:xfrm>
            <a:off x="1143000" y="8572500"/>
            <a:ext cx="9466376" cy="1435100"/>
          </a:xfrm>
          <a:prstGeom prst="roundRect">
            <a:avLst>
              <a:gd name="adj" fmla="val 9246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43000" y="8572500"/>
            <a:ext cx="36286" cy="1435100"/>
          </a:xfrm>
          <a:prstGeom prst="rect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445986" y="8724900"/>
            <a:ext cx="9163591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실행 결과 동일 보장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45986" y="9131300"/>
            <a:ext cx="916359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스케줄러 2회 실행 시 Case 중복 생성 없음 · idempotency_key 검증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b="1" i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r>
              <a:rPr lang="en-US" sz="1100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재시도/네트워크 오류는 일상적 — 중복 케이스는 업무 혼란과 비용 폭증으로 직결</a:t>
            </a:r>
          </a:p>
        </p:txBody>
      </p:sp>
      <p:sp>
        <p:nvSpPr>
          <p:cNvPr id="24" name="Shape 22"/>
          <p:cNvSpPr/>
          <p:nvPr/>
        </p:nvSpPr>
        <p:spPr>
          <a:xfrm>
            <a:off x="10914176" y="2730500"/>
            <a:ext cx="9525" cy="72771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1228501" y="3492500"/>
            <a:ext cx="609399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측정 지표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1228501" y="4254500"/>
            <a:ext cx="5916499" cy="756217"/>
          </a:xfrm>
          <a:prstGeom prst="roundRect">
            <a:avLst>
              <a:gd name="adj" fmla="val 1259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438051" y="4406900"/>
            <a:ext cx="1758723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누락률 / 오탐률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228501" y="5067300"/>
            <a:ext cx="5916499" cy="756217"/>
          </a:xfrm>
          <a:prstGeom prst="roundRect">
            <a:avLst>
              <a:gd name="adj" fmla="val 1259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1438051" y="5219700"/>
            <a:ext cx="162526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처리시간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1228501" y="5880100"/>
            <a:ext cx="5916499" cy="756217"/>
          </a:xfrm>
          <a:prstGeom prst="roundRect">
            <a:avLst>
              <a:gd name="adj" fmla="val 1259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1438051" y="6032500"/>
            <a:ext cx="1125197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지연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1228501" y="6692900"/>
            <a:ext cx="5916499" cy="756217"/>
          </a:xfrm>
          <a:prstGeom prst="roundRect">
            <a:avLst>
              <a:gd name="adj" fmla="val 1259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1438051" y="6845300"/>
            <a:ext cx="136921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증빙 누락률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1228501" y="7505700"/>
            <a:ext cx="5916499" cy="756217"/>
          </a:xfrm>
          <a:prstGeom prst="roundRect">
            <a:avLst>
              <a:gd name="adj" fmla="val 12596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1438051" y="7658100"/>
            <a:ext cx="276558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Forbidden Block Count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073135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2018620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GTM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신청에서 운영으로 — 비즈니스 모델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81162"/>
            <a:ext cx="5740400" cy="6943838"/>
          </a:xfrm>
          <a:prstGeom prst="roundRect">
            <a:avLst>
              <a:gd name="adj" fmla="val 3319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600200" y="3038362"/>
            <a:ext cx="497078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기회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600200" y="3451679"/>
            <a:ext cx="4826000" cy="2676185"/>
          </a:xfrm>
          <a:prstGeom prst="roundRect">
            <a:avLst>
              <a:gd name="adj" fmla="val 4271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866900" y="3680279"/>
            <a:ext cx="442137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채용 이후가 운영의 무게중심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66900" y="4207895"/>
            <a:ext cx="4421378" cy="1729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 · 계약 · 서류 · 연락 · 검토 → 매월 반복되는 운영 문제로 이동 시장 단위: </a:t>
            </a: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수 × 반복 이벤트 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00200" y="6127864"/>
            <a:ext cx="4826000" cy="1158195"/>
          </a:xfrm>
          <a:prstGeom prst="roundRect">
            <a:avLst>
              <a:gd name="adj" fmla="val 8224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828800" y="6318364"/>
            <a:ext cx="4499864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공백: 정부(신청) · 행정사(검토) 사이에 </a:t>
            </a:r>
            <a:r>
              <a:rPr lang="en-US" sz="18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사업장 내부 업무 단계</a:t>
            </a:r>
            <a:r>
              <a:rPr lang="en-US" sz="1800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비어 있음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88200" y="2581162"/>
            <a:ext cx="497078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전략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188200" y="3223079"/>
            <a:ext cx="4826000" cy="1236209"/>
          </a:xfrm>
          <a:prstGeom prst="roundRect">
            <a:avLst>
              <a:gd name="adj" fmla="val 9246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454900" y="3650683"/>
            <a:ext cx="381000" cy="3810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416800" y="3650683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88300" y="3451679"/>
            <a:ext cx="335026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초기: 제조업체 파일럿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988300" y="3864995"/>
            <a:ext cx="2505529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E-9 10~100명 사업장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88200" y="4611688"/>
            <a:ext cx="4826000" cy="1236209"/>
          </a:xfrm>
          <a:prstGeom prst="roundRect">
            <a:avLst>
              <a:gd name="adj" fmla="val 9246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454900" y="5039292"/>
            <a:ext cx="381000" cy="3810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16800" y="5039292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88300" y="4840288"/>
            <a:ext cx="406400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확장: 행정사·노무사 White-label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988300" y="5253604"/>
            <a:ext cx="3791038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B2B2B 운영 주체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19000" y="2581162"/>
            <a:ext cx="497078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과금 모델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319000" y="3223079"/>
            <a:ext cx="4826000" cy="832417"/>
          </a:xfrm>
          <a:prstGeom prst="roundRect">
            <a:avLst>
              <a:gd name="adj" fmla="val 13731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2585700" y="3432629"/>
            <a:ext cx="161324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사업장 기본료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6247269" y="3456441"/>
            <a:ext cx="70723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월정액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19000" y="4169795"/>
            <a:ext cx="4826000" cy="832417"/>
          </a:xfrm>
          <a:prstGeom prst="roundRect">
            <a:avLst>
              <a:gd name="adj" fmla="val 13731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2585700" y="4379345"/>
            <a:ext cx="1125197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수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6039647" y="4403158"/>
            <a:ext cx="914854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per-seat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319000" y="5116513"/>
            <a:ext cx="4826000" cy="832417"/>
          </a:xfrm>
          <a:prstGeom prst="roundRect">
            <a:avLst>
              <a:gd name="adj" fmla="val 13731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2585700" y="5326063"/>
            <a:ext cx="192994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액션 사용량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5556480" y="5349875"/>
            <a:ext cx="139802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usage-based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2395311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VALIDATION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검증 계획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81162"/>
            <a:ext cx="8305800" cy="6943838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600200" y="3038362"/>
            <a:ext cx="7613142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대상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600200" y="3680279"/>
            <a:ext cx="7391400" cy="1160009"/>
          </a:xfrm>
          <a:prstGeom prst="roundRect">
            <a:avLst>
              <a:gd name="adj" fmla="val 8211"/>
            </a:avLst>
          </a:prstGeom>
          <a:solidFill>
            <a:srgbClr val="F0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809750" y="3851729"/>
            <a:ext cx="718146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E-9 근로자 10~100명 제조업체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09750" y="4303145"/>
            <a:ext cx="7181469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인사/총무 담당자 5곳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5106988"/>
            <a:ext cx="7613142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질문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600200" y="5748904"/>
            <a:ext cx="7391400" cy="562429"/>
          </a:xfrm>
          <a:prstGeom prst="roundRect">
            <a:avLst>
              <a:gd name="adj" fmla="val 13548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752600" y="5863204"/>
            <a:ext cx="730834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챙길 일을 현재 어떻게 관리하는가?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00200" y="6311333"/>
            <a:ext cx="7391400" cy="562429"/>
          </a:xfrm>
          <a:prstGeom prst="roundRect">
            <a:avLst>
              <a:gd name="adj" fmla="val 13548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52600" y="6425633"/>
            <a:ext cx="730834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체류/계약/서류 누락으로 실제 문제가 생긴 적 있는가?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600200" y="6873762"/>
            <a:ext cx="7391400" cy="562429"/>
          </a:xfrm>
          <a:prstGeom prst="roundRect">
            <a:avLst>
              <a:gd name="adj" fmla="val 13548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752600" y="6988062"/>
            <a:ext cx="730834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행정사 자료 준비에 얼마나 시간이 드는가?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00200" y="7436190"/>
            <a:ext cx="7391400" cy="562429"/>
          </a:xfrm>
          <a:prstGeom prst="roundRect">
            <a:avLst>
              <a:gd name="adj" fmla="val 13548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752600" y="7550490"/>
            <a:ext cx="7308342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 + 승인 + Evidence에 월 얼마까지 낼 수 있는가?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53600" y="2581162"/>
            <a:ext cx="7613142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기준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753600" y="3184979"/>
            <a:ext cx="7391400" cy="1198109"/>
          </a:xfrm>
          <a:prstGeom prst="roundRect">
            <a:avLst>
              <a:gd name="adj" fmla="val 12720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020300" y="3736408"/>
            <a:ext cx="95250" cy="95250"/>
          </a:xfrm>
          <a:prstGeom prst="ellipse">
            <a:avLst/>
          </a:prstGeom>
          <a:solidFill>
            <a:srgbClr val="00BF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267950" y="3394529"/>
            <a:ext cx="285633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업무 30% 이상 절감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267950" y="3807845"/>
            <a:ext cx="2856330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가능성 신호 확인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53600" y="4383088"/>
            <a:ext cx="7391400" cy="832417"/>
          </a:xfrm>
          <a:prstGeom prst="roundRect">
            <a:avLst>
              <a:gd name="adj" fmla="val 18308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020300" y="4751614"/>
            <a:ext cx="95250" cy="95250"/>
          </a:xfrm>
          <a:prstGeom prst="ellipse">
            <a:avLst/>
          </a:prstGeom>
          <a:solidFill>
            <a:srgbClr val="00BF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267950" y="4592638"/>
            <a:ext cx="321687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D-day / 누락 관리 니즈 확인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753600" y="5215504"/>
            <a:ext cx="7391400" cy="832417"/>
          </a:xfrm>
          <a:prstGeom prst="roundRect">
            <a:avLst>
              <a:gd name="adj" fmla="val 18308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0020300" y="5584031"/>
            <a:ext cx="95250" cy="95250"/>
          </a:xfrm>
          <a:prstGeom prst="ellipse">
            <a:avLst/>
          </a:prstGeom>
          <a:solidFill>
            <a:srgbClr val="00BF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0267950" y="5425054"/>
            <a:ext cx="256358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과금 지불 의사 확인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753600" y="6047922"/>
            <a:ext cx="7391400" cy="1198109"/>
          </a:xfrm>
          <a:prstGeom prst="roundRect">
            <a:avLst>
              <a:gd name="adj" fmla="val 12720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020300" y="6599351"/>
            <a:ext cx="95250" cy="9525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0267950" y="6257472"/>
            <a:ext cx="2648552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1~2곳 LOI 확보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0267950" y="6670789"/>
            <a:ext cx="264855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또는 실사용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06500" y="2476500"/>
            <a:ext cx="5334000" cy="5334000"/>
          </a:xfrm>
          <a:prstGeom prst="ellipse">
            <a:avLst/>
          </a:prstGeom>
          <a:solidFill>
            <a:srgbClr val="0066FF">
              <a:alpha val="1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285875" y="914400"/>
            <a:ext cx="2197780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ASK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2581162"/>
            <a:ext cx="3996871" cy="6943838"/>
          </a:xfrm>
          <a:prstGeom prst="roundRect">
            <a:avLst>
              <a:gd name="adj" fmla="val 381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43000" y="2581162"/>
            <a:ext cx="3996871" cy="21771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85900" y="2983933"/>
            <a:ext cx="341040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85900" y="3442947"/>
            <a:ext cx="3410404" cy="58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완성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85900" y="4182042"/>
            <a:ext cx="341040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브리핑 – 케이스 – 승인 – 증빙의 최소 루프 완성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39872" y="2581162"/>
            <a:ext cx="3996871" cy="6943838"/>
          </a:xfrm>
          <a:prstGeom prst="roundRect">
            <a:avLst>
              <a:gd name="adj" fmla="val 381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139872" y="2581162"/>
            <a:ext cx="3996871" cy="21771"/>
          </a:xfrm>
          <a:prstGeom prst="rect">
            <a:avLst/>
          </a:prstGeom>
          <a:solidFill>
            <a:srgbClr val="0066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2772" y="2983933"/>
            <a:ext cx="341040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2772" y="3442947"/>
            <a:ext cx="3410404" cy="58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고객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482772" y="4182042"/>
            <a:ext cx="341040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지표 / ROI 검증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36743" y="2581162"/>
            <a:ext cx="3996871" cy="6943838"/>
          </a:xfrm>
          <a:prstGeom prst="roundRect">
            <a:avLst>
              <a:gd name="adj" fmla="val 381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136743" y="2581162"/>
            <a:ext cx="3996871" cy="21771"/>
          </a:xfrm>
          <a:prstGeom prst="rect">
            <a:avLst/>
          </a:prstGeom>
          <a:solidFill>
            <a:srgbClr val="0066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479643" y="2983933"/>
            <a:ext cx="341040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79643" y="3442947"/>
            <a:ext cx="3410404" cy="58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479643" y="4182042"/>
            <a:ext cx="341040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행정사 협업 및 White-label 설계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133615" y="2581162"/>
            <a:ext cx="4011386" cy="6943838"/>
          </a:xfrm>
          <a:prstGeom prst="roundRect">
            <a:avLst>
              <a:gd name="adj" fmla="val 3799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3483771" y="2969419"/>
            <a:ext cx="341040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13483771" y="4705237"/>
            <a:ext cx="76200" cy="762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3559971" y="4629037"/>
            <a:ext cx="233430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· 파트너 연결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3483771" y="5270954"/>
            <a:ext cx="76200" cy="762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3559971" y="5194754"/>
            <a:ext cx="136921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피드백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483771" y="5836670"/>
            <a:ext cx="76200" cy="762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3559971" y="5760470"/>
            <a:ext cx="3079875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· 세일즈 리소스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3483771" y="7261906"/>
            <a:ext cx="3311071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3483771" y="8359548"/>
            <a:ext cx="3410404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운영이 커질수록 과금이 안정되는 구조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9DA418-F360-484C-AF58-8D703708D843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c6fcf447-0a55-45b5-895d-3b3dc7f711e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3870</Words>
  <Application>Microsoft Office PowerPoint</Application>
  <PresentationFormat>사용자 지정</PresentationFormat>
  <Paragraphs>637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taena yim</cp:lastModifiedBy>
  <cp:revision>7</cp:revision>
  <dcterms:created xsi:type="dcterms:W3CDTF">2026-05-14T07:47:40Z</dcterms:created>
  <dcterms:modified xsi:type="dcterms:W3CDTF">2026-05-15T01:31:03Z</dcterms:modified>
</cp:coreProperties>
</file>