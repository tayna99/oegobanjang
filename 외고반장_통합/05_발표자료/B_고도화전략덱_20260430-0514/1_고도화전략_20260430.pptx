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76" r:id="rId3"/>
    <p:sldId id="257" r:id="rId4"/>
    <p:sldId id="259" r:id="rId5"/>
    <p:sldId id="260" r:id="rId6"/>
    <p:sldId id="261" r:id="rId7"/>
    <p:sldId id="262" r:id="rId8"/>
    <p:sldId id="277" r:id="rId9"/>
    <p:sldId id="264" r:id="rId10"/>
    <p:sldId id="265" r:id="rId11"/>
    <p:sldId id="266" r:id="rId12"/>
    <p:sldId id="267" r:id="rId13"/>
    <p:sldId id="268" r:id="rId14"/>
    <p:sldId id="269" r:id="rId15"/>
    <p:sldId id="270" r:id="rId16"/>
    <p:sldId id="271" r:id="rId17"/>
    <p:sldId id="272" r:id="rId18"/>
    <p:sldId id="258" r:id="rId19"/>
    <p:sldId id="278" r:id="rId20"/>
    <p:sldId id="275" r:id="rId21"/>
    <p:sldId id="273" r:id="rId22"/>
    <p:sldId id="274"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6" d="100"/>
          <a:sy n="86" d="100"/>
        </p:scale>
        <p:origin x="34" y="8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792757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외국인 고용 관리의 핵심 문제는 파편화된 규제와 행정 리스크입니다. 이는 단순한 불편함을 넘어 사업의 지속 가능성을 위협합니다. 우리는 끊임없이 변하는 지침, 소통의 장벽, 그리고 중대한 행정적 오류에 직면합니다. 이러한 문제들은 고용 중단이나 심각한 벌금으로 이어질 수 있습니다. 이는 단순히 일을 쉽게 만드는 것이 아니라, 여러분의 운영을 보호하는 문제입니다. 이제 우리의 핵심 개념이 이러한 문제들을 어떻게 해결하는지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외고반장 Agentic OS는 사용자 목표를 실행 가능한 프로세스로 전환합니다. 여러분이 자연어로 요청하면, 인텐트 라우터가 이를 분석하고, 전문 에이전트들이 각자의 역할을 수행합니다. 모든 작업은 사람의 승인을 거쳐 안전하게 진행되며, 모든 결정과 그 근거는 감사 기록에 남습니다. 이는 단순한 자동화를 넘어, 사람의 감독과 투명한 의사결정이 핵심인 시스템입니다. 이제 이 모든 과정의 핵심인 감사 기록에 대해 더 자세히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사장님, 바쁘신 와중에 잠시 브리핑 드리겠습니다. 외고반장 시스템이 이번 달 처리해야 할 핵심 업무 4건을 파악했습니다. 첫째, Nguyen Van A 직원의 체류 만료일이 76일 남았고, 표준근로계약서와 고용허가서 사본이 누락되었습니다. 시스템이 베트남어 서류 요청 메시지를 생성할 수 있습니다. 둘째, Tran Thi B 직원의 계약 종료일이 45일 남았는데, 체류 만료일과 충돌 가능성이 탐지되어 행정사의 정밀 검토를 권장합니다. 마지막으로, 신규 베트남 근로자 3명 채용 요청 준비가 완료되어 송출회사 전달용 요청서가 생성되었습니다. 이 모든 상황을 외고반장이 실시간으로 파악하고 필요한 조치를 제안합니다. 사장님은 단지 승인만 해주시면 됩니다. 외고반장은 사장님의 귀한 시간을 절약하고, 모든 행정 리스크를 사전에 차단합니다.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사장님, 외고반장은 여러분의 가장 믿음직한 외국인 고용 관리 파트너가 됩니다. 무엇을 놓쳤는지 실시간으로 즉시 알 수 있습니다. 누구에게 연락해야 하는지 AI가 명확히 짚어줍니다. 외국어 메시지를 직접 쓸 필요 없이 자동 생성됩니다. 행정사에게 넘길 복잡한 자료가 자동으로 정리됩니다. AI가 독단적으로 판단하지 않고, 오직 사장님의 승인 하에 실행됩니다. 외고반장은 사장님의 가장 믿음직한 외국인 고용 관리 파트너가 됩니다. 다음 슬라이드에서 외고반장이 어떤 의미인지 다시 한번 강조하겠습니다.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jpe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jpe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1.pn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jpeg"/><Relationship Id="rId7" Type="http://schemas.openxmlformats.org/officeDocument/2006/relationships/image" Target="../media/image4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1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jpeg"/><Relationship Id="rId7"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s>
</file>

<file path=ppt/slides/_rels/slide1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75.png"/><Relationship Id="rId4" Type="http://schemas.openxmlformats.org/officeDocument/2006/relationships/image" Target="../media/image74.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77.png"/><Relationship Id="rId4" Type="http://schemas.openxmlformats.org/officeDocument/2006/relationships/image" Target="../media/image76.png"/></Relationships>
</file>

<file path=ppt/slides/_rels/slide19.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jpeg"/><Relationship Id="rId7" Type="http://schemas.openxmlformats.org/officeDocument/2006/relationships/image" Target="../media/image8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s>
</file>

<file path=ppt/slides/_rels/slide20.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jpeg"/><Relationship Id="rId7" Type="http://schemas.openxmlformats.org/officeDocument/2006/relationships/image" Target="../media/image9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2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94.png"/><Relationship Id="rId4" Type="http://schemas.openxmlformats.org/officeDocument/2006/relationships/image" Target="../media/image93.png"/></Relationships>
</file>

<file path=ppt/slides/_rels/slide22.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5943600" cy="5143500"/>
          </a:xfrm>
          <a:prstGeom prst="rect">
            <a:avLst/>
          </a:prstGeom>
          <a:solidFill>
            <a:srgbClr val="0F172A"/>
          </a:solidFill>
          <a:ln/>
        </p:spPr>
      </p:sp>
      <p:sp>
        <p:nvSpPr>
          <p:cNvPr id="4" name="Shape 1"/>
          <p:cNvSpPr/>
          <p:nvPr/>
        </p:nvSpPr>
        <p:spPr>
          <a:xfrm>
            <a:off x="714375" y="1836837"/>
            <a:ext cx="1362670" cy="312539"/>
          </a:xfrm>
          <a:prstGeom prst="rect">
            <a:avLst/>
          </a:prstGeom>
          <a:solidFill>
            <a:srgbClr val="2563EB"/>
          </a:solidFill>
          <a:ln/>
        </p:spPr>
      </p:sp>
      <p:sp>
        <p:nvSpPr>
          <p:cNvPr id="5" name="Text 2"/>
          <p:cNvSpPr/>
          <p:nvPr/>
        </p:nvSpPr>
        <p:spPr>
          <a:xfrm>
            <a:off x="714375" y="1836837"/>
            <a:ext cx="1362670" cy="312539"/>
          </a:xfrm>
          <a:prstGeom prst="rect">
            <a:avLst/>
          </a:prstGeom>
          <a:noFill/>
          <a:ln/>
        </p:spPr>
        <p:txBody>
          <a:bodyPr wrap="square" lIns="170053" tIns="85090" rIns="170053" bIns="85090" rtlCol="0" anchor="t">
            <a:spAutoFit/>
          </a:bodyPr>
          <a:lstStyle/>
          <a:p>
            <a:pPr marL="0" indent="0" algn="l">
              <a:buNone/>
            </a:pPr>
            <a:r>
              <a:rPr lang="en-US" sz="1000" b="1" kern="0" spc="2" dirty="0">
                <a:solidFill>
                  <a:srgbClr val="FFFFFF"/>
                </a:solidFill>
                <a:latin typeface="Pretendard Variable" pitchFamily="34" charset="0"/>
                <a:ea typeface="Pretendard Variable" pitchFamily="34" charset="-122"/>
                <a:cs typeface="Pretendard Variable" pitchFamily="34" charset="-120"/>
              </a:rPr>
              <a:t>AGENTIC OS</a:t>
            </a:r>
            <a:endParaRPr lang="en-US" sz="1000" dirty="0"/>
          </a:p>
        </p:txBody>
      </p:sp>
      <p:sp>
        <p:nvSpPr>
          <p:cNvPr id="6" name="Text 3"/>
          <p:cNvSpPr/>
          <p:nvPr/>
        </p:nvSpPr>
        <p:spPr>
          <a:xfrm>
            <a:off x="714375" y="2363688"/>
            <a:ext cx="3178306" cy="839589"/>
          </a:xfrm>
          <a:prstGeom prst="rect">
            <a:avLst/>
          </a:prstGeom>
          <a:noFill/>
          <a:ln/>
        </p:spPr>
        <p:txBody>
          <a:bodyPr wrap="none" lIns="0" tIns="0" rIns="0" bIns="0" rtlCol="0" anchor="t">
            <a:spAutoFit/>
          </a:bodyPr>
          <a:lstStyle/>
          <a:p>
            <a:pPr marL="0" indent="0" algn="l">
              <a:lnSpc>
                <a:spcPct val="88000"/>
              </a:lnSpc>
              <a:buNone/>
            </a:pPr>
            <a:r>
              <a:rPr lang="en-US" sz="6200" b="1" kern="0" spc="-4" dirty="0" err="1">
                <a:solidFill>
                  <a:srgbClr val="2563EB"/>
                </a:solidFill>
                <a:latin typeface="Pretendard"/>
                <a:ea typeface="Pretendard Variable" pitchFamily="34" charset="-122"/>
                <a:cs typeface="Pretendard Variable" pitchFamily="34" charset="-120"/>
              </a:rPr>
              <a:t>외고반장</a:t>
            </a:r>
            <a:endParaRPr lang="en-US" sz="6200" dirty="0">
              <a:latin typeface="Pretendard"/>
            </a:endParaRPr>
          </a:p>
        </p:txBody>
      </p:sp>
      <p:sp>
        <p:nvSpPr>
          <p:cNvPr id="7" name="Shape 4"/>
          <p:cNvSpPr/>
          <p:nvPr/>
        </p:nvSpPr>
        <p:spPr>
          <a:xfrm>
            <a:off x="5943600" y="0"/>
            <a:ext cx="3200400" cy="5143500"/>
          </a:xfrm>
          <a:prstGeom prst="rect">
            <a:avLst/>
          </a:prstGeom>
          <a:solidFill>
            <a:srgbClr val="000000">
              <a:alpha val="0"/>
            </a:srgbClr>
          </a:solidFill>
          <a:ln/>
        </p:spPr>
      </p:sp>
      <p:sp>
        <p:nvSpPr>
          <p:cNvPr id="8" name="Shape 5"/>
          <p:cNvSpPr/>
          <p:nvPr/>
        </p:nvSpPr>
        <p:spPr>
          <a:xfrm>
            <a:off x="5943600" y="0"/>
            <a:ext cx="85725" cy="5143500"/>
          </a:xfrm>
          <a:prstGeom prst="rect">
            <a:avLst/>
          </a:prstGeom>
          <a:solidFill>
            <a:srgbClr val="2563EB"/>
          </a:solidFill>
          <a:ln/>
        </p:spPr>
      </p:sp>
      <p:sp>
        <p:nvSpPr>
          <p:cNvPr id="9" name="Text 6"/>
          <p:cNvSpPr/>
          <p:nvPr/>
        </p:nvSpPr>
        <p:spPr>
          <a:xfrm>
            <a:off x="6372225" y="1738805"/>
            <a:ext cx="2486025" cy="861326"/>
          </a:xfrm>
          <a:prstGeom prst="rect">
            <a:avLst/>
          </a:prstGeom>
          <a:noFill/>
          <a:ln/>
        </p:spPr>
        <p:txBody>
          <a:bodyPr wrap="square" lIns="0" tIns="0" rIns="0" bIns="0" rtlCol="0" anchor="t">
            <a:spAutoFit/>
          </a:bodyPr>
          <a:lstStyle/>
          <a:p>
            <a:pPr marL="0" indent="0" algn="l">
              <a:lnSpc>
                <a:spcPct val="112000"/>
              </a:lnSpc>
              <a:buNone/>
            </a:pPr>
            <a:r>
              <a:rPr lang="en-US" sz="1700" b="1" dirty="0">
                <a:solidFill>
                  <a:srgbClr val="0070C0"/>
                </a:solidFill>
                <a:latin typeface="Pretendard"/>
                <a:ea typeface="Pretendard Variable" pitchFamily="34" charset="-122"/>
                <a:cs typeface="Pretendard Variable" pitchFamily="34" charset="-120"/>
              </a:rPr>
              <a:t>외</a:t>
            </a:r>
            <a:r>
              <a:rPr lang="en-US" sz="1700" b="1" dirty="0">
                <a:solidFill>
                  <a:srgbClr val="0F172A"/>
                </a:solidFill>
                <a:latin typeface="Pretendard"/>
                <a:ea typeface="Pretendard Variable" pitchFamily="34" charset="-122"/>
                <a:cs typeface="Pretendard Variable" pitchFamily="34" charset="-120"/>
              </a:rPr>
              <a:t>국인 </a:t>
            </a:r>
            <a:r>
              <a:rPr lang="en-US" sz="1700" b="1" dirty="0">
                <a:solidFill>
                  <a:srgbClr val="0070C0"/>
                </a:solidFill>
                <a:latin typeface="Pretendard"/>
                <a:ea typeface="Pretendard Variable" pitchFamily="34" charset="-122"/>
                <a:cs typeface="Pretendard Variable" pitchFamily="34" charset="-120"/>
              </a:rPr>
              <a:t>고</a:t>
            </a:r>
            <a:r>
              <a:rPr lang="en-US" sz="1700" b="1" dirty="0">
                <a:solidFill>
                  <a:srgbClr val="0F172A"/>
                </a:solidFill>
                <a:latin typeface="Pretendard"/>
                <a:ea typeface="Pretendard Variable" pitchFamily="34" charset="-122"/>
                <a:cs typeface="Pretendard Variable" pitchFamily="34" charset="-120"/>
              </a:rPr>
              <a:t>용 업무,
놓치기 전에 먼저 챙깁니다.</a:t>
            </a:r>
            <a:endParaRPr lang="en-US" sz="1700" dirty="0">
              <a:latin typeface="Pretendard"/>
            </a:endParaRPr>
          </a:p>
        </p:txBody>
      </p:sp>
      <p:sp>
        <p:nvSpPr>
          <p:cNvPr id="10" name="Text 7"/>
          <p:cNvSpPr/>
          <p:nvPr/>
        </p:nvSpPr>
        <p:spPr>
          <a:xfrm>
            <a:off x="6372225" y="2901758"/>
            <a:ext cx="2486025" cy="433965"/>
          </a:xfrm>
          <a:prstGeom prst="rect">
            <a:avLst/>
          </a:prstGeom>
          <a:noFill/>
          <a:ln/>
        </p:spPr>
        <p:txBody>
          <a:bodyPr wrap="square" lIns="0" tIns="0" rIns="0" bIns="0" rtlCol="0" anchor="t">
            <a:spAutoFit/>
          </a:bodyPr>
          <a:lstStyle/>
          <a:p>
            <a:pPr marL="0" indent="0" algn="l">
              <a:lnSpc>
                <a:spcPct val="128000"/>
              </a:lnSpc>
              <a:buNone/>
            </a:pPr>
            <a:r>
              <a:rPr lang="en-US" sz="1150" dirty="0">
                <a:solidFill>
                  <a:srgbClr val="64748B"/>
                </a:solidFill>
                <a:latin typeface="Pretendard"/>
                <a:ea typeface="Pretendard Variable" pitchFamily="34" charset="-122"/>
                <a:cs typeface="Pretendard Variable" pitchFamily="34" charset="-120"/>
              </a:rPr>
              <a:t>채용·컨택·비자서류를
경로로 짜주는 </a:t>
            </a:r>
            <a:r>
              <a:rPr lang="en-US" sz="1150" b="1" dirty="0">
                <a:solidFill>
                  <a:srgbClr val="0070C0"/>
                </a:solidFill>
                <a:latin typeface="Pretendard"/>
                <a:ea typeface="Pretendard Variable" pitchFamily="34" charset="-122"/>
                <a:cs typeface="Pretendard Variable" pitchFamily="34" charset="-120"/>
              </a:rPr>
              <a:t>AI 반장</a:t>
            </a:r>
            <a:endParaRPr lang="en-US" sz="1150" b="1" dirty="0">
              <a:solidFill>
                <a:srgbClr val="0070C0"/>
              </a:solidFill>
              <a:latin typeface="Pretendar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959809E2-F460-CAAD-14DB-404E397DEA18}"/>
              </a:ext>
            </a:extLst>
          </p:cNvPr>
          <p:cNvPicPr>
            <a:picLocks noChangeAspect="1"/>
          </p:cNvPicPr>
          <p:nvPr/>
        </p:nvPicPr>
        <p:blipFill>
          <a:blip r:embed="rId2"/>
          <a:stretch>
            <a:fillRect/>
          </a:stretch>
        </p:blipFill>
        <p:spPr>
          <a:xfrm>
            <a:off x="0" y="0"/>
            <a:ext cx="9144000" cy="5143500"/>
          </a:xfrm>
          <a:prstGeom prst="rect">
            <a:avLst/>
          </a:prstGeom>
        </p:spPr>
      </p:pic>
      <p:sp>
        <p:nvSpPr>
          <p:cNvPr id="4" name="Text 3">
            <a:extLst>
              <a:ext uri="{FF2B5EF4-FFF2-40B4-BE49-F238E27FC236}">
                <a16:creationId xmlns:a16="http://schemas.microsoft.com/office/drawing/2014/main" id="{C102727D-46EE-1845-B1EC-D582E98CA66A}"/>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b="1" dirty="0">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What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if</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What – How – So what?  </a:t>
            </a:r>
            <a:endParaRPr lang="en-US" sz="1200" dirty="0">
              <a:solidFill>
                <a:schemeClr val="tx1">
                  <a:lumMod val="65000"/>
                  <a:lumOff val="35000"/>
                </a:schemeClr>
              </a:solidFill>
              <a:latin typeface="Pretendard"/>
            </a:endParaRPr>
          </a:p>
        </p:txBody>
      </p:sp>
    </p:spTree>
    <p:extLst>
      <p:ext uri="{BB962C8B-B14F-4D97-AF65-F5344CB8AC3E}">
        <p14:creationId xmlns:p14="http://schemas.microsoft.com/office/powerpoint/2010/main" val="2240990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509885"/>
            <a:ext cx="6353890" cy="377026"/>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1. 문제 정의: 파편화된 규제와 행정 리스크</a:t>
            </a:r>
            <a:endParaRPr lang="en-US" sz="2450" dirty="0"/>
          </a:p>
        </p:txBody>
      </p:sp>
      <p:sp>
        <p:nvSpPr>
          <p:cNvPr id="5" name="Shape 1"/>
          <p:cNvSpPr/>
          <p:nvPr/>
        </p:nvSpPr>
        <p:spPr>
          <a:xfrm>
            <a:off x="571500" y="1285875"/>
            <a:ext cx="2524116" cy="2384227"/>
          </a:xfrm>
          <a:prstGeom prst="rect">
            <a:avLst/>
          </a:prstGeom>
          <a:solidFill>
            <a:srgbClr val="F8FAFC"/>
          </a:solidFill>
          <a:ln/>
        </p:spPr>
      </p:sp>
      <p:sp>
        <p:nvSpPr>
          <p:cNvPr id="6" name="Shape 2"/>
          <p:cNvSpPr/>
          <p:nvPr/>
        </p:nvSpPr>
        <p:spPr>
          <a:xfrm>
            <a:off x="571500" y="1285875"/>
            <a:ext cx="2524116" cy="42863"/>
          </a:xfrm>
          <a:prstGeom prst="rect">
            <a:avLst/>
          </a:prstGeom>
          <a:solidFill>
            <a:srgbClr val="EF4444"/>
          </a:solidFill>
          <a:ln/>
        </p:spPr>
      </p:sp>
      <p:sp>
        <p:nvSpPr>
          <p:cNvPr id="8" name="Text 3"/>
          <p:cNvSpPr/>
          <p:nvPr/>
        </p:nvSpPr>
        <p:spPr>
          <a:xfrm>
            <a:off x="785813" y="2084189"/>
            <a:ext cx="2095491"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복잡한 비자 규정</a:t>
            </a:r>
            <a:endParaRPr lang="en-US" sz="1200" dirty="0"/>
          </a:p>
        </p:txBody>
      </p:sp>
      <p:sp>
        <p:nvSpPr>
          <p:cNvPr id="9" name="Text 4"/>
          <p:cNvSpPr/>
          <p:nvPr/>
        </p:nvSpPr>
        <p:spPr>
          <a:xfrm>
            <a:off x="785813" y="2402086"/>
            <a:ext cx="2095491"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수시로 변하는 정책과 비자별 상이한 고용 쿼터로 인해 상시적인 법적 위반 리스크에 노출되어 있습니다.</a:t>
            </a:r>
            <a:endParaRPr lang="en-US" sz="950" dirty="0"/>
          </a:p>
        </p:txBody>
      </p:sp>
      <p:sp>
        <p:nvSpPr>
          <p:cNvPr id="10" name="Shape 5"/>
          <p:cNvSpPr/>
          <p:nvPr/>
        </p:nvSpPr>
        <p:spPr>
          <a:xfrm>
            <a:off x="3309928" y="1285875"/>
            <a:ext cx="2524116" cy="2384227"/>
          </a:xfrm>
          <a:prstGeom prst="rect">
            <a:avLst/>
          </a:prstGeom>
          <a:solidFill>
            <a:srgbClr val="F8FAFC"/>
          </a:solidFill>
          <a:ln/>
        </p:spPr>
      </p:sp>
      <p:sp>
        <p:nvSpPr>
          <p:cNvPr id="11" name="Shape 6"/>
          <p:cNvSpPr/>
          <p:nvPr/>
        </p:nvSpPr>
        <p:spPr>
          <a:xfrm>
            <a:off x="3309928" y="1285875"/>
            <a:ext cx="2524116" cy="42863"/>
          </a:xfrm>
          <a:prstGeom prst="rect">
            <a:avLst/>
          </a:prstGeom>
          <a:solidFill>
            <a:srgbClr val="EF4444"/>
          </a:solidFill>
          <a:ln/>
        </p:spPr>
      </p:sp>
      <p:sp>
        <p:nvSpPr>
          <p:cNvPr id="12" name="Text 7"/>
          <p:cNvSpPr/>
          <p:nvPr/>
        </p:nvSpPr>
        <p:spPr>
          <a:xfrm>
            <a:off x="3524241" y="2084189"/>
            <a:ext cx="2095491"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언어 및 소통 장벽</a:t>
            </a:r>
            <a:endParaRPr lang="en-US" sz="1200" dirty="0"/>
          </a:p>
        </p:txBody>
      </p:sp>
      <p:sp>
        <p:nvSpPr>
          <p:cNvPr id="13" name="Text 8"/>
          <p:cNvSpPr/>
          <p:nvPr/>
        </p:nvSpPr>
        <p:spPr>
          <a:xfrm>
            <a:off x="3524241" y="2402086"/>
            <a:ext cx="2095491"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근로자와의 의사소통 부재로 인해 필수 행정 절차 안내 및 서류 취합 과정에서 심각한 지연이 발생합니다.</a:t>
            </a:r>
            <a:endParaRPr lang="en-US" sz="950" dirty="0"/>
          </a:p>
        </p:txBody>
      </p:sp>
      <p:sp>
        <p:nvSpPr>
          <p:cNvPr id="14" name="Shape 9"/>
          <p:cNvSpPr/>
          <p:nvPr/>
        </p:nvSpPr>
        <p:spPr>
          <a:xfrm>
            <a:off x="6048356" y="1285875"/>
            <a:ext cx="2524144" cy="2384227"/>
          </a:xfrm>
          <a:prstGeom prst="rect">
            <a:avLst/>
          </a:prstGeom>
          <a:solidFill>
            <a:srgbClr val="F8FAFC"/>
          </a:solidFill>
          <a:ln/>
        </p:spPr>
      </p:sp>
      <p:sp>
        <p:nvSpPr>
          <p:cNvPr id="15" name="Shape 10"/>
          <p:cNvSpPr/>
          <p:nvPr/>
        </p:nvSpPr>
        <p:spPr>
          <a:xfrm>
            <a:off x="6048356" y="1285875"/>
            <a:ext cx="2524144" cy="42863"/>
          </a:xfrm>
          <a:prstGeom prst="rect">
            <a:avLst/>
          </a:prstGeom>
          <a:solidFill>
            <a:srgbClr val="EF4444"/>
          </a:solidFill>
          <a:ln/>
        </p:spPr>
      </p:sp>
      <p:sp>
        <p:nvSpPr>
          <p:cNvPr id="16" name="Text 11"/>
          <p:cNvSpPr/>
          <p:nvPr/>
        </p:nvSpPr>
        <p:spPr>
          <a:xfrm>
            <a:off x="6262669" y="2084189"/>
            <a:ext cx="2095519"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서류 누락 리스크</a:t>
            </a:r>
            <a:endParaRPr lang="en-US" sz="1200" dirty="0"/>
          </a:p>
        </p:txBody>
      </p:sp>
      <p:sp>
        <p:nvSpPr>
          <p:cNvPr id="17" name="Text 12"/>
          <p:cNvSpPr/>
          <p:nvPr/>
        </p:nvSpPr>
        <p:spPr>
          <a:xfrm>
            <a:off x="6262669" y="2402086"/>
            <a:ext cx="2095519" cy="61715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파편화된 서류 관리와 만료일 미체크로 인해 비자 만료, 불법 고용 등 치명적인 행정 사고가 반복됩니다.</a:t>
            </a:r>
            <a:endParaRPr lang="en-US" sz="950" dirty="0"/>
          </a:p>
        </p:txBody>
      </p:sp>
      <p:sp>
        <p:nvSpPr>
          <p:cNvPr id="18" name="Shape 13"/>
          <p:cNvSpPr/>
          <p:nvPr/>
        </p:nvSpPr>
        <p:spPr>
          <a:xfrm>
            <a:off x="571500" y="3955852"/>
            <a:ext cx="8001000" cy="616148"/>
          </a:xfrm>
          <a:prstGeom prst="rect">
            <a:avLst/>
          </a:prstGeom>
          <a:solidFill>
            <a:srgbClr val="0F172A"/>
          </a:solidFill>
          <a:ln/>
        </p:spPr>
      </p:sp>
      <p:sp>
        <p:nvSpPr>
          <p:cNvPr id="19" name="Text 14"/>
          <p:cNvSpPr/>
          <p:nvPr/>
        </p:nvSpPr>
        <p:spPr>
          <a:xfrm>
            <a:off x="571500" y="3955852"/>
            <a:ext cx="8001000" cy="616148"/>
          </a:xfrm>
          <a:prstGeom prst="rect">
            <a:avLst/>
          </a:prstGeom>
          <a:noFill/>
          <a:ln/>
        </p:spPr>
        <p:txBody>
          <a:bodyPr wrap="square" lIns="255143" tIns="255143" rIns="255143" bIns="255143" rtlCol="0" anchor="t">
            <a:spAutoFit/>
          </a:bodyPr>
          <a:lstStyle/>
          <a:p>
            <a:pPr marL="0" indent="0" algn="ctr">
              <a:buNone/>
            </a:pPr>
            <a:r>
              <a:rPr lang="en-US" sz="1100" b="1" dirty="0">
                <a:solidFill>
                  <a:srgbClr val="EF4444"/>
                </a:solidFill>
                <a:latin typeface="Pretendard Variable" pitchFamily="34" charset="0"/>
                <a:ea typeface="Pretendard Variable" pitchFamily="34" charset="-122"/>
                <a:cs typeface="Pretendard Variable" pitchFamily="34" charset="-120"/>
              </a:rPr>
              <a:t>현장의 비효율과 사고 위험은 단순한 실수가 아닌, 시스템의 부재에서 기인합니다.</a:t>
            </a:r>
            <a:endParaRPr lang="en-US" sz="1100" dirty="0"/>
          </a:p>
        </p:txBody>
      </p:sp>
      <p:sp>
        <p:nvSpPr>
          <p:cNvPr id="2" name="Text 3">
            <a:extLst>
              <a:ext uri="{FF2B5EF4-FFF2-40B4-BE49-F238E27FC236}">
                <a16:creationId xmlns:a16="http://schemas.microsoft.com/office/drawing/2014/main" id="{1EC2414B-1BBB-4EFB-52AF-9FD17955FAF5}"/>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b="1" dirty="0">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What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if</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What –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456307"/>
            <a:ext cx="8119898" cy="346249"/>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2. </a:t>
            </a:r>
            <a:r>
              <a:rPr lang="en-US" sz="2250" b="1" dirty="0" err="1">
                <a:solidFill>
                  <a:srgbClr val="0F172A"/>
                </a:solidFill>
                <a:latin typeface="Pretendard Variable" pitchFamily="34" charset="0"/>
                <a:ea typeface="Pretendard Variable" pitchFamily="34" charset="-122"/>
                <a:cs typeface="Pretendard Variable" pitchFamily="34" charset="-120"/>
              </a:rPr>
              <a:t>사용자</a:t>
            </a:r>
            <a:r>
              <a:rPr lang="en-US" sz="2250" b="1" dirty="0">
                <a:solidFill>
                  <a:srgbClr val="0F172A"/>
                </a:solidFill>
                <a:latin typeface="Pretendard Variable" pitchFamily="34" charset="0"/>
                <a:ea typeface="Pretendard Variable" pitchFamily="34" charset="-122"/>
                <a:cs typeface="Pretendard Variable" pitchFamily="34" charset="-120"/>
              </a:rPr>
              <a:t> </a:t>
            </a:r>
            <a:r>
              <a:rPr lang="en-US" sz="2250" b="1" dirty="0" err="1">
                <a:solidFill>
                  <a:srgbClr val="0F172A"/>
                </a:solidFill>
                <a:latin typeface="Pretendard Variable" pitchFamily="34" charset="0"/>
                <a:ea typeface="Pretendard Variable" pitchFamily="34" charset="-122"/>
                <a:cs typeface="Pretendard Variable" pitchFamily="34" charset="-120"/>
              </a:rPr>
              <a:t>시나리오</a:t>
            </a:r>
            <a:r>
              <a:rPr lang="en-US" sz="2250" b="1" dirty="0">
                <a:solidFill>
                  <a:srgbClr val="0F172A"/>
                </a:solidFill>
                <a:latin typeface="Pretendard Variable" pitchFamily="34" charset="0"/>
                <a:ea typeface="Pretendard Variable" pitchFamily="34" charset="-122"/>
                <a:cs typeface="Pretendard Variable" pitchFamily="34" charset="-120"/>
              </a:rPr>
              <a:t>(</a:t>
            </a:r>
            <a:r>
              <a:rPr lang="ko-KR" altLang="en-US" sz="2250" b="1" dirty="0">
                <a:solidFill>
                  <a:srgbClr val="0F172A"/>
                </a:solidFill>
                <a:latin typeface="Pretendard Variable" pitchFamily="34" charset="0"/>
                <a:ea typeface="Pretendard Variable" pitchFamily="34" charset="-122"/>
                <a:cs typeface="Pretendard Variable" pitchFamily="34" charset="-120"/>
              </a:rPr>
              <a:t>기존 방식과의 차이</a:t>
            </a:r>
            <a:r>
              <a:rPr lang="en-US" altLang="ko-KR" sz="2250" b="1" dirty="0">
                <a:solidFill>
                  <a:srgbClr val="0F172A"/>
                </a:solidFill>
                <a:latin typeface="Pretendard Variable" pitchFamily="34" charset="0"/>
                <a:ea typeface="Pretendard Variable" pitchFamily="34" charset="-122"/>
                <a:cs typeface="Pretendard Variable" pitchFamily="34" charset="-120"/>
              </a:rPr>
              <a:t>)</a:t>
            </a:r>
            <a:r>
              <a:rPr lang="en-US" sz="2250" b="1" dirty="0">
                <a:solidFill>
                  <a:srgbClr val="0F172A"/>
                </a:solidFill>
                <a:latin typeface="Pretendard Variable" pitchFamily="34" charset="0"/>
                <a:ea typeface="Pretendard Variable" pitchFamily="34" charset="-122"/>
                <a:cs typeface="Pretendard Variable" pitchFamily="34" charset="-120"/>
              </a:rPr>
              <a:t>: 자연어 기반 업무 통합</a:t>
            </a:r>
            <a:endParaRPr lang="en-US" sz="2250" dirty="0"/>
          </a:p>
        </p:txBody>
      </p:sp>
      <p:sp>
        <p:nvSpPr>
          <p:cNvPr id="4" name="Shape 1"/>
          <p:cNvSpPr/>
          <p:nvPr/>
        </p:nvSpPr>
        <p:spPr>
          <a:xfrm>
            <a:off x="571500" y="1000125"/>
            <a:ext cx="8001000" cy="762595"/>
          </a:xfrm>
          <a:prstGeom prst="rect">
            <a:avLst/>
          </a:prstGeom>
          <a:solidFill>
            <a:srgbClr val="F1F5F9"/>
          </a:solidFill>
          <a:ln/>
        </p:spPr>
      </p:sp>
      <p:sp>
        <p:nvSpPr>
          <p:cNvPr id="5" name="Shape 2"/>
          <p:cNvSpPr/>
          <p:nvPr/>
        </p:nvSpPr>
        <p:spPr>
          <a:xfrm>
            <a:off x="571500" y="1000125"/>
            <a:ext cx="57150" cy="762595"/>
          </a:xfrm>
          <a:prstGeom prst="rect">
            <a:avLst/>
          </a:prstGeom>
          <a:solidFill>
            <a:srgbClr val="2563EB"/>
          </a:solidFill>
          <a:ln/>
        </p:spPr>
      </p:sp>
      <p:sp>
        <p:nvSpPr>
          <p:cNvPr id="6" name="Text 3"/>
          <p:cNvSpPr/>
          <p:nvPr/>
        </p:nvSpPr>
        <p:spPr>
          <a:xfrm>
            <a:off x="742950" y="1171575"/>
            <a:ext cx="7658100" cy="119658"/>
          </a:xfrm>
          <a:prstGeom prst="rect">
            <a:avLst/>
          </a:prstGeom>
          <a:noFill/>
          <a:ln/>
        </p:spPr>
        <p:txBody>
          <a:bodyPr wrap="square" lIns="0" tIns="0" rIns="0" bIns="0" rtlCol="0" anchor="t">
            <a:spAutoFit/>
          </a:bodyPr>
          <a:lstStyle/>
          <a:p>
            <a:pPr marL="0" indent="0" algn="l">
              <a:buNone/>
            </a:pPr>
            <a:r>
              <a:rPr lang="en-US" sz="700" b="1" dirty="0">
                <a:solidFill>
                  <a:srgbClr val="2563EB"/>
                </a:solidFill>
                <a:latin typeface="Pretendard Variable" pitchFamily="34" charset="0"/>
                <a:ea typeface="Pretendard Variable" pitchFamily="34" charset="-122"/>
                <a:cs typeface="Pretendard Variable" pitchFamily="34" charset="-120"/>
              </a:rPr>
              <a:t>USER REQUEST</a:t>
            </a:r>
            <a:endParaRPr lang="en-US" sz="700" dirty="0"/>
          </a:p>
        </p:txBody>
      </p:sp>
      <p:sp>
        <p:nvSpPr>
          <p:cNvPr id="7" name="Text 4"/>
          <p:cNvSpPr/>
          <p:nvPr/>
        </p:nvSpPr>
        <p:spPr>
          <a:xfrm>
            <a:off x="742950" y="1376958"/>
            <a:ext cx="7658100" cy="214313"/>
          </a:xfrm>
          <a:prstGeom prst="rect">
            <a:avLst/>
          </a:prstGeom>
          <a:noFill/>
          <a:ln/>
        </p:spPr>
        <p:txBody>
          <a:bodyPr wrap="none" lIns="0" tIns="0" rIns="0" bIns="0" rtlCol="0" anchor="t">
            <a:spAutoFit/>
          </a:bodyPr>
          <a:lstStyle/>
          <a:p>
            <a:pPr marL="0" indent="0" algn="l">
              <a:lnSpc>
                <a:spcPct val="120000"/>
              </a:lnSpc>
              <a:buNone/>
            </a:pPr>
            <a:r>
              <a:rPr lang="en-US" sz="1000" b="1" dirty="0">
                <a:solidFill>
                  <a:srgbClr val="0F172A"/>
                </a:solidFill>
                <a:latin typeface="Pretendard Variable" pitchFamily="34" charset="0"/>
                <a:ea typeface="Pretendard Variable" pitchFamily="34" charset="-122"/>
                <a:cs typeface="Pretendard Variable" pitchFamily="34" charset="-120"/>
              </a:rPr>
              <a:t>“베트남 E-9 근로자 3명 추가 채용 준비해줘. Nguyen 체류만료도 확인해줘.”</a:t>
            </a:r>
            <a:endParaRPr lang="en-US" sz="1000" dirty="0"/>
          </a:p>
        </p:txBody>
      </p:sp>
      <p:sp>
        <p:nvSpPr>
          <p:cNvPr id="8" name="Shape 5"/>
          <p:cNvSpPr/>
          <p:nvPr/>
        </p:nvSpPr>
        <p:spPr>
          <a:xfrm>
            <a:off x="571500" y="2048470"/>
            <a:ext cx="3857625" cy="2369939"/>
          </a:xfrm>
          <a:prstGeom prst="rect">
            <a:avLst/>
          </a:prstGeom>
          <a:solidFill>
            <a:srgbClr val="F8FAFC"/>
          </a:solidFill>
          <a:ln w="9144">
            <a:solidFill>
              <a:srgbClr val="E2E8F0"/>
            </a:solidFill>
            <a:prstDash val="solid"/>
          </a:ln>
        </p:spPr>
      </p:sp>
      <p:pic>
        <p:nvPicPr>
          <p:cNvPr id="9" name="Image 1" descr="preencoded.png"/>
          <p:cNvPicPr>
            <a:picLocks noChangeAspect="1"/>
          </p:cNvPicPr>
          <p:nvPr/>
        </p:nvPicPr>
        <p:blipFill>
          <a:blip r:embed="rId4"/>
          <a:stretch>
            <a:fillRect/>
          </a:stretch>
        </p:blipFill>
        <p:spPr>
          <a:xfrm>
            <a:off x="742950" y="2235101"/>
            <a:ext cx="157163" cy="157163"/>
          </a:xfrm>
          <a:prstGeom prst="rect">
            <a:avLst/>
          </a:prstGeom>
        </p:spPr>
      </p:pic>
      <p:sp>
        <p:nvSpPr>
          <p:cNvPr id="10" name="Text 6"/>
          <p:cNvSpPr/>
          <p:nvPr/>
        </p:nvSpPr>
        <p:spPr>
          <a:xfrm>
            <a:off x="985838" y="2219920"/>
            <a:ext cx="1655564" cy="187523"/>
          </a:xfrm>
          <a:prstGeom prst="rect">
            <a:avLst/>
          </a:prstGeom>
          <a:noFill/>
          <a:ln/>
        </p:spPr>
        <p:txBody>
          <a:bodyPr wrap="square" lIns="0" tIns="0" rIns="0" bIns="0" rtlCol="0" anchor="t">
            <a:spAutoFit/>
          </a:bodyPr>
          <a:lstStyle/>
          <a:p>
            <a:pPr marL="0" indent="0" algn="l">
              <a:buNone/>
            </a:pPr>
            <a:r>
              <a:rPr lang="en-US" sz="1100" b="1" dirty="0">
                <a:solidFill>
                  <a:srgbClr val="64748B"/>
                </a:solidFill>
                <a:latin typeface="Pretendard Variable" pitchFamily="34" charset="0"/>
                <a:ea typeface="Pretendard Variable" pitchFamily="34" charset="-122"/>
                <a:cs typeface="Pretendard Variable" pitchFamily="34" charset="-120"/>
              </a:rPr>
              <a:t>기존 방식 (Fragmented)</a:t>
            </a:r>
            <a:endParaRPr lang="en-US" sz="1100" dirty="0"/>
          </a:p>
        </p:txBody>
      </p:sp>
      <p:pic>
        <p:nvPicPr>
          <p:cNvPr id="11" name="Image 2" descr="preencoded.png"/>
          <p:cNvPicPr>
            <a:picLocks noChangeAspect="1"/>
          </p:cNvPicPr>
          <p:nvPr/>
        </p:nvPicPr>
        <p:blipFill>
          <a:blip r:embed="rId5"/>
          <a:stretch>
            <a:fillRect/>
          </a:stretch>
        </p:blipFill>
        <p:spPr>
          <a:xfrm>
            <a:off x="742950" y="2578894"/>
            <a:ext cx="100013" cy="142875"/>
          </a:xfrm>
          <a:prstGeom prst="rect">
            <a:avLst/>
          </a:prstGeom>
        </p:spPr>
      </p:pic>
      <p:sp>
        <p:nvSpPr>
          <p:cNvPr id="12" name="Text 7"/>
          <p:cNvSpPr/>
          <p:nvPr/>
        </p:nvSpPr>
        <p:spPr>
          <a:xfrm>
            <a:off x="928688" y="2550319"/>
            <a:ext cx="2037755"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담당자가 직접 법령 사이트에서 채용 쿼터 확인</a:t>
            </a:r>
            <a:endParaRPr lang="en-US" sz="850" dirty="0"/>
          </a:p>
        </p:txBody>
      </p:sp>
      <p:pic>
        <p:nvPicPr>
          <p:cNvPr id="13" name="Image 3" descr="preencoded.png"/>
          <p:cNvPicPr>
            <a:picLocks noChangeAspect="1"/>
          </p:cNvPicPr>
          <p:nvPr/>
        </p:nvPicPr>
        <p:blipFill>
          <a:blip r:embed="rId5"/>
          <a:stretch>
            <a:fillRect/>
          </a:stretch>
        </p:blipFill>
        <p:spPr>
          <a:xfrm>
            <a:off x="742950" y="2864644"/>
            <a:ext cx="100013" cy="142875"/>
          </a:xfrm>
          <a:prstGeom prst="rect">
            <a:avLst/>
          </a:prstGeom>
        </p:spPr>
      </p:pic>
      <p:sp>
        <p:nvSpPr>
          <p:cNvPr id="14" name="Text 8"/>
          <p:cNvSpPr/>
          <p:nvPr/>
        </p:nvSpPr>
        <p:spPr>
          <a:xfrm>
            <a:off x="928688" y="2836069"/>
            <a:ext cx="2266355"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엑셀 파일 열어서 Nguyen의 비자 만료일 수동 체크</a:t>
            </a:r>
            <a:endParaRPr lang="en-US" sz="850" dirty="0"/>
          </a:p>
        </p:txBody>
      </p:sp>
      <p:pic>
        <p:nvPicPr>
          <p:cNvPr id="15" name="Image 4" descr="preencoded.png"/>
          <p:cNvPicPr>
            <a:picLocks noChangeAspect="1"/>
          </p:cNvPicPr>
          <p:nvPr/>
        </p:nvPicPr>
        <p:blipFill>
          <a:blip r:embed="rId5"/>
          <a:stretch>
            <a:fillRect/>
          </a:stretch>
        </p:blipFill>
        <p:spPr>
          <a:xfrm>
            <a:off x="742950" y="3150394"/>
            <a:ext cx="100013" cy="142875"/>
          </a:xfrm>
          <a:prstGeom prst="rect">
            <a:avLst/>
          </a:prstGeom>
        </p:spPr>
      </p:pic>
      <p:sp>
        <p:nvSpPr>
          <p:cNvPr id="16" name="Text 9"/>
          <p:cNvSpPr/>
          <p:nvPr/>
        </p:nvSpPr>
        <p:spPr>
          <a:xfrm>
            <a:off x="928688" y="3121819"/>
            <a:ext cx="2291358"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행정사에게 메일로 서류 누락 여부 질의 및 회신 대기</a:t>
            </a:r>
            <a:endParaRPr lang="en-US" sz="850" dirty="0"/>
          </a:p>
        </p:txBody>
      </p:sp>
      <p:pic>
        <p:nvPicPr>
          <p:cNvPr id="17" name="Image 5" descr="preencoded.png"/>
          <p:cNvPicPr>
            <a:picLocks noChangeAspect="1"/>
          </p:cNvPicPr>
          <p:nvPr/>
        </p:nvPicPr>
        <p:blipFill>
          <a:blip r:embed="rId5"/>
          <a:stretch>
            <a:fillRect/>
          </a:stretch>
        </p:blipFill>
        <p:spPr>
          <a:xfrm>
            <a:off x="742950" y="3436144"/>
            <a:ext cx="100013" cy="142875"/>
          </a:xfrm>
          <a:prstGeom prst="rect">
            <a:avLst/>
          </a:prstGeom>
        </p:spPr>
      </p:pic>
      <p:sp>
        <p:nvSpPr>
          <p:cNvPr id="18" name="Text 10"/>
          <p:cNvSpPr/>
          <p:nvPr/>
        </p:nvSpPr>
        <p:spPr>
          <a:xfrm>
            <a:off x="928688" y="3407569"/>
            <a:ext cx="2514600"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파편화된 정보를 취합하여 최종 의사결정 (오류 가능성↑)</a:t>
            </a:r>
            <a:endParaRPr lang="en-US" sz="850" dirty="0"/>
          </a:p>
        </p:txBody>
      </p:sp>
      <p:sp>
        <p:nvSpPr>
          <p:cNvPr id="19" name="Shape 11"/>
          <p:cNvSpPr/>
          <p:nvPr/>
        </p:nvSpPr>
        <p:spPr>
          <a:xfrm>
            <a:off x="4714875" y="2048470"/>
            <a:ext cx="3857625" cy="2369939"/>
          </a:xfrm>
          <a:prstGeom prst="rect">
            <a:avLst/>
          </a:prstGeom>
          <a:solidFill>
            <a:srgbClr val="EFF6FF"/>
          </a:solidFill>
          <a:ln w="9144">
            <a:solidFill>
              <a:srgbClr val="DBEAFE"/>
            </a:solidFill>
            <a:prstDash val="solid"/>
          </a:ln>
        </p:spPr>
      </p:sp>
      <p:pic>
        <p:nvPicPr>
          <p:cNvPr id="20" name="Image 6" descr="preencoded.png"/>
          <p:cNvPicPr>
            <a:picLocks noChangeAspect="1"/>
          </p:cNvPicPr>
          <p:nvPr/>
        </p:nvPicPr>
        <p:blipFill>
          <a:blip r:embed="rId6"/>
          <a:stretch>
            <a:fillRect/>
          </a:stretch>
        </p:blipFill>
        <p:spPr>
          <a:xfrm>
            <a:off x="4886325" y="2235101"/>
            <a:ext cx="157163" cy="157163"/>
          </a:xfrm>
          <a:prstGeom prst="rect">
            <a:avLst/>
          </a:prstGeom>
        </p:spPr>
      </p:pic>
      <p:sp>
        <p:nvSpPr>
          <p:cNvPr id="21" name="Text 12"/>
          <p:cNvSpPr/>
          <p:nvPr/>
        </p:nvSpPr>
        <p:spPr>
          <a:xfrm>
            <a:off x="5129213" y="2219920"/>
            <a:ext cx="1557338" cy="187523"/>
          </a:xfrm>
          <a:prstGeom prst="rect">
            <a:avLst/>
          </a:prstGeom>
          <a:noFill/>
          <a:ln/>
        </p:spPr>
        <p:txBody>
          <a:bodyPr wrap="square" lIns="0" tIns="0" rIns="0" bIns="0" rtlCol="0" anchor="t">
            <a:spAutoFit/>
          </a:bodyPr>
          <a:lstStyle/>
          <a:p>
            <a:pPr marL="0" indent="0" algn="l">
              <a:buNone/>
            </a:pPr>
            <a:r>
              <a:rPr lang="en-US" sz="1100" b="1" dirty="0">
                <a:solidFill>
                  <a:srgbClr val="2563EB"/>
                </a:solidFill>
                <a:latin typeface="Pretendard Variable" pitchFamily="34" charset="0"/>
                <a:ea typeface="Pretendard Variable" pitchFamily="34" charset="-122"/>
                <a:cs typeface="Pretendard Variable" pitchFamily="34" charset="-120"/>
              </a:rPr>
              <a:t>외고반장 방식 (Unified)</a:t>
            </a:r>
            <a:endParaRPr lang="en-US" sz="1100" dirty="0"/>
          </a:p>
        </p:txBody>
      </p:sp>
      <p:pic>
        <p:nvPicPr>
          <p:cNvPr id="22" name="Image 7" descr="preencoded.png"/>
          <p:cNvPicPr>
            <a:picLocks noChangeAspect="1"/>
          </p:cNvPicPr>
          <p:nvPr/>
        </p:nvPicPr>
        <p:blipFill>
          <a:blip r:embed="rId7"/>
          <a:stretch>
            <a:fillRect/>
          </a:stretch>
        </p:blipFill>
        <p:spPr>
          <a:xfrm>
            <a:off x="4886325" y="2578894"/>
            <a:ext cx="100013" cy="142875"/>
          </a:xfrm>
          <a:prstGeom prst="rect">
            <a:avLst/>
          </a:prstGeom>
        </p:spPr>
      </p:pic>
      <p:sp>
        <p:nvSpPr>
          <p:cNvPr id="23" name="Text 13"/>
          <p:cNvSpPr/>
          <p:nvPr/>
        </p:nvSpPr>
        <p:spPr>
          <a:xfrm>
            <a:off x="5072063" y="2550319"/>
            <a:ext cx="2214563"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Intent Router가 채용/비자 확인 의도를 즉시 분류</a:t>
            </a:r>
            <a:endParaRPr lang="en-US" sz="850" dirty="0"/>
          </a:p>
        </p:txBody>
      </p:sp>
      <p:pic>
        <p:nvPicPr>
          <p:cNvPr id="24" name="Image 8" descr="preencoded.png"/>
          <p:cNvPicPr>
            <a:picLocks noChangeAspect="1"/>
          </p:cNvPicPr>
          <p:nvPr/>
        </p:nvPicPr>
        <p:blipFill>
          <a:blip r:embed="rId7"/>
          <a:stretch>
            <a:fillRect/>
          </a:stretch>
        </p:blipFill>
        <p:spPr>
          <a:xfrm>
            <a:off x="4886325" y="2864644"/>
            <a:ext cx="100013" cy="142875"/>
          </a:xfrm>
          <a:prstGeom prst="rect">
            <a:avLst/>
          </a:prstGeom>
        </p:spPr>
      </p:pic>
      <p:sp>
        <p:nvSpPr>
          <p:cNvPr id="25" name="Text 14"/>
          <p:cNvSpPr/>
          <p:nvPr/>
        </p:nvSpPr>
        <p:spPr>
          <a:xfrm>
            <a:off x="5072063" y="2836069"/>
            <a:ext cx="2162770"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RAG가 최신 쿼터와 Nguyen의 상태를 동시 분석</a:t>
            </a:r>
            <a:endParaRPr lang="en-US" sz="850" dirty="0"/>
          </a:p>
        </p:txBody>
      </p:sp>
      <p:pic>
        <p:nvPicPr>
          <p:cNvPr id="26" name="Image 9" descr="preencoded.png"/>
          <p:cNvPicPr>
            <a:picLocks noChangeAspect="1"/>
          </p:cNvPicPr>
          <p:nvPr/>
        </p:nvPicPr>
        <p:blipFill>
          <a:blip r:embed="rId7"/>
          <a:stretch>
            <a:fillRect/>
          </a:stretch>
        </p:blipFill>
        <p:spPr>
          <a:xfrm>
            <a:off x="4886325" y="3150394"/>
            <a:ext cx="100013" cy="142875"/>
          </a:xfrm>
          <a:prstGeom prst="rect">
            <a:avLst/>
          </a:prstGeom>
        </p:spPr>
      </p:pic>
      <p:sp>
        <p:nvSpPr>
          <p:cNvPr id="27" name="Text 15"/>
          <p:cNvSpPr/>
          <p:nvPr/>
        </p:nvSpPr>
        <p:spPr>
          <a:xfrm>
            <a:off x="5072063" y="3121819"/>
            <a:ext cx="2319933"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실행 계획 수립: 쿼터 계산서 + 비자 갱신 패키지 생성</a:t>
            </a:r>
            <a:endParaRPr lang="en-US" sz="850" dirty="0"/>
          </a:p>
        </p:txBody>
      </p:sp>
      <p:pic>
        <p:nvPicPr>
          <p:cNvPr id="28" name="Image 10" descr="preencoded.png"/>
          <p:cNvPicPr>
            <a:picLocks noChangeAspect="1"/>
          </p:cNvPicPr>
          <p:nvPr/>
        </p:nvPicPr>
        <p:blipFill>
          <a:blip r:embed="rId7"/>
          <a:stretch>
            <a:fillRect/>
          </a:stretch>
        </p:blipFill>
        <p:spPr>
          <a:xfrm>
            <a:off x="4886325" y="3436144"/>
            <a:ext cx="100013" cy="142875"/>
          </a:xfrm>
          <a:prstGeom prst="rect">
            <a:avLst/>
          </a:prstGeom>
        </p:spPr>
      </p:pic>
      <p:sp>
        <p:nvSpPr>
          <p:cNvPr id="29" name="Text 16"/>
          <p:cNvSpPr/>
          <p:nvPr/>
        </p:nvSpPr>
        <p:spPr>
          <a:xfrm>
            <a:off x="5072063" y="3407569"/>
            <a:ext cx="2346722"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1E293B"/>
                </a:solidFill>
                <a:latin typeface="Pretendard Variable" pitchFamily="34" charset="0"/>
                <a:ea typeface="Pretendard Variable" pitchFamily="34" charset="-122"/>
                <a:cs typeface="Pretendard Variable" pitchFamily="34" charset="-120"/>
              </a:rPr>
              <a:t>관리자에게 '승인 대기' 알림 전송 (단 몇 초 만에 완료)</a:t>
            </a:r>
            <a:endParaRPr lang="en-US" sz="850" dirty="0"/>
          </a:p>
        </p:txBody>
      </p:sp>
      <p:sp>
        <p:nvSpPr>
          <p:cNvPr id="30" name="Text 17"/>
          <p:cNvSpPr/>
          <p:nvPr/>
        </p:nvSpPr>
        <p:spPr>
          <a:xfrm>
            <a:off x="571500" y="4561284"/>
            <a:ext cx="8001000" cy="138499"/>
          </a:xfrm>
          <a:prstGeom prst="rect">
            <a:avLst/>
          </a:prstGeom>
          <a:noFill/>
          <a:ln/>
        </p:spPr>
        <p:txBody>
          <a:bodyPr wrap="squar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"복잡한 행정 </a:t>
            </a:r>
            <a:r>
              <a:rPr lang="en-US" sz="900" dirty="0" err="1">
                <a:solidFill>
                  <a:srgbClr val="475569"/>
                </a:solidFill>
                <a:latin typeface="Pretendard Variable" pitchFamily="34" charset="0"/>
                <a:ea typeface="Pretendard Variable" pitchFamily="34" charset="-122"/>
                <a:cs typeface="Pretendard Variable" pitchFamily="34" charset="-120"/>
              </a:rPr>
              <a:t>프로세스를</a:t>
            </a:r>
            <a:r>
              <a:rPr lang="en-US" sz="900" dirty="0">
                <a:solidFill>
                  <a:srgbClr val="475569"/>
                </a:solidFill>
                <a:latin typeface="Pretendard Variable" pitchFamily="34" charset="0"/>
                <a:ea typeface="Pretendard Variable" pitchFamily="34" charset="-122"/>
                <a:cs typeface="Pretendard Variable" pitchFamily="34" charset="-120"/>
              </a:rPr>
              <a:t> </a:t>
            </a:r>
            <a:r>
              <a:rPr lang="en-US" sz="900" b="1" dirty="0" err="1">
                <a:solidFill>
                  <a:srgbClr val="475569"/>
                </a:solidFill>
                <a:latin typeface="Pretendard Variable" pitchFamily="34" charset="0"/>
                <a:ea typeface="Pretendard Variable" pitchFamily="34" charset="-122"/>
                <a:cs typeface="Pretendard Variable" pitchFamily="34" charset="-120"/>
              </a:rPr>
              <a:t>워크플로우</a:t>
            </a:r>
            <a:r>
              <a:rPr lang="en-US" sz="900" dirty="0" err="1">
                <a:solidFill>
                  <a:srgbClr val="475569"/>
                </a:solidFill>
                <a:latin typeface="Pretendard Variable" pitchFamily="34" charset="0"/>
                <a:ea typeface="Pretendard Variable" pitchFamily="34" charset="-122"/>
                <a:cs typeface="Pretendard Variable" pitchFamily="34" charset="-120"/>
              </a:rPr>
              <a:t>로</a:t>
            </a:r>
            <a:r>
              <a:rPr lang="en-US" sz="900" dirty="0">
                <a:solidFill>
                  <a:srgbClr val="475569"/>
                </a:solidFill>
                <a:latin typeface="Pretendard Variable" pitchFamily="34" charset="0"/>
                <a:ea typeface="Pretendard Variable" pitchFamily="34" charset="-122"/>
                <a:cs typeface="Pretendard Variable" pitchFamily="34" charset="-120"/>
              </a:rPr>
              <a:t> 통합하여 관리자의 부담을 최소화합니다."</a:t>
            </a:r>
            <a:endParaRPr lang="en-US" sz="900" dirty="0"/>
          </a:p>
        </p:txBody>
      </p:sp>
      <p:sp>
        <p:nvSpPr>
          <p:cNvPr id="31" name="Text 3">
            <a:extLst>
              <a:ext uri="{FF2B5EF4-FFF2-40B4-BE49-F238E27FC236}">
                <a16:creationId xmlns:a16="http://schemas.microsoft.com/office/drawing/2014/main" id="{C3A342AF-023C-D01F-9FD2-B8C510610DCA}"/>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a:t>
            </a:r>
            <a:r>
              <a:rPr lang="ko-KR" altLang="en-US" sz="1200" b="1" dirty="0">
                <a:latin typeface="Pretendard"/>
              </a:rPr>
              <a:t> </a:t>
            </a:r>
            <a:r>
              <a:rPr lang="en-US" altLang="ko-KR" sz="1200" b="1" dirty="0">
                <a:latin typeface="Pretendard"/>
              </a:rPr>
              <a:t>if</a:t>
            </a:r>
            <a:r>
              <a:rPr lang="ko-KR" altLang="en-US" sz="1200" b="1" dirty="0">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What –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456307"/>
            <a:ext cx="6491246" cy="346249"/>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2. 사용자 </a:t>
            </a:r>
            <a:r>
              <a:rPr lang="en-US" sz="2250" b="1" dirty="0" err="1">
                <a:solidFill>
                  <a:srgbClr val="0F172A"/>
                </a:solidFill>
                <a:latin typeface="Pretendard Variable" pitchFamily="34" charset="0"/>
                <a:ea typeface="Pretendard Variable" pitchFamily="34" charset="-122"/>
                <a:cs typeface="Pretendard Variable" pitchFamily="34" charset="-120"/>
              </a:rPr>
              <a:t>시나리오</a:t>
            </a:r>
            <a:r>
              <a:rPr lang="en-US" sz="2250" b="1" dirty="0">
                <a:solidFill>
                  <a:srgbClr val="0F172A"/>
                </a:solidFill>
                <a:latin typeface="Pretendard Variable" pitchFamily="34" charset="0"/>
                <a:ea typeface="Pretendard Variable" pitchFamily="34" charset="-122"/>
                <a:cs typeface="Pretendard Variable" pitchFamily="34" charset="-120"/>
              </a:rPr>
              <a:t> 1: 인력 확보 및 쿼터 판별</a:t>
            </a:r>
            <a:endParaRPr lang="en-US" sz="2250" dirty="0"/>
          </a:p>
        </p:txBody>
      </p:sp>
      <p:sp>
        <p:nvSpPr>
          <p:cNvPr id="4" name="Shape 1"/>
          <p:cNvSpPr/>
          <p:nvPr/>
        </p:nvSpPr>
        <p:spPr>
          <a:xfrm>
            <a:off x="1035844" y="1000126"/>
            <a:ext cx="2286000" cy="3328558"/>
          </a:xfrm>
          <a:prstGeom prst="rect">
            <a:avLst/>
          </a:prstGeom>
          <a:solidFill>
            <a:srgbClr val="0F172A"/>
          </a:solidFill>
          <a:ln w="82296">
            <a:solidFill>
              <a:srgbClr val="334155"/>
            </a:solidFill>
            <a:prstDash val="solid"/>
          </a:ln>
        </p:spPr>
      </p:sp>
      <p:sp>
        <p:nvSpPr>
          <p:cNvPr id="5" name="Shape 2"/>
          <p:cNvSpPr/>
          <p:nvPr/>
        </p:nvSpPr>
        <p:spPr>
          <a:xfrm>
            <a:off x="1478756" y="1143000"/>
            <a:ext cx="1700213" cy="451452"/>
          </a:xfrm>
          <a:prstGeom prst="rect">
            <a:avLst/>
          </a:prstGeom>
          <a:solidFill>
            <a:srgbClr val="2563EB"/>
          </a:solidFill>
          <a:ln/>
        </p:spPr>
      </p:sp>
      <p:sp>
        <p:nvSpPr>
          <p:cNvPr id="6" name="Text 3"/>
          <p:cNvSpPr/>
          <p:nvPr/>
        </p:nvSpPr>
        <p:spPr>
          <a:xfrm>
            <a:off x="1478756" y="1143000"/>
            <a:ext cx="1700213" cy="451452"/>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베트남 E-9 근로자 3명 추가 채용 준비해줘.</a:t>
            </a:r>
            <a:endParaRPr lang="en-US" sz="750" dirty="0"/>
          </a:p>
        </p:txBody>
      </p:sp>
      <p:sp>
        <p:nvSpPr>
          <p:cNvPr id="7" name="Shape 4"/>
          <p:cNvSpPr/>
          <p:nvPr/>
        </p:nvSpPr>
        <p:spPr>
          <a:xfrm>
            <a:off x="1178719" y="1701608"/>
            <a:ext cx="1700213" cy="1011455"/>
          </a:xfrm>
          <a:prstGeom prst="rect">
            <a:avLst/>
          </a:prstGeom>
          <a:solidFill>
            <a:srgbClr val="334155"/>
          </a:solidFill>
          <a:ln/>
        </p:spPr>
      </p:sp>
      <p:sp>
        <p:nvSpPr>
          <p:cNvPr id="8" name="Text 5"/>
          <p:cNvSpPr/>
          <p:nvPr/>
        </p:nvSpPr>
        <p:spPr>
          <a:xfrm>
            <a:off x="1178719" y="1701608"/>
            <a:ext cx="1700213" cy="1011455"/>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의도를 파악했습니다. 인력 확보 에이전트를 가동합니다.
1. 고용 쿼터 확인
2. 채용 의도 분석
3. 신청 서류 초안 작성</a:t>
            </a:r>
            <a:endParaRPr lang="en-US" sz="750" dirty="0"/>
          </a:p>
        </p:txBody>
      </p:sp>
      <p:sp>
        <p:nvSpPr>
          <p:cNvPr id="9" name="Shape 6"/>
          <p:cNvSpPr/>
          <p:nvPr/>
        </p:nvSpPr>
        <p:spPr>
          <a:xfrm>
            <a:off x="1178719" y="2820218"/>
            <a:ext cx="1700213" cy="1232454"/>
          </a:xfrm>
          <a:prstGeom prst="rect">
            <a:avLst/>
          </a:prstGeom>
          <a:solidFill>
            <a:srgbClr val="334155"/>
          </a:solidFill>
          <a:ln/>
        </p:spPr>
      </p:sp>
      <p:sp>
        <p:nvSpPr>
          <p:cNvPr id="10" name="Text 7"/>
          <p:cNvSpPr/>
          <p:nvPr/>
        </p:nvSpPr>
        <p:spPr>
          <a:xfrm>
            <a:off x="1178719" y="2820219"/>
            <a:ext cx="1771389" cy="1103187"/>
          </a:xfrm>
          <a:prstGeom prst="rect">
            <a:avLst/>
          </a:prstGeom>
          <a:noFill/>
          <a:ln/>
        </p:spPr>
        <p:txBody>
          <a:bodyPr wrap="square" lIns="136017" tIns="102108" rIns="136017" bIns="102108" rtlCol="0" anchor="t">
            <a:spAutoFit/>
          </a:bodyPr>
          <a:lstStyle/>
          <a:p>
            <a:pPr>
              <a:lnSpc>
                <a:spcPct val="112000"/>
              </a:lnSpc>
            </a:pPr>
            <a:r>
              <a:rPr lang="en-US" sz="750" dirty="0">
                <a:solidFill>
                  <a:srgbClr val="FFFFFF"/>
                </a:solidFill>
                <a:latin typeface="Pretendard Variable" pitchFamily="34" charset="0"/>
                <a:ea typeface="Pretendard Variable" pitchFamily="34" charset="-122"/>
                <a:cs typeface="Pretendard Variable" pitchFamily="34" charset="-120"/>
              </a:rPr>
              <a:t>쿼터 </a:t>
            </a:r>
            <a:r>
              <a:rPr lang="en-US" sz="750" dirty="0" err="1">
                <a:solidFill>
                  <a:srgbClr val="FFFFFF"/>
                </a:solidFill>
                <a:latin typeface="Pretendard Variable" pitchFamily="34" charset="0"/>
                <a:ea typeface="Pretendard Variable" pitchFamily="34" charset="-122"/>
                <a:cs typeface="Pretendard Variable" pitchFamily="34" charset="-120"/>
              </a:rPr>
              <a:t>판별</a:t>
            </a:r>
            <a:r>
              <a:rPr lang="en-US" sz="750" dirty="0">
                <a:solidFill>
                  <a:srgbClr val="FFFFFF"/>
                </a:solidFill>
                <a:latin typeface="Pretendard Variable" pitchFamily="34" charset="0"/>
                <a:ea typeface="Pretendard Variable" pitchFamily="34" charset="-122"/>
                <a:cs typeface="Pretendard Variable" pitchFamily="34" charset="-120"/>
              </a:rPr>
              <a:t> </a:t>
            </a:r>
            <a:r>
              <a:rPr lang="en-US" sz="750" dirty="0" err="1">
                <a:solidFill>
                  <a:srgbClr val="FFFFFF"/>
                </a:solidFill>
                <a:latin typeface="Pretendard Variable" pitchFamily="34" charset="0"/>
                <a:ea typeface="Pretendard Variable" pitchFamily="34" charset="-122"/>
                <a:cs typeface="Pretendard Variable" pitchFamily="34" charset="-120"/>
              </a:rPr>
              <a:t>결과</a:t>
            </a:r>
            <a:r>
              <a:rPr lang="en-US" sz="750" dirty="0">
                <a:solidFill>
                  <a:srgbClr val="FFFFFF"/>
                </a:solidFill>
                <a:latin typeface="Pretendard Variable" pitchFamily="34" charset="0"/>
                <a:ea typeface="Pretendard Variable" pitchFamily="34" charset="-122"/>
                <a:cs typeface="Pretendard Variable" pitchFamily="34" charset="-120"/>
              </a:rPr>
              <a:t> </a:t>
            </a:r>
            <a:r>
              <a:rPr lang="en-US" altLang="ko-KR" sz="750" dirty="0" err="1">
                <a:solidFill>
                  <a:srgbClr val="FFFFFF"/>
                </a:solidFill>
                <a:latin typeface="Pretendard Variable" pitchFamily="34" charset="0"/>
                <a:ea typeface="Pretendard Variable" pitchFamily="34" charset="-122"/>
                <a:cs typeface="Pretendard Variable" pitchFamily="34" charset="-120"/>
              </a:rPr>
              <a:t>가능합니다</a:t>
            </a:r>
            <a:r>
              <a:rPr lang="en-US" sz="750" dirty="0">
                <a:solidFill>
                  <a:srgbClr val="FFFFFF"/>
                </a:solidFill>
                <a:latin typeface="Pretendard Variable" pitchFamily="34" charset="0"/>
                <a:ea typeface="Pretendard Variable" pitchFamily="34" charset="-122"/>
                <a:cs typeface="Pretendard Variable" pitchFamily="34" charset="-120"/>
              </a:rPr>
              <a:t>, 현재 5명까지 </a:t>
            </a:r>
            <a:r>
              <a:rPr lang="en-US" sz="750" dirty="0" err="1">
                <a:solidFill>
                  <a:srgbClr val="FFFFFF"/>
                </a:solidFill>
                <a:latin typeface="Pretendard Variable" pitchFamily="34" charset="0"/>
                <a:ea typeface="Pretendard Variable" pitchFamily="34" charset="-122"/>
                <a:cs typeface="Pretendard Variable" pitchFamily="34" charset="-120"/>
              </a:rPr>
              <a:t>추가</a:t>
            </a:r>
            <a:r>
              <a:rPr lang="en-US" sz="750" dirty="0">
                <a:solidFill>
                  <a:srgbClr val="FFFFFF"/>
                </a:solidFill>
                <a:latin typeface="Pretendard Variable" pitchFamily="34" charset="0"/>
                <a:ea typeface="Pretendard Variable" pitchFamily="34" charset="-122"/>
                <a:cs typeface="Pretendard Variable" pitchFamily="34" charset="-120"/>
              </a:rPr>
              <a:t> </a:t>
            </a:r>
            <a:r>
              <a:rPr lang="en-US" sz="750" dirty="0" err="1">
                <a:solidFill>
                  <a:srgbClr val="FFFFFF"/>
                </a:solidFill>
                <a:latin typeface="Pretendard Variable" pitchFamily="34" charset="0"/>
                <a:ea typeface="Pretendard Variable" pitchFamily="34" charset="-122"/>
                <a:cs typeface="Pretendard Variable" pitchFamily="34" charset="-120"/>
              </a:rPr>
              <a:t>고용</a:t>
            </a:r>
            <a:r>
              <a:rPr lang="en-US" sz="750" dirty="0">
                <a:solidFill>
                  <a:srgbClr val="FFFFFF"/>
                </a:solidFill>
                <a:latin typeface="Pretendard Variable" pitchFamily="34" charset="0"/>
                <a:ea typeface="Pretendard Variable" pitchFamily="34" charset="-122"/>
                <a:cs typeface="Pretendard Variable" pitchFamily="34" charset="-120"/>
              </a:rPr>
              <a:t> </a:t>
            </a:r>
            <a:r>
              <a:rPr lang="ko-KR" altLang="en-US" sz="750" dirty="0">
                <a:solidFill>
                  <a:srgbClr val="FFFFFF"/>
                </a:solidFill>
                <a:latin typeface="Pretendard Variable" pitchFamily="34" charset="0"/>
                <a:ea typeface="Pretendard Variable" pitchFamily="34" charset="-122"/>
                <a:cs typeface="Pretendard Variable" pitchFamily="34" charset="-120"/>
              </a:rPr>
              <a:t>가능성을 검토할 수 있는 상태입니다</a:t>
            </a:r>
            <a:r>
              <a:rPr lang="en-US" altLang="ko-KR" sz="750" dirty="0">
                <a:solidFill>
                  <a:srgbClr val="FFFFFF"/>
                </a:solidFill>
                <a:latin typeface="Pretendard Variable" pitchFamily="34" charset="0"/>
                <a:ea typeface="Pretendard Variable" pitchFamily="34" charset="-122"/>
                <a:cs typeface="Pretendard Variable" pitchFamily="34" charset="-120"/>
              </a:rPr>
              <a:t>. </a:t>
            </a:r>
          </a:p>
          <a:p>
            <a:pPr>
              <a:lnSpc>
                <a:spcPct val="112000"/>
              </a:lnSpc>
            </a:pPr>
            <a:endParaRPr lang="en-US" altLang="ko-KR" sz="750" dirty="0">
              <a:solidFill>
                <a:srgbClr val="FFFFFF"/>
              </a:solidFill>
              <a:latin typeface="Pretendard Variable" pitchFamily="34" charset="0"/>
              <a:ea typeface="Pretendard Variable" pitchFamily="34" charset="-122"/>
              <a:cs typeface="Pretendard Variable" pitchFamily="34" charset="-120"/>
            </a:endParaRPr>
          </a:p>
          <a:p>
            <a:pPr>
              <a:lnSpc>
                <a:spcPct val="112000"/>
              </a:lnSpc>
            </a:pPr>
            <a:r>
              <a:rPr lang="ko-KR" altLang="en-US" sz="750" dirty="0">
                <a:solidFill>
                  <a:srgbClr val="FFFFFF"/>
                </a:solidFill>
                <a:latin typeface="Pretendard Variable" pitchFamily="34" charset="0"/>
                <a:ea typeface="Pretendard Variable" pitchFamily="34" charset="-122"/>
                <a:cs typeface="Pretendard Variable" pitchFamily="34" charset="-120"/>
              </a:rPr>
              <a:t>최종 가능 여부는 고용센터</a:t>
            </a:r>
            <a:r>
              <a:rPr lang="en-US" altLang="ko-KR" sz="750" dirty="0">
                <a:solidFill>
                  <a:srgbClr val="FFFFFF"/>
                </a:solidFill>
                <a:latin typeface="Pretendard Variable" pitchFamily="34" charset="0"/>
                <a:ea typeface="Pretendard Variable" pitchFamily="34" charset="-122"/>
                <a:cs typeface="Pretendard Variable" pitchFamily="34" charset="-120"/>
              </a:rPr>
              <a:t>/</a:t>
            </a:r>
            <a:r>
              <a:rPr lang="ko-KR" altLang="en-US" sz="750" dirty="0" err="1">
                <a:solidFill>
                  <a:srgbClr val="FFFFFF"/>
                </a:solidFill>
                <a:latin typeface="Pretendard Variable" pitchFamily="34" charset="0"/>
                <a:ea typeface="Pretendard Variable" pitchFamily="34" charset="-122"/>
                <a:cs typeface="Pretendard Variable" pitchFamily="34" charset="-120"/>
              </a:rPr>
              <a:t>행정사</a:t>
            </a:r>
            <a:r>
              <a:rPr lang="ko-KR" altLang="en-US" sz="750" dirty="0">
                <a:solidFill>
                  <a:srgbClr val="FFFFFF"/>
                </a:solidFill>
                <a:latin typeface="Pretendard Variable" pitchFamily="34" charset="0"/>
                <a:ea typeface="Pretendard Variable" pitchFamily="34" charset="-122"/>
                <a:cs typeface="Pretendard Variable" pitchFamily="34" charset="-120"/>
              </a:rPr>
              <a:t> 확인이 필요합니다</a:t>
            </a:r>
            <a:r>
              <a:rPr lang="en-US" altLang="ko-KR" sz="750" dirty="0">
                <a:solidFill>
                  <a:srgbClr val="FFFFFF"/>
                </a:solidFill>
                <a:latin typeface="Pretendard Variable" pitchFamily="34" charset="0"/>
                <a:ea typeface="Pretendard Variable" pitchFamily="34" charset="-122"/>
                <a:cs typeface="Pretendard Variable" pitchFamily="34" charset="-120"/>
              </a:rPr>
              <a:t>.</a:t>
            </a:r>
            <a:r>
              <a:rPr lang="en-US" sz="750" dirty="0">
                <a:solidFill>
                  <a:srgbClr val="FFFFFF"/>
                </a:solidFill>
                <a:latin typeface="Pretendard Variable" pitchFamily="34" charset="0"/>
                <a:ea typeface="Pretendard Variable" pitchFamily="34" charset="-122"/>
                <a:cs typeface="Pretendard Variable" pitchFamily="34" charset="-120"/>
              </a:rPr>
              <a:t>. 채용 요청서 초안을 생성할까요?</a:t>
            </a:r>
            <a:endParaRPr lang="en-US" sz="750" dirty="0"/>
          </a:p>
        </p:txBody>
      </p:sp>
      <p:sp>
        <p:nvSpPr>
          <p:cNvPr id="11" name="Shape 8"/>
          <p:cNvSpPr/>
          <p:nvPr/>
        </p:nvSpPr>
        <p:spPr>
          <a:xfrm>
            <a:off x="4214813" y="1000125"/>
            <a:ext cx="4357688" cy="1603772"/>
          </a:xfrm>
          <a:prstGeom prst="rect">
            <a:avLst/>
          </a:prstGeom>
          <a:solidFill>
            <a:srgbClr val="F8FAFC"/>
          </a:solidFill>
          <a:ln w="9144">
            <a:solidFill>
              <a:srgbClr val="E2E8F0"/>
            </a:solidFill>
            <a:prstDash val="solid"/>
          </a:ln>
        </p:spPr>
      </p:sp>
      <p:pic>
        <p:nvPicPr>
          <p:cNvPr id="12" name="Image 1" descr="preencoded.png"/>
          <p:cNvPicPr>
            <a:picLocks noChangeAspect="1"/>
          </p:cNvPicPr>
          <p:nvPr/>
        </p:nvPicPr>
        <p:blipFill>
          <a:blip r:embed="rId4"/>
          <a:stretch>
            <a:fillRect/>
          </a:stretch>
        </p:blipFill>
        <p:spPr>
          <a:xfrm>
            <a:off x="4429125" y="1230511"/>
            <a:ext cx="128588" cy="171450"/>
          </a:xfrm>
          <a:prstGeom prst="rect">
            <a:avLst/>
          </a:prstGeom>
        </p:spPr>
      </p:pic>
      <p:sp>
        <p:nvSpPr>
          <p:cNvPr id="13" name="Text 9"/>
          <p:cNvSpPr/>
          <p:nvPr/>
        </p:nvSpPr>
        <p:spPr>
          <a:xfrm>
            <a:off x="4629150" y="1214438"/>
            <a:ext cx="630436" cy="203597"/>
          </a:xfrm>
          <a:prstGeom prst="rect">
            <a:avLst/>
          </a:prstGeom>
          <a:noFill/>
          <a:ln/>
        </p:spPr>
        <p:txBody>
          <a:bodyPr wrap="non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실행 결과</a:t>
            </a:r>
            <a:endParaRPr lang="en-US" sz="1200" dirty="0"/>
          </a:p>
        </p:txBody>
      </p:sp>
      <p:pic>
        <p:nvPicPr>
          <p:cNvPr id="14" name="Image 2" descr="preencoded.png"/>
          <p:cNvPicPr>
            <a:picLocks noChangeAspect="1"/>
          </p:cNvPicPr>
          <p:nvPr/>
        </p:nvPicPr>
        <p:blipFill>
          <a:blip r:embed="rId5"/>
          <a:stretch>
            <a:fillRect/>
          </a:stretch>
        </p:blipFill>
        <p:spPr>
          <a:xfrm>
            <a:off x="4429125" y="1589484"/>
            <a:ext cx="128588" cy="128588"/>
          </a:xfrm>
          <a:prstGeom prst="rect">
            <a:avLst/>
          </a:prstGeom>
        </p:spPr>
      </p:pic>
      <p:sp>
        <p:nvSpPr>
          <p:cNvPr id="15" name="Text 10"/>
          <p:cNvSpPr/>
          <p:nvPr/>
        </p:nvSpPr>
        <p:spPr>
          <a:xfrm>
            <a:off x="4643437" y="1560910"/>
            <a:ext cx="2338039" cy="138499"/>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실시간 고용 쿼터 계산 완료 (잔여: 5명)</a:t>
            </a:r>
            <a:endParaRPr lang="en-US" sz="900" dirty="0"/>
          </a:p>
        </p:txBody>
      </p:sp>
      <p:pic>
        <p:nvPicPr>
          <p:cNvPr id="16" name="Image 3" descr="preencoded.png"/>
          <p:cNvPicPr>
            <a:picLocks noChangeAspect="1"/>
          </p:cNvPicPr>
          <p:nvPr/>
        </p:nvPicPr>
        <p:blipFill>
          <a:blip r:embed="rId5"/>
          <a:stretch>
            <a:fillRect/>
          </a:stretch>
        </p:blipFill>
        <p:spPr>
          <a:xfrm>
            <a:off x="4429125" y="1860947"/>
            <a:ext cx="128588" cy="128588"/>
          </a:xfrm>
          <a:prstGeom prst="rect">
            <a:avLst/>
          </a:prstGeom>
        </p:spPr>
      </p:pic>
      <p:sp>
        <p:nvSpPr>
          <p:cNvPr id="17" name="Text 11"/>
          <p:cNvSpPr/>
          <p:nvPr/>
        </p:nvSpPr>
        <p:spPr>
          <a:xfrm>
            <a:off x="4643438" y="1832373"/>
            <a:ext cx="2094904" cy="138499"/>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E-9 고용허가 신청서 초안 자동 생성</a:t>
            </a:r>
            <a:endParaRPr lang="en-US" sz="900" dirty="0"/>
          </a:p>
        </p:txBody>
      </p:sp>
      <p:pic>
        <p:nvPicPr>
          <p:cNvPr id="18" name="Image 4" descr="preencoded.png"/>
          <p:cNvPicPr>
            <a:picLocks noChangeAspect="1"/>
          </p:cNvPicPr>
          <p:nvPr/>
        </p:nvPicPr>
        <p:blipFill>
          <a:blip r:embed="rId5"/>
          <a:stretch>
            <a:fillRect/>
          </a:stretch>
        </p:blipFill>
        <p:spPr>
          <a:xfrm>
            <a:off x="4429125" y="2132409"/>
            <a:ext cx="128588" cy="128588"/>
          </a:xfrm>
          <a:prstGeom prst="rect">
            <a:avLst/>
          </a:prstGeom>
        </p:spPr>
      </p:pic>
      <p:sp>
        <p:nvSpPr>
          <p:cNvPr id="19" name="Text 12"/>
          <p:cNvSpPr/>
          <p:nvPr/>
        </p:nvSpPr>
        <p:spPr>
          <a:xfrm>
            <a:off x="4643437" y="2103834"/>
            <a:ext cx="2094903" cy="138499"/>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내국인 구인노력 기간(7일) 자동 산정</a:t>
            </a:r>
            <a:endParaRPr lang="en-US" sz="900" dirty="0"/>
          </a:p>
        </p:txBody>
      </p:sp>
      <p:sp>
        <p:nvSpPr>
          <p:cNvPr id="20" name="Shape 13"/>
          <p:cNvSpPr/>
          <p:nvPr/>
        </p:nvSpPr>
        <p:spPr>
          <a:xfrm>
            <a:off x="4214813" y="2803922"/>
            <a:ext cx="4357688" cy="457200"/>
          </a:xfrm>
          <a:prstGeom prst="rect">
            <a:avLst/>
          </a:prstGeom>
          <a:solidFill>
            <a:srgbClr val="FFF1F2"/>
          </a:solidFill>
          <a:ln/>
        </p:spPr>
      </p:sp>
      <p:sp>
        <p:nvSpPr>
          <p:cNvPr id="21" name="Shape 14"/>
          <p:cNvSpPr/>
          <p:nvPr/>
        </p:nvSpPr>
        <p:spPr>
          <a:xfrm>
            <a:off x="4214813" y="2803922"/>
            <a:ext cx="42863" cy="457200"/>
          </a:xfrm>
          <a:prstGeom prst="rect">
            <a:avLst/>
          </a:prstGeom>
          <a:solidFill>
            <a:srgbClr val="E11D48"/>
          </a:solidFill>
          <a:ln/>
        </p:spPr>
      </p:sp>
      <p:pic>
        <p:nvPicPr>
          <p:cNvPr id="22" name="Image 5" descr="preencoded.png"/>
          <p:cNvPicPr>
            <a:picLocks noChangeAspect="1"/>
          </p:cNvPicPr>
          <p:nvPr/>
        </p:nvPicPr>
        <p:blipFill>
          <a:blip r:embed="rId6"/>
          <a:stretch>
            <a:fillRect/>
          </a:stretch>
        </p:blipFill>
        <p:spPr>
          <a:xfrm>
            <a:off x="4357688" y="2946797"/>
            <a:ext cx="214313" cy="171450"/>
          </a:xfrm>
          <a:prstGeom prst="rect">
            <a:avLst/>
          </a:prstGeom>
        </p:spPr>
      </p:pic>
      <p:sp>
        <p:nvSpPr>
          <p:cNvPr id="23" name="Text 15"/>
          <p:cNvSpPr/>
          <p:nvPr/>
        </p:nvSpPr>
        <p:spPr>
          <a:xfrm>
            <a:off x="4679156" y="2964656"/>
            <a:ext cx="2396652" cy="123111"/>
          </a:xfrm>
          <a:prstGeom prst="rect">
            <a:avLst/>
          </a:prstGeom>
          <a:noFill/>
          <a:ln/>
        </p:spPr>
        <p:txBody>
          <a:bodyPr wrap="square" lIns="0" tIns="0" rIns="0" bIns="0" rtlCol="0" anchor="t">
            <a:spAutoFit/>
          </a:bodyPr>
          <a:lstStyle/>
          <a:p>
            <a:pPr marL="0" indent="0" algn="l">
              <a:buNone/>
            </a:pPr>
            <a:r>
              <a:rPr lang="en-US" sz="800" b="1" dirty="0">
                <a:solidFill>
                  <a:srgbClr val="9F1239"/>
                </a:solidFill>
                <a:latin typeface="Pretendard Variable" pitchFamily="34" charset="0"/>
                <a:ea typeface="Pretendard Variable" pitchFamily="34" charset="-122"/>
                <a:cs typeface="Pretendard Variable" pitchFamily="34" charset="-120"/>
              </a:rPr>
              <a:t>관리자의 최종 승인 후 행정 절차가 시작됩니다.</a:t>
            </a:r>
            <a:endParaRPr lang="en-US" sz="800" dirty="0"/>
          </a:p>
        </p:txBody>
      </p:sp>
      <p:sp>
        <p:nvSpPr>
          <p:cNvPr id="24" name="Text 3">
            <a:extLst>
              <a:ext uri="{FF2B5EF4-FFF2-40B4-BE49-F238E27FC236}">
                <a16:creationId xmlns:a16="http://schemas.microsoft.com/office/drawing/2014/main" id="{5D224892-F9A0-6BB0-469F-62E5F16883A9}"/>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a:t>
            </a:r>
            <a:r>
              <a:rPr lang="ko-KR" altLang="en-US" sz="1200" b="1" dirty="0">
                <a:latin typeface="Pretendard"/>
              </a:rPr>
              <a:t> </a:t>
            </a:r>
            <a:r>
              <a:rPr lang="en-US" altLang="ko-KR" sz="1200" b="1" dirty="0">
                <a:latin typeface="Pretendard"/>
              </a:rPr>
              <a:t>if</a:t>
            </a:r>
            <a:r>
              <a:rPr lang="ko-KR" altLang="en-US" sz="1200" b="1" dirty="0">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What –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456307"/>
            <a:ext cx="6369119" cy="346249"/>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2. 사용자 시나리오 2: 다국어 컨택 및 응답 해석</a:t>
            </a:r>
            <a:endParaRPr lang="en-US" sz="2250" dirty="0"/>
          </a:p>
        </p:txBody>
      </p:sp>
      <p:sp>
        <p:nvSpPr>
          <p:cNvPr id="4" name="Shape 1"/>
          <p:cNvSpPr/>
          <p:nvPr/>
        </p:nvSpPr>
        <p:spPr>
          <a:xfrm>
            <a:off x="1035844" y="1000125"/>
            <a:ext cx="2286000" cy="3481612"/>
          </a:xfrm>
          <a:prstGeom prst="rect">
            <a:avLst/>
          </a:prstGeom>
          <a:solidFill>
            <a:srgbClr val="0F172A"/>
          </a:solidFill>
          <a:ln w="82296">
            <a:solidFill>
              <a:srgbClr val="334155"/>
            </a:solidFill>
            <a:prstDash val="solid"/>
          </a:ln>
        </p:spPr>
      </p:sp>
      <p:sp>
        <p:nvSpPr>
          <p:cNvPr id="5" name="Shape 2"/>
          <p:cNvSpPr/>
          <p:nvPr/>
        </p:nvSpPr>
        <p:spPr>
          <a:xfrm>
            <a:off x="1178719" y="1143000"/>
            <a:ext cx="1700213" cy="871454"/>
          </a:xfrm>
          <a:prstGeom prst="rect">
            <a:avLst/>
          </a:prstGeom>
          <a:solidFill>
            <a:srgbClr val="334155"/>
          </a:solidFill>
          <a:ln/>
        </p:spPr>
      </p:sp>
      <p:sp>
        <p:nvSpPr>
          <p:cNvPr id="6" name="Text 3"/>
          <p:cNvSpPr/>
          <p:nvPr/>
        </p:nvSpPr>
        <p:spPr>
          <a:xfrm>
            <a:off x="1178719" y="1143000"/>
            <a:ext cx="1700213" cy="871454"/>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[Bilingual Draft]
KR: 안녕하세요, 비자 연장을 위해 서류가 필요합니다.
VN: Xin chào, chúng tôi cần tài liệu để gia hạn thị thực.</a:t>
            </a:r>
            <a:endParaRPr lang="en-US" sz="750" dirty="0"/>
          </a:p>
        </p:txBody>
      </p:sp>
      <p:sp>
        <p:nvSpPr>
          <p:cNvPr id="7" name="Shape 4"/>
          <p:cNvSpPr/>
          <p:nvPr/>
        </p:nvSpPr>
        <p:spPr>
          <a:xfrm>
            <a:off x="1178719" y="2121610"/>
            <a:ext cx="1700213" cy="451452"/>
          </a:xfrm>
          <a:prstGeom prst="rect">
            <a:avLst/>
          </a:prstGeom>
          <a:solidFill>
            <a:srgbClr val="E2E8F0"/>
          </a:solidFill>
          <a:ln/>
        </p:spPr>
      </p:sp>
      <p:sp>
        <p:nvSpPr>
          <p:cNvPr id="8" name="Text 5"/>
          <p:cNvSpPr/>
          <p:nvPr/>
        </p:nvSpPr>
        <p:spPr>
          <a:xfrm>
            <a:off x="1178719" y="2121610"/>
            <a:ext cx="1700213" cy="451452"/>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1E293B"/>
                </a:solidFill>
                <a:latin typeface="Pretendard Variable" pitchFamily="34" charset="0"/>
                <a:ea typeface="Pretendard Variable" pitchFamily="34" charset="-122"/>
                <a:cs typeface="Pretendard Variable" pitchFamily="34" charset="-120"/>
              </a:rPr>
              <a:t>Tôi đã gửi ảnh hộ chiếu qua Zalo rồi nhé.</a:t>
            </a:r>
            <a:endParaRPr lang="en-US" sz="750" dirty="0"/>
          </a:p>
        </p:txBody>
      </p:sp>
      <p:sp>
        <p:nvSpPr>
          <p:cNvPr id="9" name="Shape 6"/>
          <p:cNvSpPr/>
          <p:nvPr/>
        </p:nvSpPr>
        <p:spPr>
          <a:xfrm>
            <a:off x="1178719" y="2680218"/>
            <a:ext cx="1700213" cy="591452"/>
          </a:xfrm>
          <a:prstGeom prst="rect">
            <a:avLst/>
          </a:prstGeom>
          <a:solidFill>
            <a:srgbClr val="334155"/>
          </a:solidFill>
          <a:ln/>
        </p:spPr>
      </p:sp>
      <p:pic>
        <p:nvPicPr>
          <p:cNvPr id="10" name="Image 1" descr="preencoded.png"/>
          <p:cNvPicPr>
            <a:picLocks noChangeAspect="1"/>
          </p:cNvPicPr>
          <p:nvPr/>
        </p:nvPicPr>
        <p:blipFill>
          <a:blip r:embed="rId4"/>
          <a:stretch>
            <a:fillRect/>
          </a:stretch>
        </p:blipFill>
        <p:spPr>
          <a:xfrm>
            <a:off x="1293019" y="2782016"/>
            <a:ext cx="112514" cy="100013"/>
          </a:xfrm>
          <a:prstGeom prst="rect">
            <a:avLst/>
          </a:prstGeom>
        </p:spPr>
      </p:pic>
      <p:sp>
        <p:nvSpPr>
          <p:cNvPr id="11" name="Text 7"/>
          <p:cNvSpPr/>
          <p:nvPr/>
        </p:nvSpPr>
        <p:spPr>
          <a:xfrm>
            <a:off x="1405533" y="2774871"/>
            <a:ext cx="1268016" cy="121380"/>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응답 해석 결과:</a:t>
            </a:r>
            <a:endParaRPr lang="en-US" sz="750" dirty="0"/>
          </a:p>
        </p:txBody>
      </p:sp>
      <p:sp>
        <p:nvSpPr>
          <p:cNvPr id="12" name="Text 8"/>
          <p:cNvSpPr/>
          <p:nvPr/>
        </p:nvSpPr>
        <p:spPr>
          <a:xfrm>
            <a:off x="1293019" y="2962264"/>
            <a:ext cx="1698733" cy="250646"/>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"Zalo를 통해 여권 사진을 </a:t>
            </a:r>
            <a:r>
              <a:rPr lang="en-US" sz="750" dirty="0" err="1">
                <a:solidFill>
                  <a:srgbClr val="FFFFFF"/>
                </a:solidFill>
                <a:latin typeface="Pretendard Variable" pitchFamily="34" charset="0"/>
                <a:ea typeface="Pretendard Variable" pitchFamily="34" charset="-122"/>
                <a:cs typeface="Pretendard Variable" pitchFamily="34" charset="-120"/>
              </a:rPr>
              <a:t>이미</a:t>
            </a:r>
            <a:r>
              <a:rPr lang="en-US" sz="750" dirty="0">
                <a:solidFill>
                  <a:srgbClr val="FFFFFF"/>
                </a:solidFill>
                <a:latin typeface="Pretendard Variable" pitchFamily="34" charset="0"/>
                <a:ea typeface="Pretendard Variable" pitchFamily="34" charset="-122"/>
                <a:cs typeface="Pretendard Variable" pitchFamily="34" charset="-120"/>
              </a:rPr>
              <a:t> </a:t>
            </a:r>
          </a:p>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전</a:t>
            </a:r>
            <a:r>
              <a:rPr lang="ko-KR" altLang="en-US" sz="750" dirty="0">
                <a:solidFill>
                  <a:srgbClr val="FFFFFF"/>
                </a:solidFill>
                <a:latin typeface="Pretendard Variable" pitchFamily="34" charset="0"/>
                <a:ea typeface="Pretendard Variable" pitchFamily="34" charset="-122"/>
                <a:cs typeface="Pretendard Variable" pitchFamily="34" charset="-120"/>
              </a:rPr>
              <a:t>송함</a:t>
            </a:r>
            <a:r>
              <a:rPr lang="en-US" altLang="ko-KR" sz="750" dirty="0">
                <a:solidFill>
                  <a:srgbClr val="FFFFFF"/>
                </a:solidFill>
                <a:latin typeface="Pretendard Variable" pitchFamily="34" charset="0"/>
                <a:ea typeface="Pretendard Variable" pitchFamily="34" charset="-122"/>
                <a:cs typeface="Pretendard Variable" pitchFamily="34" charset="-120"/>
              </a:rPr>
              <a:t>”</a:t>
            </a:r>
            <a:endParaRPr lang="en-US" sz="750" dirty="0"/>
          </a:p>
        </p:txBody>
      </p:sp>
      <p:sp>
        <p:nvSpPr>
          <p:cNvPr id="13" name="Text 9"/>
          <p:cNvSpPr/>
          <p:nvPr/>
        </p:nvSpPr>
        <p:spPr>
          <a:xfrm>
            <a:off x="1293019" y="2914873"/>
            <a:ext cx="1380530" cy="121380"/>
          </a:xfrm>
          <a:prstGeom prst="rect">
            <a:avLst/>
          </a:prstGeom>
          <a:noFill/>
          <a:ln/>
        </p:spPr>
        <p:txBody>
          <a:bodyPr wrap="square" lIns="0" tIns="0" rIns="0" bIns="0" rtlCol="0" anchor="t">
            <a:spAutoFit/>
          </a:bodyPr>
          <a:lstStyle/>
          <a:p>
            <a:pPr marL="0" indent="0" algn="l">
              <a:lnSpc>
                <a:spcPct val="112000"/>
              </a:lnSpc>
              <a:buNone/>
            </a:pPr>
            <a:endParaRPr lang="en-US" sz="750" dirty="0"/>
          </a:p>
        </p:txBody>
      </p:sp>
      <p:sp>
        <p:nvSpPr>
          <p:cNvPr id="14" name="Shape 10"/>
          <p:cNvSpPr/>
          <p:nvPr/>
        </p:nvSpPr>
        <p:spPr>
          <a:xfrm>
            <a:off x="4214813" y="1000125"/>
            <a:ext cx="4357688" cy="1852017"/>
          </a:xfrm>
          <a:prstGeom prst="rect">
            <a:avLst/>
          </a:prstGeom>
          <a:solidFill>
            <a:srgbClr val="F8FAFC"/>
          </a:solidFill>
          <a:ln w="9144">
            <a:solidFill>
              <a:srgbClr val="E2E8F0"/>
            </a:solidFill>
            <a:prstDash val="solid"/>
          </a:ln>
        </p:spPr>
      </p:sp>
      <p:pic>
        <p:nvPicPr>
          <p:cNvPr id="15" name="Image 2" descr="preencoded.png"/>
          <p:cNvPicPr>
            <a:picLocks noChangeAspect="1"/>
          </p:cNvPicPr>
          <p:nvPr/>
        </p:nvPicPr>
        <p:blipFill>
          <a:blip r:embed="rId5"/>
          <a:stretch>
            <a:fillRect/>
          </a:stretch>
        </p:blipFill>
        <p:spPr>
          <a:xfrm>
            <a:off x="4429125" y="1230511"/>
            <a:ext cx="214313" cy="171450"/>
          </a:xfrm>
          <a:prstGeom prst="rect">
            <a:avLst/>
          </a:prstGeom>
        </p:spPr>
      </p:pic>
      <p:sp>
        <p:nvSpPr>
          <p:cNvPr id="16" name="Text 11"/>
          <p:cNvSpPr/>
          <p:nvPr/>
        </p:nvSpPr>
        <p:spPr>
          <a:xfrm>
            <a:off x="4714875" y="1214438"/>
            <a:ext cx="630436" cy="203597"/>
          </a:xfrm>
          <a:prstGeom prst="rect">
            <a:avLst/>
          </a:prstGeom>
          <a:noFill/>
          <a:ln/>
        </p:spPr>
        <p:txBody>
          <a:bodyPr wrap="non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실행 결과</a:t>
            </a:r>
            <a:endParaRPr lang="en-US" sz="1200" dirty="0"/>
          </a:p>
        </p:txBody>
      </p:sp>
      <p:pic>
        <p:nvPicPr>
          <p:cNvPr id="17" name="Image 3" descr="preencoded.png"/>
          <p:cNvPicPr>
            <a:picLocks noChangeAspect="1"/>
          </p:cNvPicPr>
          <p:nvPr/>
        </p:nvPicPr>
        <p:blipFill>
          <a:blip r:embed="rId6"/>
          <a:stretch>
            <a:fillRect/>
          </a:stretch>
        </p:blipFill>
        <p:spPr>
          <a:xfrm>
            <a:off x="4429125" y="1589484"/>
            <a:ext cx="128588" cy="128588"/>
          </a:xfrm>
          <a:prstGeom prst="rect">
            <a:avLst/>
          </a:prstGeom>
        </p:spPr>
      </p:pic>
      <p:sp>
        <p:nvSpPr>
          <p:cNvPr id="18" name="Text 12"/>
          <p:cNvSpPr/>
          <p:nvPr/>
        </p:nvSpPr>
        <p:spPr>
          <a:xfrm>
            <a:off x="4643438" y="1560909"/>
            <a:ext cx="2333832" cy="138499"/>
          </a:xfrm>
          <a:prstGeom prst="rect">
            <a:avLst/>
          </a:prstGeom>
          <a:noFill/>
          <a:ln/>
        </p:spPr>
        <p:txBody>
          <a:bodyPr wrap="square" lIns="0" tIns="0" rIns="0" bIns="0" rtlCol="0" anchor="t">
            <a:spAutoFit/>
          </a:bodyPr>
          <a:lstStyle/>
          <a:p>
            <a:pPr marL="0" indent="0" algn="l">
              <a:buNone/>
            </a:pPr>
            <a:r>
              <a:rPr lang="en-US" sz="900" dirty="0" err="1">
                <a:solidFill>
                  <a:srgbClr val="1E293B"/>
                </a:solidFill>
                <a:latin typeface="Pretendard Variable" pitchFamily="34" charset="0"/>
                <a:ea typeface="Pretendard Variable" pitchFamily="34" charset="-122"/>
                <a:cs typeface="Pretendard Variable" pitchFamily="34" charset="-120"/>
              </a:rPr>
              <a:t>다국어</a:t>
            </a:r>
            <a:r>
              <a:rPr lang="en-US" sz="900" dirty="0">
                <a:solidFill>
                  <a:srgbClr val="1E293B"/>
                </a:solidFill>
                <a:latin typeface="Pretendard Variable" pitchFamily="34" charset="0"/>
                <a:ea typeface="Pretendard Variable" pitchFamily="34" charset="-122"/>
                <a:cs typeface="Pretendard Variable" pitchFamily="34" charset="-120"/>
              </a:rPr>
              <a:t> 안내문 자동 생성</a:t>
            </a:r>
            <a:endParaRPr lang="en-US" sz="900" dirty="0"/>
          </a:p>
        </p:txBody>
      </p:sp>
      <p:pic>
        <p:nvPicPr>
          <p:cNvPr id="19" name="Image 4" descr="preencoded.png"/>
          <p:cNvPicPr>
            <a:picLocks noChangeAspect="1"/>
          </p:cNvPicPr>
          <p:nvPr/>
        </p:nvPicPr>
        <p:blipFill>
          <a:blip r:embed="rId6"/>
          <a:stretch>
            <a:fillRect/>
          </a:stretch>
        </p:blipFill>
        <p:spPr>
          <a:xfrm>
            <a:off x="4429125" y="1860947"/>
            <a:ext cx="128588" cy="128588"/>
          </a:xfrm>
          <a:prstGeom prst="rect">
            <a:avLst/>
          </a:prstGeom>
        </p:spPr>
      </p:pic>
      <p:sp>
        <p:nvSpPr>
          <p:cNvPr id="20" name="Text 13"/>
          <p:cNvSpPr/>
          <p:nvPr/>
        </p:nvSpPr>
        <p:spPr>
          <a:xfrm>
            <a:off x="4643438" y="1832372"/>
            <a:ext cx="2617097" cy="138499"/>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근로자 응답(베트남어) 실시간 요약 및 보고</a:t>
            </a:r>
            <a:endParaRPr lang="en-US" sz="900" dirty="0"/>
          </a:p>
        </p:txBody>
      </p:sp>
      <p:pic>
        <p:nvPicPr>
          <p:cNvPr id="21" name="Image 5" descr="preencoded.png"/>
          <p:cNvPicPr>
            <a:picLocks noChangeAspect="1"/>
          </p:cNvPicPr>
          <p:nvPr/>
        </p:nvPicPr>
        <p:blipFill>
          <a:blip r:embed="rId6"/>
          <a:stretch>
            <a:fillRect/>
          </a:stretch>
        </p:blipFill>
        <p:spPr>
          <a:xfrm>
            <a:off x="4429125" y="2132409"/>
            <a:ext cx="128588" cy="128588"/>
          </a:xfrm>
          <a:prstGeom prst="rect">
            <a:avLst/>
          </a:prstGeom>
        </p:spPr>
      </p:pic>
      <p:sp>
        <p:nvSpPr>
          <p:cNvPr id="22" name="Text 14"/>
          <p:cNvSpPr/>
          <p:nvPr/>
        </p:nvSpPr>
        <p:spPr>
          <a:xfrm>
            <a:off x="4643438" y="2103834"/>
            <a:ext cx="2562432" cy="138499"/>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서류 수신 여부 업무 시스템 자동 업데이트</a:t>
            </a:r>
            <a:endParaRPr lang="en-US" sz="900" dirty="0"/>
          </a:p>
        </p:txBody>
      </p:sp>
      <p:sp>
        <p:nvSpPr>
          <p:cNvPr id="23" name="Shape 15"/>
          <p:cNvSpPr/>
          <p:nvPr/>
        </p:nvSpPr>
        <p:spPr>
          <a:xfrm>
            <a:off x="4429125" y="2446734"/>
            <a:ext cx="2697232" cy="176808"/>
          </a:xfrm>
          <a:prstGeom prst="rect">
            <a:avLst/>
          </a:prstGeom>
          <a:solidFill>
            <a:srgbClr val="DBEAFE"/>
          </a:solidFill>
          <a:ln/>
        </p:spPr>
      </p:sp>
      <p:sp>
        <p:nvSpPr>
          <p:cNvPr id="24" name="Text 16"/>
          <p:cNvSpPr/>
          <p:nvPr/>
        </p:nvSpPr>
        <p:spPr>
          <a:xfrm>
            <a:off x="4429125" y="2446734"/>
            <a:ext cx="2064544" cy="176459"/>
          </a:xfrm>
          <a:prstGeom prst="rect">
            <a:avLst/>
          </a:prstGeom>
          <a:noFill/>
          <a:ln/>
        </p:spPr>
        <p:txBody>
          <a:bodyPr wrap="square" lIns="102108" tIns="34036" rIns="102108" bIns="34036" rtlCol="0" anchor="t">
            <a:spAutoFit/>
          </a:bodyPr>
          <a:lstStyle/>
          <a:p>
            <a:pPr marL="0" indent="0" algn="l">
              <a:buNone/>
            </a:pPr>
            <a:r>
              <a:rPr lang="en-US" sz="700" b="1" dirty="0" err="1">
                <a:solidFill>
                  <a:srgbClr val="2563EB"/>
                </a:solidFill>
                <a:latin typeface="Pretendard Variable" pitchFamily="34" charset="0"/>
                <a:ea typeface="Pretendard Variable" pitchFamily="34" charset="-122"/>
                <a:cs typeface="Pretendard Variable" pitchFamily="34" charset="-120"/>
              </a:rPr>
              <a:t>업무</a:t>
            </a:r>
            <a:r>
              <a:rPr lang="en-US" sz="700" b="1" dirty="0">
                <a:solidFill>
                  <a:srgbClr val="2563EB"/>
                </a:solidFill>
                <a:latin typeface="Pretendard Variable" pitchFamily="34" charset="0"/>
                <a:ea typeface="Pretendard Variable" pitchFamily="34" charset="-122"/>
                <a:cs typeface="Pretendard Variable" pitchFamily="34" charset="-120"/>
              </a:rPr>
              <a:t> </a:t>
            </a:r>
            <a:r>
              <a:rPr lang="en-US" sz="700" b="1" dirty="0" err="1">
                <a:solidFill>
                  <a:srgbClr val="2563EB"/>
                </a:solidFill>
                <a:latin typeface="Pretendard Variable" pitchFamily="34" charset="0"/>
                <a:ea typeface="Pretendard Variable" pitchFamily="34" charset="-122"/>
                <a:cs typeface="Pretendard Variable" pitchFamily="34" charset="-120"/>
              </a:rPr>
              <a:t>상태</a:t>
            </a:r>
            <a:r>
              <a:rPr lang="en-US" sz="700" b="1" dirty="0">
                <a:solidFill>
                  <a:srgbClr val="2563EB"/>
                </a:solidFill>
                <a:latin typeface="Pretendard Variable" pitchFamily="34" charset="0"/>
                <a:ea typeface="Pretendard Variable" pitchFamily="34" charset="-122"/>
                <a:cs typeface="Pretendard Variable" pitchFamily="34" charset="-120"/>
              </a:rPr>
              <a:t>: 서류 수신 완료 (</a:t>
            </a:r>
            <a:r>
              <a:rPr lang="en-US" sz="700" b="1" dirty="0" err="1">
                <a:solidFill>
                  <a:srgbClr val="2563EB"/>
                </a:solidFill>
                <a:latin typeface="Pretendard Variable" pitchFamily="34" charset="0"/>
                <a:ea typeface="Pretendard Variable" pitchFamily="34" charset="-122"/>
                <a:cs typeface="Pretendard Variable" pitchFamily="34" charset="-120"/>
              </a:rPr>
              <a:t>검토</a:t>
            </a:r>
            <a:r>
              <a:rPr lang="en-US" sz="700" b="1" dirty="0">
                <a:solidFill>
                  <a:srgbClr val="2563EB"/>
                </a:solidFill>
                <a:latin typeface="Pretendard Variable" pitchFamily="34" charset="0"/>
                <a:ea typeface="Pretendard Variable" pitchFamily="34" charset="-122"/>
                <a:cs typeface="Pretendard Variable" pitchFamily="34" charset="-120"/>
              </a:rPr>
              <a:t> </a:t>
            </a:r>
            <a:r>
              <a:rPr lang="ko-KR" altLang="en-US" sz="700" b="1" dirty="0">
                <a:solidFill>
                  <a:srgbClr val="2563EB"/>
                </a:solidFill>
                <a:latin typeface="Pretendard Variable" pitchFamily="34" charset="0"/>
                <a:ea typeface="Pretendard Variable" pitchFamily="34" charset="-122"/>
                <a:cs typeface="Pretendard Variable" pitchFamily="34" charset="-120"/>
              </a:rPr>
              <a:t>대</a:t>
            </a:r>
            <a:r>
              <a:rPr lang="en-US" sz="700" b="1" dirty="0">
                <a:solidFill>
                  <a:srgbClr val="2563EB"/>
                </a:solidFill>
                <a:latin typeface="Pretendard Variable" pitchFamily="34" charset="0"/>
                <a:ea typeface="Pretendard Variable" pitchFamily="34" charset="-122"/>
                <a:cs typeface="Pretendard Variable" pitchFamily="34" charset="-120"/>
              </a:rPr>
              <a:t>기)</a:t>
            </a:r>
            <a:endParaRPr lang="en-US" sz="700" dirty="0"/>
          </a:p>
        </p:txBody>
      </p:sp>
      <p:sp>
        <p:nvSpPr>
          <p:cNvPr id="25" name="Text 3">
            <a:extLst>
              <a:ext uri="{FF2B5EF4-FFF2-40B4-BE49-F238E27FC236}">
                <a16:creationId xmlns:a16="http://schemas.microsoft.com/office/drawing/2014/main" id="{FBA2AE94-E365-71E6-9540-2764E07F2F26}"/>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a:t>
            </a:r>
            <a:r>
              <a:rPr lang="ko-KR" altLang="en-US" sz="1200" b="1" dirty="0">
                <a:latin typeface="Pretendard"/>
              </a:rPr>
              <a:t> </a:t>
            </a:r>
            <a:r>
              <a:rPr lang="en-US" altLang="ko-KR" sz="1200" b="1" dirty="0">
                <a:latin typeface="Pretendard"/>
              </a:rPr>
              <a:t>if</a:t>
            </a:r>
            <a:r>
              <a:rPr lang="ko-KR" altLang="en-US" sz="1200" b="1" dirty="0">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What –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456307"/>
            <a:ext cx="6589358" cy="346249"/>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2. 사용자 시나리오 3: 비자 리스크 및 전문가 전달</a:t>
            </a:r>
            <a:endParaRPr lang="en-US" sz="2250" dirty="0"/>
          </a:p>
        </p:txBody>
      </p:sp>
      <p:sp>
        <p:nvSpPr>
          <p:cNvPr id="4" name="Shape 1"/>
          <p:cNvSpPr/>
          <p:nvPr/>
        </p:nvSpPr>
        <p:spPr>
          <a:xfrm>
            <a:off x="1035844" y="1000125"/>
            <a:ext cx="2286000" cy="3438443"/>
          </a:xfrm>
          <a:prstGeom prst="rect">
            <a:avLst/>
          </a:prstGeom>
          <a:solidFill>
            <a:srgbClr val="0F172A"/>
          </a:solidFill>
          <a:ln w="82296">
            <a:solidFill>
              <a:srgbClr val="334155"/>
            </a:solidFill>
            <a:prstDash val="solid"/>
          </a:ln>
        </p:spPr>
      </p:sp>
      <p:sp>
        <p:nvSpPr>
          <p:cNvPr id="5" name="Shape 2"/>
          <p:cNvSpPr/>
          <p:nvPr/>
        </p:nvSpPr>
        <p:spPr>
          <a:xfrm>
            <a:off x="1178719" y="1143000"/>
            <a:ext cx="1700213" cy="591452"/>
          </a:xfrm>
          <a:prstGeom prst="rect">
            <a:avLst/>
          </a:prstGeom>
          <a:solidFill>
            <a:srgbClr val="991B1B"/>
          </a:solidFill>
          <a:ln/>
        </p:spPr>
      </p:sp>
      <p:sp>
        <p:nvSpPr>
          <p:cNvPr id="6" name="Shape 3"/>
          <p:cNvSpPr/>
          <p:nvPr/>
        </p:nvSpPr>
        <p:spPr>
          <a:xfrm>
            <a:off x="1178719" y="1143000"/>
            <a:ext cx="28575" cy="591452"/>
          </a:xfrm>
          <a:prstGeom prst="rect">
            <a:avLst/>
          </a:prstGeom>
          <a:solidFill>
            <a:srgbClr val="F87171"/>
          </a:solidFill>
          <a:ln/>
        </p:spPr>
      </p:sp>
      <p:pic>
        <p:nvPicPr>
          <p:cNvPr id="7" name="Image 1" descr="preencoded.png"/>
          <p:cNvPicPr>
            <a:picLocks noChangeAspect="1"/>
          </p:cNvPicPr>
          <p:nvPr/>
        </p:nvPicPr>
        <p:blipFill>
          <a:blip r:embed="rId4"/>
          <a:stretch>
            <a:fillRect/>
          </a:stretch>
        </p:blipFill>
        <p:spPr>
          <a:xfrm>
            <a:off x="1293019" y="1244798"/>
            <a:ext cx="100013" cy="100013"/>
          </a:xfrm>
          <a:prstGeom prst="rect">
            <a:avLst/>
          </a:prstGeom>
        </p:spPr>
      </p:pic>
      <p:sp>
        <p:nvSpPr>
          <p:cNvPr id="8" name="Text 4"/>
          <p:cNvSpPr/>
          <p:nvPr/>
        </p:nvSpPr>
        <p:spPr>
          <a:xfrm>
            <a:off x="1393031" y="1237655"/>
            <a:ext cx="505420" cy="119658"/>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리스크 탐지:</a:t>
            </a:r>
            <a:endParaRPr lang="en-US" sz="750" dirty="0"/>
          </a:p>
        </p:txBody>
      </p:sp>
      <p:sp>
        <p:nvSpPr>
          <p:cNvPr id="9" name="Text 5"/>
          <p:cNvSpPr/>
          <p:nvPr/>
        </p:nvSpPr>
        <p:spPr>
          <a:xfrm>
            <a:off x="1293019" y="1495387"/>
            <a:ext cx="1201936" cy="119658"/>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Nguyen 근로자의 E-9 비자가</a:t>
            </a:r>
            <a:endParaRPr lang="en-US" sz="750" dirty="0"/>
          </a:p>
        </p:txBody>
      </p:sp>
      <p:sp>
        <p:nvSpPr>
          <p:cNvPr id="10" name="Text 6"/>
          <p:cNvSpPr/>
          <p:nvPr/>
        </p:nvSpPr>
        <p:spPr>
          <a:xfrm>
            <a:off x="1293019" y="1377655"/>
            <a:ext cx="1410891" cy="259659"/>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30일 후 만료됩니다.</a:t>
            </a:r>
            <a:endParaRPr lang="en-US" sz="750" dirty="0"/>
          </a:p>
        </p:txBody>
      </p:sp>
      <p:sp>
        <p:nvSpPr>
          <p:cNvPr id="11" name="Shape 7"/>
          <p:cNvSpPr/>
          <p:nvPr/>
        </p:nvSpPr>
        <p:spPr>
          <a:xfrm>
            <a:off x="1178719" y="1841609"/>
            <a:ext cx="1932277" cy="591452"/>
          </a:xfrm>
          <a:prstGeom prst="rect">
            <a:avLst/>
          </a:prstGeom>
          <a:solidFill>
            <a:srgbClr val="334155"/>
          </a:solidFill>
          <a:ln/>
        </p:spPr>
      </p:sp>
      <p:sp>
        <p:nvSpPr>
          <p:cNvPr id="12" name="Text 8"/>
          <p:cNvSpPr/>
          <p:nvPr/>
        </p:nvSpPr>
        <p:spPr>
          <a:xfrm>
            <a:off x="1178719" y="1841609"/>
            <a:ext cx="2073240" cy="586122"/>
          </a:xfrm>
          <a:prstGeom prst="rect">
            <a:avLst/>
          </a:prstGeom>
          <a:noFill/>
          <a:ln/>
        </p:spPr>
        <p:txBody>
          <a:bodyPr wrap="square" lIns="136017" tIns="102108" rIns="136017" bIns="102108" rtlCol="0" anchor="t">
            <a:spAutoFit/>
          </a:bodyPr>
          <a:lstStyle/>
          <a:p>
            <a:pPr marL="0" indent="0" algn="l">
              <a:lnSpc>
                <a:spcPct val="112000"/>
              </a:lnSpc>
              <a:buNone/>
            </a:pPr>
            <a:r>
              <a:rPr lang="en-US" sz="750" dirty="0">
                <a:solidFill>
                  <a:srgbClr val="FFFFFF"/>
                </a:solidFill>
                <a:latin typeface="Pretendard Variable" pitchFamily="34" charset="0"/>
                <a:ea typeface="Pretendard Variable" pitchFamily="34" charset="-122"/>
                <a:cs typeface="Pretendard Variable" pitchFamily="34" charset="-120"/>
              </a:rPr>
              <a:t>체류기간 연장 필요 서류(여권, 등록증, 표준계약서)를 모두 취합했습니다. 행정사 전달 패키지를 생성할까요?</a:t>
            </a:r>
            <a:endParaRPr lang="en-US" sz="750" dirty="0"/>
          </a:p>
        </p:txBody>
      </p:sp>
      <p:sp>
        <p:nvSpPr>
          <p:cNvPr id="13" name="Shape 9"/>
          <p:cNvSpPr/>
          <p:nvPr/>
        </p:nvSpPr>
        <p:spPr>
          <a:xfrm>
            <a:off x="1178719" y="2611655"/>
            <a:ext cx="2000250" cy="246459"/>
          </a:xfrm>
          <a:prstGeom prst="rect">
            <a:avLst/>
          </a:prstGeom>
          <a:solidFill>
            <a:srgbClr val="2563EB"/>
          </a:solidFill>
          <a:ln/>
        </p:spPr>
      </p:sp>
      <p:sp>
        <p:nvSpPr>
          <p:cNvPr id="14" name="Text 10"/>
          <p:cNvSpPr/>
          <p:nvPr/>
        </p:nvSpPr>
        <p:spPr>
          <a:xfrm>
            <a:off x="1178719" y="2611655"/>
            <a:ext cx="2000250" cy="246459"/>
          </a:xfrm>
          <a:prstGeom prst="rect">
            <a:avLst/>
          </a:prstGeom>
          <a:noFill/>
          <a:ln/>
        </p:spPr>
        <p:txBody>
          <a:bodyPr wrap="square" lIns="85090" tIns="85090" rIns="85090" bIns="85090" rtlCol="0" anchor="t">
            <a:spAutoFit/>
          </a:bodyPr>
          <a:lstStyle/>
          <a:p>
            <a:pPr marL="0" indent="0" algn="ctr">
              <a:buNone/>
            </a:pPr>
            <a:r>
              <a:rPr lang="en-US" sz="600" b="1" dirty="0">
                <a:solidFill>
                  <a:srgbClr val="FFFFFF"/>
                </a:solidFill>
                <a:latin typeface="Pretendard Variable" pitchFamily="34" charset="0"/>
                <a:ea typeface="Pretendard Variable" pitchFamily="34" charset="-122"/>
                <a:cs typeface="Pretendard Variable" pitchFamily="34" charset="-120"/>
              </a:rPr>
              <a:t>전문가 전달 패키지 생성 (PDF)</a:t>
            </a:r>
            <a:endParaRPr lang="en-US" sz="600" dirty="0"/>
          </a:p>
        </p:txBody>
      </p:sp>
      <p:sp>
        <p:nvSpPr>
          <p:cNvPr id="15" name="Shape 11"/>
          <p:cNvSpPr/>
          <p:nvPr/>
        </p:nvSpPr>
        <p:spPr>
          <a:xfrm>
            <a:off x="4214813" y="1000125"/>
            <a:ext cx="4357688" cy="1909167"/>
          </a:xfrm>
          <a:prstGeom prst="rect">
            <a:avLst/>
          </a:prstGeom>
          <a:solidFill>
            <a:srgbClr val="F8FAFC"/>
          </a:solidFill>
          <a:ln w="9144">
            <a:solidFill>
              <a:srgbClr val="E2E8F0"/>
            </a:solidFill>
            <a:prstDash val="solid"/>
          </a:ln>
        </p:spPr>
      </p:sp>
      <p:sp>
        <p:nvSpPr>
          <p:cNvPr id="16" name="Text 12"/>
          <p:cNvSpPr/>
          <p:nvPr/>
        </p:nvSpPr>
        <p:spPr>
          <a:xfrm>
            <a:off x="4500563" y="1214438"/>
            <a:ext cx="630436" cy="203597"/>
          </a:xfrm>
          <a:prstGeom prst="rect">
            <a:avLst/>
          </a:prstGeom>
          <a:noFill/>
          <a:ln/>
        </p:spPr>
        <p:txBody>
          <a:bodyPr wrap="non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실행 결과</a:t>
            </a:r>
            <a:endParaRPr lang="en-US" sz="1200" dirty="0"/>
          </a:p>
        </p:txBody>
      </p:sp>
      <p:pic>
        <p:nvPicPr>
          <p:cNvPr id="17" name="Image 2" descr="preencoded.png"/>
          <p:cNvPicPr>
            <a:picLocks noChangeAspect="1"/>
          </p:cNvPicPr>
          <p:nvPr/>
        </p:nvPicPr>
        <p:blipFill>
          <a:blip r:embed="rId5"/>
          <a:stretch>
            <a:fillRect/>
          </a:stretch>
        </p:blipFill>
        <p:spPr>
          <a:xfrm>
            <a:off x="4429125" y="1589484"/>
            <a:ext cx="128588" cy="128588"/>
          </a:xfrm>
          <a:prstGeom prst="rect">
            <a:avLst/>
          </a:prstGeom>
        </p:spPr>
      </p:pic>
      <p:sp>
        <p:nvSpPr>
          <p:cNvPr id="18" name="Text 13"/>
          <p:cNvSpPr/>
          <p:nvPr/>
        </p:nvSpPr>
        <p:spPr>
          <a:xfrm>
            <a:off x="4643438" y="1560909"/>
            <a:ext cx="2416373"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전 직원 비자 만료일(D-day) 자동 상시 모니터링</a:t>
            </a:r>
            <a:endParaRPr lang="en-US" sz="900" dirty="0"/>
          </a:p>
        </p:txBody>
      </p:sp>
      <p:pic>
        <p:nvPicPr>
          <p:cNvPr id="19" name="Image 3" descr="preencoded.png"/>
          <p:cNvPicPr>
            <a:picLocks noChangeAspect="1"/>
          </p:cNvPicPr>
          <p:nvPr/>
        </p:nvPicPr>
        <p:blipFill>
          <a:blip r:embed="rId5"/>
          <a:stretch>
            <a:fillRect/>
          </a:stretch>
        </p:blipFill>
        <p:spPr>
          <a:xfrm>
            <a:off x="4429125" y="1860947"/>
            <a:ext cx="128588" cy="128588"/>
          </a:xfrm>
          <a:prstGeom prst="rect">
            <a:avLst/>
          </a:prstGeom>
        </p:spPr>
      </p:pic>
      <p:sp>
        <p:nvSpPr>
          <p:cNvPr id="20" name="Text 14"/>
          <p:cNvSpPr/>
          <p:nvPr/>
        </p:nvSpPr>
        <p:spPr>
          <a:xfrm>
            <a:off x="4643438" y="1832372"/>
            <a:ext cx="2382441" cy="157163"/>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케이스별 필수 서류 완결성 자동 체크 (누락 0건)</a:t>
            </a:r>
            <a:endParaRPr lang="en-US" sz="900" dirty="0"/>
          </a:p>
        </p:txBody>
      </p:sp>
      <p:pic>
        <p:nvPicPr>
          <p:cNvPr id="21" name="Image 4" descr="preencoded.png"/>
          <p:cNvPicPr>
            <a:picLocks noChangeAspect="1"/>
          </p:cNvPicPr>
          <p:nvPr/>
        </p:nvPicPr>
        <p:blipFill>
          <a:blip r:embed="rId5"/>
          <a:stretch>
            <a:fillRect/>
          </a:stretch>
        </p:blipFill>
        <p:spPr>
          <a:xfrm>
            <a:off x="4429125" y="2132409"/>
            <a:ext cx="128588" cy="128588"/>
          </a:xfrm>
          <a:prstGeom prst="rect">
            <a:avLst/>
          </a:prstGeom>
        </p:spPr>
      </p:pic>
      <p:sp>
        <p:nvSpPr>
          <p:cNvPr id="22" name="Text 15"/>
          <p:cNvSpPr/>
          <p:nvPr/>
        </p:nvSpPr>
        <p:spPr>
          <a:xfrm>
            <a:off x="4643438" y="2103834"/>
            <a:ext cx="2537584" cy="138499"/>
          </a:xfrm>
          <a:prstGeom prst="rect">
            <a:avLst/>
          </a:prstGeom>
          <a:noFill/>
          <a:ln/>
        </p:spPr>
        <p:txBody>
          <a:bodyPr wrap="square" lIns="0" tIns="0" rIns="0" bIns="0" rtlCol="0" anchor="t">
            <a:spAutoFit/>
          </a:bodyPr>
          <a:lstStyle/>
          <a:p>
            <a:pPr marL="0" indent="0" algn="l">
              <a:buNone/>
            </a:pPr>
            <a:r>
              <a:rPr lang="en-US" sz="900" dirty="0">
                <a:solidFill>
                  <a:srgbClr val="1E293B"/>
                </a:solidFill>
                <a:latin typeface="Pretendard Variable" pitchFamily="34" charset="0"/>
                <a:ea typeface="Pretendard Variable" pitchFamily="34" charset="-122"/>
                <a:cs typeface="Pretendard Variable" pitchFamily="34" charset="-120"/>
              </a:rPr>
              <a:t>행정사 검토용 증빙 자료 및 감사 로그 패키징</a:t>
            </a:r>
            <a:endParaRPr lang="en-US" sz="900" dirty="0"/>
          </a:p>
        </p:txBody>
      </p:sp>
      <p:sp>
        <p:nvSpPr>
          <p:cNvPr id="23" name="Shape 16"/>
          <p:cNvSpPr/>
          <p:nvPr/>
        </p:nvSpPr>
        <p:spPr>
          <a:xfrm>
            <a:off x="4429125" y="2446734"/>
            <a:ext cx="2341365" cy="203597"/>
          </a:xfrm>
          <a:prstGeom prst="rect">
            <a:avLst/>
          </a:prstGeom>
          <a:solidFill>
            <a:srgbClr val="0F172A"/>
          </a:solidFill>
          <a:ln/>
        </p:spPr>
      </p:sp>
      <p:pic>
        <p:nvPicPr>
          <p:cNvPr id="24" name="Image 5" descr="preencoded.png"/>
          <p:cNvPicPr>
            <a:picLocks noChangeAspect="1"/>
          </p:cNvPicPr>
          <p:nvPr/>
        </p:nvPicPr>
        <p:blipFill>
          <a:blip r:embed="rId6"/>
          <a:stretch>
            <a:fillRect/>
          </a:stretch>
        </p:blipFill>
        <p:spPr>
          <a:xfrm>
            <a:off x="4543425" y="2511028"/>
            <a:ext cx="112514" cy="100013"/>
          </a:xfrm>
          <a:prstGeom prst="rect">
            <a:avLst/>
          </a:prstGeom>
        </p:spPr>
      </p:pic>
      <p:sp>
        <p:nvSpPr>
          <p:cNvPr id="25" name="Text 17"/>
          <p:cNvSpPr/>
          <p:nvPr/>
        </p:nvSpPr>
        <p:spPr>
          <a:xfrm>
            <a:off x="4655939" y="2503884"/>
            <a:ext cx="1869100" cy="107722"/>
          </a:xfrm>
          <a:prstGeom prst="rect">
            <a:avLst/>
          </a:prstGeom>
          <a:noFill/>
          <a:ln/>
        </p:spPr>
        <p:txBody>
          <a:bodyPr wrap="square" lIns="0" tIns="0" rIns="0" bIns="0" rtlCol="0" anchor="t">
            <a:spAutoFit/>
          </a:bodyPr>
          <a:lstStyle/>
          <a:p>
            <a:pPr marL="0" indent="0" algn="l">
              <a:buNone/>
            </a:pPr>
            <a:r>
              <a:rPr lang="en-US" sz="700" b="1" dirty="0">
                <a:solidFill>
                  <a:srgbClr val="FFFFFF"/>
                </a:solidFill>
                <a:latin typeface="Pretendard Variable" pitchFamily="34" charset="0"/>
                <a:ea typeface="Pretendard Variable" pitchFamily="34" charset="-122"/>
                <a:cs typeface="Pretendard Variable" pitchFamily="34" charset="-120"/>
              </a:rPr>
              <a:t>행정사 협업 시스템으로 즉시 </a:t>
            </a:r>
            <a:r>
              <a:rPr lang="en-US" sz="700" b="1" dirty="0" err="1">
                <a:solidFill>
                  <a:srgbClr val="FFFFFF"/>
                </a:solidFill>
                <a:latin typeface="Pretendard Variable" pitchFamily="34" charset="0"/>
                <a:ea typeface="Pretendard Variable" pitchFamily="34" charset="-122"/>
                <a:cs typeface="Pretendard Variable" pitchFamily="34" charset="-120"/>
              </a:rPr>
              <a:t>전송</a:t>
            </a:r>
            <a:r>
              <a:rPr lang="en-US" sz="700" b="1" dirty="0">
                <a:solidFill>
                  <a:srgbClr val="FFFFFF"/>
                </a:solidFill>
                <a:latin typeface="Pretendard Variable" pitchFamily="34" charset="0"/>
                <a:ea typeface="Pretendard Variable" pitchFamily="34" charset="-122"/>
                <a:cs typeface="Pretendard Variable" pitchFamily="34" charset="-120"/>
              </a:rPr>
              <a:t> </a:t>
            </a:r>
            <a:r>
              <a:rPr lang="ko-KR" altLang="en-US" sz="700" b="1" dirty="0">
                <a:solidFill>
                  <a:srgbClr val="FFFFFF"/>
                </a:solidFill>
                <a:latin typeface="Pretendard Variable" pitchFamily="34" charset="0"/>
                <a:ea typeface="Pretendard Variable" pitchFamily="34" charset="-122"/>
                <a:cs typeface="Pretendard Variable" pitchFamily="34" charset="-120"/>
              </a:rPr>
              <a:t>가</a:t>
            </a:r>
            <a:r>
              <a:rPr lang="en-US" sz="700" b="1" dirty="0">
                <a:solidFill>
                  <a:srgbClr val="FFFFFF"/>
                </a:solidFill>
                <a:latin typeface="Pretendard Variable" pitchFamily="34" charset="0"/>
                <a:ea typeface="Pretendard Variable" pitchFamily="34" charset="-122"/>
                <a:cs typeface="Pretendard Variable" pitchFamily="34" charset="-120"/>
              </a:rPr>
              <a:t>능</a:t>
            </a:r>
            <a:endParaRPr lang="en-US" sz="700" dirty="0"/>
          </a:p>
        </p:txBody>
      </p:sp>
      <p:sp>
        <p:nvSpPr>
          <p:cNvPr id="27" name="Text 3">
            <a:extLst>
              <a:ext uri="{FF2B5EF4-FFF2-40B4-BE49-F238E27FC236}">
                <a16:creationId xmlns:a16="http://schemas.microsoft.com/office/drawing/2014/main" id="{44A76ED7-1324-AFC9-005E-D4319D7BBD39}"/>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a:t>
            </a:r>
            <a:r>
              <a:rPr lang="ko-KR" altLang="en-US" sz="1200" b="1" dirty="0">
                <a:latin typeface="Pretendard"/>
              </a:rPr>
              <a:t> </a:t>
            </a:r>
            <a:r>
              <a:rPr lang="en-US" altLang="ko-KR" sz="1200" b="1" dirty="0">
                <a:latin typeface="Pretendard"/>
              </a:rPr>
              <a:t>if</a:t>
            </a:r>
            <a:r>
              <a:rPr lang="ko-KR" altLang="en-US" sz="1200" b="1" dirty="0">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What –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56307"/>
            <a:ext cx="6493669" cy="346249"/>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3. 전체 구조: User Goal에서 Evidence Log까지</a:t>
            </a:r>
            <a:endParaRPr lang="en-US" sz="2250" dirty="0"/>
          </a:p>
        </p:txBody>
      </p:sp>
      <p:sp>
        <p:nvSpPr>
          <p:cNvPr id="5" name="Shape 1"/>
          <p:cNvSpPr/>
          <p:nvPr/>
        </p:nvSpPr>
        <p:spPr>
          <a:xfrm>
            <a:off x="3245941" y="1509117"/>
            <a:ext cx="1143000" cy="703659"/>
          </a:xfrm>
          <a:prstGeom prst="rect">
            <a:avLst/>
          </a:prstGeom>
          <a:solidFill>
            <a:srgbClr val="0F172A"/>
          </a:solidFill>
          <a:ln/>
        </p:spPr>
      </p:sp>
      <p:pic>
        <p:nvPicPr>
          <p:cNvPr id="6" name="Image 1" descr="preencoded.png"/>
          <p:cNvPicPr>
            <a:picLocks noChangeAspect="1"/>
          </p:cNvPicPr>
          <p:nvPr/>
        </p:nvPicPr>
        <p:blipFill>
          <a:blip r:embed="rId4"/>
          <a:stretch>
            <a:fillRect/>
          </a:stretch>
        </p:blipFill>
        <p:spPr>
          <a:xfrm>
            <a:off x="3345954" y="1609130"/>
            <a:ext cx="942975" cy="171450"/>
          </a:xfrm>
          <a:prstGeom prst="rect">
            <a:avLst/>
          </a:prstGeom>
        </p:spPr>
      </p:pic>
      <p:sp>
        <p:nvSpPr>
          <p:cNvPr id="7" name="Text 2"/>
          <p:cNvSpPr/>
          <p:nvPr/>
        </p:nvSpPr>
        <p:spPr>
          <a:xfrm>
            <a:off x="3345954" y="1837730"/>
            <a:ext cx="942975" cy="135731"/>
          </a:xfrm>
          <a:prstGeom prst="rect">
            <a:avLst/>
          </a:prstGeom>
          <a:noFill/>
          <a:ln/>
        </p:spPr>
        <p:txBody>
          <a:bodyPr wrap="none" lIns="0" tIns="0" rIns="0" bIns="0" rtlCol="0" anchor="t">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User Goal</a:t>
            </a:r>
            <a:endParaRPr lang="en-US" sz="800" dirty="0"/>
          </a:p>
        </p:txBody>
      </p:sp>
      <p:sp>
        <p:nvSpPr>
          <p:cNvPr id="8" name="Text 3"/>
          <p:cNvSpPr/>
          <p:nvPr/>
        </p:nvSpPr>
        <p:spPr>
          <a:xfrm>
            <a:off x="3345954" y="2009180"/>
            <a:ext cx="942975" cy="103584"/>
          </a:xfrm>
          <a:prstGeom prst="rect">
            <a:avLst/>
          </a:prstGeom>
          <a:noFill/>
          <a:ln/>
        </p:spPr>
        <p:txBody>
          <a:bodyPr wrap="none" lIns="0" tIns="0" rIns="0" bIns="0" rtlCol="0" anchor="t">
            <a:spAutoFit/>
          </a:bodyPr>
          <a:lstStyle/>
          <a:p>
            <a:pPr marL="0" indent="0" algn="ctr">
              <a:buNone/>
            </a:pPr>
            <a:r>
              <a:rPr lang="en-US" sz="600" dirty="0">
                <a:solidFill>
                  <a:srgbClr val="FFFFFF">
                    <a:alpha val="80000"/>
                  </a:srgbClr>
                </a:solidFill>
                <a:latin typeface="Pretendard Variable" pitchFamily="34" charset="0"/>
                <a:ea typeface="Pretendard Variable" pitchFamily="34" charset="-122"/>
                <a:cs typeface="Pretendard Variable" pitchFamily="34" charset="-120"/>
              </a:rPr>
              <a:t>자연어 입력</a:t>
            </a:r>
            <a:endParaRPr lang="en-US" sz="600" dirty="0"/>
          </a:p>
        </p:txBody>
      </p:sp>
      <p:pic>
        <p:nvPicPr>
          <p:cNvPr id="9" name="Image 2" descr="preencoded.png"/>
          <p:cNvPicPr>
            <a:picLocks noChangeAspect="1"/>
          </p:cNvPicPr>
          <p:nvPr/>
        </p:nvPicPr>
        <p:blipFill>
          <a:blip r:embed="rId5"/>
          <a:stretch>
            <a:fillRect/>
          </a:stretch>
        </p:blipFill>
        <p:spPr>
          <a:xfrm>
            <a:off x="4531816" y="1796653"/>
            <a:ext cx="80367" cy="128588"/>
          </a:xfrm>
          <a:prstGeom prst="rect">
            <a:avLst/>
          </a:prstGeom>
        </p:spPr>
      </p:pic>
      <p:sp>
        <p:nvSpPr>
          <p:cNvPr id="10" name="Shape 4"/>
          <p:cNvSpPr/>
          <p:nvPr/>
        </p:nvSpPr>
        <p:spPr>
          <a:xfrm>
            <a:off x="4755059" y="1494830"/>
            <a:ext cx="1143000" cy="732234"/>
          </a:xfrm>
          <a:prstGeom prst="rect">
            <a:avLst/>
          </a:prstGeom>
          <a:solidFill>
            <a:srgbClr val="EFF6FF"/>
          </a:solidFill>
          <a:ln w="18288">
            <a:solidFill>
              <a:srgbClr val="2563EB"/>
            </a:solidFill>
            <a:prstDash val="solid"/>
          </a:ln>
        </p:spPr>
      </p:sp>
      <p:pic>
        <p:nvPicPr>
          <p:cNvPr id="11" name="Image 3" descr="preencoded.png"/>
          <p:cNvPicPr>
            <a:picLocks noChangeAspect="1"/>
          </p:cNvPicPr>
          <p:nvPr/>
        </p:nvPicPr>
        <p:blipFill>
          <a:blip r:embed="rId6"/>
          <a:stretch>
            <a:fillRect/>
          </a:stretch>
        </p:blipFill>
        <p:spPr>
          <a:xfrm>
            <a:off x="4855071" y="1609130"/>
            <a:ext cx="942975" cy="171450"/>
          </a:xfrm>
          <a:prstGeom prst="rect">
            <a:avLst/>
          </a:prstGeom>
        </p:spPr>
      </p:pic>
      <p:sp>
        <p:nvSpPr>
          <p:cNvPr id="12" name="Text 5"/>
          <p:cNvSpPr/>
          <p:nvPr/>
        </p:nvSpPr>
        <p:spPr>
          <a:xfrm>
            <a:off x="4855071" y="1837730"/>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Intent Router</a:t>
            </a:r>
            <a:endParaRPr lang="en-US" sz="800" dirty="0"/>
          </a:p>
        </p:txBody>
      </p:sp>
      <p:sp>
        <p:nvSpPr>
          <p:cNvPr id="13" name="Text 6"/>
          <p:cNvSpPr/>
          <p:nvPr/>
        </p:nvSpPr>
        <p:spPr>
          <a:xfrm>
            <a:off x="4855071" y="2009180"/>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의도 분류 및 할당</a:t>
            </a:r>
            <a:endParaRPr lang="en-US" sz="600" dirty="0"/>
          </a:p>
        </p:txBody>
      </p:sp>
      <p:pic>
        <p:nvPicPr>
          <p:cNvPr id="14" name="Image 4" descr="preencoded.png"/>
          <p:cNvPicPr>
            <a:picLocks noChangeAspect="1"/>
          </p:cNvPicPr>
          <p:nvPr/>
        </p:nvPicPr>
        <p:blipFill>
          <a:blip r:embed="rId7"/>
          <a:stretch>
            <a:fillRect/>
          </a:stretch>
        </p:blipFill>
        <p:spPr>
          <a:xfrm>
            <a:off x="4515743" y="2305645"/>
            <a:ext cx="112514" cy="128588"/>
          </a:xfrm>
          <a:prstGeom prst="rect">
            <a:avLst/>
          </a:prstGeom>
        </p:spPr>
      </p:pic>
      <p:sp>
        <p:nvSpPr>
          <p:cNvPr id="15" name="Shape 7"/>
          <p:cNvSpPr/>
          <p:nvPr/>
        </p:nvSpPr>
        <p:spPr>
          <a:xfrm>
            <a:off x="2650331" y="2527102"/>
            <a:ext cx="3843338" cy="917972"/>
          </a:xfrm>
          <a:prstGeom prst="rect">
            <a:avLst/>
          </a:prstGeom>
          <a:solidFill>
            <a:srgbClr val="F1F5F9"/>
          </a:solidFill>
          <a:ln w="9144">
            <a:solidFill>
              <a:srgbClr val="CBD5E1"/>
            </a:solidFill>
            <a:prstDash val="dash"/>
          </a:ln>
        </p:spPr>
      </p:sp>
      <p:sp>
        <p:nvSpPr>
          <p:cNvPr id="16" name="Shape 8"/>
          <p:cNvSpPr/>
          <p:nvPr/>
        </p:nvSpPr>
        <p:spPr>
          <a:xfrm>
            <a:off x="2743200" y="2619970"/>
            <a:ext cx="1143000" cy="732234"/>
          </a:xfrm>
          <a:prstGeom prst="rect">
            <a:avLst/>
          </a:prstGeom>
          <a:solidFill>
            <a:srgbClr val="FFFFFF"/>
          </a:solidFill>
          <a:ln w="18288">
            <a:solidFill>
              <a:srgbClr val="E2E8F0"/>
            </a:solidFill>
            <a:prstDash val="solid"/>
          </a:ln>
        </p:spPr>
      </p:sp>
      <p:pic>
        <p:nvPicPr>
          <p:cNvPr id="17" name="Image 5" descr="preencoded.png"/>
          <p:cNvPicPr>
            <a:picLocks noChangeAspect="1"/>
          </p:cNvPicPr>
          <p:nvPr/>
        </p:nvPicPr>
        <p:blipFill>
          <a:blip r:embed="rId8"/>
          <a:stretch>
            <a:fillRect/>
          </a:stretch>
        </p:blipFill>
        <p:spPr>
          <a:xfrm>
            <a:off x="2843213" y="2719983"/>
            <a:ext cx="942975" cy="171450"/>
          </a:xfrm>
          <a:prstGeom prst="rect">
            <a:avLst/>
          </a:prstGeom>
        </p:spPr>
      </p:pic>
      <p:sp>
        <p:nvSpPr>
          <p:cNvPr id="18" name="Text 9"/>
          <p:cNvSpPr/>
          <p:nvPr/>
        </p:nvSpPr>
        <p:spPr>
          <a:xfrm>
            <a:off x="2843213" y="2948583"/>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인력 확보 Agent</a:t>
            </a:r>
            <a:endParaRPr lang="en-US" sz="800" dirty="0"/>
          </a:p>
        </p:txBody>
      </p:sp>
      <p:sp>
        <p:nvSpPr>
          <p:cNvPr id="19" name="Text 10"/>
          <p:cNvSpPr/>
          <p:nvPr/>
        </p:nvSpPr>
        <p:spPr>
          <a:xfrm>
            <a:off x="2843213" y="3120033"/>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쿼터/문서 준비</a:t>
            </a:r>
            <a:endParaRPr lang="en-US" sz="600" dirty="0"/>
          </a:p>
        </p:txBody>
      </p:sp>
      <p:sp>
        <p:nvSpPr>
          <p:cNvPr id="20" name="Shape 11"/>
          <p:cNvSpPr/>
          <p:nvPr/>
        </p:nvSpPr>
        <p:spPr>
          <a:xfrm>
            <a:off x="4000500" y="2619970"/>
            <a:ext cx="1143000" cy="732234"/>
          </a:xfrm>
          <a:prstGeom prst="rect">
            <a:avLst/>
          </a:prstGeom>
          <a:solidFill>
            <a:srgbClr val="FFFFFF"/>
          </a:solidFill>
          <a:ln w="18288">
            <a:solidFill>
              <a:srgbClr val="E2E8F0"/>
            </a:solidFill>
            <a:prstDash val="solid"/>
          </a:ln>
        </p:spPr>
      </p:sp>
      <p:pic>
        <p:nvPicPr>
          <p:cNvPr id="21" name="Image 6" descr="preencoded.png"/>
          <p:cNvPicPr>
            <a:picLocks noChangeAspect="1"/>
          </p:cNvPicPr>
          <p:nvPr/>
        </p:nvPicPr>
        <p:blipFill>
          <a:blip r:embed="rId9"/>
          <a:stretch>
            <a:fillRect/>
          </a:stretch>
        </p:blipFill>
        <p:spPr>
          <a:xfrm>
            <a:off x="4100513" y="2719983"/>
            <a:ext cx="942975" cy="171450"/>
          </a:xfrm>
          <a:prstGeom prst="rect">
            <a:avLst/>
          </a:prstGeom>
        </p:spPr>
      </p:pic>
      <p:sp>
        <p:nvSpPr>
          <p:cNvPr id="22" name="Text 12"/>
          <p:cNvSpPr/>
          <p:nvPr/>
        </p:nvSpPr>
        <p:spPr>
          <a:xfrm>
            <a:off x="4100513" y="2948583"/>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다국어 컨택 Agent</a:t>
            </a:r>
            <a:endParaRPr lang="en-US" sz="800" dirty="0"/>
          </a:p>
        </p:txBody>
      </p:sp>
      <p:sp>
        <p:nvSpPr>
          <p:cNvPr id="23" name="Text 13"/>
          <p:cNvSpPr/>
          <p:nvPr/>
        </p:nvSpPr>
        <p:spPr>
          <a:xfrm>
            <a:off x="4100513" y="3120033"/>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소통/해석</a:t>
            </a:r>
            <a:endParaRPr lang="en-US" sz="600" dirty="0"/>
          </a:p>
        </p:txBody>
      </p:sp>
      <p:sp>
        <p:nvSpPr>
          <p:cNvPr id="24" name="Shape 14"/>
          <p:cNvSpPr/>
          <p:nvPr/>
        </p:nvSpPr>
        <p:spPr>
          <a:xfrm>
            <a:off x="5257800" y="2619970"/>
            <a:ext cx="1143000" cy="732234"/>
          </a:xfrm>
          <a:prstGeom prst="rect">
            <a:avLst/>
          </a:prstGeom>
          <a:solidFill>
            <a:srgbClr val="FFFFFF"/>
          </a:solidFill>
          <a:ln w="18288">
            <a:solidFill>
              <a:srgbClr val="E2E8F0"/>
            </a:solidFill>
            <a:prstDash val="solid"/>
          </a:ln>
        </p:spPr>
      </p:sp>
      <p:pic>
        <p:nvPicPr>
          <p:cNvPr id="25" name="Image 7" descr="preencoded.png"/>
          <p:cNvPicPr>
            <a:picLocks noChangeAspect="1"/>
          </p:cNvPicPr>
          <p:nvPr/>
        </p:nvPicPr>
        <p:blipFill>
          <a:blip r:embed="rId10"/>
          <a:stretch>
            <a:fillRect/>
          </a:stretch>
        </p:blipFill>
        <p:spPr>
          <a:xfrm>
            <a:off x="5357813" y="2734270"/>
            <a:ext cx="942975" cy="171450"/>
          </a:xfrm>
          <a:prstGeom prst="rect">
            <a:avLst/>
          </a:prstGeom>
        </p:spPr>
      </p:pic>
      <p:sp>
        <p:nvSpPr>
          <p:cNvPr id="26" name="Text 15"/>
          <p:cNvSpPr/>
          <p:nvPr/>
        </p:nvSpPr>
        <p:spPr>
          <a:xfrm>
            <a:off x="5357813" y="2962870"/>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비자 운영 Agent</a:t>
            </a:r>
            <a:endParaRPr lang="en-US" sz="800" dirty="0"/>
          </a:p>
        </p:txBody>
      </p:sp>
      <p:sp>
        <p:nvSpPr>
          <p:cNvPr id="27" name="Text 16"/>
          <p:cNvSpPr/>
          <p:nvPr/>
        </p:nvSpPr>
        <p:spPr>
          <a:xfrm>
            <a:off x="5357813" y="3134320"/>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리스크/패키징</a:t>
            </a:r>
            <a:endParaRPr lang="en-US" sz="600" dirty="0"/>
          </a:p>
        </p:txBody>
      </p:sp>
      <p:pic>
        <p:nvPicPr>
          <p:cNvPr id="28" name="Image 8" descr="preencoded.png"/>
          <p:cNvPicPr>
            <a:picLocks noChangeAspect="1"/>
          </p:cNvPicPr>
          <p:nvPr/>
        </p:nvPicPr>
        <p:blipFill>
          <a:blip r:embed="rId11"/>
          <a:stretch>
            <a:fillRect/>
          </a:stretch>
        </p:blipFill>
        <p:spPr>
          <a:xfrm>
            <a:off x="4515743" y="3516511"/>
            <a:ext cx="112514" cy="128588"/>
          </a:xfrm>
          <a:prstGeom prst="rect">
            <a:avLst/>
          </a:prstGeom>
        </p:spPr>
      </p:pic>
      <p:sp>
        <p:nvSpPr>
          <p:cNvPr id="29" name="Shape 17"/>
          <p:cNvSpPr/>
          <p:nvPr/>
        </p:nvSpPr>
        <p:spPr>
          <a:xfrm>
            <a:off x="3245941" y="3737967"/>
            <a:ext cx="1143000" cy="732234"/>
          </a:xfrm>
          <a:prstGeom prst="rect">
            <a:avLst/>
          </a:prstGeom>
          <a:solidFill>
            <a:srgbClr val="EFF6FF"/>
          </a:solidFill>
          <a:ln w="18288">
            <a:solidFill>
              <a:srgbClr val="2563EB"/>
            </a:solidFill>
            <a:prstDash val="solid"/>
          </a:ln>
        </p:spPr>
      </p:sp>
      <p:pic>
        <p:nvPicPr>
          <p:cNvPr id="30" name="Image 9" descr="preencoded.png"/>
          <p:cNvPicPr>
            <a:picLocks noChangeAspect="1"/>
          </p:cNvPicPr>
          <p:nvPr/>
        </p:nvPicPr>
        <p:blipFill>
          <a:blip r:embed="rId12"/>
          <a:stretch>
            <a:fillRect/>
          </a:stretch>
        </p:blipFill>
        <p:spPr>
          <a:xfrm>
            <a:off x="3345954" y="3852267"/>
            <a:ext cx="942975" cy="171450"/>
          </a:xfrm>
          <a:prstGeom prst="rect">
            <a:avLst/>
          </a:prstGeom>
        </p:spPr>
      </p:pic>
      <p:sp>
        <p:nvSpPr>
          <p:cNvPr id="31" name="Text 18"/>
          <p:cNvSpPr/>
          <p:nvPr/>
        </p:nvSpPr>
        <p:spPr>
          <a:xfrm>
            <a:off x="3345954" y="4080867"/>
            <a:ext cx="942975" cy="135731"/>
          </a:xfrm>
          <a:prstGeom prst="rect">
            <a:avLst/>
          </a:prstGeom>
          <a:noFill/>
          <a:ln/>
        </p:spPr>
        <p:txBody>
          <a:bodyPr wrap="none" lIns="0" tIns="0" rIns="0" bIns="0" rtlCol="0" anchor="t">
            <a:spAutoFit/>
          </a:bodyPr>
          <a:lstStyle/>
          <a:p>
            <a:pPr marL="0" indent="0" algn="ctr">
              <a:buNone/>
            </a:pPr>
            <a:r>
              <a:rPr lang="en-US" sz="800" b="1" dirty="0">
                <a:solidFill>
                  <a:srgbClr val="1E293B"/>
                </a:solidFill>
                <a:latin typeface="Pretendard Variable" pitchFamily="34" charset="0"/>
                <a:ea typeface="Pretendard Variable" pitchFamily="34" charset="-122"/>
                <a:cs typeface="Pretendard Variable" pitchFamily="34" charset="-120"/>
              </a:rPr>
              <a:t>Human Approval</a:t>
            </a:r>
            <a:endParaRPr lang="en-US" sz="800" dirty="0"/>
          </a:p>
        </p:txBody>
      </p:sp>
      <p:sp>
        <p:nvSpPr>
          <p:cNvPr id="32" name="Text 19"/>
          <p:cNvSpPr/>
          <p:nvPr/>
        </p:nvSpPr>
        <p:spPr>
          <a:xfrm>
            <a:off x="3345954" y="4252317"/>
            <a:ext cx="942975" cy="103584"/>
          </a:xfrm>
          <a:prstGeom prst="rect">
            <a:avLst/>
          </a:prstGeom>
          <a:noFill/>
          <a:ln/>
        </p:spPr>
        <p:txBody>
          <a:bodyPr wrap="none" lIns="0" tIns="0" rIns="0" bIns="0" rtlCol="0" anchor="t">
            <a:spAutoFit/>
          </a:bodyPr>
          <a:lstStyle/>
          <a:p>
            <a:pPr marL="0" indent="0" algn="ctr">
              <a:buNone/>
            </a:pPr>
            <a:r>
              <a:rPr lang="en-US" sz="600" dirty="0">
                <a:solidFill>
                  <a:srgbClr val="1E293B">
                    <a:alpha val="80000"/>
                  </a:srgbClr>
                </a:solidFill>
                <a:latin typeface="Pretendard Variable" pitchFamily="34" charset="0"/>
                <a:ea typeface="Pretendard Variable" pitchFamily="34" charset="-122"/>
                <a:cs typeface="Pretendard Variable" pitchFamily="34" charset="-120"/>
              </a:rPr>
              <a:t>최종 검토 및 승인</a:t>
            </a:r>
            <a:endParaRPr lang="en-US" sz="600" dirty="0"/>
          </a:p>
        </p:txBody>
      </p:sp>
      <p:pic>
        <p:nvPicPr>
          <p:cNvPr id="33" name="Image 10" descr="preencoded.png"/>
          <p:cNvPicPr>
            <a:picLocks noChangeAspect="1"/>
          </p:cNvPicPr>
          <p:nvPr/>
        </p:nvPicPr>
        <p:blipFill>
          <a:blip r:embed="rId5"/>
          <a:stretch>
            <a:fillRect/>
          </a:stretch>
        </p:blipFill>
        <p:spPr>
          <a:xfrm>
            <a:off x="4531816" y="4039791"/>
            <a:ext cx="80367" cy="128588"/>
          </a:xfrm>
          <a:prstGeom prst="rect">
            <a:avLst/>
          </a:prstGeom>
        </p:spPr>
      </p:pic>
      <p:sp>
        <p:nvSpPr>
          <p:cNvPr id="34" name="Shape 20"/>
          <p:cNvSpPr/>
          <p:nvPr/>
        </p:nvSpPr>
        <p:spPr>
          <a:xfrm>
            <a:off x="4755059" y="3837980"/>
            <a:ext cx="1143000" cy="532209"/>
          </a:xfrm>
          <a:prstGeom prst="rect">
            <a:avLst/>
          </a:prstGeom>
          <a:solidFill>
            <a:srgbClr val="0F172A"/>
          </a:solidFill>
          <a:ln/>
        </p:spPr>
      </p:sp>
      <p:sp>
        <p:nvSpPr>
          <p:cNvPr id="35" name="Text 21"/>
          <p:cNvSpPr/>
          <p:nvPr/>
        </p:nvSpPr>
        <p:spPr>
          <a:xfrm>
            <a:off x="4855071" y="3995142"/>
            <a:ext cx="942975" cy="135731"/>
          </a:xfrm>
          <a:prstGeom prst="rect">
            <a:avLst/>
          </a:prstGeom>
          <a:noFill/>
          <a:ln/>
        </p:spPr>
        <p:txBody>
          <a:bodyPr wrap="none" lIns="0" tIns="0" rIns="0" bIns="0" rtlCol="0" anchor="t">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Evidence Log</a:t>
            </a:r>
            <a:endParaRPr lang="en-US" sz="800" dirty="0"/>
          </a:p>
        </p:txBody>
      </p:sp>
      <p:sp>
        <p:nvSpPr>
          <p:cNvPr id="36" name="Text 22"/>
          <p:cNvSpPr/>
          <p:nvPr/>
        </p:nvSpPr>
        <p:spPr>
          <a:xfrm>
            <a:off x="4855071" y="4166592"/>
            <a:ext cx="942975" cy="103584"/>
          </a:xfrm>
          <a:prstGeom prst="rect">
            <a:avLst/>
          </a:prstGeom>
          <a:noFill/>
          <a:ln/>
        </p:spPr>
        <p:txBody>
          <a:bodyPr wrap="none" lIns="0" tIns="0" rIns="0" bIns="0" rtlCol="0" anchor="t">
            <a:spAutoFit/>
          </a:bodyPr>
          <a:lstStyle/>
          <a:p>
            <a:pPr marL="0" indent="0" algn="ctr">
              <a:buNone/>
            </a:pPr>
            <a:r>
              <a:rPr lang="en-US" sz="600" dirty="0">
                <a:solidFill>
                  <a:srgbClr val="FFFFFF">
                    <a:alpha val="80000"/>
                  </a:srgbClr>
                </a:solidFill>
                <a:latin typeface="Pretendard Variable" pitchFamily="34" charset="0"/>
                <a:ea typeface="Pretendard Variable" pitchFamily="34" charset="-122"/>
                <a:cs typeface="Pretendard Variable" pitchFamily="34" charset="-120"/>
              </a:rPr>
              <a:t>판단 근거 영구 저장</a:t>
            </a:r>
            <a:endParaRPr lang="en-US" sz="600" dirty="0"/>
          </a:p>
        </p:txBody>
      </p:sp>
      <p:sp>
        <p:nvSpPr>
          <p:cNvPr id="2" name="Text 3">
            <a:extLst>
              <a:ext uri="{FF2B5EF4-FFF2-40B4-BE49-F238E27FC236}">
                <a16:creationId xmlns:a16="http://schemas.microsoft.com/office/drawing/2014/main" id="{878BE5F1-11AB-BBFD-5310-75FB1E997D4C}"/>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 </a:t>
            </a:r>
            <a:r>
              <a:rPr lang="en-US" altLang="ko-KR" sz="1200" dirty="0">
                <a:solidFill>
                  <a:schemeClr val="tx1">
                    <a:lumMod val="65000"/>
                    <a:lumOff val="35000"/>
                  </a:schemeClr>
                </a:solidFill>
                <a:latin typeface="Pretendard"/>
              </a:rPr>
              <a:t>–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705347"/>
            <a:ext cx="2895392" cy="414729"/>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pitchFamily="34" charset="0"/>
                <a:ea typeface="Pretendard" pitchFamily="34" charset="-122"/>
                <a:cs typeface="Pretendard" pitchFamily="34" charset="-120"/>
              </a:rPr>
              <a:t>3. 워크플로우</a:t>
            </a:r>
            <a:endParaRPr lang="en-US" sz="2450" b="1" dirty="0"/>
          </a:p>
        </p:txBody>
      </p:sp>
      <p:sp>
        <p:nvSpPr>
          <p:cNvPr id="4" name="Shape 1"/>
          <p:cNvSpPr/>
          <p:nvPr/>
        </p:nvSpPr>
        <p:spPr>
          <a:xfrm>
            <a:off x="571500" y="2287981"/>
            <a:ext cx="1600200" cy="1414072"/>
          </a:xfrm>
          <a:prstGeom prst="rect">
            <a:avLst/>
          </a:prstGeom>
          <a:solidFill>
            <a:srgbClr val="EFF6FF"/>
          </a:solidFill>
          <a:ln w="18288">
            <a:solidFill>
              <a:srgbClr val="2563EB"/>
            </a:solidFill>
            <a:prstDash val="solid"/>
          </a:ln>
        </p:spPr>
      </p:sp>
      <p:pic>
        <p:nvPicPr>
          <p:cNvPr id="5" name="Image 1" descr="preencoded.png"/>
          <p:cNvPicPr>
            <a:picLocks noChangeAspect="1"/>
          </p:cNvPicPr>
          <p:nvPr/>
        </p:nvPicPr>
        <p:blipFill>
          <a:blip r:embed="rId4"/>
          <a:stretch>
            <a:fillRect/>
          </a:stretch>
        </p:blipFill>
        <p:spPr>
          <a:xfrm>
            <a:off x="1228725" y="2536227"/>
            <a:ext cx="257175" cy="257175"/>
          </a:xfrm>
          <a:prstGeom prst="rect">
            <a:avLst/>
          </a:prstGeom>
        </p:spPr>
      </p:pic>
      <p:sp>
        <p:nvSpPr>
          <p:cNvPr id="6" name="Text 2"/>
          <p:cNvSpPr/>
          <p:nvPr/>
        </p:nvSpPr>
        <p:spPr>
          <a:xfrm>
            <a:off x="909935" y="2966638"/>
            <a:ext cx="894755"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Intent Router</a:t>
            </a:r>
            <a:endParaRPr lang="en-US" sz="1000" dirty="0"/>
          </a:p>
        </p:txBody>
      </p:sp>
      <p:sp>
        <p:nvSpPr>
          <p:cNvPr id="7" name="Text 3"/>
          <p:cNvSpPr/>
          <p:nvPr/>
        </p:nvSpPr>
        <p:spPr>
          <a:xfrm>
            <a:off x="1019770" y="3193452"/>
            <a:ext cx="784920" cy="250646"/>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4748B"/>
                </a:solidFill>
                <a:latin typeface="Pretendard" pitchFamily="34" charset="0"/>
                <a:ea typeface="Pretendard" pitchFamily="34" charset="-122"/>
                <a:cs typeface="Pretendard" pitchFamily="34" charset="-120"/>
              </a:rPr>
              <a:t>사용자 발화의
목적 및 의도 분류</a:t>
            </a:r>
            <a:endParaRPr lang="en-US" sz="750" dirty="0"/>
          </a:p>
        </p:txBody>
      </p:sp>
      <p:sp>
        <p:nvSpPr>
          <p:cNvPr id="8" name="Shape 4"/>
          <p:cNvSpPr/>
          <p:nvPr/>
        </p:nvSpPr>
        <p:spPr>
          <a:xfrm>
            <a:off x="2150269" y="2287981"/>
            <a:ext cx="1600200" cy="1414072"/>
          </a:xfrm>
          <a:prstGeom prst="rect">
            <a:avLst/>
          </a:prstGeom>
          <a:solidFill>
            <a:srgbClr val="EFF6FF"/>
          </a:solidFill>
          <a:ln w="18288">
            <a:solidFill>
              <a:srgbClr val="2563EB"/>
            </a:solidFill>
            <a:prstDash val="solid"/>
          </a:ln>
        </p:spPr>
      </p:sp>
      <p:pic>
        <p:nvPicPr>
          <p:cNvPr id="9" name="Image 2" descr="preencoded.png"/>
          <p:cNvPicPr>
            <a:picLocks noChangeAspect="1"/>
          </p:cNvPicPr>
          <p:nvPr/>
        </p:nvPicPr>
        <p:blipFill>
          <a:blip r:embed="rId5"/>
          <a:stretch>
            <a:fillRect/>
          </a:stretch>
        </p:blipFill>
        <p:spPr>
          <a:xfrm>
            <a:off x="2814638" y="2536227"/>
            <a:ext cx="257175" cy="257175"/>
          </a:xfrm>
          <a:prstGeom prst="rect">
            <a:avLst/>
          </a:prstGeom>
        </p:spPr>
      </p:pic>
      <p:sp>
        <p:nvSpPr>
          <p:cNvPr id="10" name="Text 5"/>
          <p:cNvSpPr/>
          <p:nvPr/>
        </p:nvSpPr>
        <p:spPr>
          <a:xfrm>
            <a:off x="2680692" y="2966638"/>
            <a:ext cx="525066"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Planner</a:t>
            </a:r>
            <a:endParaRPr lang="en-US" sz="1000" dirty="0"/>
          </a:p>
        </p:txBody>
      </p:sp>
      <p:sp>
        <p:nvSpPr>
          <p:cNvPr id="11" name="Text 6"/>
          <p:cNvSpPr/>
          <p:nvPr/>
        </p:nvSpPr>
        <p:spPr>
          <a:xfrm>
            <a:off x="2605682" y="3193452"/>
            <a:ext cx="798469" cy="379912"/>
          </a:xfrm>
          <a:prstGeom prst="rect">
            <a:avLst/>
          </a:prstGeom>
          <a:noFill/>
          <a:ln/>
        </p:spPr>
        <p:txBody>
          <a:bodyPr wrap="square" lIns="0" tIns="0" rIns="0" bIns="0" rtlCol="0" anchor="t">
            <a:spAutoFit/>
          </a:bodyPr>
          <a:lstStyle/>
          <a:p>
            <a:pPr marL="0" indent="0" algn="ctr">
              <a:lnSpc>
                <a:spcPct val="112000"/>
              </a:lnSpc>
              <a:buNone/>
            </a:pPr>
            <a:r>
              <a:rPr lang="en-US" sz="750" dirty="0" err="1">
                <a:solidFill>
                  <a:srgbClr val="64748B"/>
                </a:solidFill>
                <a:latin typeface="Pretendard" pitchFamily="34" charset="0"/>
                <a:ea typeface="Pretendard" pitchFamily="34" charset="-122"/>
                <a:cs typeface="Pretendard" pitchFamily="34" charset="-120"/>
              </a:rPr>
              <a:t>최적의</a:t>
            </a:r>
            <a:r>
              <a:rPr lang="en-US" sz="750" dirty="0">
                <a:solidFill>
                  <a:srgbClr val="64748B"/>
                </a:solidFill>
                <a:latin typeface="Pretendard" pitchFamily="34" charset="0"/>
                <a:ea typeface="Pretendard" pitchFamily="34" charset="-122"/>
                <a:cs typeface="Pretendard" pitchFamily="34" charset="-120"/>
              </a:rPr>
              <a:t> </a:t>
            </a:r>
          </a:p>
          <a:p>
            <a:pPr marL="0" indent="0" algn="ctr">
              <a:lnSpc>
                <a:spcPct val="112000"/>
              </a:lnSpc>
              <a:buNone/>
            </a:pPr>
            <a:r>
              <a:rPr lang="en-US" sz="750" dirty="0" err="1">
                <a:solidFill>
                  <a:srgbClr val="64748B"/>
                </a:solidFill>
                <a:latin typeface="Pretendard" pitchFamily="34" charset="0"/>
                <a:ea typeface="Pretendard" pitchFamily="34" charset="-122"/>
                <a:cs typeface="Pretendard" pitchFamily="34" charset="-120"/>
              </a:rPr>
              <a:t>업무</a:t>
            </a:r>
            <a:r>
              <a:rPr lang="en-US" sz="750" dirty="0">
                <a:solidFill>
                  <a:srgbClr val="64748B"/>
                </a:solidFill>
                <a:latin typeface="Pretendard" pitchFamily="34" charset="0"/>
                <a:ea typeface="Pretendard" pitchFamily="34" charset="-122"/>
                <a:cs typeface="Pretendard" pitchFamily="34" charset="-120"/>
              </a:rPr>
              <a:t> 수행
계획 및 단계 수립</a:t>
            </a:r>
            <a:endParaRPr lang="en-US" sz="750" dirty="0"/>
          </a:p>
        </p:txBody>
      </p:sp>
      <p:sp>
        <p:nvSpPr>
          <p:cNvPr id="12" name="Shape 7"/>
          <p:cNvSpPr/>
          <p:nvPr/>
        </p:nvSpPr>
        <p:spPr>
          <a:xfrm>
            <a:off x="3743325" y="2287981"/>
            <a:ext cx="1600200" cy="1414072"/>
          </a:xfrm>
          <a:prstGeom prst="rect">
            <a:avLst/>
          </a:prstGeom>
          <a:solidFill>
            <a:srgbClr val="EFF6FF"/>
          </a:solidFill>
          <a:ln w="18288">
            <a:solidFill>
              <a:srgbClr val="2563EB"/>
            </a:solidFill>
            <a:prstDash val="solid"/>
          </a:ln>
        </p:spPr>
      </p:sp>
      <p:pic>
        <p:nvPicPr>
          <p:cNvPr id="13" name="Image 3" descr="preencoded.png"/>
          <p:cNvPicPr>
            <a:picLocks noChangeAspect="1"/>
          </p:cNvPicPr>
          <p:nvPr/>
        </p:nvPicPr>
        <p:blipFill>
          <a:blip r:embed="rId6"/>
          <a:stretch>
            <a:fillRect/>
          </a:stretch>
        </p:blipFill>
        <p:spPr>
          <a:xfrm>
            <a:off x="4414838" y="2536227"/>
            <a:ext cx="257175" cy="257175"/>
          </a:xfrm>
          <a:prstGeom prst="rect">
            <a:avLst/>
          </a:prstGeom>
        </p:spPr>
      </p:pic>
      <p:sp>
        <p:nvSpPr>
          <p:cNvPr id="14" name="Text 8"/>
          <p:cNvSpPr/>
          <p:nvPr/>
        </p:nvSpPr>
        <p:spPr>
          <a:xfrm>
            <a:off x="4237137" y="2966638"/>
            <a:ext cx="612577"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Executor</a:t>
            </a:r>
            <a:endParaRPr lang="en-US" sz="1000" dirty="0"/>
          </a:p>
        </p:txBody>
      </p:sp>
      <p:sp>
        <p:nvSpPr>
          <p:cNvPr id="15" name="Text 9"/>
          <p:cNvSpPr/>
          <p:nvPr/>
        </p:nvSpPr>
        <p:spPr>
          <a:xfrm>
            <a:off x="4249638" y="3193452"/>
            <a:ext cx="726138" cy="250646"/>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4748B"/>
                </a:solidFill>
                <a:latin typeface="Pretendard" pitchFamily="34" charset="0"/>
                <a:ea typeface="Pretendard" pitchFamily="34" charset="-122"/>
                <a:cs typeface="Pretendard" pitchFamily="34" charset="-120"/>
              </a:rPr>
              <a:t>RAG 및 API 등
필요 도구 실행</a:t>
            </a:r>
            <a:endParaRPr lang="en-US" sz="750" dirty="0"/>
          </a:p>
        </p:txBody>
      </p:sp>
      <p:sp>
        <p:nvSpPr>
          <p:cNvPr id="16" name="Shape 10"/>
          <p:cNvSpPr/>
          <p:nvPr/>
        </p:nvSpPr>
        <p:spPr>
          <a:xfrm>
            <a:off x="5350669" y="2287981"/>
            <a:ext cx="1600200" cy="1414072"/>
          </a:xfrm>
          <a:prstGeom prst="rect">
            <a:avLst/>
          </a:prstGeom>
          <a:solidFill>
            <a:srgbClr val="ECFDF5"/>
          </a:solidFill>
          <a:ln w="18288">
            <a:solidFill>
              <a:srgbClr val="10B981"/>
            </a:solidFill>
            <a:prstDash val="solid"/>
          </a:ln>
        </p:spPr>
      </p:sp>
      <p:pic>
        <p:nvPicPr>
          <p:cNvPr id="17" name="Image 4" descr="preencoded.png"/>
          <p:cNvPicPr>
            <a:picLocks noChangeAspect="1"/>
          </p:cNvPicPr>
          <p:nvPr/>
        </p:nvPicPr>
        <p:blipFill>
          <a:blip r:embed="rId7"/>
          <a:stretch>
            <a:fillRect/>
          </a:stretch>
        </p:blipFill>
        <p:spPr>
          <a:xfrm>
            <a:off x="5997178" y="2536227"/>
            <a:ext cx="321469" cy="257175"/>
          </a:xfrm>
          <a:prstGeom prst="rect">
            <a:avLst/>
          </a:prstGeom>
        </p:spPr>
      </p:pic>
      <p:sp>
        <p:nvSpPr>
          <p:cNvPr id="18" name="Text 11"/>
          <p:cNvSpPr/>
          <p:nvPr/>
        </p:nvSpPr>
        <p:spPr>
          <a:xfrm>
            <a:off x="5848052" y="2966638"/>
            <a:ext cx="619720"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Approval</a:t>
            </a:r>
            <a:endParaRPr lang="en-US" sz="1000" dirty="0"/>
          </a:p>
        </p:txBody>
      </p:sp>
      <p:sp>
        <p:nvSpPr>
          <p:cNvPr id="19" name="Text 12"/>
          <p:cNvSpPr/>
          <p:nvPr/>
        </p:nvSpPr>
        <p:spPr>
          <a:xfrm>
            <a:off x="5790009" y="3193452"/>
            <a:ext cx="735806" cy="379912"/>
          </a:xfrm>
          <a:prstGeom prst="rect">
            <a:avLst/>
          </a:prstGeom>
          <a:noFill/>
          <a:ln/>
        </p:spPr>
        <p:txBody>
          <a:bodyPr wrap="square" lIns="0" tIns="0" rIns="0" bIns="0" rtlCol="0" anchor="t">
            <a:spAutoFit/>
          </a:bodyPr>
          <a:lstStyle/>
          <a:p>
            <a:pPr marL="0" indent="0" algn="ctr">
              <a:lnSpc>
                <a:spcPct val="112000"/>
              </a:lnSpc>
              <a:buNone/>
            </a:pPr>
            <a:r>
              <a:rPr lang="en-US" sz="750" dirty="0" err="1">
                <a:solidFill>
                  <a:srgbClr val="64748B"/>
                </a:solidFill>
                <a:latin typeface="Pretendard" pitchFamily="34" charset="0"/>
                <a:ea typeface="Pretendard" pitchFamily="34" charset="-122"/>
                <a:cs typeface="Pretendard" pitchFamily="34" charset="-120"/>
              </a:rPr>
              <a:t>관리자의</a:t>
            </a:r>
            <a:r>
              <a:rPr lang="en-US" sz="750" dirty="0">
                <a:solidFill>
                  <a:srgbClr val="64748B"/>
                </a:solidFill>
                <a:latin typeface="Pretendard" pitchFamily="34" charset="0"/>
                <a:ea typeface="Pretendard" pitchFamily="34" charset="-122"/>
                <a:cs typeface="Pretendard" pitchFamily="34" charset="-120"/>
              </a:rPr>
              <a:t> </a:t>
            </a:r>
          </a:p>
          <a:p>
            <a:pPr marL="0" indent="0" algn="ctr">
              <a:lnSpc>
                <a:spcPct val="112000"/>
              </a:lnSpc>
              <a:buNone/>
            </a:pPr>
            <a:r>
              <a:rPr lang="en-US" sz="750" dirty="0" err="1">
                <a:solidFill>
                  <a:srgbClr val="64748B"/>
                </a:solidFill>
                <a:latin typeface="Pretendard" pitchFamily="34" charset="0"/>
                <a:ea typeface="Pretendard" pitchFamily="34" charset="-122"/>
                <a:cs typeface="Pretendard" pitchFamily="34" charset="-120"/>
              </a:rPr>
              <a:t>최종</a:t>
            </a:r>
            <a:r>
              <a:rPr lang="en-US" sz="750" dirty="0">
                <a:solidFill>
                  <a:srgbClr val="64748B"/>
                </a:solidFill>
                <a:latin typeface="Pretendard" pitchFamily="34" charset="0"/>
                <a:ea typeface="Pretendard" pitchFamily="34" charset="-122"/>
                <a:cs typeface="Pretendard" pitchFamily="34" charset="-120"/>
              </a:rPr>
              <a:t> 검토
및 실행 승인</a:t>
            </a:r>
            <a:endParaRPr lang="en-US" sz="750" dirty="0"/>
          </a:p>
        </p:txBody>
      </p:sp>
      <p:sp>
        <p:nvSpPr>
          <p:cNvPr id="20" name="Shape 13"/>
          <p:cNvSpPr/>
          <p:nvPr/>
        </p:nvSpPr>
        <p:spPr>
          <a:xfrm>
            <a:off x="6972300" y="2287981"/>
            <a:ext cx="1600200" cy="1414072"/>
          </a:xfrm>
          <a:prstGeom prst="rect">
            <a:avLst/>
          </a:prstGeom>
          <a:solidFill>
            <a:srgbClr val="EFF6FF"/>
          </a:solidFill>
          <a:ln w="18288">
            <a:solidFill>
              <a:srgbClr val="2563EB"/>
            </a:solidFill>
            <a:prstDash val="solid"/>
          </a:ln>
        </p:spPr>
      </p:sp>
      <p:sp>
        <p:nvSpPr>
          <p:cNvPr id="21" name="Text 14"/>
          <p:cNvSpPr/>
          <p:nvPr/>
        </p:nvSpPr>
        <p:spPr>
          <a:xfrm>
            <a:off x="7470577" y="2966638"/>
            <a:ext cx="632222" cy="169664"/>
          </a:xfrm>
          <a:prstGeom prst="rect">
            <a:avLst/>
          </a:prstGeom>
          <a:noFill/>
          <a:ln/>
        </p:spPr>
        <p:txBody>
          <a:bodyPr wrap="none" lIns="0" tIns="0" rIns="0" bIns="0" rtlCol="0" anchor="t">
            <a:spAutoFit/>
          </a:bodyPr>
          <a:lstStyle/>
          <a:p>
            <a:pPr marL="0" indent="0" algn="ctr">
              <a:buNone/>
            </a:pPr>
            <a:r>
              <a:rPr lang="en-US" sz="1000" b="1" dirty="0">
                <a:solidFill>
                  <a:srgbClr val="0F172A"/>
                </a:solidFill>
                <a:latin typeface="Pretendard" pitchFamily="34" charset="0"/>
                <a:ea typeface="Pretendard" pitchFamily="34" charset="-122"/>
                <a:cs typeface="Pretendard" pitchFamily="34" charset="-120"/>
              </a:rPr>
              <a:t>Evidence</a:t>
            </a:r>
            <a:endParaRPr lang="en-US" sz="1000" dirty="0"/>
          </a:p>
        </p:txBody>
      </p:sp>
      <p:sp>
        <p:nvSpPr>
          <p:cNvPr id="22" name="Text 15"/>
          <p:cNvSpPr/>
          <p:nvPr/>
        </p:nvSpPr>
        <p:spPr>
          <a:xfrm>
            <a:off x="7449144" y="3193452"/>
            <a:ext cx="825181" cy="250646"/>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64748B"/>
                </a:solidFill>
                <a:latin typeface="Pretendard" pitchFamily="34" charset="0"/>
                <a:ea typeface="Pretendard" pitchFamily="34" charset="-122"/>
                <a:cs typeface="Pretendard" pitchFamily="34" charset="-120"/>
              </a:rPr>
              <a:t>모든 판단 근거 및
실행 이력 저장</a:t>
            </a:r>
            <a:endParaRPr lang="en-US" sz="750" dirty="0"/>
          </a:p>
        </p:txBody>
      </p:sp>
      <p:pic>
        <p:nvPicPr>
          <p:cNvPr id="23" name="Image 5" descr="preencoded.png"/>
          <p:cNvPicPr>
            <a:picLocks noChangeAspect="1"/>
          </p:cNvPicPr>
          <p:nvPr/>
        </p:nvPicPr>
        <p:blipFill>
          <a:blip r:embed="rId8"/>
          <a:stretch>
            <a:fillRect/>
          </a:stretch>
        </p:blipFill>
        <p:spPr>
          <a:xfrm>
            <a:off x="575424" y="3883091"/>
            <a:ext cx="128588" cy="128588"/>
          </a:xfrm>
          <a:prstGeom prst="rect">
            <a:avLst/>
          </a:prstGeom>
        </p:spPr>
      </p:pic>
      <p:sp>
        <p:nvSpPr>
          <p:cNvPr id="24" name="Text 16"/>
          <p:cNvSpPr/>
          <p:nvPr/>
        </p:nvSpPr>
        <p:spPr>
          <a:xfrm>
            <a:off x="789736" y="3870590"/>
            <a:ext cx="5818739" cy="146194"/>
          </a:xfrm>
          <a:prstGeom prst="rect">
            <a:avLst/>
          </a:prstGeom>
          <a:noFill/>
          <a:ln/>
        </p:spPr>
        <p:txBody>
          <a:bodyPr wrap="square" lIns="0" tIns="0" rIns="0" bIns="0" rtlCol="0" anchor="t">
            <a:spAutoFit/>
          </a:bodyPr>
          <a:lstStyle/>
          <a:p>
            <a:pPr marL="0" indent="0" algn="l">
              <a:buNone/>
            </a:pPr>
            <a:r>
              <a:rPr lang="en-US" sz="950" dirty="0">
                <a:solidFill>
                  <a:srgbClr val="475569"/>
                </a:solidFill>
                <a:latin typeface="Pretendard" pitchFamily="34" charset="0"/>
                <a:ea typeface="Pretendard" pitchFamily="34" charset="-122"/>
                <a:cs typeface="Pretendard" pitchFamily="34" charset="-120"/>
              </a:rPr>
              <a:t>외고반장은 단순 자동화를 넘어, </a:t>
            </a:r>
            <a:r>
              <a:rPr lang="en-US" sz="900" b="1" dirty="0">
                <a:solidFill>
                  <a:srgbClr val="475569"/>
                </a:solidFill>
                <a:latin typeface="Pretendard" pitchFamily="34" charset="0"/>
                <a:ea typeface="Pretendard" pitchFamily="34" charset="-122"/>
                <a:cs typeface="Pretendard" pitchFamily="34" charset="-120"/>
              </a:rPr>
              <a:t>인간의 통제권</a:t>
            </a:r>
            <a:r>
              <a:rPr lang="en-US" sz="950" dirty="0">
                <a:solidFill>
                  <a:srgbClr val="475569"/>
                </a:solidFill>
                <a:latin typeface="Pretendard" pitchFamily="34" charset="0"/>
                <a:ea typeface="Pretendard" pitchFamily="34" charset="-122"/>
                <a:cs typeface="Pretendard" pitchFamily="34" charset="-120"/>
              </a:rPr>
              <a:t>과 </a:t>
            </a:r>
            <a:r>
              <a:rPr lang="en-US" sz="900" b="1" dirty="0">
                <a:solidFill>
                  <a:srgbClr val="475569"/>
                </a:solidFill>
                <a:latin typeface="Pretendard" pitchFamily="34" charset="0"/>
                <a:ea typeface="Pretendard" pitchFamily="34" charset="-122"/>
                <a:cs typeface="Pretendard" pitchFamily="34" charset="-120"/>
              </a:rPr>
              <a:t>판단의 투명성</a:t>
            </a:r>
            <a:r>
              <a:rPr lang="en-US" sz="950" dirty="0">
                <a:solidFill>
                  <a:srgbClr val="475569"/>
                </a:solidFill>
                <a:latin typeface="Pretendard" pitchFamily="34" charset="0"/>
                <a:ea typeface="Pretendard" pitchFamily="34" charset="-122"/>
                <a:cs typeface="Pretendard" pitchFamily="34" charset="-120"/>
              </a:rPr>
              <a:t>을 보장하는 구조로 설계되었습니다.</a:t>
            </a:r>
            <a:endParaRPr lang="en-US" sz="950" dirty="0"/>
          </a:p>
        </p:txBody>
      </p:sp>
      <p:sp>
        <p:nvSpPr>
          <p:cNvPr id="25" name="Text 3">
            <a:extLst>
              <a:ext uri="{FF2B5EF4-FFF2-40B4-BE49-F238E27FC236}">
                <a16:creationId xmlns:a16="http://schemas.microsoft.com/office/drawing/2014/main" id="{3BD4757A-E465-97A9-8CC9-F77AB1F4AAF7}"/>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 </a:t>
            </a:r>
            <a:r>
              <a:rPr lang="en-US" altLang="ko-KR" sz="1200" dirty="0">
                <a:solidFill>
                  <a:schemeClr val="tx1">
                    <a:lumMod val="65000"/>
                    <a:lumOff val="35000"/>
                  </a:schemeClr>
                </a:solidFill>
                <a:latin typeface="Pretendard"/>
              </a:rPr>
              <a:t>–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509885"/>
            <a:ext cx="2476480" cy="377026"/>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3. 핵심 에이전트</a:t>
            </a:r>
            <a:endParaRPr lang="en-US" sz="2450" dirty="0"/>
          </a:p>
        </p:txBody>
      </p:sp>
      <p:sp>
        <p:nvSpPr>
          <p:cNvPr id="4" name="Shape 1"/>
          <p:cNvSpPr/>
          <p:nvPr/>
        </p:nvSpPr>
        <p:spPr>
          <a:xfrm>
            <a:off x="571500" y="1285875"/>
            <a:ext cx="2476481" cy="2487811"/>
          </a:xfrm>
          <a:prstGeom prst="rect">
            <a:avLst/>
          </a:prstGeom>
          <a:solidFill>
            <a:srgbClr val="F1F5F9"/>
          </a:solidFill>
          <a:ln/>
        </p:spPr>
      </p:sp>
      <p:sp>
        <p:nvSpPr>
          <p:cNvPr id="5" name="Shape 2"/>
          <p:cNvSpPr/>
          <p:nvPr/>
        </p:nvSpPr>
        <p:spPr>
          <a:xfrm>
            <a:off x="571500" y="1285875"/>
            <a:ext cx="2476481" cy="42863"/>
          </a:xfrm>
          <a:prstGeom prst="rect">
            <a:avLst/>
          </a:prstGeom>
          <a:solidFill>
            <a:srgbClr val="2563EB"/>
          </a:solidFill>
          <a:ln/>
        </p:spPr>
      </p:sp>
      <p:sp>
        <p:nvSpPr>
          <p:cNvPr id="6" name="Shape 3"/>
          <p:cNvSpPr/>
          <p:nvPr/>
        </p:nvSpPr>
        <p:spPr>
          <a:xfrm>
            <a:off x="1523991" y="1571625"/>
            <a:ext cx="571500" cy="571500"/>
          </a:xfrm>
          <a:prstGeom prst="ellipse">
            <a:avLst/>
          </a:prstGeom>
          <a:solidFill>
            <a:srgbClr val="0F172A"/>
          </a:solidFill>
          <a:ln/>
        </p:spPr>
      </p:sp>
      <p:pic>
        <p:nvPicPr>
          <p:cNvPr id="7" name="Image 1" descr="preencoded.png"/>
          <p:cNvPicPr>
            <a:picLocks noChangeAspect="1"/>
          </p:cNvPicPr>
          <p:nvPr/>
        </p:nvPicPr>
        <p:blipFill>
          <a:blip r:embed="rId4"/>
          <a:stretch>
            <a:fillRect/>
          </a:stretch>
        </p:blipFill>
        <p:spPr>
          <a:xfrm>
            <a:off x="1666866" y="1743075"/>
            <a:ext cx="285750" cy="228600"/>
          </a:xfrm>
          <a:prstGeom prst="rect">
            <a:avLst/>
          </a:prstGeom>
        </p:spPr>
      </p:pic>
      <p:sp>
        <p:nvSpPr>
          <p:cNvPr id="8" name="Text 4"/>
          <p:cNvSpPr/>
          <p:nvPr/>
        </p:nvSpPr>
        <p:spPr>
          <a:xfrm>
            <a:off x="1125726" y="2357437"/>
            <a:ext cx="1552869" cy="200055"/>
          </a:xfrm>
          <a:prstGeom prst="rect">
            <a:avLst/>
          </a:prstGeom>
          <a:noFill/>
          <a:ln/>
        </p:spPr>
        <p:txBody>
          <a:bodyPr wrap="square" lIns="0" tIns="0" rIns="0" bIns="0" rtlCol="0" anchor="t">
            <a:spAutoFit/>
          </a:bodyPr>
          <a:lstStyle/>
          <a:p>
            <a:pPr marL="0" indent="0" algn="ctr">
              <a:buNone/>
            </a:pPr>
            <a:r>
              <a:rPr lang="en-US" sz="1300" b="1" dirty="0">
                <a:solidFill>
                  <a:srgbClr val="0F172A"/>
                </a:solidFill>
                <a:latin typeface="Pretendard Variable" pitchFamily="34" charset="0"/>
                <a:ea typeface="Pretendard Variable" pitchFamily="34" charset="-122"/>
                <a:cs typeface="Pretendard Variable" pitchFamily="34" charset="-120"/>
              </a:rPr>
              <a:t>인력 확보 에이전트</a:t>
            </a:r>
            <a:endParaRPr lang="en-US" sz="1300" dirty="0"/>
          </a:p>
        </p:txBody>
      </p:sp>
      <p:pic>
        <p:nvPicPr>
          <p:cNvPr id="9" name="Image 2" descr="preencoded.png"/>
          <p:cNvPicPr>
            <a:picLocks noChangeAspect="1"/>
          </p:cNvPicPr>
          <p:nvPr/>
        </p:nvPicPr>
        <p:blipFill>
          <a:blip r:embed="rId5"/>
          <a:stretch>
            <a:fillRect/>
          </a:stretch>
        </p:blipFill>
        <p:spPr>
          <a:xfrm>
            <a:off x="1264137" y="2744093"/>
            <a:ext cx="100013" cy="100013"/>
          </a:xfrm>
          <a:prstGeom prst="rect">
            <a:avLst/>
          </a:prstGeom>
        </p:spPr>
      </p:pic>
      <p:sp>
        <p:nvSpPr>
          <p:cNvPr id="10" name="Text 5"/>
          <p:cNvSpPr/>
          <p:nvPr/>
        </p:nvSpPr>
        <p:spPr>
          <a:xfrm>
            <a:off x="1421299" y="2721769"/>
            <a:ext cx="934045"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고용 쿼터 자동 판별</a:t>
            </a:r>
            <a:endParaRPr lang="en-US" sz="900" dirty="0"/>
          </a:p>
        </p:txBody>
      </p:sp>
      <p:pic>
        <p:nvPicPr>
          <p:cNvPr id="11" name="Image 3" descr="preencoded.png"/>
          <p:cNvPicPr>
            <a:picLocks noChangeAspect="1"/>
          </p:cNvPicPr>
          <p:nvPr/>
        </p:nvPicPr>
        <p:blipFill>
          <a:blip r:embed="rId6"/>
          <a:stretch>
            <a:fillRect/>
          </a:stretch>
        </p:blipFill>
        <p:spPr>
          <a:xfrm>
            <a:off x="1332002" y="2974479"/>
            <a:ext cx="100013" cy="100013"/>
          </a:xfrm>
          <a:prstGeom prst="rect">
            <a:avLst/>
          </a:prstGeom>
        </p:spPr>
      </p:pic>
      <p:sp>
        <p:nvSpPr>
          <p:cNvPr id="12" name="Text 6"/>
          <p:cNvSpPr/>
          <p:nvPr/>
        </p:nvSpPr>
        <p:spPr>
          <a:xfrm>
            <a:off x="1489165" y="2952155"/>
            <a:ext cx="798314"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인력 요청서 생성</a:t>
            </a:r>
            <a:endParaRPr lang="en-US" sz="900" dirty="0"/>
          </a:p>
        </p:txBody>
      </p:sp>
      <p:pic>
        <p:nvPicPr>
          <p:cNvPr id="13" name="Image 4" descr="preencoded.png"/>
          <p:cNvPicPr>
            <a:picLocks noChangeAspect="1"/>
          </p:cNvPicPr>
          <p:nvPr/>
        </p:nvPicPr>
        <p:blipFill>
          <a:blip r:embed="rId7"/>
          <a:stretch>
            <a:fillRect/>
          </a:stretch>
        </p:blipFill>
        <p:spPr>
          <a:xfrm>
            <a:off x="1332002" y="3204865"/>
            <a:ext cx="100013" cy="100013"/>
          </a:xfrm>
          <a:prstGeom prst="rect">
            <a:avLst/>
          </a:prstGeom>
        </p:spPr>
      </p:pic>
      <p:sp>
        <p:nvSpPr>
          <p:cNvPr id="14" name="Text 7"/>
          <p:cNvSpPr/>
          <p:nvPr/>
        </p:nvSpPr>
        <p:spPr>
          <a:xfrm>
            <a:off x="1489165" y="3182541"/>
            <a:ext cx="798314"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후보자 요건 매칭</a:t>
            </a:r>
            <a:endParaRPr lang="en-US" sz="900" dirty="0"/>
          </a:p>
        </p:txBody>
      </p:sp>
      <p:sp>
        <p:nvSpPr>
          <p:cNvPr id="15" name="Shape 8"/>
          <p:cNvSpPr/>
          <p:nvPr/>
        </p:nvSpPr>
        <p:spPr>
          <a:xfrm>
            <a:off x="3333731" y="1285875"/>
            <a:ext cx="2476509" cy="2487811"/>
          </a:xfrm>
          <a:prstGeom prst="rect">
            <a:avLst/>
          </a:prstGeom>
          <a:solidFill>
            <a:srgbClr val="F1F5F9"/>
          </a:solidFill>
          <a:ln/>
        </p:spPr>
      </p:sp>
      <p:sp>
        <p:nvSpPr>
          <p:cNvPr id="16" name="Shape 9"/>
          <p:cNvSpPr/>
          <p:nvPr/>
        </p:nvSpPr>
        <p:spPr>
          <a:xfrm>
            <a:off x="3333731" y="1285875"/>
            <a:ext cx="2476509" cy="42863"/>
          </a:xfrm>
          <a:prstGeom prst="rect">
            <a:avLst/>
          </a:prstGeom>
          <a:solidFill>
            <a:srgbClr val="2563EB"/>
          </a:solidFill>
          <a:ln/>
        </p:spPr>
      </p:sp>
      <p:sp>
        <p:nvSpPr>
          <p:cNvPr id="17" name="Shape 10"/>
          <p:cNvSpPr/>
          <p:nvPr/>
        </p:nvSpPr>
        <p:spPr>
          <a:xfrm>
            <a:off x="4286222" y="1571625"/>
            <a:ext cx="571500" cy="571500"/>
          </a:xfrm>
          <a:prstGeom prst="ellipse">
            <a:avLst/>
          </a:prstGeom>
          <a:solidFill>
            <a:srgbClr val="0F172A"/>
          </a:solidFill>
          <a:ln/>
        </p:spPr>
      </p:sp>
      <p:pic>
        <p:nvPicPr>
          <p:cNvPr id="18" name="Image 5" descr="preencoded.png"/>
          <p:cNvPicPr>
            <a:picLocks noChangeAspect="1"/>
          </p:cNvPicPr>
          <p:nvPr/>
        </p:nvPicPr>
        <p:blipFill>
          <a:blip r:embed="rId8"/>
          <a:stretch>
            <a:fillRect/>
          </a:stretch>
        </p:blipFill>
        <p:spPr>
          <a:xfrm>
            <a:off x="4429097" y="1743075"/>
            <a:ext cx="285750" cy="228600"/>
          </a:xfrm>
          <a:prstGeom prst="rect">
            <a:avLst/>
          </a:prstGeom>
        </p:spPr>
      </p:pic>
      <p:sp>
        <p:nvSpPr>
          <p:cNvPr id="19" name="Text 11"/>
          <p:cNvSpPr/>
          <p:nvPr/>
        </p:nvSpPr>
        <p:spPr>
          <a:xfrm>
            <a:off x="3807591" y="2357438"/>
            <a:ext cx="1753352" cy="200055"/>
          </a:xfrm>
          <a:prstGeom prst="rect">
            <a:avLst/>
          </a:prstGeom>
          <a:noFill/>
          <a:ln/>
        </p:spPr>
        <p:txBody>
          <a:bodyPr wrap="square" lIns="0" tIns="0" rIns="0" bIns="0" rtlCol="0" anchor="t">
            <a:spAutoFit/>
          </a:bodyPr>
          <a:lstStyle/>
          <a:p>
            <a:pPr marL="0" indent="0" algn="ctr">
              <a:buNone/>
            </a:pPr>
            <a:r>
              <a:rPr lang="en-US" sz="1300" b="1" dirty="0">
                <a:solidFill>
                  <a:srgbClr val="0F172A"/>
                </a:solidFill>
                <a:latin typeface="Pretendard Variable" pitchFamily="34" charset="0"/>
                <a:ea typeface="Pretendard Variable" pitchFamily="34" charset="-122"/>
                <a:cs typeface="Pretendard Variable" pitchFamily="34" charset="-120"/>
              </a:rPr>
              <a:t>다국어 컨택 에이전트</a:t>
            </a:r>
            <a:endParaRPr lang="en-US" sz="1300" dirty="0"/>
          </a:p>
        </p:txBody>
      </p:sp>
      <p:pic>
        <p:nvPicPr>
          <p:cNvPr id="20" name="Image 6" descr="preencoded.png"/>
          <p:cNvPicPr>
            <a:picLocks noChangeAspect="1"/>
          </p:cNvPicPr>
          <p:nvPr/>
        </p:nvPicPr>
        <p:blipFill>
          <a:blip r:embed="rId9"/>
          <a:stretch>
            <a:fillRect/>
          </a:stretch>
        </p:blipFill>
        <p:spPr>
          <a:xfrm>
            <a:off x="3977255" y="2744093"/>
            <a:ext cx="100013" cy="100013"/>
          </a:xfrm>
          <a:prstGeom prst="rect">
            <a:avLst/>
          </a:prstGeom>
        </p:spPr>
      </p:pic>
      <p:sp>
        <p:nvSpPr>
          <p:cNvPr id="21" name="Text 12"/>
          <p:cNvSpPr/>
          <p:nvPr/>
        </p:nvSpPr>
        <p:spPr>
          <a:xfrm>
            <a:off x="4134417" y="2721769"/>
            <a:ext cx="1032272"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16개국어 메시지 생성</a:t>
            </a:r>
            <a:endParaRPr lang="en-US" sz="900" dirty="0"/>
          </a:p>
        </p:txBody>
      </p:sp>
      <p:pic>
        <p:nvPicPr>
          <p:cNvPr id="22" name="Image 7" descr="preencoded.png"/>
          <p:cNvPicPr>
            <a:picLocks noChangeAspect="1"/>
          </p:cNvPicPr>
          <p:nvPr/>
        </p:nvPicPr>
        <p:blipFill>
          <a:blip r:embed="rId10"/>
          <a:stretch>
            <a:fillRect/>
          </a:stretch>
        </p:blipFill>
        <p:spPr>
          <a:xfrm>
            <a:off x="3920998" y="2974479"/>
            <a:ext cx="100013" cy="100013"/>
          </a:xfrm>
          <a:prstGeom prst="rect">
            <a:avLst/>
          </a:prstGeom>
        </p:spPr>
      </p:pic>
      <p:sp>
        <p:nvSpPr>
          <p:cNvPr id="23" name="Text 13"/>
          <p:cNvSpPr/>
          <p:nvPr/>
        </p:nvSpPr>
        <p:spPr>
          <a:xfrm>
            <a:off x="4078160" y="2952155"/>
            <a:ext cx="1144786"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근로자 응답 실시간 해석</a:t>
            </a:r>
            <a:endParaRPr lang="en-US" sz="900" dirty="0"/>
          </a:p>
        </p:txBody>
      </p:sp>
      <p:pic>
        <p:nvPicPr>
          <p:cNvPr id="24" name="Image 8" descr="preencoded.png"/>
          <p:cNvPicPr>
            <a:picLocks noChangeAspect="1"/>
          </p:cNvPicPr>
          <p:nvPr/>
        </p:nvPicPr>
        <p:blipFill>
          <a:blip r:embed="rId11"/>
          <a:stretch>
            <a:fillRect/>
          </a:stretch>
        </p:blipFill>
        <p:spPr>
          <a:xfrm>
            <a:off x="4041549" y="3204865"/>
            <a:ext cx="100013" cy="100013"/>
          </a:xfrm>
          <a:prstGeom prst="rect">
            <a:avLst/>
          </a:prstGeom>
        </p:spPr>
      </p:pic>
      <p:sp>
        <p:nvSpPr>
          <p:cNvPr id="25" name="Text 14"/>
          <p:cNvSpPr/>
          <p:nvPr/>
        </p:nvSpPr>
        <p:spPr>
          <a:xfrm>
            <a:off x="4198711" y="3182541"/>
            <a:ext cx="903684"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온보딩 가이드 안내</a:t>
            </a:r>
            <a:endParaRPr lang="en-US" sz="900" dirty="0"/>
          </a:p>
        </p:txBody>
      </p:sp>
      <p:sp>
        <p:nvSpPr>
          <p:cNvPr id="26" name="Shape 15"/>
          <p:cNvSpPr/>
          <p:nvPr/>
        </p:nvSpPr>
        <p:spPr>
          <a:xfrm>
            <a:off x="6095991" y="1285875"/>
            <a:ext cx="2476481" cy="2487811"/>
          </a:xfrm>
          <a:prstGeom prst="rect">
            <a:avLst/>
          </a:prstGeom>
          <a:solidFill>
            <a:srgbClr val="F1F5F9"/>
          </a:solidFill>
          <a:ln/>
        </p:spPr>
      </p:sp>
      <p:sp>
        <p:nvSpPr>
          <p:cNvPr id="27" name="Shape 16"/>
          <p:cNvSpPr/>
          <p:nvPr/>
        </p:nvSpPr>
        <p:spPr>
          <a:xfrm>
            <a:off x="6095991" y="1285875"/>
            <a:ext cx="2476481" cy="42863"/>
          </a:xfrm>
          <a:prstGeom prst="rect">
            <a:avLst/>
          </a:prstGeom>
          <a:solidFill>
            <a:srgbClr val="2563EB"/>
          </a:solidFill>
          <a:ln/>
        </p:spPr>
      </p:sp>
      <p:sp>
        <p:nvSpPr>
          <p:cNvPr id="28" name="Shape 17"/>
          <p:cNvSpPr/>
          <p:nvPr/>
        </p:nvSpPr>
        <p:spPr>
          <a:xfrm>
            <a:off x="7048481" y="1571625"/>
            <a:ext cx="571500" cy="571500"/>
          </a:xfrm>
          <a:prstGeom prst="ellipse">
            <a:avLst/>
          </a:prstGeom>
          <a:solidFill>
            <a:srgbClr val="0F172A"/>
          </a:solidFill>
          <a:ln/>
        </p:spPr>
      </p:sp>
      <p:sp>
        <p:nvSpPr>
          <p:cNvPr id="29" name="Text 18"/>
          <p:cNvSpPr/>
          <p:nvPr/>
        </p:nvSpPr>
        <p:spPr>
          <a:xfrm>
            <a:off x="6462694" y="2357438"/>
            <a:ext cx="1920963" cy="200055"/>
          </a:xfrm>
          <a:prstGeom prst="rect">
            <a:avLst/>
          </a:prstGeom>
          <a:noFill/>
          <a:ln/>
        </p:spPr>
        <p:txBody>
          <a:bodyPr wrap="square" lIns="0" tIns="0" rIns="0" bIns="0" rtlCol="0" anchor="t">
            <a:spAutoFit/>
          </a:bodyPr>
          <a:lstStyle/>
          <a:p>
            <a:pPr marL="0" indent="0" algn="ctr">
              <a:buNone/>
            </a:pPr>
            <a:r>
              <a:rPr lang="en-US" sz="1300" b="1" dirty="0">
                <a:solidFill>
                  <a:srgbClr val="0F172A"/>
                </a:solidFill>
                <a:latin typeface="Pretendard Variable" pitchFamily="34" charset="0"/>
                <a:ea typeface="Pretendard Variable" pitchFamily="34" charset="-122"/>
                <a:cs typeface="Pretendard Variable" pitchFamily="34" charset="-120"/>
              </a:rPr>
              <a:t>비자·서류 운영 에이전트</a:t>
            </a:r>
            <a:endParaRPr lang="en-US" sz="1300" dirty="0"/>
          </a:p>
        </p:txBody>
      </p:sp>
      <p:pic>
        <p:nvPicPr>
          <p:cNvPr id="30" name="Image 9" descr="preencoded.png"/>
          <p:cNvPicPr>
            <a:picLocks noChangeAspect="1"/>
          </p:cNvPicPr>
          <p:nvPr/>
        </p:nvPicPr>
        <p:blipFill>
          <a:blip r:embed="rId9"/>
          <a:stretch>
            <a:fillRect/>
          </a:stretch>
        </p:blipFill>
        <p:spPr>
          <a:xfrm>
            <a:off x="6727013" y="2744093"/>
            <a:ext cx="100013" cy="100013"/>
          </a:xfrm>
          <a:prstGeom prst="rect">
            <a:avLst/>
          </a:prstGeom>
        </p:spPr>
      </p:pic>
      <p:sp>
        <p:nvSpPr>
          <p:cNvPr id="31" name="Text 19"/>
          <p:cNvSpPr/>
          <p:nvPr/>
        </p:nvSpPr>
        <p:spPr>
          <a:xfrm>
            <a:off x="6884175" y="2721769"/>
            <a:ext cx="1057275"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체류 만료 D-day 관리</a:t>
            </a:r>
            <a:endParaRPr lang="en-US" sz="900" dirty="0"/>
          </a:p>
        </p:txBody>
      </p:sp>
      <p:pic>
        <p:nvPicPr>
          <p:cNvPr id="32" name="Image 10" descr="preencoded.png"/>
          <p:cNvPicPr>
            <a:picLocks noChangeAspect="1"/>
          </p:cNvPicPr>
          <p:nvPr/>
        </p:nvPicPr>
        <p:blipFill>
          <a:blip r:embed="rId12"/>
          <a:stretch>
            <a:fillRect/>
          </a:stretch>
        </p:blipFill>
        <p:spPr>
          <a:xfrm>
            <a:off x="6788627" y="2974479"/>
            <a:ext cx="100013" cy="100013"/>
          </a:xfrm>
          <a:prstGeom prst="rect">
            <a:avLst/>
          </a:prstGeom>
        </p:spPr>
      </p:pic>
      <p:sp>
        <p:nvSpPr>
          <p:cNvPr id="33" name="Text 20"/>
          <p:cNvSpPr/>
          <p:nvPr/>
        </p:nvSpPr>
        <p:spPr>
          <a:xfrm>
            <a:off x="6945790" y="2952155"/>
            <a:ext cx="934045"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누락 서류 자동 탐지</a:t>
            </a:r>
            <a:endParaRPr lang="en-US" sz="900" dirty="0"/>
          </a:p>
        </p:txBody>
      </p:sp>
      <p:pic>
        <p:nvPicPr>
          <p:cNvPr id="34" name="Image 11" descr="preencoded.png"/>
          <p:cNvPicPr>
            <a:picLocks noChangeAspect="1"/>
          </p:cNvPicPr>
          <p:nvPr/>
        </p:nvPicPr>
        <p:blipFill>
          <a:blip r:embed="rId7"/>
          <a:stretch>
            <a:fillRect/>
          </a:stretch>
        </p:blipFill>
        <p:spPr>
          <a:xfrm>
            <a:off x="6803808" y="3204865"/>
            <a:ext cx="100013" cy="100013"/>
          </a:xfrm>
          <a:prstGeom prst="rect">
            <a:avLst/>
          </a:prstGeom>
        </p:spPr>
      </p:pic>
      <p:sp>
        <p:nvSpPr>
          <p:cNvPr id="35" name="Text 21"/>
          <p:cNvSpPr/>
          <p:nvPr/>
        </p:nvSpPr>
        <p:spPr>
          <a:xfrm>
            <a:off x="6960970" y="3182541"/>
            <a:ext cx="903684" cy="144661"/>
          </a:xfrm>
          <a:prstGeom prst="rect">
            <a:avLst/>
          </a:prstGeom>
          <a:noFill/>
          <a:ln/>
        </p:spPr>
        <p:txBody>
          <a:bodyPr wrap="none" lIns="0" tIns="0" rIns="0" bIns="0" rtlCol="0" anchor="t">
            <a:spAutoFit/>
          </a:bodyPr>
          <a:lstStyle/>
          <a:p>
            <a:pPr marL="0" indent="0" algn="ctr">
              <a:buNone/>
            </a:pPr>
            <a:r>
              <a:rPr lang="en-US" sz="900" dirty="0">
                <a:solidFill>
                  <a:srgbClr val="475569"/>
                </a:solidFill>
                <a:latin typeface="Pretendard Variable" pitchFamily="34" charset="0"/>
                <a:ea typeface="Pretendard Variable" pitchFamily="34" charset="-122"/>
                <a:cs typeface="Pretendard Variable" pitchFamily="34" charset="-120"/>
              </a:rPr>
              <a:t>행정사 전달 패키지</a:t>
            </a:r>
            <a:endParaRPr lang="en-US" sz="900" dirty="0"/>
          </a:p>
        </p:txBody>
      </p:sp>
      <p:sp>
        <p:nvSpPr>
          <p:cNvPr id="36" name="Shape 22"/>
          <p:cNvSpPr/>
          <p:nvPr/>
        </p:nvSpPr>
        <p:spPr>
          <a:xfrm>
            <a:off x="571500" y="4059436"/>
            <a:ext cx="8001000" cy="512564"/>
          </a:xfrm>
          <a:prstGeom prst="rect">
            <a:avLst/>
          </a:prstGeom>
          <a:solidFill>
            <a:srgbClr val="0F172A"/>
          </a:solidFill>
          <a:ln/>
        </p:spPr>
      </p:sp>
      <p:sp>
        <p:nvSpPr>
          <p:cNvPr id="37" name="Text 23"/>
          <p:cNvSpPr/>
          <p:nvPr/>
        </p:nvSpPr>
        <p:spPr>
          <a:xfrm>
            <a:off x="571500" y="4059436"/>
            <a:ext cx="8001000" cy="512564"/>
          </a:xfrm>
          <a:prstGeom prst="rect">
            <a:avLst/>
          </a:prstGeom>
          <a:noFill/>
          <a:ln/>
        </p:spPr>
        <p:txBody>
          <a:bodyPr wrap="square" lIns="204089" tIns="204089" rIns="204089" bIns="204089" rtlCol="0" anchor="t">
            <a:spAutoFit/>
          </a:bodyPr>
          <a:lstStyle/>
          <a:p>
            <a:pPr marL="0" indent="0" algn="ctr">
              <a:buNone/>
            </a:pPr>
            <a:r>
              <a:rPr lang="en-US" sz="1000" b="1" dirty="0">
                <a:solidFill>
                  <a:srgbClr val="FFFFFF"/>
                </a:solidFill>
                <a:latin typeface="Pretendard Variable" pitchFamily="34" charset="0"/>
                <a:ea typeface="Pretendard Variable" pitchFamily="34" charset="-122"/>
                <a:cs typeface="Pretendard Variable" pitchFamily="34" charset="-120"/>
              </a:rPr>
              <a:t>"각 분야의 전문 지식을 갖춘 에이전트들이 유기적으로 협력하여 업무를 완수합니다."</a:t>
            </a:r>
            <a:endParaRPr lang="en-US" sz="1000" dirty="0"/>
          </a:p>
        </p:txBody>
      </p:sp>
      <p:pic>
        <p:nvPicPr>
          <p:cNvPr id="38" name="Image 2" descr="preencoded.png">
            <a:extLst>
              <a:ext uri="{FF2B5EF4-FFF2-40B4-BE49-F238E27FC236}">
                <a16:creationId xmlns:a16="http://schemas.microsoft.com/office/drawing/2014/main" id="{F44F5725-664F-7844-3946-5EF85D0EB210}"/>
              </a:ext>
            </a:extLst>
          </p:cNvPr>
          <p:cNvPicPr>
            <a:picLocks noChangeAspect="1"/>
          </p:cNvPicPr>
          <p:nvPr/>
        </p:nvPicPr>
        <p:blipFill>
          <a:blip r:embed="rId13"/>
          <a:stretch>
            <a:fillRect/>
          </a:stretch>
        </p:blipFill>
        <p:spPr>
          <a:xfrm>
            <a:off x="7239082" y="1735932"/>
            <a:ext cx="257175" cy="228600"/>
          </a:xfrm>
          <a:prstGeom prst="rect">
            <a:avLst/>
          </a:prstGeom>
        </p:spPr>
      </p:pic>
      <p:sp>
        <p:nvSpPr>
          <p:cNvPr id="39" name="Text 3">
            <a:extLst>
              <a:ext uri="{FF2B5EF4-FFF2-40B4-BE49-F238E27FC236}">
                <a16:creationId xmlns:a16="http://schemas.microsoft.com/office/drawing/2014/main" id="{7500B219-7CAA-B36F-3425-58A8D83C1845}"/>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 </a:t>
            </a:r>
            <a:r>
              <a:rPr lang="en-US" altLang="ko-KR" sz="1200" dirty="0">
                <a:solidFill>
                  <a:schemeClr val="tx1">
                    <a:lumMod val="65000"/>
                    <a:lumOff val="35000"/>
                  </a:schemeClr>
                </a:solidFill>
                <a:latin typeface="Pretendard"/>
              </a:rPr>
              <a:t>–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7" y="509885"/>
            <a:ext cx="6503297" cy="377026"/>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3. 인력 확보 에이전트: 쿼터 판별 및 문서 준비</a:t>
            </a:r>
            <a:endParaRPr lang="en-US" sz="2450" dirty="0"/>
          </a:p>
        </p:txBody>
      </p:sp>
      <p:sp>
        <p:nvSpPr>
          <p:cNvPr id="4" name="Shape 1"/>
          <p:cNvSpPr/>
          <p:nvPr/>
        </p:nvSpPr>
        <p:spPr>
          <a:xfrm>
            <a:off x="571500" y="1285875"/>
            <a:ext cx="1135856" cy="205383"/>
          </a:xfrm>
          <a:prstGeom prst="rect">
            <a:avLst/>
          </a:prstGeom>
          <a:solidFill>
            <a:srgbClr val="DBEAFE"/>
          </a:solidFill>
          <a:ln/>
        </p:spPr>
      </p:sp>
      <p:sp>
        <p:nvSpPr>
          <p:cNvPr id="5" name="Text 2"/>
          <p:cNvSpPr/>
          <p:nvPr/>
        </p:nvSpPr>
        <p:spPr>
          <a:xfrm>
            <a:off x="571500" y="1285875"/>
            <a:ext cx="1135856" cy="205383"/>
          </a:xfrm>
          <a:prstGeom prst="rect">
            <a:avLst/>
          </a:prstGeom>
          <a:noFill/>
          <a:ln/>
        </p:spPr>
        <p:txBody>
          <a:bodyPr wrap="none" lIns="102108" tIns="51054" rIns="102108" bIns="51054" rtlCol="0" anchor="t">
            <a:spAutoFit/>
          </a:bodyPr>
          <a:lstStyle/>
          <a:p>
            <a:pPr marL="0" indent="0" algn="l">
              <a:buNone/>
            </a:pPr>
            <a:r>
              <a:rPr lang="en-US" sz="700" b="1" dirty="0">
                <a:solidFill>
                  <a:srgbClr val="2563EB"/>
                </a:solidFill>
                <a:latin typeface="Pretendard Variable" pitchFamily="34" charset="0"/>
                <a:ea typeface="Pretendard Variable" pitchFamily="34" charset="-122"/>
                <a:cs typeface="Pretendard Variable" pitchFamily="34" charset="-120"/>
              </a:rPr>
              <a:t>CORE CAPABILITIES</a:t>
            </a:r>
            <a:endParaRPr lang="en-US" sz="700" dirty="0"/>
          </a:p>
        </p:txBody>
      </p:sp>
      <p:sp>
        <p:nvSpPr>
          <p:cNvPr id="6" name="Text 3"/>
          <p:cNvSpPr/>
          <p:nvPr/>
        </p:nvSpPr>
        <p:spPr>
          <a:xfrm>
            <a:off x="571500" y="1634133"/>
            <a:ext cx="3786188" cy="273248"/>
          </a:xfrm>
          <a:prstGeom prst="rect">
            <a:avLst/>
          </a:prstGeom>
          <a:noFill/>
          <a:ln/>
        </p:spPr>
        <p:txBody>
          <a:bodyPr wrap="square" lIns="0" tIns="0" rIns="0" bIns="0" rtlCol="0" anchor="t">
            <a:spAutoFit/>
          </a:bodyPr>
          <a:lstStyle/>
          <a:p>
            <a:pPr marL="0" indent="0" algn="l">
              <a:buNone/>
            </a:pPr>
            <a:r>
              <a:rPr lang="en-US" sz="1600" b="1" dirty="0">
                <a:solidFill>
                  <a:srgbClr val="0F172A"/>
                </a:solidFill>
                <a:latin typeface="Pretendard Variable" pitchFamily="34" charset="0"/>
                <a:ea typeface="Pretendard Variable" pitchFamily="34" charset="-122"/>
                <a:cs typeface="Pretendard Variable" pitchFamily="34" charset="-120"/>
              </a:rPr>
              <a:t>"몇 명 더 뽑고 싶다"</a:t>
            </a:r>
            <a:endParaRPr lang="en-US" sz="1600" dirty="0"/>
          </a:p>
        </p:txBody>
      </p:sp>
      <p:pic>
        <p:nvPicPr>
          <p:cNvPr id="7" name="Image 1" descr="preencoded.png"/>
          <p:cNvPicPr>
            <a:picLocks noChangeAspect="1"/>
          </p:cNvPicPr>
          <p:nvPr/>
        </p:nvPicPr>
        <p:blipFill>
          <a:blip r:embed="rId4"/>
          <a:stretch>
            <a:fillRect/>
          </a:stretch>
        </p:blipFill>
        <p:spPr>
          <a:xfrm>
            <a:off x="573091" y="2168128"/>
            <a:ext cx="171450" cy="228600"/>
          </a:xfrm>
          <a:prstGeom prst="rect">
            <a:avLst/>
          </a:prstGeom>
        </p:spPr>
      </p:pic>
      <p:sp>
        <p:nvSpPr>
          <p:cNvPr id="8" name="Text 4"/>
          <p:cNvSpPr/>
          <p:nvPr/>
        </p:nvSpPr>
        <p:spPr>
          <a:xfrm>
            <a:off x="889006" y="2121694"/>
            <a:ext cx="3468681"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Variable" pitchFamily="34" charset="0"/>
                <a:ea typeface="Pretendard Variable" pitchFamily="34" charset="-122"/>
                <a:cs typeface="Pretendard Variable" pitchFamily="34" charset="-120"/>
              </a:rPr>
              <a:t>의도 분석 및 쿼터 판별</a:t>
            </a:r>
            <a:endParaRPr lang="en-US" sz="1100" dirty="0"/>
          </a:p>
        </p:txBody>
      </p:sp>
      <p:sp>
        <p:nvSpPr>
          <p:cNvPr id="9" name="Text 5"/>
          <p:cNvSpPr/>
          <p:nvPr/>
        </p:nvSpPr>
        <p:spPr>
          <a:xfrm>
            <a:off x="889006" y="2366367"/>
            <a:ext cx="346868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사업주의 채용 의도를 분석하여 현재 고용 허용 인원과 잔여 쿼터를 실시간 계산, 채용 가능 여부를 즉시 보고합니다.</a:t>
            </a:r>
            <a:endParaRPr lang="en-US" sz="950" dirty="0"/>
          </a:p>
        </p:txBody>
      </p:sp>
      <p:pic>
        <p:nvPicPr>
          <p:cNvPr id="10" name="Image 2" descr="preencoded.png"/>
          <p:cNvPicPr>
            <a:picLocks noChangeAspect="1"/>
          </p:cNvPicPr>
          <p:nvPr/>
        </p:nvPicPr>
        <p:blipFill>
          <a:blip r:embed="rId5"/>
          <a:stretch>
            <a:fillRect/>
          </a:stretch>
        </p:blipFill>
        <p:spPr>
          <a:xfrm>
            <a:off x="571500" y="3052837"/>
            <a:ext cx="257175" cy="228600"/>
          </a:xfrm>
          <a:prstGeom prst="rect">
            <a:avLst/>
          </a:prstGeom>
        </p:spPr>
      </p:pic>
      <p:sp>
        <p:nvSpPr>
          <p:cNvPr id="11" name="Text 6"/>
          <p:cNvSpPr/>
          <p:nvPr/>
        </p:nvSpPr>
        <p:spPr>
          <a:xfrm>
            <a:off x="971550" y="3006403"/>
            <a:ext cx="3386138"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Variable" pitchFamily="34" charset="0"/>
                <a:ea typeface="Pretendard Variable" pitchFamily="34" charset="-122"/>
                <a:cs typeface="Pretendard Variable" pitchFamily="34" charset="-120"/>
              </a:rPr>
              <a:t>신청 문서 자동 준비</a:t>
            </a:r>
            <a:endParaRPr lang="en-US" sz="1100" dirty="0"/>
          </a:p>
        </p:txBody>
      </p:sp>
      <p:sp>
        <p:nvSpPr>
          <p:cNvPr id="12" name="Text 7"/>
          <p:cNvSpPr/>
          <p:nvPr/>
        </p:nvSpPr>
        <p:spPr>
          <a:xfrm>
            <a:off x="971550" y="3251076"/>
            <a:ext cx="3386138"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고용허가 신청에 필요한 표준 서식 초안을 자동 생성하여 담당자의 검토 및 제출 준비 시간을 획기적으로 단축합니다.</a:t>
            </a:r>
            <a:endParaRPr lang="en-US" sz="950" dirty="0"/>
          </a:p>
        </p:txBody>
      </p:sp>
      <p:sp>
        <p:nvSpPr>
          <p:cNvPr id="13" name="Shape 8"/>
          <p:cNvSpPr/>
          <p:nvPr/>
        </p:nvSpPr>
        <p:spPr>
          <a:xfrm>
            <a:off x="4786313" y="1285875"/>
            <a:ext cx="3786188" cy="2719536"/>
          </a:xfrm>
          <a:prstGeom prst="rect">
            <a:avLst/>
          </a:prstGeom>
          <a:solidFill>
            <a:srgbClr val="FFF1F2"/>
          </a:solidFill>
          <a:ln/>
        </p:spPr>
      </p:sp>
      <p:sp>
        <p:nvSpPr>
          <p:cNvPr id="14" name="Shape 9"/>
          <p:cNvSpPr/>
          <p:nvPr/>
        </p:nvSpPr>
        <p:spPr>
          <a:xfrm>
            <a:off x="4786313" y="1285875"/>
            <a:ext cx="3786188" cy="57150"/>
          </a:xfrm>
          <a:prstGeom prst="rect">
            <a:avLst/>
          </a:prstGeom>
          <a:solidFill>
            <a:srgbClr val="E11D48"/>
          </a:solidFill>
          <a:ln/>
        </p:spPr>
      </p:sp>
      <p:sp>
        <p:nvSpPr>
          <p:cNvPr id="15" name="Text 10"/>
          <p:cNvSpPr/>
          <p:nvPr/>
        </p:nvSpPr>
        <p:spPr>
          <a:xfrm>
            <a:off x="5157788" y="1571626"/>
            <a:ext cx="2102746" cy="184666"/>
          </a:xfrm>
          <a:prstGeom prst="rect">
            <a:avLst/>
          </a:prstGeom>
          <a:noFill/>
          <a:ln/>
        </p:spPr>
        <p:txBody>
          <a:bodyPr wrap="square" lIns="0" tIns="0" rIns="0" bIns="0" rtlCol="0" anchor="t">
            <a:spAutoFit/>
          </a:bodyPr>
          <a:lstStyle/>
          <a:p>
            <a:pPr marL="0" indent="0" algn="l">
              <a:buNone/>
            </a:pPr>
            <a:r>
              <a:rPr lang="en-US" sz="1200" b="1" dirty="0">
                <a:solidFill>
                  <a:srgbClr val="E11D48"/>
                </a:solidFill>
                <a:latin typeface="Pretendard Variable" pitchFamily="34" charset="0"/>
                <a:ea typeface="Pretendard Variable" pitchFamily="34" charset="-122"/>
                <a:cs typeface="Pretendard Variable" pitchFamily="34" charset="-120"/>
              </a:rPr>
              <a:t>운영 원칙: 가치 판단 배제</a:t>
            </a:r>
            <a:endParaRPr lang="en-US" sz="1200" dirty="0"/>
          </a:p>
        </p:txBody>
      </p:sp>
      <p:sp>
        <p:nvSpPr>
          <p:cNvPr id="16" name="Text 11"/>
          <p:cNvSpPr/>
          <p:nvPr/>
        </p:nvSpPr>
        <p:spPr>
          <a:xfrm>
            <a:off x="5072063" y="1946672"/>
            <a:ext cx="3214688" cy="437164"/>
          </a:xfrm>
          <a:prstGeom prst="rect">
            <a:avLst/>
          </a:prstGeom>
          <a:noFill/>
          <a:ln/>
        </p:spPr>
        <p:txBody>
          <a:bodyPr wrap="square" lIns="0" tIns="0" rIns="0" bIns="0" rtlCol="0" anchor="t">
            <a:spAutoFit/>
          </a:bodyPr>
          <a:lstStyle/>
          <a:p>
            <a:pPr marL="0" indent="0" algn="l">
              <a:lnSpc>
                <a:spcPct val="136000"/>
              </a:lnSpc>
              <a:buNone/>
            </a:pPr>
            <a:r>
              <a:rPr lang="en-US" sz="950" dirty="0">
                <a:solidFill>
                  <a:srgbClr val="9F1239"/>
                </a:solidFill>
                <a:latin typeface="Pretendard Variable" pitchFamily="34" charset="0"/>
                <a:ea typeface="Pretendard Variable" pitchFamily="34" charset="-122"/>
                <a:cs typeface="Pretendard Variable" pitchFamily="34" charset="-120"/>
              </a:rPr>
              <a:t>"좋은 사람 추천해달라"는 식의 주관적 평가는 시스템적으로 원천 금지합니다.</a:t>
            </a:r>
            <a:endParaRPr lang="en-US" sz="950" dirty="0"/>
          </a:p>
        </p:txBody>
      </p:sp>
      <p:sp>
        <p:nvSpPr>
          <p:cNvPr id="17" name="Text 12"/>
          <p:cNvSpPr/>
          <p:nvPr/>
        </p:nvSpPr>
        <p:spPr>
          <a:xfrm>
            <a:off x="5072063" y="2526711"/>
            <a:ext cx="3214688" cy="655746"/>
          </a:xfrm>
          <a:prstGeom prst="rect">
            <a:avLst/>
          </a:prstGeom>
          <a:noFill/>
          <a:ln/>
        </p:spPr>
        <p:txBody>
          <a:bodyPr wrap="square" lIns="0" tIns="0" rIns="0" bIns="0" rtlCol="0" anchor="t">
            <a:spAutoFit/>
          </a:bodyPr>
          <a:lstStyle/>
          <a:p>
            <a:pPr marL="0" indent="0" algn="l">
              <a:lnSpc>
                <a:spcPct val="136000"/>
              </a:lnSpc>
              <a:buNone/>
            </a:pPr>
            <a:r>
              <a:rPr lang="en-US" sz="950" dirty="0">
                <a:solidFill>
                  <a:srgbClr val="9F1239"/>
                </a:solidFill>
                <a:latin typeface="Pretendard Variable" pitchFamily="34" charset="0"/>
                <a:ea typeface="Pretendard Variable" pitchFamily="34" charset="-122"/>
                <a:cs typeface="Pretendard Variable" pitchFamily="34" charset="-120"/>
              </a:rPr>
              <a:t>에이전트는 근로자의 성실도나 이탈 가능성 같은 가치 판단을 배제하며, 오직 </a:t>
            </a:r>
            <a:r>
              <a:rPr lang="en-US" sz="900" b="1" dirty="0">
                <a:solidFill>
                  <a:srgbClr val="E11D48"/>
                </a:solidFill>
                <a:latin typeface="Pretendard Variable" pitchFamily="34" charset="0"/>
                <a:ea typeface="Pretendard Variable" pitchFamily="34" charset="-122"/>
                <a:cs typeface="Pretendard Variable" pitchFamily="34" charset="-120"/>
              </a:rPr>
              <a:t>제도적 요건 충족도</a:t>
            </a:r>
            <a:r>
              <a:rPr lang="en-US" sz="950" dirty="0">
                <a:solidFill>
                  <a:srgbClr val="9F1239"/>
                </a:solidFill>
                <a:latin typeface="Pretendard Variable" pitchFamily="34" charset="0"/>
                <a:ea typeface="Pretendard Variable" pitchFamily="34" charset="-122"/>
                <a:cs typeface="Pretendard Variable" pitchFamily="34" charset="-120"/>
              </a:rPr>
              <a:t>와 </a:t>
            </a:r>
            <a:r>
              <a:rPr lang="en-US" sz="900" b="1" dirty="0">
                <a:solidFill>
                  <a:srgbClr val="E11D48"/>
                </a:solidFill>
                <a:latin typeface="Pretendard Variable" pitchFamily="34" charset="0"/>
                <a:ea typeface="Pretendard Variable" pitchFamily="34" charset="-122"/>
                <a:cs typeface="Pretendard Variable" pitchFamily="34" charset="-120"/>
              </a:rPr>
              <a:t>객관적 데이터</a:t>
            </a:r>
            <a:r>
              <a:rPr lang="en-US" sz="950" dirty="0">
                <a:solidFill>
                  <a:srgbClr val="9F1239"/>
                </a:solidFill>
                <a:latin typeface="Pretendard Variable" pitchFamily="34" charset="0"/>
                <a:ea typeface="Pretendard Variable" pitchFamily="34" charset="-122"/>
                <a:cs typeface="Pretendard Variable" pitchFamily="34" charset="-120"/>
              </a:rPr>
              <a:t>만을 다룹니다.</a:t>
            </a:r>
            <a:endParaRPr lang="en-US" sz="950" dirty="0"/>
          </a:p>
        </p:txBody>
      </p:sp>
      <p:pic>
        <p:nvPicPr>
          <p:cNvPr id="18" name="Image 3" descr="preencoded.png"/>
          <p:cNvPicPr>
            <a:picLocks noChangeAspect="1"/>
          </p:cNvPicPr>
          <p:nvPr/>
        </p:nvPicPr>
        <p:blipFill>
          <a:blip r:embed="rId6"/>
          <a:stretch>
            <a:fillRect/>
          </a:stretch>
        </p:blipFill>
        <p:spPr>
          <a:xfrm>
            <a:off x="5072063" y="3362837"/>
            <a:ext cx="114300" cy="114300"/>
          </a:xfrm>
          <a:prstGeom prst="rect">
            <a:avLst/>
          </a:prstGeom>
        </p:spPr>
      </p:pic>
      <p:sp>
        <p:nvSpPr>
          <p:cNvPr id="19" name="Text 13"/>
          <p:cNvSpPr/>
          <p:nvPr/>
        </p:nvSpPr>
        <p:spPr>
          <a:xfrm>
            <a:off x="5186363" y="3353907"/>
            <a:ext cx="2246709" cy="135731"/>
          </a:xfrm>
          <a:prstGeom prst="rect">
            <a:avLst/>
          </a:prstGeom>
          <a:noFill/>
          <a:ln/>
        </p:spPr>
        <p:txBody>
          <a:bodyPr wrap="none" lIns="0" tIns="0" rIns="0" bIns="0" rtlCol="0" anchor="t">
            <a:spAutoFit/>
          </a:bodyPr>
          <a:lstStyle/>
          <a:p>
            <a:pPr marL="0" indent="0" algn="l">
              <a:lnSpc>
                <a:spcPct val="136000"/>
              </a:lnSpc>
              <a:buNone/>
            </a:pPr>
            <a:r>
              <a:rPr lang="en-US" sz="850" dirty="0">
                <a:solidFill>
                  <a:srgbClr val="9F1239"/>
                </a:solidFill>
                <a:latin typeface="Pretendard Variable" pitchFamily="34" charset="0"/>
                <a:ea typeface="Pretendard Variable" pitchFamily="34" charset="-122"/>
                <a:cs typeface="Pretendard Variable" pitchFamily="34" charset="-120"/>
              </a:rPr>
              <a:t>인재 요건 매칭 + 후보 적합성 검토 (Fact-based)</a:t>
            </a:r>
            <a:endParaRPr lang="en-US" sz="850" dirty="0"/>
          </a:p>
        </p:txBody>
      </p:sp>
      <p:sp>
        <p:nvSpPr>
          <p:cNvPr id="20" name="Text 3">
            <a:extLst>
              <a:ext uri="{FF2B5EF4-FFF2-40B4-BE49-F238E27FC236}">
                <a16:creationId xmlns:a16="http://schemas.microsoft.com/office/drawing/2014/main" id="{EEB18435-DFF6-56EF-5C30-29FCCC0C6178}"/>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 </a:t>
            </a:r>
            <a:r>
              <a:rPr lang="en-US" altLang="ko-KR" sz="1200" dirty="0">
                <a:solidFill>
                  <a:schemeClr val="tx1">
                    <a:lumMod val="65000"/>
                    <a:lumOff val="35000"/>
                  </a:schemeClr>
                </a:solidFill>
                <a:latin typeface="Pretendard"/>
              </a:rPr>
              <a:t>–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7" y="438448"/>
            <a:ext cx="3671887" cy="377026"/>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3. 다국어 컨택 에이전트</a:t>
            </a:r>
            <a:endParaRPr lang="en-US" sz="2450" dirty="0"/>
          </a:p>
        </p:txBody>
      </p:sp>
      <p:sp>
        <p:nvSpPr>
          <p:cNvPr id="4" name="Shape 1"/>
          <p:cNvSpPr/>
          <p:nvPr/>
        </p:nvSpPr>
        <p:spPr>
          <a:xfrm>
            <a:off x="571500" y="1071563"/>
            <a:ext cx="3857625" cy="1435894"/>
          </a:xfrm>
          <a:prstGeom prst="rect">
            <a:avLst/>
          </a:prstGeom>
          <a:solidFill>
            <a:srgbClr val="F8FAFC"/>
          </a:solidFill>
          <a:ln/>
        </p:spPr>
      </p:sp>
      <p:sp>
        <p:nvSpPr>
          <p:cNvPr id="5" name="Shape 2"/>
          <p:cNvSpPr/>
          <p:nvPr/>
        </p:nvSpPr>
        <p:spPr>
          <a:xfrm>
            <a:off x="571500" y="1071563"/>
            <a:ext cx="3857625" cy="28575"/>
          </a:xfrm>
          <a:prstGeom prst="rect">
            <a:avLst/>
          </a:prstGeom>
          <a:solidFill>
            <a:srgbClr val="2563EB"/>
          </a:solidFill>
          <a:ln/>
        </p:spPr>
      </p:sp>
      <p:pic>
        <p:nvPicPr>
          <p:cNvPr id="6" name="Image 1" descr="preencoded.png"/>
          <p:cNvPicPr>
            <a:picLocks noChangeAspect="1"/>
          </p:cNvPicPr>
          <p:nvPr/>
        </p:nvPicPr>
        <p:blipFill>
          <a:blip r:embed="rId4"/>
          <a:stretch>
            <a:fillRect/>
          </a:stretch>
        </p:blipFill>
        <p:spPr>
          <a:xfrm>
            <a:off x="785813" y="1299270"/>
            <a:ext cx="142875" cy="142875"/>
          </a:xfrm>
          <a:prstGeom prst="rect">
            <a:avLst/>
          </a:prstGeom>
        </p:spPr>
      </p:pic>
      <p:sp>
        <p:nvSpPr>
          <p:cNvPr id="7" name="Text 3"/>
          <p:cNvSpPr/>
          <p:nvPr/>
        </p:nvSpPr>
        <p:spPr>
          <a:xfrm>
            <a:off x="1000125" y="1285875"/>
            <a:ext cx="394692" cy="169664"/>
          </a:xfrm>
          <a:prstGeom prst="rect">
            <a:avLst/>
          </a:prstGeom>
          <a:noFill/>
          <a:ln/>
        </p:spPr>
        <p:txBody>
          <a:bodyPr wrap="none" lIns="0" tIns="0" rIns="0" bIns="0" rtlCol="0" anchor="t">
            <a:spAutoFit/>
          </a:bodyPr>
          <a:lstStyle/>
          <a:p>
            <a:pPr marL="0" indent="0" algn="l">
              <a:buNone/>
            </a:pPr>
            <a:r>
              <a:rPr lang="en-US" sz="1000" b="1" dirty="0">
                <a:solidFill>
                  <a:srgbClr val="64748B"/>
                </a:solidFill>
                <a:latin typeface="Pretendard Variable" pitchFamily="34" charset="0"/>
                <a:ea typeface="Pretendard Variable" pitchFamily="34" charset="-122"/>
                <a:cs typeface="Pretendard Variable" pitchFamily="34" charset="-120"/>
              </a:rPr>
              <a:t>GOAL</a:t>
            </a:r>
            <a:endParaRPr lang="en-US" sz="1000" dirty="0"/>
          </a:p>
        </p:txBody>
      </p:sp>
      <p:sp>
        <p:nvSpPr>
          <p:cNvPr id="8" name="Text 4"/>
          <p:cNvSpPr/>
          <p:nvPr/>
        </p:nvSpPr>
        <p:spPr>
          <a:xfrm>
            <a:off x="785813" y="1569839"/>
            <a:ext cx="3429000" cy="273248"/>
          </a:xfrm>
          <a:prstGeom prst="rect">
            <a:avLst/>
          </a:prstGeom>
          <a:noFill/>
          <a:ln/>
        </p:spPr>
        <p:txBody>
          <a:bodyPr wrap="square" lIns="0" tIns="0" rIns="0" bIns="0" rtlCol="0" anchor="t">
            <a:spAutoFit/>
          </a:bodyPr>
          <a:lstStyle/>
          <a:p>
            <a:pPr marL="0" indent="0" algn="l">
              <a:buNone/>
            </a:pPr>
            <a:r>
              <a:rPr lang="en-US" sz="1600" b="1" dirty="0">
                <a:solidFill>
                  <a:srgbClr val="0F172A"/>
                </a:solidFill>
                <a:latin typeface="Pretendard Variable" pitchFamily="34" charset="0"/>
                <a:ea typeface="Pretendard Variable" pitchFamily="34" charset="-122"/>
                <a:cs typeface="Pretendard Variable" pitchFamily="34" charset="-120"/>
              </a:rPr>
              <a:t>"외국인 직원과 소통해야 한다"</a:t>
            </a:r>
            <a:endParaRPr lang="en-US" sz="1600" dirty="0"/>
          </a:p>
        </p:txBody>
      </p:sp>
      <p:sp>
        <p:nvSpPr>
          <p:cNvPr id="9" name="Text 5"/>
          <p:cNvSpPr/>
          <p:nvPr/>
        </p:nvSpPr>
        <p:spPr>
          <a:xfrm>
            <a:off x="785813" y="1957388"/>
            <a:ext cx="3429000" cy="307181"/>
          </a:xfrm>
          <a:prstGeom prst="rect">
            <a:avLst/>
          </a:prstGeom>
          <a:noFill/>
          <a:ln/>
        </p:spPr>
        <p:txBody>
          <a:bodyPr wrap="square" lIns="0" tIns="0" rIns="0" bIns="0" rtlCol="0" anchor="t">
            <a:spAutoFit/>
          </a:bodyPr>
          <a:lstStyle/>
          <a:p>
            <a:pPr marL="0" indent="0" algn="l">
              <a:buNone/>
            </a:pPr>
            <a:r>
              <a:rPr lang="en-US" sz="950" dirty="0">
                <a:solidFill>
                  <a:srgbClr val="475569"/>
                </a:solidFill>
                <a:latin typeface="Pretendard Variable" pitchFamily="34" charset="0"/>
                <a:ea typeface="Pretendard Variable" pitchFamily="34" charset="-122"/>
                <a:cs typeface="Pretendard Variable" pitchFamily="34" charset="-120"/>
              </a:rPr>
              <a:t>언어 장벽을 허물어 행정 정보를 정확히 전달하고 답변을 받아 상태를 업데이트합니다.</a:t>
            </a:r>
            <a:endParaRPr lang="en-US" sz="950" dirty="0"/>
          </a:p>
        </p:txBody>
      </p:sp>
      <p:sp>
        <p:nvSpPr>
          <p:cNvPr id="10" name="Shape 6"/>
          <p:cNvSpPr/>
          <p:nvPr/>
        </p:nvSpPr>
        <p:spPr>
          <a:xfrm>
            <a:off x="4714875" y="1071563"/>
            <a:ext cx="3857625" cy="1435503"/>
          </a:xfrm>
          <a:prstGeom prst="rect">
            <a:avLst/>
          </a:prstGeom>
          <a:solidFill>
            <a:srgbClr val="F8FAFC"/>
          </a:solidFill>
          <a:ln/>
        </p:spPr>
      </p:sp>
      <p:sp>
        <p:nvSpPr>
          <p:cNvPr id="11" name="Shape 7"/>
          <p:cNvSpPr/>
          <p:nvPr/>
        </p:nvSpPr>
        <p:spPr>
          <a:xfrm>
            <a:off x="4714875" y="1071563"/>
            <a:ext cx="3857625" cy="28575"/>
          </a:xfrm>
          <a:prstGeom prst="rect">
            <a:avLst/>
          </a:prstGeom>
          <a:solidFill>
            <a:srgbClr val="2563EB"/>
          </a:solidFill>
          <a:ln/>
        </p:spPr>
      </p:sp>
      <p:pic>
        <p:nvPicPr>
          <p:cNvPr id="12" name="Image 2" descr="preencoded.png"/>
          <p:cNvPicPr>
            <a:picLocks noChangeAspect="1"/>
          </p:cNvPicPr>
          <p:nvPr/>
        </p:nvPicPr>
        <p:blipFill>
          <a:blip r:embed="rId5"/>
          <a:stretch>
            <a:fillRect/>
          </a:stretch>
        </p:blipFill>
        <p:spPr>
          <a:xfrm>
            <a:off x="4929188" y="1299270"/>
            <a:ext cx="125016" cy="142875"/>
          </a:xfrm>
          <a:prstGeom prst="rect">
            <a:avLst/>
          </a:prstGeom>
        </p:spPr>
      </p:pic>
      <p:sp>
        <p:nvSpPr>
          <p:cNvPr id="13" name="Text 8"/>
          <p:cNvSpPr/>
          <p:nvPr/>
        </p:nvSpPr>
        <p:spPr>
          <a:xfrm>
            <a:off x="5125641" y="1285875"/>
            <a:ext cx="526852" cy="169664"/>
          </a:xfrm>
          <a:prstGeom prst="rect">
            <a:avLst/>
          </a:prstGeom>
          <a:noFill/>
          <a:ln/>
        </p:spPr>
        <p:txBody>
          <a:bodyPr wrap="none" lIns="0" tIns="0" rIns="0" bIns="0" rtlCol="0" anchor="t">
            <a:spAutoFit/>
          </a:bodyPr>
          <a:lstStyle/>
          <a:p>
            <a:pPr marL="0" indent="0" algn="l">
              <a:buNone/>
            </a:pPr>
            <a:r>
              <a:rPr lang="en-US" sz="1000" b="1" dirty="0">
                <a:solidFill>
                  <a:srgbClr val="64748B"/>
                </a:solidFill>
                <a:latin typeface="Pretendard Variable" pitchFamily="34" charset="0"/>
                <a:ea typeface="Pretendard Variable" pitchFamily="34" charset="-122"/>
                <a:cs typeface="Pretendard Variable" pitchFamily="34" charset="-120"/>
              </a:rPr>
              <a:t>RESULT</a:t>
            </a:r>
            <a:endParaRPr lang="en-US" sz="1000" dirty="0"/>
          </a:p>
        </p:txBody>
      </p:sp>
      <p:pic>
        <p:nvPicPr>
          <p:cNvPr id="14" name="Image 3" descr="preencoded.png"/>
          <p:cNvPicPr>
            <a:picLocks noChangeAspect="1"/>
          </p:cNvPicPr>
          <p:nvPr/>
        </p:nvPicPr>
        <p:blipFill>
          <a:blip r:embed="rId6"/>
          <a:stretch>
            <a:fillRect/>
          </a:stretch>
        </p:blipFill>
        <p:spPr>
          <a:xfrm>
            <a:off x="4929188" y="1635556"/>
            <a:ext cx="100013" cy="100013"/>
          </a:xfrm>
          <a:prstGeom prst="rect">
            <a:avLst/>
          </a:prstGeom>
        </p:spPr>
      </p:pic>
      <p:sp>
        <p:nvSpPr>
          <p:cNvPr id="15" name="Text 9"/>
          <p:cNvSpPr/>
          <p:nvPr/>
        </p:nvSpPr>
        <p:spPr>
          <a:xfrm>
            <a:off x="5114925" y="1569839"/>
            <a:ext cx="1568053" cy="231446"/>
          </a:xfrm>
          <a:prstGeom prst="rect">
            <a:avLst/>
          </a:prstGeom>
          <a:noFill/>
          <a:ln/>
        </p:spPr>
        <p:txBody>
          <a:bodyPr wrap="none" lIns="0" tIns="0" rIns="0" bIns="0" rtlCol="0" anchor="t">
            <a:spAutoFit/>
          </a:bodyPr>
          <a:lstStyle/>
          <a:p>
            <a:pPr marL="0" indent="0" algn="l">
              <a:lnSpc>
                <a:spcPct val="144000"/>
              </a:lnSpc>
              <a:buNone/>
            </a:pPr>
            <a:r>
              <a:rPr lang="en-US" sz="950" dirty="0">
                <a:solidFill>
                  <a:srgbClr val="1E293B"/>
                </a:solidFill>
                <a:latin typeface="Pretendard Variable" pitchFamily="34" charset="0"/>
                <a:ea typeface="Pretendard Variable" pitchFamily="34" charset="-122"/>
                <a:cs typeface="Pretendard Variable" pitchFamily="34" charset="-120"/>
              </a:rPr>
              <a:t>다국어 최적화 요청 메시지 생성</a:t>
            </a:r>
            <a:endParaRPr lang="en-US" sz="950" dirty="0"/>
          </a:p>
        </p:txBody>
      </p:sp>
      <p:pic>
        <p:nvPicPr>
          <p:cNvPr id="16" name="Image 4" descr="preencoded.png"/>
          <p:cNvPicPr>
            <a:picLocks noChangeAspect="1"/>
          </p:cNvPicPr>
          <p:nvPr/>
        </p:nvPicPr>
        <p:blipFill>
          <a:blip r:embed="rId7"/>
          <a:stretch>
            <a:fillRect/>
          </a:stretch>
        </p:blipFill>
        <p:spPr>
          <a:xfrm>
            <a:off x="4929188" y="1867002"/>
            <a:ext cx="100013" cy="100013"/>
          </a:xfrm>
          <a:prstGeom prst="rect">
            <a:avLst/>
          </a:prstGeom>
        </p:spPr>
      </p:pic>
      <p:sp>
        <p:nvSpPr>
          <p:cNvPr id="17" name="Text 10"/>
          <p:cNvSpPr/>
          <p:nvPr/>
        </p:nvSpPr>
        <p:spPr>
          <a:xfrm>
            <a:off x="5114925" y="1801285"/>
            <a:ext cx="1457325" cy="231446"/>
          </a:xfrm>
          <a:prstGeom prst="rect">
            <a:avLst/>
          </a:prstGeom>
          <a:noFill/>
          <a:ln/>
        </p:spPr>
        <p:txBody>
          <a:bodyPr wrap="none" lIns="0" tIns="0" rIns="0" bIns="0" rtlCol="0" anchor="t">
            <a:spAutoFit/>
          </a:bodyPr>
          <a:lstStyle/>
          <a:p>
            <a:pPr marL="0" indent="0" algn="l">
              <a:lnSpc>
                <a:spcPct val="144000"/>
              </a:lnSpc>
              <a:buNone/>
            </a:pPr>
            <a:r>
              <a:rPr lang="en-US" sz="950" dirty="0">
                <a:solidFill>
                  <a:srgbClr val="1E293B"/>
                </a:solidFill>
                <a:latin typeface="Pretendard Variable" pitchFamily="34" charset="0"/>
                <a:ea typeface="Pretendard Variable" pitchFamily="34" charset="-122"/>
                <a:cs typeface="Pretendard Variable" pitchFamily="34" charset="-120"/>
              </a:rPr>
              <a:t>외국어 답변 실시간 요약 보고</a:t>
            </a:r>
            <a:endParaRPr lang="en-US" sz="950" dirty="0"/>
          </a:p>
        </p:txBody>
      </p:sp>
      <p:pic>
        <p:nvPicPr>
          <p:cNvPr id="18" name="Image 5" descr="preencoded.png"/>
          <p:cNvPicPr>
            <a:picLocks noChangeAspect="1"/>
          </p:cNvPicPr>
          <p:nvPr/>
        </p:nvPicPr>
        <p:blipFill>
          <a:blip r:embed="rId8"/>
          <a:stretch>
            <a:fillRect/>
          </a:stretch>
        </p:blipFill>
        <p:spPr>
          <a:xfrm>
            <a:off x="4929188" y="2098449"/>
            <a:ext cx="100013" cy="100013"/>
          </a:xfrm>
          <a:prstGeom prst="rect">
            <a:avLst/>
          </a:prstGeom>
        </p:spPr>
      </p:pic>
      <p:sp>
        <p:nvSpPr>
          <p:cNvPr id="19" name="Text 11"/>
          <p:cNvSpPr/>
          <p:nvPr/>
        </p:nvSpPr>
        <p:spPr>
          <a:xfrm>
            <a:off x="5114925" y="2032732"/>
            <a:ext cx="1568053" cy="231446"/>
          </a:xfrm>
          <a:prstGeom prst="rect">
            <a:avLst/>
          </a:prstGeom>
          <a:noFill/>
          <a:ln/>
        </p:spPr>
        <p:txBody>
          <a:bodyPr wrap="none" lIns="0" tIns="0" rIns="0" bIns="0" rtlCol="0" anchor="t">
            <a:spAutoFit/>
          </a:bodyPr>
          <a:lstStyle/>
          <a:p>
            <a:pPr marL="0" indent="0" algn="l">
              <a:lnSpc>
                <a:spcPct val="144000"/>
              </a:lnSpc>
              <a:buNone/>
            </a:pPr>
            <a:r>
              <a:rPr lang="en-US" sz="950" dirty="0">
                <a:solidFill>
                  <a:srgbClr val="1E293B"/>
                </a:solidFill>
                <a:latin typeface="Pretendard Variable" pitchFamily="34" charset="0"/>
                <a:ea typeface="Pretendard Variable" pitchFamily="34" charset="-122"/>
                <a:cs typeface="Pretendard Variable" pitchFamily="34" charset="-120"/>
              </a:rPr>
              <a:t>업무 시스템 상태 자동 업데이트</a:t>
            </a:r>
            <a:endParaRPr lang="en-US" sz="950" dirty="0"/>
          </a:p>
        </p:txBody>
      </p:sp>
      <p:pic>
        <p:nvPicPr>
          <p:cNvPr id="20" name="Image 6" descr="preencoded.png"/>
          <p:cNvPicPr>
            <a:picLocks noChangeAspect="1"/>
          </p:cNvPicPr>
          <p:nvPr/>
        </p:nvPicPr>
        <p:blipFill>
          <a:blip r:embed="rId9"/>
          <a:stretch>
            <a:fillRect/>
          </a:stretch>
        </p:blipFill>
        <p:spPr>
          <a:xfrm>
            <a:off x="589555" y="2818209"/>
            <a:ext cx="228600" cy="228600"/>
          </a:xfrm>
          <a:prstGeom prst="rect">
            <a:avLst/>
          </a:prstGeom>
        </p:spPr>
      </p:pic>
      <p:sp>
        <p:nvSpPr>
          <p:cNvPr id="21" name="Text 12"/>
          <p:cNvSpPr/>
          <p:nvPr/>
        </p:nvSpPr>
        <p:spPr>
          <a:xfrm>
            <a:off x="979112" y="2764631"/>
            <a:ext cx="3450013"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컨택 &amp; 온보딩</a:t>
            </a:r>
            <a:endParaRPr lang="en-US" sz="1200" dirty="0"/>
          </a:p>
        </p:txBody>
      </p:sp>
      <p:sp>
        <p:nvSpPr>
          <p:cNvPr id="22" name="Text 13"/>
          <p:cNvSpPr/>
          <p:nvPr/>
        </p:nvSpPr>
        <p:spPr>
          <a:xfrm>
            <a:off x="979112" y="3025378"/>
            <a:ext cx="3450013"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근로자의 모국어에 최적화된 안내문을 자동 생성하고 발송 준비를 마칩니다.</a:t>
            </a:r>
            <a:endParaRPr lang="en-US" sz="950" dirty="0"/>
          </a:p>
        </p:txBody>
      </p:sp>
      <p:pic>
        <p:nvPicPr>
          <p:cNvPr id="23" name="Image 7" descr="preencoded.png"/>
          <p:cNvPicPr>
            <a:picLocks noChangeAspect="1"/>
          </p:cNvPicPr>
          <p:nvPr/>
        </p:nvPicPr>
        <p:blipFill>
          <a:blip r:embed="rId10"/>
          <a:stretch>
            <a:fillRect/>
          </a:stretch>
        </p:blipFill>
        <p:spPr>
          <a:xfrm>
            <a:off x="4749617" y="2818209"/>
            <a:ext cx="171450" cy="228600"/>
          </a:xfrm>
          <a:prstGeom prst="rect">
            <a:avLst/>
          </a:prstGeom>
        </p:spPr>
      </p:pic>
      <p:sp>
        <p:nvSpPr>
          <p:cNvPr id="24" name="Text 14"/>
          <p:cNvSpPr/>
          <p:nvPr/>
        </p:nvSpPr>
        <p:spPr>
          <a:xfrm>
            <a:off x="5098684" y="2764631"/>
            <a:ext cx="3473816" cy="203597"/>
          </a:xfrm>
          <a:prstGeom prst="rect">
            <a:avLst/>
          </a:prstGeom>
          <a:noFill/>
          <a:ln/>
        </p:spPr>
        <p:txBody>
          <a:bodyPr wrap="square" lIns="0" tIns="0" rIns="0" bIns="0" rtlCol="0" anchor="t">
            <a:spAutoFit/>
          </a:bodyPr>
          <a:lstStyle/>
          <a:p>
            <a:pPr marL="0" indent="0" algn="l">
              <a:buNone/>
            </a:pPr>
            <a:r>
              <a:rPr lang="en-US" sz="1200" b="1" dirty="0">
                <a:solidFill>
                  <a:srgbClr val="0F172A"/>
                </a:solidFill>
                <a:latin typeface="Pretendard Variable" pitchFamily="34" charset="0"/>
                <a:ea typeface="Pretendard Variable" pitchFamily="34" charset="-122"/>
                <a:cs typeface="Pretendard Variable" pitchFamily="34" charset="-120"/>
              </a:rPr>
              <a:t>응답 해석 &amp; 반영</a:t>
            </a:r>
            <a:endParaRPr lang="en-US" sz="1200" dirty="0"/>
          </a:p>
        </p:txBody>
      </p:sp>
      <p:sp>
        <p:nvSpPr>
          <p:cNvPr id="25" name="Text 15"/>
          <p:cNvSpPr/>
          <p:nvPr/>
        </p:nvSpPr>
        <p:spPr>
          <a:xfrm>
            <a:off x="5098684" y="3025378"/>
            <a:ext cx="3473816"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475569"/>
                </a:solidFill>
                <a:latin typeface="Pretendard Variable" pitchFamily="34" charset="0"/>
                <a:ea typeface="Pretendard Variable" pitchFamily="34" charset="-122"/>
                <a:cs typeface="Pretendard Variable" pitchFamily="34" charset="-120"/>
              </a:rPr>
              <a:t>수신된 외국어 응답을 실시간 해석하여 핵심 내용을 업무 시스템에 즉시 반영합니다.</a:t>
            </a:r>
            <a:endParaRPr lang="en-US" sz="950" dirty="0"/>
          </a:p>
        </p:txBody>
      </p:sp>
      <p:sp>
        <p:nvSpPr>
          <p:cNvPr id="26" name="Shape 16"/>
          <p:cNvSpPr/>
          <p:nvPr/>
        </p:nvSpPr>
        <p:spPr>
          <a:xfrm>
            <a:off x="571500" y="3704035"/>
            <a:ext cx="8001000" cy="703659"/>
          </a:xfrm>
          <a:prstGeom prst="rect">
            <a:avLst/>
          </a:prstGeom>
          <a:solidFill>
            <a:srgbClr val="FFF1F2"/>
          </a:solidFill>
          <a:ln w="9144">
            <a:solidFill>
              <a:srgbClr val="FECDD3"/>
            </a:solidFill>
            <a:prstDash val="solid"/>
          </a:ln>
        </p:spPr>
      </p:sp>
      <p:sp>
        <p:nvSpPr>
          <p:cNvPr id="27" name="Text 17"/>
          <p:cNvSpPr/>
          <p:nvPr/>
        </p:nvSpPr>
        <p:spPr>
          <a:xfrm>
            <a:off x="814388" y="3879072"/>
            <a:ext cx="1579535" cy="138499"/>
          </a:xfrm>
          <a:prstGeom prst="rect">
            <a:avLst/>
          </a:prstGeom>
          <a:noFill/>
          <a:ln/>
        </p:spPr>
        <p:txBody>
          <a:bodyPr wrap="square" lIns="0" tIns="0" rIns="0" bIns="0" rtlCol="0" anchor="t">
            <a:spAutoFit/>
          </a:bodyPr>
          <a:lstStyle/>
          <a:p>
            <a:pPr marL="0" indent="0" algn="l">
              <a:buNone/>
            </a:pPr>
            <a:r>
              <a:rPr lang="en-US" sz="900" b="1" dirty="0">
                <a:solidFill>
                  <a:srgbClr val="E11D48"/>
                </a:solidFill>
                <a:latin typeface="Pretendard Variable" pitchFamily="34" charset="0"/>
                <a:ea typeface="Pretendard Variable" pitchFamily="34" charset="-122"/>
                <a:cs typeface="Pretendard Variable" pitchFamily="34" charset="-120"/>
              </a:rPr>
              <a:t>[주의사항] 안전 소통 보장</a:t>
            </a:r>
            <a:endParaRPr lang="en-US" sz="900" dirty="0"/>
          </a:p>
        </p:txBody>
      </p:sp>
      <p:sp>
        <p:nvSpPr>
          <p:cNvPr id="28" name="Text 18"/>
          <p:cNvSpPr/>
          <p:nvPr/>
        </p:nvSpPr>
        <p:spPr>
          <a:xfrm>
            <a:off x="742950" y="4089812"/>
            <a:ext cx="7658100" cy="135731"/>
          </a:xfrm>
          <a:prstGeom prst="rect">
            <a:avLst/>
          </a:prstGeom>
          <a:noFill/>
          <a:ln/>
        </p:spPr>
        <p:txBody>
          <a:bodyPr wrap="square" lIns="0" tIns="0" rIns="0" bIns="0" rtlCol="0" anchor="t">
            <a:spAutoFit/>
          </a:bodyPr>
          <a:lstStyle/>
          <a:p>
            <a:pPr marL="0" indent="0" algn="l">
              <a:buNone/>
            </a:pPr>
            <a:r>
              <a:rPr lang="en-US" sz="850" dirty="0">
                <a:solidFill>
                  <a:srgbClr val="9F1239"/>
                </a:solidFill>
                <a:latin typeface="Pretendard Variable" pitchFamily="34" charset="0"/>
                <a:ea typeface="Pretendard Variable" pitchFamily="34" charset="-122"/>
                <a:cs typeface="Pretendard Variable" pitchFamily="34" charset="-120"/>
              </a:rPr>
              <a:t>자동 발송 및 담당자 승인 전 발송은 절대 금지하며, 차별적 표현이나 부적절한 문구를 원천 차단합니다.</a:t>
            </a:r>
            <a:endParaRPr lang="en-US" sz="850" dirty="0"/>
          </a:p>
        </p:txBody>
      </p:sp>
      <p:sp>
        <p:nvSpPr>
          <p:cNvPr id="29" name="Text 3">
            <a:extLst>
              <a:ext uri="{FF2B5EF4-FFF2-40B4-BE49-F238E27FC236}">
                <a16:creationId xmlns:a16="http://schemas.microsoft.com/office/drawing/2014/main" id="{696E8486-E434-A88A-5504-EF3634DE7B01}"/>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 </a:t>
            </a:r>
            <a:r>
              <a:rPr lang="en-US" altLang="ko-KR" sz="1200" dirty="0">
                <a:solidFill>
                  <a:schemeClr val="tx1">
                    <a:lumMod val="65000"/>
                    <a:lumOff val="35000"/>
                  </a:schemeClr>
                </a:solidFill>
                <a:latin typeface="Pretendard"/>
              </a:rPr>
              <a:t>–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7" y="438448"/>
            <a:ext cx="7005351" cy="377026"/>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3. 비자·서류 운영 에이전트: 선제적 리스크 관리</a:t>
            </a:r>
            <a:endParaRPr lang="en-US" sz="2450" dirty="0"/>
          </a:p>
        </p:txBody>
      </p:sp>
      <p:sp>
        <p:nvSpPr>
          <p:cNvPr id="4" name="Shape 1"/>
          <p:cNvSpPr/>
          <p:nvPr/>
        </p:nvSpPr>
        <p:spPr>
          <a:xfrm>
            <a:off x="571500" y="1071563"/>
            <a:ext cx="450056" cy="205383"/>
          </a:xfrm>
          <a:prstGeom prst="rect">
            <a:avLst/>
          </a:prstGeom>
          <a:solidFill>
            <a:srgbClr val="DBEAFE"/>
          </a:solidFill>
          <a:ln/>
        </p:spPr>
      </p:sp>
      <p:sp>
        <p:nvSpPr>
          <p:cNvPr id="5" name="Text 2"/>
          <p:cNvSpPr/>
          <p:nvPr/>
        </p:nvSpPr>
        <p:spPr>
          <a:xfrm>
            <a:off x="571500" y="1071563"/>
            <a:ext cx="450056" cy="205383"/>
          </a:xfrm>
          <a:prstGeom prst="rect">
            <a:avLst/>
          </a:prstGeom>
          <a:noFill/>
          <a:ln/>
        </p:spPr>
        <p:txBody>
          <a:bodyPr wrap="none" lIns="102108" tIns="51054" rIns="102108" bIns="51054" rtlCol="0" anchor="t">
            <a:spAutoFit/>
          </a:bodyPr>
          <a:lstStyle/>
          <a:p>
            <a:pPr marL="0" indent="0" algn="l">
              <a:buNone/>
            </a:pPr>
            <a:r>
              <a:rPr lang="en-US" sz="700" b="1" dirty="0">
                <a:solidFill>
                  <a:srgbClr val="2563EB"/>
                </a:solidFill>
                <a:latin typeface="Pretendard Variable" pitchFamily="34" charset="0"/>
                <a:ea typeface="Pretendard Variable" pitchFamily="34" charset="-122"/>
                <a:cs typeface="Pretendard Variable" pitchFamily="34" charset="-120"/>
              </a:rPr>
              <a:t>GOAL</a:t>
            </a:r>
            <a:endParaRPr lang="en-US" sz="700" dirty="0"/>
          </a:p>
        </p:txBody>
      </p:sp>
      <p:sp>
        <p:nvSpPr>
          <p:cNvPr id="6" name="Text 3"/>
          <p:cNvSpPr/>
          <p:nvPr/>
        </p:nvSpPr>
        <p:spPr>
          <a:xfrm>
            <a:off x="571500" y="1391245"/>
            <a:ext cx="3786188" cy="594327"/>
          </a:xfrm>
          <a:prstGeom prst="rect">
            <a:avLst/>
          </a:prstGeom>
          <a:noFill/>
          <a:ln/>
        </p:spPr>
        <p:txBody>
          <a:bodyPr wrap="square" lIns="0" tIns="0" rIns="0" bIns="0" rtlCol="0" anchor="t">
            <a:spAutoFit/>
          </a:bodyPr>
          <a:lstStyle/>
          <a:p>
            <a:pPr marL="0" indent="0" algn="l">
              <a:lnSpc>
                <a:spcPct val="104000"/>
              </a:lnSpc>
              <a:buNone/>
            </a:pPr>
            <a:r>
              <a:rPr lang="en-US" sz="1600" b="1" dirty="0">
                <a:solidFill>
                  <a:srgbClr val="0F172A"/>
                </a:solidFill>
                <a:latin typeface="Pretendard Variable" pitchFamily="34" charset="0"/>
                <a:ea typeface="Pretendard Variable" pitchFamily="34" charset="-122"/>
                <a:cs typeface="Pretendard Variable" pitchFamily="34" charset="-120"/>
              </a:rPr>
              <a:t>"비자 만료나 서류 누락으로 인한
행정 사고를 원천 차단하라"</a:t>
            </a:r>
            <a:endParaRPr lang="en-US" sz="1600" dirty="0"/>
          </a:p>
        </p:txBody>
      </p:sp>
      <p:sp>
        <p:nvSpPr>
          <p:cNvPr id="7" name="Shape 4"/>
          <p:cNvSpPr/>
          <p:nvPr/>
        </p:nvSpPr>
        <p:spPr>
          <a:xfrm>
            <a:off x="571500" y="2128447"/>
            <a:ext cx="1821656" cy="1067991"/>
          </a:xfrm>
          <a:prstGeom prst="rect">
            <a:avLst/>
          </a:prstGeom>
          <a:solidFill>
            <a:srgbClr val="F8FAFC"/>
          </a:solidFill>
          <a:ln w="9144">
            <a:solidFill>
              <a:srgbClr val="E2E8F0"/>
            </a:solidFill>
            <a:prstDash val="solid"/>
          </a:ln>
        </p:spPr>
      </p:sp>
      <p:pic>
        <p:nvPicPr>
          <p:cNvPr id="8" name="Image 1" descr="preencoded.png"/>
          <p:cNvPicPr>
            <a:picLocks noChangeAspect="1"/>
          </p:cNvPicPr>
          <p:nvPr/>
        </p:nvPicPr>
        <p:blipFill>
          <a:blip r:embed="rId4"/>
          <a:stretch>
            <a:fillRect/>
          </a:stretch>
        </p:blipFill>
        <p:spPr>
          <a:xfrm>
            <a:off x="714375" y="2271322"/>
            <a:ext cx="1535906" cy="171450"/>
          </a:xfrm>
          <a:prstGeom prst="rect">
            <a:avLst/>
          </a:prstGeom>
        </p:spPr>
      </p:pic>
      <p:sp>
        <p:nvSpPr>
          <p:cNvPr id="9" name="Text 5"/>
          <p:cNvSpPr/>
          <p:nvPr/>
        </p:nvSpPr>
        <p:spPr>
          <a:xfrm>
            <a:off x="714375" y="2528497"/>
            <a:ext cx="153590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비자·체류 관리</a:t>
            </a:r>
            <a:endParaRPr lang="en-US" sz="900" dirty="0"/>
          </a:p>
        </p:txBody>
      </p:sp>
      <p:sp>
        <p:nvSpPr>
          <p:cNvPr id="10" name="Text 6"/>
          <p:cNvSpPr/>
          <p:nvPr/>
        </p:nvSpPr>
        <p:spPr>
          <a:xfrm>
            <a:off x="714375" y="2739237"/>
            <a:ext cx="1535906"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64748B"/>
                </a:solidFill>
                <a:latin typeface="Pretendard Variable" pitchFamily="34" charset="0"/>
                <a:ea typeface="Pretendard Variable" pitchFamily="34" charset="-122"/>
                <a:cs typeface="Pretendard Variable" pitchFamily="34" charset="-120"/>
              </a:rPr>
              <a:t>만료일 D-day 자동 탐지 및 갱신 시점 선제적 알림</a:t>
            </a:r>
            <a:endParaRPr lang="en-US" sz="750" dirty="0"/>
          </a:p>
        </p:txBody>
      </p:sp>
      <p:sp>
        <p:nvSpPr>
          <p:cNvPr id="11" name="Shape 7"/>
          <p:cNvSpPr/>
          <p:nvPr/>
        </p:nvSpPr>
        <p:spPr>
          <a:xfrm>
            <a:off x="2536031" y="2128447"/>
            <a:ext cx="1821656" cy="1053703"/>
          </a:xfrm>
          <a:prstGeom prst="rect">
            <a:avLst/>
          </a:prstGeom>
          <a:solidFill>
            <a:srgbClr val="F8FAFC"/>
          </a:solidFill>
          <a:ln w="9144">
            <a:solidFill>
              <a:srgbClr val="E2E8F0"/>
            </a:solidFill>
            <a:prstDash val="solid"/>
          </a:ln>
        </p:spPr>
      </p:sp>
      <p:sp>
        <p:nvSpPr>
          <p:cNvPr id="12" name="Text 8"/>
          <p:cNvSpPr/>
          <p:nvPr/>
        </p:nvSpPr>
        <p:spPr>
          <a:xfrm>
            <a:off x="2678906" y="2357047"/>
            <a:ext cx="153590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서류 완결성 체크</a:t>
            </a:r>
            <a:endParaRPr lang="en-US" sz="900" dirty="0"/>
          </a:p>
        </p:txBody>
      </p:sp>
      <p:sp>
        <p:nvSpPr>
          <p:cNvPr id="13" name="Text 9"/>
          <p:cNvSpPr/>
          <p:nvPr/>
        </p:nvSpPr>
        <p:spPr>
          <a:xfrm>
            <a:off x="2678906" y="2567787"/>
            <a:ext cx="1535906"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64748B"/>
                </a:solidFill>
                <a:latin typeface="Pretendard Variable" pitchFamily="34" charset="0"/>
                <a:ea typeface="Pretendard Variable" pitchFamily="34" charset="-122"/>
                <a:cs typeface="Pretendard Variable" pitchFamily="34" charset="-120"/>
              </a:rPr>
              <a:t>케이스별 필수 서류 누락 여부 자동 검증 및 패키징</a:t>
            </a:r>
            <a:endParaRPr lang="en-US" sz="750" dirty="0"/>
          </a:p>
        </p:txBody>
      </p:sp>
      <p:sp>
        <p:nvSpPr>
          <p:cNvPr id="14" name="Shape 10"/>
          <p:cNvSpPr/>
          <p:nvPr/>
        </p:nvSpPr>
        <p:spPr>
          <a:xfrm>
            <a:off x="571500" y="3325025"/>
            <a:ext cx="1821656" cy="1067991"/>
          </a:xfrm>
          <a:prstGeom prst="rect">
            <a:avLst/>
          </a:prstGeom>
          <a:solidFill>
            <a:srgbClr val="F8FAFC"/>
          </a:solidFill>
          <a:ln w="9144">
            <a:solidFill>
              <a:srgbClr val="E2E8F0"/>
            </a:solidFill>
            <a:prstDash val="solid"/>
          </a:ln>
        </p:spPr>
      </p:sp>
      <p:pic>
        <p:nvPicPr>
          <p:cNvPr id="15" name="Image 2" descr="preencoded.png"/>
          <p:cNvPicPr>
            <a:picLocks noChangeAspect="1"/>
          </p:cNvPicPr>
          <p:nvPr/>
        </p:nvPicPr>
        <p:blipFill>
          <a:blip r:embed="rId5"/>
          <a:stretch>
            <a:fillRect/>
          </a:stretch>
        </p:blipFill>
        <p:spPr>
          <a:xfrm>
            <a:off x="714375" y="3467900"/>
            <a:ext cx="1535906" cy="171450"/>
          </a:xfrm>
          <a:prstGeom prst="rect">
            <a:avLst/>
          </a:prstGeom>
        </p:spPr>
      </p:pic>
      <p:sp>
        <p:nvSpPr>
          <p:cNvPr id="16" name="Text 11"/>
          <p:cNvSpPr/>
          <p:nvPr/>
        </p:nvSpPr>
        <p:spPr>
          <a:xfrm>
            <a:off x="714375" y="3725075"/>
            <a:ext cx="153590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전문가 전달</a:t>
            </a:r>
            <a:endParaRPr lang="en-US" sz="900" dirty="0"/>
          </a:p>
        </p:txBody>
      </p:sp>
      <p:sp>
        <p:nvSpPr>
          <p:cNvPr id="17" name="Text 12"/>
          <p:cNvSpPr/>
          <p:nvPr/>
        </p:nvSpPr>
        <p:spPr>
          <a:xfrm>
            <a:off x="714375" y="3935816"/>
            <a:ext cx="1535906"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64748B"/>
                </a:solidFill>
                <a:latin typeface="Pretendard Variable" pitchFamily="34" charset="0"/>
                <a:ea typeface="Pretendard Variable" pitchFamily="34" charset="-122"/>
                <a:cs typeface="Pretendard Variable" pitchFamily="34" charset="-120"/>
              </a:rPr>
              <a:t>행정사/노무사 검토를 위한 데이터 패키지 생성</a:t>
            </a:r>
            <a:endParaRPr lang="en-US" sz="750" dirty="0"/>
          </a:p>
        </p:txBody>
      </p:sp>
      <p:sp>
        <p:nvSpPr>
          <p:cNvPr id="18" name="Shape 13"/>
          <p:cNvSpPr/>
          <p:nvPr/>
        </p:nvSpPr>
        <p:spPr>
          <a:xfrm>
            <a:off x="2536031" y="3325025"/>
            <a:ext cx="1821656" cy="1067991"/>
          </a:xfrm>
          <a:prstGeom prst="rect">
            <a:avLst/>
          </a:prstGeom>
          <a:solidFill>
            <a:srgbClr val="F8FAFC"/>
          </a:solidFill>
          <a:ln w="9144">
            <a:solidFill>
              <a:srgbClr val="E2E8F0"/>
            </a:solidFill>
            <a:prstDash val="solid"/>
          </a:ln>
        </p:spPr>
      </p:sp>
      <p:pic>
        <p:nvPicPr>
          <p:cNvPr id="19" name="Image 3" descr="preencoded.png"/>
          <p:cNvPicPr>
            <a:picLocks noChangeAspect="1"/>
          </p:cNvPicPr>
          <p:nvPr/>
        </p:nvPicPr>
        <p:blipFill>
          <a:blip r:embed="rId6"/>
          <a:stretch>
            <a:fillRect/>
          </a:stretch>
        </p:blipFill>
        <p:spPr>
          <a:xfrm>
            <a:off x="2678906" y="3467900"/>
            <a:ext cx="1535906" cy="171450"/>
          </a:xfrm>
          <a:prstGeom prst="rect">
            <a:avLst/>
          </a:prstGeom>
        </p:spPr>
      </p:pic>
      <p:sp>
        <p:nvSpPr>
          <p:cNvPr id="20" name="Text 14"/>
          <p:cNvSpPr/>
          <p:nvPr/>
        </p:nvSpPr>
        <p:spPr>
          <a:xfrm>
            <a:off x="2678906" y="3725075"/>
            <a:ext cx="153590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감사 로그 저장</a:t>
            </a:r>
            <a:endParaRPr lang="en-US" sz="900" dirty="0"/>
          </a:p>
        </p:txBody>
      </p:sp>
      <p:sp>
        <p:nvSpPr>
          <p:cNvPr id="21" name="Text 15"/>
          <p:cNvSpPr/>
          <p:nvPr/>
        </p:nvSpPr>
        <p:spPr>
          <a:xfrm>
            <a:off x="2678906" y="3935816"/>
            <a:ext cx="1535906" cy="300038"/>
          </a:xfrm>
          <a:prstGeom prst="rect">
            <a:avLst/>
          </a:prstGeom>
          <a:noFill/>
          <a:ln/>
        </p:spPr>
        <p:txBody>
          <a:bodyPr wrap="square" lIns="0" tIns="0" rIns="0" bIns="0" rtlCol="0" anchor="t">
            <a:spAutoFit/>
          </a:bodyPr>
          <a:lstStyle/>
          <a:p>
            <a:pPr marL="0" indent="0" algn="l">
              <a:lnSpc>
                <a:spcPct val="120000"/>
              </a:lnSpc>
              <a:buNone/>
            </a:pPr>
            <a:r>
              <a:rPr lang="en-US" sz="750" dirty="0">
                <a:solidFill>
                  <a:srgbClr val="64748B"/>
                </a:solidFill>
                <a:latin typeface="Pretendard Variable" pitchFamily="34" charset="0"/>
                <a:ea typeface="Pretendard Variable" pitchFamily="34" charset="-122"/>
                <a:cs typeface="Pretendard Variable" pitchFamily="34" charset="-120"/>
              </a:rPr>
              <a:t>모든 서류 처리 및 판단 이력을 증빙 자료로 보관</a:t>
            </a:r>
            <a:endParaRPr lang="en-US" sz="750" dirty="0"/>
          </a:p>
        </p:txBody>
      </p:sp>
      <p:sp>
        <p:nvSpPr>
          <p:cNvPr id="22" name="Shape 16"/>
          <p:cNvSpPr/>
          <p:nvPr/>
        </p:nvSpPr>
        <p:spPr>
          <a:xfrm>
            <a:off x="4786313" y="1071563"/>
            <a:ext cx="3786188" cy="2748111"/>
          </a:xfrm>
          <a:prstGeom prst="rect">
            <a:avLst/>
          </a:prstGeom>
          <a:solidFill>
            <a:srgbClr val="FFFBEB"/>
          </a:solidFill>
          <a:ln/>
        </p:spPr>
      </p:sp>
      <p:sp>
        <p:nvSpPr>
          <p:cNvPr id="23" name="Shape 17"/>
          <p:cNvSpPr/>
          <p:nvPr/>
        </p:nvSpPr>
        <p:spPr>
          <a:xfrm>
            <a:off x="4786313" y="1071563"/>
            <a:ext cx="3786188" cy="57150"/>
          </a:xfrm>
          <a:prstGeom prst="rect">
            <a:avLst/>
          </a:prstGeom>
          <a:solidFill>
            <a:srgbClr val="F59E0B"/>
          </a:solidFill>
          <a:ln/>
        </p:spPr>
      </p:sp>
      <p:pic>
        <p:nvPicPr>
          <p:cNvPr id="24" name="Image 4" descr="preencoded.png"/>
          <p:cNvPicPr>
            <a:picLocks noChangeAspect="1"/>
          </p:cNvPicPr>
          <p:nvPr/>
        </p:nvPicPr>
        <p:blipFill>
          <a:blip r:embed="rId7"/>
          <a:stretch>
            <a:fillRect/>
          </a:stretch>
        </p:blipFill>
        <p:spPr>
          <a:xfrm>
            <a:off x="5072063" y="1373386"/>
            <a:ext cx="171450" cy="171450"/>
          </a:xfrm>
          <a:prstGeom prst="rect">
            <a:avLst/>
          </a:prstGeom>
        </p:spPr>
      </p:pic>
      <p:sp>
        <p:nvSpPr>
          <p:cNvPr id="25" name="Text 18"/>
          <p:cNvSpPr/>
          <p:nvPr/>
        </p:nvSpPr>
        <p:spPr>
          <a:xfrm>
            <a:off x="5329238" y="1357313"/>
            <a:ext cx="2149958" cy="187523"/>
          </a:xfrm>
          <a:prstGeom prst="rect">
            <a:avLst/>
          </a:prstGeom>
          <a:noFill/>
          <a:ln/>
        </p:spPr>
        <p:txBody>
          <a:bodyPr wrap="square" lIns="0" tIns="0" rIns="0" bIns="0" rtlCol="0" anchor="t">
            <a:spAutoFit/>
          </a:bodyPr>
          <a:lstStyle/>
          <a:p>
            <a:pPr marL="0" indent="0" algn="l">
              <a:buNone/>
            </a:pPr>
            <a:r>
              <a:rPr lang="en-US" sz="1200" b="1" dirty="0">
                <a:solidFill>
                  <a:srgbClr val="B45309"/>
                </a:solidFill>
                <a:latin typeface="Pretendard Variable" pitchFamily="34" charset="0"/>
                <a:ea typeface="Pretendard Variable" pitchFamily="34" charset="-122"/>
                <a:cs typeface="Pretendard Variable" pitchFamily="34" charset="-120"/>
              </a:rPr>
              <a:t>비자 운영의 안전 가이드라인</a:t>
            </a:r>
            <a:endParaRPr lang="en-US" sz="1200" dirty="0"/>
          </a:p>
        </p:txBody>
      </p:sp>
      <p:pic>
        <p:nvPicPr>
          <p:cNvPr id="26" name="Image 5" descr="preencoded.png"/>
          <p:cNvPicPr>
            <a:picLocks noChangeAspect="1"/>
          </p:cNvPicPr>
          <p:nvPr/>
        </p:nvPicPr>
        <p:blipFill>
          <a:blip r:embed="rId8"/>
          <a:stretch>
            <a:fillRect/>
          </a:stretch>
        </p:blipFill>
        <p:spPr>
          <a:xfrm>
            <a:off x="5072063" y="1760934"/>
            <a:ext cx="142875" cy="382860"/>
          </a:xfrm>
          <a:prstGeom prst="rect">
            <a:avLst/>
          </a:prstGeom>
        </p:spPr>
      </p:pic>
      <p:sp>
        <p:nvSpPr>
          <p:cNvPr id="27" name="Text 19"/>
          <p:cNvSpPr/>
          <p:nvPr/>
        </p:nvSpPr>
        <p:spPr>
          <a:xfrm>
            <a:off x="5329238" y="1732359"/>
            <a:ext cx="2957513"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92400E"/>
                </a:solidFill>
                <a:latin typeface="Pretendard Variable" pitchFamily="34" charset="0"/>
                <a:ea typeface="Pretendard Variable" pitchFamily="34" charset="-122"/>
                <a:cs typeface="Pretendard Variable" pitchFamily="34" charset="-120"/>
              </a:rPr>
              <a:t>법적 자문이나 비자 발급 가능 여부에 대한 AI의 독자적 확답 금지</a:t>
            </a:r>
            <a:endParaRPr lang="en-US" sz="950" dirty="0"/>
          </a:p>
        </p:txBody>
      </p:sp>
      <p:pic>
        <p:nvPicPr>
          <p:cNvPr id="28" name="Image 6" descr="preencoded.png"/>
          <p:cNvPicPr>
            <a:picLocks noChangeAspect="1"/>
          </p:cNvPicPr>
          <p:nvPr/>
        </p:nvPicPr>
        <p:blipFill>
          <a:blip r:embed="rId9"/>
          <a:stretch>
            <a:fillRect/>
          </a:stretch>
        </p:blipFill>
        <p:spPr>
          <a:xfrm>
            <a:off x="5072063" y="2315245"/>
            <a:ext cx="142875" cy="177143"/>
          </a:xfrm>
          <a:prstGeom prst="rect">
            <a:avLst/>
          </a:prstGeom>
        </p:spPr>
      </p:pic>
      <p:sp>
        <p:nvSpPr>
          <p:cNvPr id="29" name="Text 20"/>
          <p:cNvSpPr/>
          <p:nvPr/>
        </p:nvSpPr>
        <p:spPr>
          <a:xfrm>
            <a:off x="5329238" y="2286670"/>
            <a:ext cx="2550319"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92400E"/>
                </a:solidFill>
                <a:latin typeface="Pretendard Variable" pitchFamily="34" charset="0"/>
                <a:ea typeface="Pretendard Variable" pitchFamily="34" charset="-122"/>
                <a:cs typeface="Pretendard Variable" pitchFamily="34" charset="-120"/>
              </a:rPr>
              <a:t>행정 절차의 대행이나 서류의 최종 제출 자동화 금지</a:t>
            </a:r>
            <a:endParaRPr lang="en-US" sz="950" dirty="0"/>
          </a:p>
        </p:txBody>
      </p:sp>
      <p:pic>
        <p:nvPicPr>
          <p:cNvPr id="30" name="Image 7" descr="preencoded.png"/>
          <p:cNvPicPr>
            <a:picLocks noChangeAspect="1"/>
          </p:cNvPicPr>
          <p:nvPr/>
        </p:nvPicPr>
        <p:blipFill>
          <a:blip r:embed="rId10"/>
          <a:stretch>
            <a:fillRect/>
          </a:stretch>
        </p:blipFill>
        <p:spPr>
          <a:xfrm>
            <a:off x="5072063" y="2663837"/>
            <a:ext cx="142875" cy="177143"/>
          </a:xfrm>
          <a:prstGeom prst="rect">
            <a:avLst/>
          </a:prstGeom>
        </p:spPr>
      </p:pic>
      <p:sp>
        <p:nvSpPr>
          <p:cNvPr id="31" name="Text 21"/>
          <p:cNvSpPr/>
          <p:nvPr/>
        </p:nvSpPr>
        <p:spPr>
          <a:xfrm>
            <a:off x="5329238" y="2635262"/>
            <a:ext cx="2218134"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92400E"/>
                </a:solidFill>
                <a:latin typeface="Pretendard Variable" pitchFamily="34" charset="0"/>
                <a:ea typeface="Pretendard Variable" pitchFamily="34" charset="-122"/>
                <a:cs typeface="Pretendard Variable" pitchFamily="34" charset="-120"/>
              </a:rPr>
              <a:t>사용자의 최종 승인 없는 대외 문서 발송 금지</a:t>
            </a:r>
            <a:endParaRPr lang="en-US" sz="950" dirty="0"/>
          </a:p>
        </p:txBody>
      </p:sp>
      <p:sp>
        <p:nvSpPr>
          <p:cNvPr id="32" name="Text 22"/>
          <p:cNvSpPr/>
          <p:nvPr/>
        </p:nvSpPr>
        <p:spPr>
          <a:xfrm>
            <a:off x="5072063" y="3055293"/>
            <a:ext cx="3214688" cy="421481"/>
          </a:xfrm>
          <a:prstGeom prst="rect">
            <a:avLst/>
          </a:prstGeom>
          <a:noFill/>
          <a:ln/>
        </p:spPr>
        <p:txBody>
          <a:bodyPr wrap="square" lIns="0" tIns="170053" rIns="0" bIns="0" rtlCol="0" anchor="t">
            <a:spAutoFit/>
          </a:bodyPr>
          <a:lstStyle/>
          <a:p>
            <a:pPr marL="0" indent="0" algn="l">
              <a:buNone/>
            </a:pPr>
            <a:r>
              <a:rPr lang="en-US" sz="850" i="1" dirty="0">
                <a:solidFill>
                  <a:srgbClr val="B45309"/>
                </a:solidFill>
                <a:latin typeface="Pretendard Variable" pitchFamily="34" charset="0"/>
                <a:ea typeface="Pretendard Variable" pitchFamily="34" charset="-122"/>
                <a:cs typeface="Pretendard Variable" pitchFamily="34" charset="-120"/>
              </a:rPr>
              <a:t>* 에이전트는 전문가(행정사 등)의 업무를 대체하는 것이 아니라, 전문가가 즉시 검토할 수 있는 '완결된 기초 자료'를 준비하는 역할에 집중합니다.</a:t>
            </a:r>
            <a:endParaRPr lang="en-US" sz="850" dirty="0"/>
          </a:p>
        </p:txBody>
      </p:sp>
      <p:sp>
        <p:nvSpPr>
          <p:cNvPr id="33" name="Text 3">
            <a:extLst>
              <a:ext uri="{FF2B5EF4-FFF2-40B4-BE49-F238E27FC236}">
                <a16:creationId xmlns:a16="http://schemas.microsoft.com/office/drawing/2014/main" id="{0289955C-1221-2CCC-7110-1A6DB1FBA952}"/>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b="1" dirty="0">
                <a:latin typeface="Pretendard"/>
              </a:rPr>
              <a:t>What </a:t>
            </a:r>
            <a:r>
              <a:rPr lang="en-US" altLang="ko-KR" sz="1200" dirty="0">
                <a:solidFill>
                  <a:schemeClr val="tx1">
                    <a:lumMod val="65000"/>
                    <a:lumOff val="35000"/>
                  </a:schemeClr>
                </a:solidFill>
                <a:latin typeface="Pretendard"/>
              </a:rPr>
              <a:t>– How – So what?  </a:t>
            </a:r>
            <a:endParaRPr lang="en-US" sz="1200" dirty="0">
              <a:solidFill>
                <a:schemeClr val="tx1">
                  <a:lumMod val="65000"/>
                  <a:lumOff val="35000"/>
                </a:schemeClr>
              </a:solidFill>
              <a:latin typeface="Pretendar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456307"/>
            <a:ext cx="5541764" cy="373261"/>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4. RAG 설계 1: 공식 근거 및 서류 체크리스트</a:t>
            </a:r>
            <a:endParaRPr lang="en-US" sz="2250" dirty="0"/>
          </a:p>
        </p:txBody>
      </p:sp>
      <p:pic>
        <p:nvPicPr>
          <p:cNvPr id="4" name="Image 1" descr="preencoded.png"/>
          <p:cNvPicPr>
            <a:picLocks noChangeAspect="1"/>
          </p:cNvPicPr>
          <p:nvPr/>
        </p:nvPicPr>
        <p:blipFill>
          <a:blip r:embed="rId4"/>
          <a:stretch>
            <a:fillRect/>
          </a:stretch>
        </p:blipFill>
        <p:spPr>
          <a:xfrm>
            <a:off x="571500" y="1159073"/>
            <a:ext cx="128588" cy="171450"/>
          </a:xfrm>
          <a:prstGeom prst="rect">
            <a:avLst/>
          </a:prstGeom>
        </p:spPr>
      </p:pic>
      <p:sp>
        <p:nvSpPr>
          <p:cNvPr id="5" name="Text 1"/>
          <p:cNvSpPr/>
          <p:nvPr/>
        </p:nvSpPr>
        <p:spPr>
          <a:xfrm>
            <a:off x="785813" y="1143000"/>
            <a:ext cx="1823209" cy="184666"/>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공식 근거 기반 절차 안내</a:t>
            </a:r>
            <a:endParaRPr lang="en-US" sz="1200" dirty="0"/>
          </a:p>
        </p:txBody>
      </p:sp>
      <p:sp>
        <p:nvSpPr>
          <p:cNvPr id="6" name="Shape 2"/>
          <p:cNvSpPr/>
          <p:nvPr/>
        </p:nvSpPr>
        <p:spPr>
          <a:xfrm>
            <a:off x="571500" y="1518047"/>
            <a:ext cx="3786188" cy="3010784"/>
          </a:xfrm>
          <a:prstGeom prst="rect">
            <a:avLst/>
          </a:prstGeom>
          <a:solidFill>
            <a:srgbClr val="F8FAFC"/>
          </a:solidFill>
          <a:ln/>
        </p:spPr>
      </p:sp>
      <p:sp>
        <p:nvSpPr>
          <p:cNvPr id="7" name="Shape 3"/>
          <p:cNvSpPr/>
          <p:nvPr/>
        </p:nvSpPr>
        <p:spPr>
          <a:xfrm>
            <a:off x="571500" y="1518047"/>
            <a:ext cx="3786188" cy="28575"/>
          </a:xfrm>
          <a:prstGeom prst="rect">
            <a:avLst/>
          </a:prstGeom>
          <a:solidFill>
            <a:srgbClr val="0F172A"/>
          </a:solidFill>
          <a:ln/>
        </p:spPr>
      </p:sp>
      <p:sp>
        <p:nvSpPr>
          <p:cNvPr id="8" name="Shape 4"/>
          <p:cNvSpPr/>
          <p:nvPr/>
        </p:nvSpPr>
        <p:spPr>
          <a:xfrm>
            <a:off x="785813" y="1732359"/>
            <a:ext cx="228600" cy="228600"/>
          </a:xfrm>
          <a:prstGeom prst="ellipse">
            <a:avLst/>
          </a:prstGeom>
          <a:solidFill>
            <a:srgbClr val="2563EB"/>
          </a:solidFill>
          <a:ln/>
        </p:spPr>
      </p:sp>
      <p:sp>
        <p:nvSpPr>
          <p:cNvPr id="9" name="Text 5"/>
          <p:cNvSpPr/>
          <p:nvPr/>
        </p:nvSpPr>
        <p:spPr>
          <a:xfrm>
            <a:off x="785813" y="1732359"/>
            <a:ext cx="228600" cy="228600"/>
          </a:xfrm>
          <a:prstGeom prst="rect">
            <a:avLst/>
          </a:prstGeom>
          <a:noFill/>
          <a:ln/>
        </p:spPr>
        <p:txBody>
          <a:bodyPr wrap="none" lIns="0" tIns="0" rIns="0" bIns="0" rtlCol="0" anchor="ctr">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1</a:t>
            </a:r>
            <a:endParaRPr lang="en-US" sz="800" dirty="0"/>
          </a:p>
        </p:txBody>
      </p:sp>
      <p:sp>
        <p:nvSpPr>
          <p:cNvPr id="10" name="Text 6"/>
          <p:cNvSpPr/>
          <p:nvPr/>
        </p:nvSpPr>
        <p:spPr>
          <a:xfrm>
            <a:off x="1128713" y="1732359"/>
            <a:ext cx="3014663" cy="169664"/>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Pretendard Variable" pitchFamily="34" charset="0"/>
                <a:ea typeface="Pretendard Variable" pitchFamily="34" charset="-122"/>
                <a:cs typeface="Pretendard Variable" pitchFamily="34" charset="-120"/>
              </a:rPr>
              <a:t>EPS/HRD Korea 공식 흐름</a:t>
            </a:r>
            <a:endParaRPr lang="en-US" sz="1000" dirty="0"/>
          </a:p>
        </p:txBody>
      </p:sp>
      <p:sp>
        <p:nvSpPr>
          <p:cNvPr id="11" name="Text 7"/>
          <p:cNvSpPr/>
          <p:nvPr/>
        </p:nvSpPr>
        <p:spPr>
          <a:xfrm>
            <a:off x="1128713" y="1944886"/>
            <a:ext cx="3014663"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475569"/>
                </a:solidFill>
                <a:latin typeface="Pretendard Variable" pitchFamily="34" charset="0"/>
                <a:ea typeface="Pretendard Variable" pitchFamily="34" charset="-122"/>
                <a:cs typeface="Pretendard Variable" pitchFamily="34" charset="-120"/>
              </a:rPr>
              <a:t>내국인 구인노력 → 고용허가서 발급 → 표준근로계약 체결 → 사증발급인정서 신청 등 전체 경로 설명</a:t>
            </a:r>
            <a:endParaRPr lang="en-US" sz="850" dirty="0"/>
          </a:p>
        </p:txBody>
      </p:sp>
      <p:sp>
        <p:nvSpPr>
          <p:cNvPr id="12" name="Shape 8"/>
          <p:cNvSpPr/>
          <p:nvPr/>
        </p:nvSpPr>
        <p:spPr>
          <a:xfrm>
            <a:off x="1128713" y="2382050"/>
            <a:ext cx="1428750" cy="160734"/>
          </a:xfrm>
          <a:prstGeom prst="rect">
            <a:avLst/>
          </a:prstGeom>
          <a:solidFill>
            <a:srgbClr val="E2E8F0"/>
          </a:solidFill>
          <a:ln/>
        </p:spPr>
      </p:sp>
      <p:sp>
        <p:nvSpPr>
          <p:cNvPr id="13" name="Text 9"/>
          <p:cNvSpPr/>
          <p:nvPr/>
        </p:nvSpPr>
        <p:spPr>
          <a:xfrm>
            <a:off x="1128713" y="2382050"/>
            <a:ext cx="1428750" cy="160734"/>
          </a:xfrm>
          <a:prstGeom prst="rect">
            <a:avLst/>
          </a:prstGeom>
          <a:noFill/>
          <a:ln/>
        </p:spPr>
        <p:txBody>
          <a:bodyPr wrap="square" lIns="85090" tIns="34036" rIns="85090" bIns="34036" rtlCol="0" anchor="t">
            <a:spAutoFit/>
          </a:bodyPr>
          <a:lstStyle/>
          <a:p>
            <a:pPr marL="0" indent="0" algn="l">
              <a:buNone/>
            </a:pPr>
            <a:r>
              <a:rPr lang="en-US" sz="600" b="1" dirty="0">
                <a:solidFill>
                  <a:srgbClr val="475569"/>
                </a:solidFill>
                <a:latin typeface="Pretendard Variable" pitchFamily="34" charset="0"/>
                <a:ea typeface="Pretendard Variable" pitchFamily="34" charset="-122"/>
                <a:cs typeface="Pretendard Variable" pitchFamily="34" charset="-120"/>
              </a:rPr>
              <a:t>Source: EPS 사업주 고용절차 가이드</a:t>
            </a:r>
            <a:endParaRPr lang="en-US" sz="600" dirty="0"/>
          </a:p>
        </p:txBody>
      </p:sp>
      <p:sp>
        <p:nvSpPr>
          <p:cNvPr id="14" name="Shape 10"/>
          <p:cNvSpPr/>
          <p:nvPr/>
        </p:nvSpPr>
        <p:spPr>
          <a:xfrm>
            <a:off x="785813" y="2714234"/>
            <a:ext cx="228600" cy="228600"/>
          </a:xfrm>
          <a:prstGeom prst="ellipse">
            <a:avLst/>
          </a:prstGeom>
          <a:solidFill>
            <a:srgbClr val="2563EB"/>
          </a:solidFill>
          <a:ln/>
        </p:spPr>
      </p:sp>
      <p:sp>
        <p:nvSpPr>
          <p:cNvPr id="15" name="Text 11"/>
          <p:cNvSpPr/>
          <p:nvPr/>
        </p:nvSpPr>
        <p:spPr>
          <a:xfrm>
            <a:off x="785813" y="2714234"/>
            <a:ext cx="228600" cy="228600"/>
          </a:xfrm>
          <a:prstGeom prst="rect">
            <a:avLst/>
          </a:prstGeom>
          <a:noFill/>
          <a:ln/>
        </p:spPr>
        <p:txBody>
          <a:bodyPr wrap="none" lIns="0" tIns="0" rIns="0" bIns="0" rtlCol="0" anchor="ctr">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2</a:t>
            </a:r>
            <a:endParaRPr lang="en-US" sz="800" dirty="0"/>
          </a:p>
        </p:txBody>
      </p:sp>
      <p:sp>
        <p:nvSpPr>
          <p:cNvPr id="16" name="Text 12"/>
          <p:cNvSpPr/>
          <p:nvPr/>
        </p:nvSpPr>
        <p:spPr>
          <a:xfrm>
            <a:off x="1128713" y="2714234"/>
            <a:ext cx="3014663" cy="169664"/>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Pretendard Variable" pitchFamily="34" charset="0"/>
                <a:ea typeface="Pretendard Variable" pitchFamily="34" charset="-122"/>
                <a:cs typeface="Pretendard Variable" pitchFamily="34" charset="-120"/>
              </a:rPr>
              <a:t>실시간 제도 질의응답</a:t>
            </a:r>
            <a:endParaRPr lang="en-US" sz="1000" dirty="0"/>
          </a:p>
        </p:txBody>
      </p:sp>
      <p:sp>
        <p:nvSpPr>
          <p:cNvPr id="17" name="Text 13"/>
          <p:cNvSpPr/>
          <p:nvPr/>
        </p:nvSpPr>
        <p:spPr>
          <a:xfrm>
            <a:off x="1128713" y="2926761"/>
            <a:ext cx="3014663"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475569"/>
                </a:solidFill>
                <a:latin typeface="Pretendard Variable" pitchFamily="34" charset="0"/>
                <a:ea typeface="Pretendard Variable" pitchFamily="34" charset="-122"/>
                <a:cs typeface="Pretendard Variable" pitchFamily="34" charset="-120"/>
              </a:rPr>
              <a:t>"E-9 고용 절차가 어떻게 되지?", "고용허가서 발급 전 준비사항은?" 등 자연어 질문에 법적 근거 기반 답변</a:t>
            </a:r>
            <a:endParaRPr lang="en-US" sz="850" dirty="0"/>
          </a:p>
        </p:txBody>
      </p:sp>
      <p:pic>
        <p:nvPicPr>
          <p:cNvPr id="18" name="Image 2" descr="preencoded.png"/>
          <p:cNvPicPr>
            <a:picLocks noChangeAspect="1"/>
          </p:cNvPicPr>
          <p:nvPr/>
        </p:nvPicPr>
        <p:blipFill>
          <a:blip r:embed="rId5"/>
          <a:stretch>
            <a:fillRect/>
          </a:stretch>
        </p:blipFill>
        <p:spPr>
          <a:xfrm>
            <a:off x="4786313" y="1159073"/>
            <a:ext cx="171450" cy="171450"/>
          </a:xfrm>
          <a:prstGeom prst="rect">
            <a:avLst/>
          </a:prstGeom>
        </p:spPr>
      </p:pic>
      <p:sp>
        <p:nvSpPr>
          <p:cNvPr id="19" name="Text 14"/>
          <p:cNvSpPr/>
          <p:nvPr/>
        </p:nvSpPr>
        <p:spPr>
          <a:xfrm>
            <a:off x="5043488" y="1143000"/>
            <a:ext cx="1928812" cy="184666"/>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케이스별 서류 체크리스트</a:t>
            </a:r>
            <a:endParaRPr lang="en-US" sz="1200" dirty="0"/>
          </a:p>
        </p:txBody>
      </p:sp>
      <p:sp>
        <p:nvSpPr>
          <p:cNvPr id="20" name="Shape 15"/>
          <p:cNvSpPr/>
          <p:nvPr/>
        </p:nvSpPr>
        <p:spPr>
          <a:xfrm>
            <a:off x="4786313" y="1518047"/>
            <a:ext cx="3786188" cy="3010784"/>
          </a:xfrm>
          <a:prstGeom prst="rect">
            <a:avLst/>
          </a:prstGeom>
          <a:solidFill>
            <a:srgbClr val="F8FAFC"/>
          </a:solidFill>
          <a:ln/>
        </p:spPr>
      </p:sp>
      <p:sp>
        <p:nvSpPr>
          <p:cNvPr id="21" name="Shape 16"/>
          <p:cNvSpPr/>
          <p:nvPr/>
        </p:nvSpPr>
        <p:spPr>
          <a:xfrm>
            <a:off x="4786313" y="1518047"/>
            <a:ext cx="3786188" cy="28575"/>
          </a:xfrm>
          <a:prstGeom prst="rect">
            <a:avLst/>
          </a:prstGeom>
          <a:solidFill>
            <a:srgbClr val="0F172A"/>
          </a:solidFill>
          <a:ln/>
        </p:spPr>
      </p:sp>
      <p:sp>
        <p:nvSpPr>
          <p:cNvPr id="22" name="Shape 17"/>
          <p:cNvSpPr/>
          <p:nvPr/>
        </p:nvSpPr>
        <p:spPr>
          <a:xfrm>
            <a:off x="5000625" y="1732359"/>
            <a:ext cx="228600" cy="228600"/>
          </a:xfrm>
          <a:prstGeom prst="ellipse">
            <a:avLst/>
          </a:prstGeom>
          <a:solidFill>
            <a:srgbClr val="2563EB"/>
          </a:solidFill>
          <a:ln/>
        </p:spPr>
      </p:sp>
      <p:sp>
        <p:nvSpPr>
          <p:cNvPr id="23" name="Text 18"/>
          <p:cNvSpPr/>
          <p:nvPr/>
        </p:nvSpPr>
        <p:spPr>
          <a:xfrm>
            <a:off x="5000625" y="1732359"/>
            <a:ext cx="228600" cy="228600"/>
          </a:xfrm>
          <a:prstGeom prst="rect">
            <a:avLst/>
          </a:prstGeom>
          <a:noFill/>
          <a:ln/>
        </p:spPr>
        <p:txBody>
          <a:bodyPr wrap="none" lIns="0" tIns="0" rIns="0" bIns="0" rtlCol="0" anchor="ctr">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3</a:t>
            </a:r>
            <a:endParaRPr lang="en-US" sz="800" dirty="0"/>
          </a:p>
        </p:txBody>
      </p:sp>
      <p:sp>
        <p:nvSpPr>
          <p:cNvPr id="24" name="Text 19"/>
          <p:cNvSpPr/>
          <p:nvPr/>
        </p:nvSpPr>
        <p:spPr>
          <a:xfrm>
            <a:off x="5343525" y="1732359"/>
            <a:ext cx="3014663" cy="169664"/>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Pretendard Variable" pitchFamily="34" charset="0"/>
                <a:ea typeface="Pretendard Variable" pitchFamily="34" charset="-122"/>
                <a:cs typeface="Pretendard Variable" pitchFamily="34" charset="-120"/>
              </a:rPr>
              <a:t>정부24 체류 관리 안내</a:t>
            </a:r>
            <a:endParaRPr lang="en-US" sz="1000" dirty="0"/>
          </a:p>
        </p:txBody>
      </p:sp>
      <p:sp>
        <p:nvSpPr>
          <p:cNvPr id="25" name="Text 20"/>
          <p:cNvSpPr/>
          <p:nvPr/>
        </p:nvSpPr>
        <p:spPr>
          <a:xfrm>
            <a:off x="5343525" y="1944886"/>
            <a:ext cx="3014663"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475569"/>
                </a:solidFill>
                <a:latin typeface="Pretendard Variable" pitchFamily="34" charset="0"/>
                <a:ea typeface="Pretendard Variable" pitchFamily="34" charset="-122"/>
                <a:cs typeface="Pretendard Variable" pitchFamily="34" charset="-120"/>
              </a:rPr>
              <a:t>체류기간 연장, 고용변동 신고 등 케이스별 필수 제출 항목(여권, 외국인등록증, 체류지 입증 서류 등) 추출</a:t>
            </a:r>
            <a:endParaRPr lang="en-US" sz="850" dirty="0"/>
          </a:p>
        </p:txBody>
      </p:sp>
      <p:sp>
        <p:nvSpPr>
          <p:cNvPr id="26" name="Shape 21"/>
          <p:cNvSpPr/>
          <p:nvPr/>
        </p:nvSpPr>
        <p:spPr>
          <a:xfrm>
            <a:off x="5343525" y="2382050"/>
            <a:ext cx="1500188" cy="160734"/>
          </a:xfrm>
          <a:prstGeom prst="rect">
            <a:avLst/>
          </a:prstGeom>
          <a:solidFill>
            <a:srgbClr val="E2E8F0"/>
          </a:solidFill>
          <a:ln/>
        </p:spPr>
      </p:sp>
      <p:sp>
        <p:nvSpPr>
          <p:cNvPr id="27" name="Text 22"/>
          <p:cNvSpPr/>
          <p:nvPr/>
        </p:nvSpPr>
        <p:spPr>
          <a:xfrm>
            <a:off x="5343525" y="2382050"/>
            <a:ext cx="1500188" cy="160734"/>
          </a:xfrm>
          <a:prstGeom prst="rect">
            <a:avLst/>
          </a:prstGeom>
          <a:noFill/>
          <a:ln/>
        </p:spPr>
        <p:txBody>
          <a:bodyPr wrap="square" lIns="85090" tIns="34036" rIns="85090" bIns="34036" rtlCol="0" anchor="t">
            <a:spAutoFit/>
          </a:bodyPr>
          <a:lstStyle/>
          <a:p>
            <a:pPr marL="0" indent="0" algn="l">
              <a:buNone/>
            </a:pPr>
            <a:r>
              <a:rPr lang="en-US" sz="600" b="1" dirty="0">
                <a:solidFill>
                  <a:srgbClr val="475569"/>
                </a:solidFill>
                <a:latin typeface="Pretendard Variable" pitchFamily="34" charset="0"/>
                <a:ea typeface="Pretendard Variable" pitchFamily="34" charset="-122"/>
                <a:cs typeface="Pretendard Variable" pitchFamily="34" charset="-120"/>
              </a:rPr>
              <a:t>Source: 정부24 체류기간연장허가 안내</a:t>
            </a:r>
            <a:endParaRPr lang="en-US" sz="600" dirty="0"/>
          </a:p>
        </p:txBody>
      </p:sp>
      <p:sp>
        <p:nvSpPr>
          <p:cNvPr id="28" name="Shape 23"/>
          <p:cNvSpPr/>
          <p:nvPr/>
        </p:nvSpPr>
        <p:spPr>
          <a:xfrm>
            <a:off x="5000625" y="2714234"/>
            <a:ext cx="228600" cy="228600"/>
          </a:xfrm>
          <a:prstGeom prst="ellipse">
            <a:avLst/>
          </a:prstGeom>
          <a:solidFill>
            <a:srgbClr val="2563EB"/>
          </a:solidFill>
          <a:ln/>
        </p:spPr>
      </p:sp>
      <p:sp>
        <p:nvSpPr>
          <p:cNvPr id="29" name="Text 24"/>
          <p:cNvSpPr/>
          <p:nvPr/>
        </p:nvSpPr>
        <p:spPr>
          <a:xfrm>
            <a:off x="5000625" y="2714234"/>
            <a:ext cx="228600" cy="228600"/>
          </a:xfrm>
          <a:prstGeom prst="rect">
            <a:avLst/>
          </a:prstGeom>
          <a:noFill/>
          <a:ln/>
        </p:spPr>
        <p:txBody>
          <a:bodyPr wrap="none" lIns="0" tIns="0" rIns="0" bIns="0" rtlCol="0" anchor="ctr">
            <a:spAutoFit/>
          </a:bodyPr>
          <a:lstStyle/>
          <a:p>
            <a:pPr marL="0" indent="0" algn="ctr">
              <a:buNone/>
            </a:pPr>
            <a:r>
              <a:rPr lang="en-US" sz="800" b="1" dirty="0">
                <a:solidFill>
                  <a:srgbClr val="FFFFFF"/>
                </a:solidFill>
                <a:latin typeface="Pretendard Variable" pitchFamily="34" charset="0"/>
                <a:ea typeface="Pretendard Variable" pitchFamily="34" charset="-122"/>
                <a:cs typeface="Pretendard Variable" pitchFamily="34" charset="-120"/>
              </a:rPr>
              <a:t>4</a:t>
            </a:r>
            <a:endParaRPr lang="en-US" sz="800" dirty="0"/>
          </a:p>
        </p:txBody>
      </p:sp>
      <p:sp>
        <p:nvSpPr>
          <p:cNvPr id="30" name="Text 25"/>
          <p:cNvSpPr/>
          <p:nvPr/>
        </p:nvSpPr>
        <p:spPr>
          <a:xfrm>
            <a:off x="5343525" y="2714234"/>
            <a:ext cx="3014663" cy="169664"/>
          </a:xfrm>
          <a:prstGeom prst="rect">
            <a:avLst/>
          </a:prstGeom>
          <a:noFill/>
          <a:ln/>
        </p:spPr>
        <p:txBody>
          <a:bodyPr wrap="square" lIns="0" tIns="0" rIns="0" bIns="0" rtlCol="0" anchor="t">
            <a:spAutoFit/>
          </a:bodyPr>
          <a:lstStyle/>
          <a:p>
            <a:pPr marL="0" indent="0" algn="l">
              <a:buNone/>
            </a:pPr>
            <a:r>
              <a:rPr lang="en-US" sz="1000" b="1" dirty="0">
                <a:solidFill>
                  <a:srgbClr val="0F172A"/>
                </a:solidFill>
                <a:latin typeface="Pretendard Variable" pitchFamily="34" charset="0"/>
                <a:ea typeface="Pretendard Variable" pitchFamily="34" charset="-122"/>
                <a:cs typeface="Pretendard Variable" pitchFamily="34" charset="-120"/>
              </a:rPr>
              <a:t>법령정보센터 표준 서식</a:t>
            </a:r>
            <a:endParaRPr lang="en-US" sz="1000" dirty="0"/>
          </a:p>
        </p:txBody>
      </p:sp>
      <p:sp>
        <p:nvSpPr>
          <p:cNvPr id="31" name="Text 26"/>
          <p:cNvSpPr/>
          <p:nvPr/>
        </p:nvSpPr>
        <p:spPr>
          <a:xfrm>
            <a:off x="5343525" y="2926761"/>
            <a:ext cx="3014663" cy="365727"/>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475569"/>
                </a:solidFill>
                <a:latin typeface="Pretendard Variable" pitchFamily="34" charset="0"/>
                <a:ea typeface="Pretendard Variable" pitchFamily="34" charset="-122"/>
                <a:cs typeface="Pretendard Variable" pitchFamily="34" charset="-120"/>
              </a:rPr>
              <a:t>외국인근로자 고용변동 신고서 및 유의사항 등 최신 법정 서식 데이터 기반의 항목 검증</a:t>
            </a:r>
            <a:endParaRPr lang="en-US" sz="850" dirty="0"/>
          </a:p>
        </p:txBody>
      </p:sp>
      <p:sp>
        <p:nvSpPr>
          <p:cNvPr id="32" name="Shape 27"/>
          <p:cNvSpPr/>
          <p:nvPr/>
        </p:nvSpPr>
        <p:spPr>
          <a:xfrm>
            <a:off x="5343525" y="3363925"/>
            <a:ext cx="1541264" cy="160734"/>
          </a:xfrm>
          <a:prstGeom prst="rect">
            <a:avLst/>
          </a:prstGeom>
          <a:solidFill>
            <a:srgbClr val="E2E8F0"/>
          </a:solidFill>
          <a:ln/>
        </p:spPr>
      </p:sp>
      <p:sp>
        <p:nvSpPr>
          <p:cNvPr id="33" name="Text 28"/>
          <p:cNvSpPr/>
          <p:nvPr/>
        </p:nvSpPr>
        <p:spPr>
          <a:xfrm>
            <a:off x="5343525" y="3363925"/>
            <a:ext cx="1541264" cy="160734"/>
          </a:xfrm>
          <a:prstGeom prst="rect">
            <a:avLst/>
          </a:prstGeom>
          <a:noFill/>
          <a:ln/>
        </p:spPr>
        <p:txBody>
          <a:bodyPr wrap="square" lIns="85090" tIns="34036" rIns="85090" bIns="34036" rtlCol="0" anchor="t">
            <a:spAutoFit/>
          </a:bodyPr>
          <a:lstStyle/>
          <a:p>
            <a:pPr marL="0" indent="0" algn="l">
              <a:buNone/>
            </a:pPr>
            <a:r>
              <a:rPr lang="en-US" sz="600" b="1" dirty="0">
                <a:solidFill>
                  <a:srgbClr val="475569"/>
                </a:solidFill>
                <a:latin typeface="Pretendard Variable" pitchFamily="34" charset="0"/>
                <a:ea typeface="Pretendard Variable" pitchFamily="34" charset="-122"/>
                <a:cs typeface="Pretendard Variable" pitchFamily="34" charset="-120"/>
              </a:rPr>
              <a:t>Source: 국가법령정보센터 행정규칙 서식</a:t>
            </a:r>
            <a:endParaRPr lang="en-US" sz="600" dirty="0"/>
          </a:p>
        </p:txBody>
      </p:sp>
      <p:sp>
        <p:nvSpPr>
          <p:cNvPr id="35" name="Text 3">
            <a:extLst>
              <a:ext uri="{FF2B5EF4-FFF2-40B4-BE49-F238E27FC236}">
                <a16:creationId xmlns:a16="http://schemas.microsoft.com/office/drawing/2014/main" id="{799881AC-9588-7092-7D56-8D491DB34944}"/>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en-US" altLang="ko-KR" sz="1200" b="1" dirty="0">
                <a:latin typeface="Pretendard"/>
              </a:rPr>
              <a:t> </a:t>
            </a:r>
            <a:r>
              <a:rPr lang="en-US" altLang="ko-KR" sz="1200" dirty="0">
                <a:solidFill>
                  <a:schemeClr val="tx1">
                    <a:lumMod val="65000"/>
                    <a:lumOff val="35000"/>
                  </a:schemeClr>
                </a:solidFill>
                <a:latin typeface="Pretendard"/>
              </a:rPr>
              <a:t>– </a:t>
            </a:r>
            <a:r>
              <a:rPr lang="en-US" altLang="ko-KR" sz="1200" b="1" dirty="0">
                <a:latin typeface="Pretendard"/>
              </a:rPr>
              <a:t>How</a:t>
            </a:r>
            <a:r>
              <a:rPr lang="en-US" altLang="ko-KR" sz="1200" dirty="0">
                <a:solidFill>
                  <a:schemeClr val="tx1">
                    <a:lumMod val="65000"/>
                    <a:lumOff val="35000"/>
                  </a:schemeClr>
                </a:solidFill>
                <a:latin typeface="Pretendard"/>
              </a:rPr>
              <a:t> – So what?  </a:t>
            </a:r>
            <a:endParaRPr lang="en-US" sz="1200" dirty="0">
              <a:solidFill>
                <a:schemeClr val="tx1">
                  <a:lumMod val="65000"/>
                  <a:lumOff val="35000"/>
                </a:schemeClr>
              </a:solidFill>
              <a:latin typeface="Pretendar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757238" y="456307"/>
            <a:ext cx="5314950" cy="346249"/>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4. RAG </a:t>
            </a:r>
            <a:r>
              <a:rPr lang="en-US" sz="2250" b="1" dirty="0" err="1">
                <a:solidFill>
                  <a:srgbClr val="0F172A"/>
                </a:solidFill>
                <a:latin typeface="Pretendard Variable" pitchFamily="34" charset="0"/>
                <a:ea typeface="Pretendard Variable" pitchFamily="34" charset="-122"/>
                <a:cs typeface="Pretendard Variable" pitchFamily="34" charset="-120"/>
              </a:rPr>
              <a:t>설계</a:t>
            </a:r>
            <a:r>
              <a:rPr lang="en-US" sz="2250" b="1" dirty="0">
                <a:solidFill>
                  <a:srgbClr val="0F172A"/>
                </a:solidFill>
                <a:latin typeface="Pretendard Variable" pitchFamily="34" charset="0"/>
                <a:ea typeface="Pretendard Variable" pitchFamily="34" charset="-122"/>
                <a:cs typeface="Pretendard Variable" pitchFamily="34" charset="-120"/>
              </a:rPr>
              <a:t> 2 : 메시지 및 전문가 </a:t>
            </a:r>
            <a:r>
              <a:rPr lang="en-US" sz="2250" b="1" dirty="0" err="1">
                <a:solidFill>
                  <a:srgbClr val="0F172A"/>
                </a:solidFill>
                <a:latin typeface="Pretendard Variable" pitchFamily="34" charset="0"/>
                <a:ea typeface="Pretendard Variable" pitchFamily="34" charset="-122"/>
                <a:cs typeface="Pretendard Variable" pitchFamily="34" charset="-120"/>
              </a:rPr>
              <a:t>전달</a:t>
            </a:r>
            <a:r>
              <a:rPr lang="en-US" sz="2250" b="1" dirty="0">
                <a:solidFill>
                  <a:srgbClr val="0F172A"/>
                </a:solidFill>
                <a:latin typeface="Pretendard Variable" pitchFamily="34" charset="0"/>
                <a:ea typeface="Pretendard Variable" pitchFamily="34" charset="-122"/>
                <a:cs typeface="Pretendard Variable" pitchFamily="34" charset="-120"/>
              </a:rPr>
              <a:t> 근</a:t>
            </a:r>
            <a:r>
              <a:rPr lang="ko-KR" altLang="en-US" sz="2250" b="1" dirty="0">
                <a:solidFill>
                  <a:srgbClr val="0F172A"/>
                </a:solidFill>
                <a:latin typeface="Pretendard Variable" pitchFamily="34" charset="0"/>
                <a:ea typeface="Pretendard Variable" pitchFamily="34" charset="-122"/>
                <a:cs typeface="Pretendard Variable" pitchFamily="34" charset="-120"/>
              </a:rPr>
              <a:t>거</a:t>
            </a:r>
            <a:endParaRPr lang="en-US" sz="2250" dirty="0"/>
          </a:p>
        </p:txBody>
      </p:sp>
      <p:pic>
        <p:nvPicPr>
          <p:cNvPr id="4" name="Image 1" descr="preencoded.png"/>
          <p:cNvPicPr>
            <a:picLocks noChangeAspect="1"/>
          </p:cNvPicPr>
          <p:nvPr/>
        </p:nvPicPr>
        <p:blipFill>
          <a:blip r:embed="rId3"/>
          <a:stretch>
            <a:fillRect/>
          </a:stretch>
        </p:blipFill>
        <p:spPr>
          <a:xfrm>
            <a:off x="571500" y="1159073"/>
            <a:ext cx="171450" cy="171450"/>
          </a:xfrm>
          <a:prstGeom prst="rect">
            <a:avLst/>
          </a:prstGeom>
        </p:spPr>
      </p:pic>
      <p:sp>
        <p:nvSpPr>
          <p:cNvPr id="5" name="Text 1"/>
          <p:cNvSpPr/>
          <p:nvPr/>
        </p:nvSpPr>
        <p:spPr>
          <a:xfrm>
            <a:off x="828675" y="1143000"/>
            <a:ext cx="1661077" cy="184666"/>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업무 메시지 생성 근거</a:t>
            </a:r>
            <a:endParaRPr lang="en-US" sz="1200" dirty="0"/>
          </a:p>
        </p:txBody>
      </p:sp>
      <p:sp>
        <p:nvSpPr>
          <p:cNvPr id="6" name="Shape 2"/>
          <p:cNvSpPr/>
          <p:nvPr/>
        </p:nvSpPr>
        <p:spPr>
          <a:xfrm>
            <a:off x="571500" y="1518047"/>
            <a:ext cx="3786188" cy="2865579"/>
          </a:xfrm>
          <a:prstGeom prst="rect">
            <a:avLst/>
          </a:prstGeom>
          <a:solidFill>
            <a:srgbClr val="0F172A"/>
          </a:solidFill>
          <a:ln/>
        </p:spPr>
      </p:sp>
      <p:sp>
        <p:nvSpPr>
          <p:cNvPr id="7" name="Text 3"/>
          <p:cNvSpPr/>
          <p:nvPr/>
        </p:nvSpPr>
        <p:spPr>
          <a:xfrm>
            <a:off x="857250" y="1803797"/>
            <a:ext cx="3214688" cy="169664"/>
          </a:xfrm>
          <a:prstGeom prst="rect">
            <a:avLst/>
          </a:prstGeom>
          <a:noFill/>
          <a:ln/>
        </p:spPr>
        <p:txBody>
          <a:bodyPr wrap="square" lIns="0" tIns="0" rIns="0" bIns="0" rtlCol="0" anchor="t">
            <a:spAutoFit/>
          </a:bodyPr>
          <a:lstStyle/>
          <a:p>
            <a:pPr marL="0" indent="0" algn="l">
              <a:buNone/>
            </a:pPr>
            <a:r>
              <a:rPr lang="en-US" sz="1050" dirty="0">
                <a:solidFill>
                  <a:srgbClr val="94A3B8"/>
                </a:solidFill>
                <a:latin typeface="Pretendard Variable" pitchFamily="34" charset="0"/>
                <a:ea typeface="Pretendard Variable" pitchFamily="34" charset="-122"/>
                <a:cs typeface="Pretendard Variable" pitchFamily="34" charset="-120"/>
              </a:rPr>
              <a:t>단순 번역을 넘어선 </a:t>
            </a:r>
            <a:r>
              <a:rPr lang="en-US" sz="1000" b="1" dirty="0">
                <a:solidFill>
                  <a:srgbClr val="94A3B8"/>
                </a:solidFill>
                <a:latin typeface="Pretendard Variable" pitchFamily="34" charset="0"/>
                <a:ea typeface="Pretendard Variable" pitchFamily="34" charset="-122"/>
                <a:cs typeface="Pretendard Variable" pitchFamily="34" charset="-120"/>
              </a:rPr>
              <a:t>'행정적 타당성'</a:t>
            </a:r>
            <a:r>
              <a:rPr lang="en-US" sz="1050" dirty="0">
                <a:solidFill>
                  <a:srgbClr val="94A3B8"/>
                </a:solidFill>
                <a:latin typeface="Pretendard Variable" pitchFamily="34" charset="0"/>
                <a:ea typeface="Pretendard Variable" pitchFamily="34" charset="-122"/>
                <a:cs typeface="Pretendard Variable" pitchFamily="34" charset="-120"/>
              </a:rPr>
              <a:t> 확보</a:t>
            </a:r>
            <a:endParaRPr lang="en-US" sz="1050" dirty="0"/>
          </a:p>
        </p:txBody>
      </p:sp>
      <p:sp>
        <p:nvSpPr>
          <p:cNvPr id="8" name="Shape 4"/>
          <p:cNvSpPr/>
          <p:nvPr/>
        </p:nvSpPr>
        <p:spPr>
          <a:xfrm>
            <a:off x="857250" y="2144911"/>
            <a:ext cx="3214688" cy="1394817"/>
          </a:xfrm>
          <a:prstGeom prst="rect">
            <a:avLst/>
          </a:prstGeom>
          <a:solidFill>
            <a:srgbClr val="FFFFFF">
              <a:alpha val="5000"/>
            </a:srgbClr>
          </a:solidFill>
          <a:ln/>
        </p:spPr>
      </p:sp>
      <p:sp>
        <p:nvSpPr>
          <p:cNvPr id="9" name="Shape 5"/>
          <p:cNvSpPr/>
          <p:nvPr/>
        </p:nvSpPr>
        <p:spPr>
          <a:xfrm>
            <a:off x="857250" y="2144911"/>
            <a:ext cx="28575" cy="1394817"/>
          </a:xfrm>
          <a:prstGeom prst="rect">
            <a:avLst/>
          </a:prstGeom>
          <a:solidFill>
            <a:srgbClr val="2563EB"/>
          </a:solidFill>
          <a:ln/>
        </p:spPr>
      </p:sp>
      <p:pic>
        <p:nvPicPr>
          <p:cNvPr id="10" name="Image 2" descr="preencoded.png"/>
          <p:cNvPicPr>
            <a:picLocks noChangeAspect="1"/>
          </p:cNvPicPr>
          <p:nvPr/>
        </p:nvPicPr>
        <p:blipFill>
          <a:blip r:embed="rId4"/>
          <a:stretch>
            <a:fillRect/>
          </a:stretch>
        </p:blipFill>
        <p:spPr>
          <a:xfrm>
            <a:off x="1028700" y="2339966"/>
            <a:ext cx="121444" cy="121444"/>
          </a:xfrm>
          <a:prstGeom prst="rect">
            <a:avLst/>
          </a:prstGeom>
        </p:spPr>
      </p:pic>
      <p:sp>
        <p:nvSpPr>
          <p:cNvPr id="11" name="Text 6"/>
          <p:cNvSpPr/>
          <p:nvPr/>
        </p:nvSpPr>
        <p:spPr>
          <a:xfrm>
            <a:off x="1300472" y="2336241"/>
            <a:ext cx="2527101" cy="138499"/>
          </a:xfrm>
          <a:prstGeom prst="rect">
            <a:avLst/>
          </a:prstGeom>
          <a:noFill/>
          <a:ln/>
        </p:spPr>
        <p:txBody>
          <a:bodyPr wrap="square" lIns="0" tIns="0" rIns="0" bIns="0" rtlCol="0" anchor="t">
            <a:spAutoFit/>
          </a:bodyPr>
          <a:lstStyle/>
          <a:p>
            <a:pPr marL="0" indent="0" algn="l">
              <a:buNone/>
            </a:pPr>
            <a:r>
              <a:rPr lang="en-US" sz="850" b="1" dirty="0">
                <a:solidFill>
                  <a:srgbClr val="CBD5E1"/>
                </a:solidFill>
                <a:latin typeface="Pretendard Variable" pitchFamily="34" charset="0"/>
                <a:ea typeface="Pretendard Variable" pitchFamily="34" charset="-122"/>
                <a:cs typeface="Pretendard Variable" pitchFamily="34" charset="-120"/>
              </a:rPr>
              <a:t>필요성:</a:t>
            </a:r>
            <a:r>
              <a:rPr lang="en-US" sz="900" dirty="0">
                <a:solidFill>
                  <a:srgbClr val="CBD5E1"/>
                </a:solidFill>
                <a:latin typeface="Pretendard Variable" pitchFamily="34" charset="0"/>
                <a:ea typeface="Pretendard Variable" pitchFamily="34" charset="-122"/>
                <a:cs typeface="Pretendard Variable" pitchFamily="34" charset="-120"/>
              </a:rPr>
              <a:t> 왜 이 서류가 필요한지 법적 근거 명시</a:t>
            </a:r>
            <a:endParaRPr lang="en-US" sz="850" dirty="0"/>
          </a:p>
        </p:txBody>
      </p:sp>
      <p:pic>
        <p:nvPicPr>
          <p:cNvPr id="12" name="Image 3" descr="preencoded.png"/>
          <p:cNvPicPr>
            <a:picLocks noChangeAspect="1"/>
          </p:cNvPicPr>
          <p:nvPr/>
        </p:nvPicPr>
        <p:blipFill>
          <a:blip r:embed="rId5"/>
          <a:stretch>
            <a:fillRect/>
          </a:stretch>
        </p:blipFill>
        <p:spPr>
          <a:xfrm>
            <a:off x="1028700" y="2589375"/>
            <a:ext cx="107156" cy="121444"/>
          </a:xfrm>
          <a:prstGeom prst="rect">
            <a:avLst/>
          </a:prstGeom>
        </p:spPr>
      </p:pic>
      <p:sp>
        <p:nvSpPr>
          <p:cNvPr id="13" name="Text 7"/>
          <p:cNvSpPr/>
          <p:nvPr/>
        </p:nvSpPr>
        <p:spPr>
          <a:xfrm>
            <a:off x="1301096" y="2580681"/>
            <a:ext cx="2527100" cy="138499"/>
          </a:xfrm>
          <a:prstGeom prst="rect">
            <a:avLst/>
          </a:prstGeom>
          <a:noFill/>
          <a:ln/>
        </p:spPr>
        <p:txBody>
          <a:bodyPr wrap="square" lIns="0" tIns="0" rIns="0" bIns="0" rtlCol="0" anchor="t">
            <a:spAutoFit/>
          </a:bodyPr>
          <a:lstStyle/>
          <a:p>
            <a:pPr marL="0" indent="0" algn="l">
              <a:buNone/>
            </a:pPr>
            <a:r>
              <a:rPr lang="en-US" sz="850" b="1" dirty="0">
                <a:solidFill>
                  <a:srgbClr val="CBD5E1"/>
                </a:solidFill>
                <a:latin typeface="Pretendard Variable" pitchFamily="34" charset="0"/>
                <a:ea typeface="Pretendard Variable" pitchFamily="34" charset="-122"/>
                <a:cs typeface="Pretendard Variable" pitchFamily="34" charset="-120"/>
              </a:rPr>
              <a:t>기한:</a:t>
            </a:r>
            <a:r>
              <a:rPr lang="en-US" sz="900" dirty="0">
                <a:solidFill>
                  <a:srgbClr val="CBD5E1"/>
                </a:solidFill>
                <a:latin typeface="Pretendard Variable" pitchFamily="34" charset="0"/>
                <a:ea typeface="Pretendard Variable" pitchFamily="34" charset="-122"/>
                <a:cs typeface="Pretendard Variable" pitchFamily="34" charset="-120"/>
              </a:rPr>
              <a:t> 행정 절차상 준수해야 할 데드라인 안내</a:t>
            </a:r>
            <a:endParaRPr lang="en-US" sz="850" dirty="0"/>
          </a:p>
        </p:txBody>
      </p:sp>
      <p:sp>
        <p:nvSpPr>
          <p:cNvPr id="14" name="Text 8"/>
          <p:cNvSpPr/>
          <p:nvPr/>
        </p:nvSpPr>
        <p:spPr>
          <a:xfrm>
            <a:off x="1288365" y="2844998"/>
            <a:ext cx="2527100" cy="138499"/>
          </a:xfrm>
          <a:prstGeom prst="rect">
            <a:avLst/>
          </a:prstGeom>
          <a:noFill/>
          <a:ln/>
        </p:spPr>
        <p:txBody>
          <a:bodyPr wrap="square" lIns="0" tIns="0" rIns="0" bIns="0" rtlCol="0" anchor="t">
            <a:spAutoFit/>
          </a:bodyPr>
          <a:lstStyle/>
          <a:p>
            <a:pPr marL="0" indent="0" algn="l">
              <a:buNone/>
            </a:pPr>
            <a:r>
              <a:rPr lang="en-US" sz="850" b="1" dirty="0">
                <a:solidFill>
                  <a:srgbClr val="CBD5E1"/>
                </a:solidFill>
                <a:latin typeface="Pretendard Variable" pitchFamily="34" charset="0"/>
                <a:ea typeface="Pretendard Variable" pitchFamily="34" charset="-122"/>
                <a:cs typeface="Pretendard Variable" pitchFamily="34" charset="-120"/>
              </a:rPr>
              <a:t>개인정보:</a:t>
            </a:r>
            <a:r>
              <a:rPr lang="en-US" sz="900" dirty="0">
                <a:solidFill>
                  <a:srgbClr val="CBD5E1"/>
                </a:solidFill>
                <a:latin typeface="Pretendard Variable" pitchFamily="34" charset="0"/>
                <a:ea typeface="Pretendard Variable" pitchFamily="34" charset="-122"/>
                <a:cs typeface="Pretendard Variable" pitchFamily="34" charset="-120"/>
              </a:rPr>
              <a:t> 서류의 사용 목적 및 파기 원칙 포함</a:t>
            </a:r>
            <a:endParaRPr lang="en-US" sz="850" dirty="0"/>
          </a:p>
        </p:txBody>
      </p:sp>
      <p:pic>
        <p:nvPicPr>
          <p:cNvPr id="15" name="Image 4" descr="preencoded.png"/>
          <p:cNvPicPr>
            <a:picLocks noChangeAspect="1"/>
          </p:cNvPicPr>
          <p:nvPr/>
        </p:nvPicPr>
        <p:blipFill>
          <a:blip r:embed="rId6"/>
          <a:stretch>
            <a:fillRect/>
          </a:stretch>
        </p:blipFill>
        <p:spPr>
          <a:xfrm>
            <a:off x="1028700" y="3132534"/>
            <a:ext cx="151805" cy="121444"/>
          </a:xfrm>
          <a:prstGeom prst="rect">
            <a:avLst/>
          </a:prstGeom>
        </p:spPr>
      </p:pic>
      <p:sp>
        <p:nvSpPr>
          <p:cNvPr id="16" name="Text 9"/>
          <p:cNvSpPr/>
          <p:nvPr/>
        </p:nvSpPr>
        <p:spPr>
          <a:xfrm>
            <a:off x="1266230" y="3103959"/>
            <a:ext cx="2375295" cy="138499"/>
          </a:xfrm>
          <a:prstGeom prst="rect">
            <a:avLst/>
          </a:prstGeom>
          <a:noFill/>
          <a:ln/>
        </p:spPr>
        <p:txBody>
          <a:bodyPr wrap="square" lIns="0" tIns="0" rIns="0" bIns="0" rtlCol="0" anchor="t">
            <a:spAutoFit/>
          </a:bodyPr>
          <a:lstStyle/>
          <a:p>
            <a:pPr marL="0" indent="0" algn="l">
              <a:buNone/>
            </a:pPr>
            <a:r>
              <a:rPr lang="en-US" sz="850" b="1" dirty="0">
                <a:solidFill>
                  <a:srgbClr val="CBD5E1"/>
                </a:solidFill>
                <a:latin typeface="Pretendard Variable" pitchFamily="34" charset="0"/>
                <a:ea typeface="Pretendard Variable" pitchFamily="34" charset="-122"/>
                <a:cs typeface="Pretendard Variable" pitchFamily="34" charset="-120"/>
              </a:rPr>
              <a:t>승인:</a:t>
            </a:r>
            <a:r>
              <a:rPr lang="en-US" sz="900" dirty="0">
                <a:solidFill>
                  <a:srgbClr val="CBD5E1"/>
                </a:solidFill>
                <a:latin typeface="Pretendard Variable" pitchFamily="34" charset="0"/>
                <a:ea typeface="Pretendard Variable" pitchFamily="34" charset="-122"/>
                <a:cs typeface="Pretendard Variable" pitchFamily="34" charset="-120"/>
              </a:rPr>
              <a:t> 담당자 최종 검토 후 발송되는 안전 장치</a:t>
            </a:r>
            <a:endParaRPr lang="en-US" sz="850" dirty="0"/>
          </a:p>
        </p:txBody>
      </p:sp>
      <p:pic>
        <p:nvPicPr>
          <p:cNvPr id="17" name="Image 5" descr="preencoded.png"/>
          <p:cNvPicPr>
            <a:picLocks noChangeAspect="1"/>
          </p:cNvPicPr>
          <p:nvPr/>
        </p:nvPicPr>
        <p:blipFill>
          <a:blip r:embed="rId7"/>
          <a:stretch>
            <a:fillRect/>
          </a:stretch>
        </p:blipFill>
        <p:spPr>
          <a:xfrm>
            <a:off x="4786313" y="1159073"/>
            <a:ext cx="192881" cy="171450"/>
          </a:xfrm>
          <a:prstGeom prst="rect">
            <a:avLst/>
          </a:prstGeom>
        </p:spPr>
      </p:pic>
      <p:sp>
        <p:nvSpPr>
          <p:cNvPr id="18" name="Text 10"/>
          <p:cNvSpPr/>
          <p:nvPr/>
        </p:nvSpPr>
        <p:spPr>
          <a:xfrm>
            <a:off x="5064919" y="1143000"/>
            <a:ext cx="1942168" cy="184666"/>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행정사 전달 패키지의 근거</a:t>
            </a:r>
            <a:endParaRPr lang="en-US" sz="1200" dirty="0"/>
          </a:p>
        </p:txBody>
      </p:sp>
      <p:sp>
        <p:nvSpPr>
          <p:cNvPr id="19" name="Shape 11"/>
          <p:cNvSpPr/>
          <p:nvPr/>
        </p:nvSpPr>
        <p:spPr>
          <a:xfrm>
            <a:off x="4786313" y="1518047"/>
            <a:ext cx="3786188" cy="2865579"/>
          </a:xfrm>
          <a:prstGeom prst="rect">
            <a:avLst/>
          </a:prstGeom>
          <a:solidFill>
            <a:srgbClr val="F8FAFC"/>
          </a:solidFill>
          <a:ln w="9144">
            <a:solidFill>
              <a:srgbClr val="E2E8F0"/>
            </a:solidFill>
            <a:prstDash val="solid"/>
          </a:ln>
        </p:spPr>
      </p:sp>
      <p:sp>
        <p:nvSpPr>
          <p:cNvPr id="20" name="Shape 12"/>
          <p:cNvSpPr/>
          <p:nvPr/>
        </p:nvSpPr>
        <p:spPr>
          <a:xfrm>
            <a:off x="5072063" y="1803797"/>
            <a:ext cx="1396603" cy="205383"/>
          </a:xfrm>
          <a:prstGeom prst="rect">
            <a:avLst/>
          </a:prstGeom>
          <a:solidFill>
            <a:srgbClr val="0F172A"/>
          </a:solidFill>
          <a:ln/>
        </p:spPr>
      </p:sp>
      <p:sp>
        <p:nvSpPr>
          <p:cNvPr id="21" name="Text 13"/>
          <p:cNvSpPr/>
          <p:nvPr/>
        </p:nvSpPr>
        <p:spPr>
          <a:xfrm>
            <a:off x="5072063" y="1803797"/>
            <a:ext cx="1396603" cy="205383"/>
          </a:xfrm>
          <a:prstGeom prst="rect">
            <a:avLst/>
          </a:prstGeom>
          <a:noFill/>
          <a:ln/>
        </p:spPr>
        <p:txBody>
          <a:bodyPr wrap="square" lIns="119126" tIns="51054" rIns="119126" bIns="51054" rtlCol="0" anchor="t">
            <a:spAutoFit/>
          </a:bodyPr>
          <a:lstStyle/>
          <a:p>
            <a:pPr marL="0" indent="0" algn="l">
              <a:buNone/>
            </a:pPr>
            <a:r>
              <a:rPr lang="en-US" sz="700" b="1" dirty="0">
                <a:solidFill>
                  <a:srgbClr val="FFFFFF"/>
                </a:solidFill>
                <a:latin typeface="Pretendard Variable" pitchFamily="34" charset="0"/>
                <a:ea typeface="Pretendard Variable" pitchFamily="34" charset="-122"/>
                <a:cs typeface="Pretendard Variable" pitchFamily="34" charset="-120"/>
              </a:rPr>
              <a:t>Evidence-Based Handoff</a:t>
            </a:r>
            <a:endParaRPr lang="en-US" sz="700" dirty="0"/>
          </a:p>
        </p:txBody>
      </p:sp>
      <p:sp>
        <p:nvSpPr>
          <p:cNvPr id="22" name="Text 14"/>
          <p:cNvSpPr/>
          <p:nvPr/>
        </p:nvSpPr>
        <p:spPr>
          <a:xfrm>
            <a:off x="5072063" y="2152055"/>
            <a:ext cx="3214688" cy="457200"/>
          </a:xfrm>
          <a:prstGeom prst="rect">
            <a:avLst/>
          </a:prstGeom>
          <a:noFill/>
          <a:ln/>
        </p:spPr>
        <p:txBody>
          <a:bodyPr wrap="square" lIns="0" tIns="0" rIns="0" bIns="0" rtlCol="0" anchor="t">
            <a:spAutoFit/>
          </a:bodyPr>
          <a:lstStyle/>
          <a:p>
            <a:pPr marL="0" indent="0" algn="l">
              <a:lnSpc>
                <a:spcPct val="128000"/>
              </a:lnSpc>
              <a:buNone/>
            </a:pPr>
            <a:r>
              <a:rPr lang="en-US" sz="1000" b="1" dirty="0">
                <a:solidFill>
                  <a:srgbClr val="0F172A"/>
                </a:solidFill>
                <a:latin typeface="Pretendard Variable" pitchFamily="34" charset="0"/>
                <a:ea typeface="Pretendard Variable" pitchFamily="34" charset="-122"/>
                <a:cs typeface="Pretendard Variable" pitchFamily="34" charset="-120"/>
              </a:rPr>
              <a:t>"AI의 주관적 요약이 아닌,
객관적 데이터와 근거를 묶어 전달합니다."</a:t>
            </a:r>
            <a:endParaRPr lang="en-US" sz="1000" dirty="0"/>
          </a:p>
        </p:txBody>
      </p:sp>
      <p:pic>
        <p:nvPicPr>
          <p:cNvPr id="23" name="Image 6" descr="preencoded.png"/>
          <p:cNvPicPr>
            <a:picLocks noChangeAspect="1"/>
          </p:cNvPicPr>
          <p:nvPr/>
        </p:nvPicPr>
        <p:blipFill>
          <a:blip r:embed="rId8"/>
          <a:stretch>
            <a:fillRect/>
          </a:stretch>
        </p:blipFill>
        <p:spPr>
          <a:xfrm>
            <a:off x="5072063" y="2792313"/>
            <a:ext cx="121444" cy="121444"/>
          </a:xfrm>
          <a:prstGeom prst="rect">
            <a:avLst/>
          </a:prstGeom>
        </p:spPr>
      </p:pic>
      <p:sp>
        <p:nvSpPr>
          <p:cNvPr id="24" name="Text 15"/>
          <p:cNvSpPr/>
          <p:nvPr/>
        </p:nvSpPr>
        <p:spPr>
          <a:xfrm>
            <a:off x="5279231" y="2780705"/>
            <a:ext cx="1802011" cy="144661"/>
          </a:xfrm>
          <a:prstGeom prst="rect">
            <a:avLst/>
          </a:prstGeom>
          <a:noFill/>
          <a:ln/>
        </p:spPr>
        <p:txBody>
          <a:bodyPr wrap="square" lIns="0" tIns="0" rIns="0" bIns="0" rtlCol="0" anchor="t">
            <a:spAutoFit/>
          </a:bodyPr>
          <a:lstStyle/>
          <a:p>
            <a:pPr marL="0" indent="0" algn="l">
              <a:buNone/>
            </a:pPr>
            <a:r>
              <a:rPr lang="en-US" sz="900" dirty="0">
                <a:solidFill>
                  <a:srgbClr val="475569"/>
                </a:solidFill>
                <a:latin typeface="Pretendard Variable" pitchFamily="34" charset="0"/>
                <a:ea typeface="Pretendard Variable" pitchFamily="34" charset="-122"/>
                <a:cs typeface="Pretendard Variable" pitchFamily="34" charset="-120"/>
              </a:rPr>
              <a:t>체류 상태: Nguyen (D-76 만료 임박)</a:t>
            </a:r>
            <a:endParaRPr lang="en-US" sz="900" dirty="0"/>
          </a:p>
        </p:txBody>
      </p:sp>
      <p:pic>
        <p:nvPicPr>
          <p:cNvPr id="25" name="Image 7" descr="preencoded.png"/>
          <p:cNvPicPr>
            <a:picLocks noChangeAspect="1"/>
          </p:cNvPicPr>
          <p:nvPr/>
        </p:nvPicPr>
        <p:blipFill>
          <a:blip r:embed="rId9"/>
          <a:stretch>
            <a:fillRect/>
          </a:stretch>
        </p:blipFill>
        <p:spPr>
          <a:xfrm>
            <a:off x="5072063" y="3022699"/>
            <a:ext cx="121444" cy="121444"/>
          </a:xfrm>
          <a:prstGeom prst="rect">
            <a:avLst/>
          </a:prstGeom>
        </p:spPr>
      </p:pic>
      <p:sp>
        <p:nvSpPr>
          <p:cNvPr id="26" name="Text 16"/>
          <p:cNvSpPr/>
          <p:nvPr/>
        </p:nvSpPr>
        <p:spPr>
          <a:xfrm>
            <a:off x="5279231" y="3011091"/>
            <a:ext cx="2344082" cy="138499"/>
          </a:xfrm>
          <a:prstGeom prst="rect">
            <a:avLst/>
          </a:prstGeom>
          <a:noFill/>
          <a:ln/>
        </p:spPr>
        <p:txBody>
          <a:bodyPr wrap="square" lIns="0" tIns="0" rIns="0" bIns="0" rtlCol="0" anchor="t">
            <a:spAutoFit/>
          </a:bodyPr>
          <a:lstStyle/>
          <a:p>
            <a:pPr marL="0" indent="0" algn="l">
              <a:buNone/>
            </a:pPr>
            <a:r>
              <a:rPr lang="en-US" sz="900" dirty="0">
                <a:solidFill>
                  <a:srgbClr val="475569"/>
                </a:solidFill>
                <a:latin typeface="Pretendard Variable" pitchFamily="34" charset="0"/>
                <a:ea typeface="Pretendard Variable" pitchFamily="34" charset="-122"/>
                <a:cs typeface="Pretendard Variable" pitchFamily="34" charset="-120"/>
              </a:rPr>
              <a:t>누락 서류: 표준근로계약서, 고용허가서 사본</a:t>
            </a:r>
            <a:endParaRPr lang="en-US" sz="900" dirty="0"/>
          </a:p>
        </p:txBody>
      </p:sp>
      <p:pic>
        <p:nvPicPr>
          <p:cNvPr id="27" name="Image 8" descr="preencoded.png"/>
          <p:cNvPicPr>
            <a:picLocks noChangeAspect="1"/>
          </p:cNvPicPr>
          <p:nvPr/>
        </p:nvPicPr>
        <p:blipFill>
          <a:blip r:embed="rId10"/>
          <a:stretch>
            <a:fillRect/>
          </a:stretch>
        </p:blipFill>
        <p:spPr>
          <a:xfrm>
            <a:off x="5072063" y="3253085"/>
            <a:ext cx="121444" cy="121444"/>
          </a:xfrm>
          <a:prstGeom prst="rect">
            <a:avLst/>
          </a:prstGeom>
        </p:spPr>
      </p:pic>
      <p:sp>
        <p:nvSpPr>
          <p:cNvPr id="28" name="Text 17"/>
          <p:cNvSpPr/>
          <p:nvPr/>
        </p:nvSpPr>
        <p:spPr>
          <a:xfrm>
            <a:off x="5279231" y="3241477"/>
            <a:ext cx="2344082" cy="138499"/>
          </a:xfrm>
          <a:prstGeom prst="rect">
            <a:avLst/>
          </a:prstGeom>
          <a:noFill/>
          <a:ln/>
        </p:spPr>
        <p:txBody>
          <a:bodyPr wrap="square" lIns="0" tIns="0" rIns="0" bIns="0" rtlCol="0" anchor="t">
            <a:spAutoFit/>
          </a:bodyPr>
          <a:lstStyle/>
          <a:p>
            <a:pPr marL="0" indent="0" algn="l">
              <a:buNone/>
            </a:pPr>
            <a:r>
              <a:rPr lang="en-US" sz="900" dirty="0">
                <a:solidFill>
                  <a:srgbClr val="475569"/>
                </a:solidFill>
                <a:latin typeface="Pretendard Variable" pitchFamily="34" charset="0"/>
                <a:ea typeface="Pretendard Variable" pitchFamily="34" charset="-122"/>
                <a:cs typeface="Pretendard Variable" pitchFamily="34" charset="-120"/>
              </a:rPr>
              <a:t>검토 항목: 쿼터 잔여량 및 내국인 구인 노력</a:t>
            </a:r>
            <a:endParaRPr lang="en-US" sz="900" dirty="0"/>
          </a:p>
        </p:txBody>
      </p:sp>
      <p:pic>
        <p:nvPicPr>
          <p:cNvPr id="29" name="Image 9" descr="preencoded.png"/>
          <p:cNvPicPr>
            <a:picLocks noChangeAspect="1"/>
          </p:cNvPicPr>
          <p:nvPr/>
        </p:nvPicPr>
        <p:blipFill>
          <a:blip r:embed="rId11"/>
          <a:stretch>
            <a:fillRect/>
          </a:stretch>
        </p:blipFill>
        <p:spPr>
          <a:xfrm>
            <a:off x="5072063" y="3483471"/>
            <a:ext cx="121444" cy="121444"/>
          </a:xfrm>
          <a:prstGeom prst="rect">
            <a:avLst/>
          </a:prstGeom>
        </p:spPr>
      </p:pic>
      <p:sp>
        <p:nvSpPr>
          <p:cNvPr id="30" name="Text 18"/>
          <p:cNvSpPr/>
          <p:nvPr/>
        </p:nvSpPr>
        <p:spPr>
          <a:xfrm>
            <a:off x="5279231" y="3471863"/>
            <a:ext cx="2214873" cy="138499"/>
          </a:xfrm>
          <a:prstGeom prst="rect">
            <a:avLst/>
          </a:prstGeom>
          <a:noFill/>
          <a:ln/>
        </p:spPr>
        <p:txBody>
          <a:bodyPr wrap="square" lIns="0" tIns="0" rIns="0" bIns="0" rtlCol="0" anchor="t">
            <a:spAutoFit/>
          </a:bodyPr>
          <a:lstStyle/>
          <a:p>
            <a:pPr marL="0" indent="0" algn="l">
              <a:buNone/>
            </a:pPr>
            <a:r>
              <a:rPr lang="en-US" sz="900" dirty="0">
                <a:solidFill>
                  <a:srgbClr val="475569"/>
                </a:solidFill>
                <a:latin typeface="Pretendard Variable" pitchFamily="34" charset="0"/>
                <a:ea typeface="Pretendard Variable" pitchFamily="34" charset="-122"/>
                <a:cs typeface="Pretendard Variable" pitchFamily="34" charset="-120"/>
              </a:rPr>
              <a:t>감사 로그: AI 실행 계획 및 근거 문서 ID</a:t>
            </a:r>
            <a:endParaRPr lang="en-US" sz="900" dirty="0"/>
          </a:p>
        </p:txBody>
      </p:sp>
      <p:sp>
        <p:nvSpPr>
          <p:cNvPr id="33" name="Text 3">
            <a:extLst>
              <a:ext uri="{FF2B5EF4-FFF2-40B4-BE49-F238E27FC236}">
                <a16:creationId xmlns:a16="http://schemas.microsoft.com/office/drawing/2014/main" id="{335C8CE7-5AD1-B634-F12E-B0BCAB74E087}"/>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en-US" altLang="ko-KR" sz="1200" b="1" dirty="0">
                <a:latin typeface="Pretendard"/>
              </a:rPr>
              <a:t> </a:t>
            </a:r>
            <a:r>
              <a:rPr lang="en-US" altLang="ko-KR" sz="1200" dirty="0">
                <a:solidFill>
                  <a:schemeClr val="tx1">
                    <a:lumMod val="65000"/>
                    <a:lumOff val="35000"/>
                  </a:schemeClr>
                </a:solidFill>
                <a:latin typeface="Pretendard"/>
              </a:rPr>
              <a:t>– </a:t>
            </a:r>
            <a:r>
              <a:rPr lang="en-US" altLang="ko-KR" sz="1200" b="1" dirty="0">
                <a:latin typeface="Pretendard"/>
              </a:rPr>
              <a:t>How</a:t>
            </a:r>
            <a:r>
              <a:rPr lang="en-US" altLang="ko-KR" sz="1200" dirty="0">
                <a:solidFill>
                  <a:schemeClr val="tx1">
                    <a:lumMod val="65000"/>
                    <a:lumOff val="35000"/>
                  </a:schemeClr>
                </a:solidFill>
                <a:latin typeface="Pretendard"/>
              </a:rPr>
              <a:t> – So what?  </a:t>
            </a:r>
            <a:endParaRPr lang="en-US" sz="1200" dirty="0">
              <a:solidFill>
                <a:schemeClr val="tx1">
                  <a:lumMod val="65000"/>
                  <a:lumOff val="35000"/>
                </a:schemeClr>
              </a:solidFill>
              <a:latin typeface="Pretendar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7" y="509885"/>
            <a:ext cx="6662323" cy="369332"/>
          </a:xfrm>
          <a:prstGeom prst="rect">
            <a:avLst/>
          </a:prstGeom>
          <a:noFill/>
          <a:ln/>
        </p:spPr>
        <p:txBody>
          <a:bodyPr wrap="square" lIns="0" tIns="0" rIns="0" bIns="0" rtlCol="0" anchor="t">
            <a:spAutoFit/>
          </a:bodyPr>
          <a:lstStyle/>
          <a:p>
            <a:pPr marL="0" indent="0" algn="l">
              <a:buNone/>
            </a:pPr>
            <a:r>
              <a:rPr lang="en-US" sz="2400" b="1" dirty="0">
                <a:solidFill>
                  <a:srgbClr val="0F172A"/>
                </a:solidFill>
                <a:latin typeface="Pretendard"/>
                <a:ea typeface="Pretendard Variable" pitchFamily="34" charset="-122"/>
                <a:cs typeface="Pretendard Variable" pitchFamily="34" charset="-120"/>
              </a:rPr>
              <a:t>4. </a:t>
            </a:r>
            <a:r>
              <a:rPr lang="en-US" sz="2400" b="1" dirty="0" err="1">
                <a:solidFill>
                  <a:srgbClr val="0F172A"/>
                </a:solidFill>
                <a:latin typeface="Pretendard"/>
                <a:ea typeface="Pretendard Variable" pitchFamily="34" charset="-122"/>
                <a:cs typeface="Pretendard Variable" pitchFamily="34" charset="-120"/>
              </a:rPr>
              <a:t>데이터</a:t>
            </a:r>
            <a:r>
              <a:rPr lang="en-US" sz="2400" b="1" dirty="0">
                <a:solidFill>
                  <a:srgbClr val="0F172A"/>
                </a:solidFill>
                <a:latin typeface="Pretendard"/>
                <a:ea typeface="Pretendard Variable" pitchFamily="34" charset="-122"/>
                <a:cs typeface="Pretendard Variable" pitchFamily="34" charset="-120"/>
              </a:rPr>
              <a:t> </a:t>
            </a:r>
            <a:r>
              <a:rPr lang="en-US" sz="2400" b="1" dirty="0" err="1">
                <a:solidFill>
                  <a:srgbClr val="0F172A"/>
                </a:solidFill>
                <a:latin typeface="Pretendard"/>
                <a:ea typeface="Pretendard Variable" pitchFamily="34" charset="-122"/>
                <a:cs typeface="Pretendard Variable" pitchFamily="34" charset="-120"/>
              </a:rPr>
              <a:t>전략</a:t>
            </a:r>
            <a:endParaRPr lang="en-US" sz="2400" dirty="0">
              <a:latin typeface="Pretendard"/>
            </a:endParaRPr>
          </a:p>
        </p:txBody>
      </p:sp>
      <p:sp>
        <p:nvSpPr>
          <p:cNvPr id="4" name="Shape 1"/>
          <p:cNvSpPr/>
          <p:nvPr/>
        </p:nvSpPr>
        <p:spPr>
          <a:xfrm>
            <a:off x="571500" y="1428750"/>
            <a:ext cx="1101923" cy="250031"/>
          </a:xfrm>
          <a:prstGeom prst="rect">
            <a:avLst/>
          </a:prstGeom>
          <a:solidFill>
            <a:srgbClr val="DBEAFE"/>
          </a:solidFill>
          <a:ln/>
        </p:spPr>
      </p:sp>
      <p:sp>
        <p:nvSpPr>
          <p:cNvPr id="5" name="Text 2"/>
          <p:cNvSpPr/>
          <p:nvPr/>
        </p:nvSpPr>
        <p:spPr>
          <a:xfrm>
            <a:off x="571500" y="1428750"/>
            <a:ext cx="1101923" cy="250031"/>
          </a:xfrm>
          <a:prstGeom prst="rect">
            <a:avLst/>
          </a:prstGeom>
          <a:noFill/>
          <a:ln/>
        </p:spPr>
        <p:txBody>
          <a:bodyPr wrap="none" lIns="136017" tIns="68072" rIns="136017" bIns="68072" rtlCol="0" anchor="t">
            <a:spAutoFit/>
          </a:bodyPr>
          <a:lstStyle/>
          <a:p>
            <a:pPr marL="0" indent="0" algn="l">
              <a:buNone/>
            </a:pPr>
            <a:r>
              <a:rPr lang="en-US" sz="800" b="1" dirty="0">
                <a:solidFill>
                  <a:srgbClr val="2563EB"/>
                </a:solidFill>
                <a:latin typeface="Pretendard Variable" pitchFamily="34" charset="0"/>
                <a:ea typeface="Pretendard Variable" pitchFamily="34" charset="-122"/>
                <a:cs typeface="Pretendard Variable" pitchFamily="34" charset="-120"/>
              </a:rPr>
              <a:t>Data Integration</a:t>
            </a:r>
            <a:endParaRPr lang="en-US" sz="800" dirty="0"/>
          </a:p>
        </p:txBody>
      </p:sp>
      <p:sp>
        <p:nvSpPr>
          <p:cNvPr id="6" name="Text 3"/>
          <p:cNvSpPr/>
          <p:nvPr/>
        </p:nvSpPr>
        <p:spPr>
          <a:xfrm>
            <a:off x="571500" y="1893094"/>
            <a:ext cx="3095616" cy="668610"/>
          </a:xfrm>
          <a:prstGeom prst="rect">
            <a:avLst/>
          </a:prstGeom>
          <a:noFill/>
          <a:ln/>
        </p:spPr>
        <p:txBody>
          <a:bodyPr wrap="square" lIns="0" tIns="0" rIns="0" bIns="0" rtlCol="0" anchor="t">
            <a:spAutoFit/>
          </a:bodyPr>
          <a:lstStyle/>
          <a:p>
            <a:pPr marL="0" indent="0" algn="l">
              <a:lnSpc>
                <a:spcPct val="104000"/>
              </a:lnSpc>
              <a:buNone/>
            </a:pPr>
            <a:r>
              <a:rPr lang="en-US" sz="1800" b="1" dirty="0">
                <a:solidFill>
                  <a:srgbClr val="0F172A"/>
                </a:solidFill>
                <a:latin typeface="Pretendard Variable" pitchFamily="34" charset="0"/>
                <a:ea typeface="Pretendard Variable" pitchFamily="34" charset="-122"/>
                <a:cs typeface="Pretendard Variable" pitchFamily="34" charset="-120"/>
              </a:rPr>
              <a:t>파편화된 정보를
하나의 지능형 자산으로</a:t>
            </a:r>
            <a:endParaRPr lang="en-US" sz="1800" dirty="0"/>
          </a:p>
        </p:txBody>
      </p:sp>
      <p:sp>
        <p:nvSpPr>
          <p:cNvPr id="7" name="Text 4"/>
          <p:cNvSpPr/>
          <p:nvPr/>
        </p:nvSpPr>
        <p:spPr>
          <a:xfrm>
            <a:off x="571500" y="2776017"/>
            <a:ext cx="3095616" cy="801495"/>
          </a:xfrm>
          <a:prstGeom prst="rect">
            <a:avLst/>
          </a:prstGeom>
          <a:noFill/>
          <a:ln/>
        </p:spPr>
        <p:txBody>
          <a:bodyPr wrap="square" lIns="0" tIns="0" rIns="0" bIns="0" rtlCol="0" anchor="t">
            <a:spAutoFit/>
          </a:bodyPr>
          <a:lstStyle/>
          <a:p>
            <a:pPr marL="0" indent="0" algn="l">
              <a:lnSpc>
                <a:spcPct val="136000"/>
              </a:lnSpc>
              <a:buNone/>
            </a:pPr>
            <a:r>
              <a:rPr lang="en-US" sz="1150" dirty="0">
                <a:solidFill>
                  <a:srgbClr val="475569"/>
                </a:solidFill>
                <a:latin typeface="Pretendard Variable" pitchFamily="34" charset="0"/>
                <a:ea typeface="Pretendard Variable" pitchFamily="34" charset="-122"/>
                <a:cs typeface="Pretendard Variable" pitchFamily="34" charset="-120"/>
              </a:rPr>
              <a:t>외부의 법적 규제와 내부의 사업장 현황을 실시간으로 동기화하여, </a:t>
            </a:r>
            <a:r>
              <a:rPr lang="en-US" sz="1100" b="1" dirty="0">
                <a:solidFill>
                  <a:srgbClr val="2563EB"/>
                </a:solidFill>
                <a:latin typeface="Pretendard Variable" pitchFamily="34" charset="0"/>
                <a:ea typeface="Pretendard Variable" pitchFamily="34" charset="-122"/>
                <a:cs typeface="Pretendard Variable" pitchFamily="34" charset="-120"/>
              </a:rPr>
              <a:t>데이터에 기반한 의사결정</a:t>
            </a:r>
            <a:r>
              <a:rPr lang="en-US" sz="1150" dirty="0">
                <a:solidFill>
                  <a:srgbClr val="475569"/>
                </a:solidFill>
                <a:latin typeface="Pretendard Variable" pitchFamily="34" charset="0"/>
                <a:ea typeface="Pretendard Variable" pitchFamily="34" charset="-122"/>
                <a:cs typeface="Pretendard Variable" pitchFamily="34" charset="-120"/>
              </a:rPr>
              <a:t> 환경을 구축합니다.</a:t>
            </a:r>
            <a:endParaRPr lang="en-US" sz="1150" dirty="0"/>
          </a:p>
        </p:txBody>
      </p:sp>
      <p:sp>
        <p:nvSpPr>
          <p:cNvPr id="8" name="Shape 5"/>
          <p:cNvSpPr/>
          <p:nvPr/>
        </p:nvSpPr>
        <p:spPr>
          <a:xfrm>
            <a:off x="4238616" y="1428750"/>
            <a:ext cx="1253812" cy="455414"/>
          </a:xfrm>
          <a:prstGeom prst="rect">
            <a:avLst/>
          </a:prstGeom>
          <a:solidFill>
            <a:srgbClr val="0F172A"/>
          </a:solidFill>
          <a:ln/>
        </p:spPr>
      </p:sp>
      <p:sp>
        <p:nvSpPr>
          <p:cNvPr id="9" name="Text 6"/>
          <p:cNvSpPr/>
          <p:nvPr/>
        </p:nvSpPr>
        <p:spPr>
          <a:xfrm>
            <a:off x="4238616" y="1428750"/>
            <a:ext cx="1253812" cy="455414"/>
          </a:xfrm>
          <a:prstGeom prst="rect">
            <a:avLst/>
          </a:prstGeom>
          <a:noFill/>
          <a:ln/>
        </p:spPr>
        <p:txBody>
          <a:bodyPr wrap="none" lIns="170053" tIns="170053" rIns="170053" bIns="170053" rtlCol="0" anchor="ctr">
            <a:spAutoFit/>
          </a:bodyPr>
          <a:lstStyle/>
          <a:p>
            <a:pPr marL="0" indent="0" algn="l">
              <a:buNone/>
            </a:pPr>
            <a:r>
              <a:rPr lang="en-US" sz="1000" b="1" dirty="0">
                <a:solidFill>
                  <a:srgbClr val="FFFFFF"/>
                </a:solidFill>
                <a:latin typeface="Pretendard Variable" pitchFamily="34" charset="0"/>
                <a:ea typeface="Pretendard Variable" pitchFamily="34" charset="-122"/>
                <a:cs typeface="Pretendard Variable" pitchFamily="34" charset="-120"/>
              </a:rPr>
              <a:t>분류</a:t>
            </a:r>
            <a:endParaRPr lang="en-US" sz="1000" dirty="0"/>
          </a:p>
        </p:txBody>
      </p:sp>
      <p:sp>
        <p:nvSpPr>
          <p:cNvPr id="10" name="Shape 7"/>
          <p:cNvSpPr/>
          <p:nvPr/>
        </p:nvSpPr>
        <p:spPr>
          <a:xfrm>
            <a:off x="5492428" y="1428750"/>
            <a:ext cx="3080045" cy="455414"/>
          </a:xfrm>
          <a:prstGeom prst="rect">
            <a:avLst/>
          </a:prstGeom>
          <a:solidFill>
            <a:srgbClr val="0F172A"/>
          </a:solidFill>
          <a:ln/>
        </p:spPr>
      </p:sp>
      <p:sp>
        <p:nvSpPr>
          <p:cNvPr id="11" name="Text 8"/>
          <p:cNvSpPr/>
          <p:nvPr/>
        </p:nvSpPr>
        <p:spPr>
          <a:xfrm>
            <a:off x="5492428" y="1428750"/>
            <a:ext cx="3080045" cy="455414"/>
          </a:xfrm>
          <a:prstGeom prst="rect">
            <a:avLst/>
          </a:prstGeom>
          <a:noFill/>
          <a:ln/>
        </p:spPr>
        <p:txBody>
          <a:bodyPr wrap="square" lIns="170053" tIns="170053" rIns="170053" bIns="170053" rtlCol="0" anchor="ctr">
            <a:spAutoFit/>
          </a:bodyPr>
          <a:lstStyle/>
          <a:p>
            <a:pPr marL="0" indent="0" algn="l">
              <a:buNone/>
            </a:pPr>
            <a:r>
              <a:rPr lang="en-US" sz="1000" b="1" dirty="0">
                <a:solidFill>
                  <a:srgbClr val="FFFFFF"/>
                </a:solidFill>
                <a:latin typeface="Pretendard Variable" pitchFamily="34" charset="0"/>
                <a:ea typeface="Pretendard Variable" pitchFamily="34" charset="-122"/>
                <a:cs typeface="Pretendard Variable" pitchFamily="34" charset="-120"/>
              </a:rPr>
              <a:t>주요 소스 및 내용</a:t>
            </a:r>
            <a:endParaRPr lang="en-US" sz="1000" dirty="0"/>
          </a:p>
        </p:txBody>
      </p:sp>
      <p:pic>
        <p:nvPicPr>
          <p:cNvPr id="12" name="Image 1" descr="preencoded.png"/>
          <p:cNvPicPr>
            <a:picLocks noChangeAspect="1"/>
          </p:cNvPicPr>
          <p:nvPr/>
        </p:nvPicPr>
        <p:blipFill>
          <a:blip r:embed="rId4"/>
          <a:stretch>
            <a:fillRect/>
          </a:stretch>
        </p:blipFill>
        <p:spPr>
          <a:xfrm>
            <a:off x="4381491" y="2069009"/>
            <a:ext cx="142875" cy="142875"/>
          </a:xfrm>
          <a:prstGeom prst="rect">
            <a:avLst/>
          </a:prstGeom>
        </p:spPr>
      </p:pic>
      <p:sp>
        <p:nvSpPr>
          <p:cNvPr id="13" name="Text 9"/>
          <p:cNvSpPr/>
          <p:nvPr/>
        </p:nvSpPr>
        <p:spPr>
          <a:xfrm>
            <a:off x="4595803" y="2055614"/>
            <a:ext cx="566142" cy="169664"/>
          </a:xfrm>
          <a:prstGeom prst="rect">
            <a:avLst/>
          </a:prstGeom>
          <a:noFill/>
          <a:ln/>
        </p:spPr>
        <p:txBody>
          <a:bodyPr wrap="none" lIns="0" tIns="0" rIns="0" bIns="0" rtlCol="0" anchor="t">
            <a:spAutoFit/>
          </a:bodyPr>
          <a:lstStyle/>
          <a:p>
            <a:pPr marL="0" indent="0" algn="l">
              <a:buNone/>
            </a:pPr>
            <a:r>
              <a:rPr lang="en-US" sz="1000" b="1" dirty="0">
                <a:solidFill>
                  <a:srgbClr val="2563EB"/>
                </a:solidFill>
                <a:latin typeface="Pretendard Variable" pitchFamily="34" charset="0"/>
                <a:ea typeface="Pretendard Variable" pitchFamily="34" charset="-122"/>
                <a:cs typeface="Pretendard Variable" pitchFamily="34" charset="-120"/>
              </a:rPr>
              <a:t>External</a:t>
            </a:r>
            <a:endParaRPr lang="en-US" sz="1000" dirty="0"/>
          </a:p>
        </p:txBody>
      </p:sp>
      <p:sp>
        <p:nvSpPr>
          <p:cNvPr id="14" name="Text 10"/>
          <p:cNvSpPr/>
          <p:nvPr/>
        </p:nvSpPr>
        <p:spPr>
          <a:xfrm>
            <a:off x="5492428" y="1884164"/>
            <a:ext cx="3080045" cy="516136"/>
          </a:xfrm>
          <a:prstGeom prst="rect">
            <a:avLst/>
          </a:prstGeom>
          <a:noFill/>
          <a:ln/>
        </p:spPr>
        <p:txBody>
          <a:bodyPr wrap="square" lIns="170053" tIns="204089" rIns="170053" bIns="204089" rtlCol="0" anchor="ctr">
            <a:spAutoFit/>
          </a:bodyPr>
          <a:lstStyle/>
          <a:p>
            <a:pPr marL="0" indent="0" algn="l">
              <a:buNone/>
            </a:pPr>
            <a:r>
              <a:rPr lang="en-US" sz="1050" dirty="0">
                <a:solidFill>
                  <a:srgbClr val="1E293B"/>
                </a:solidFill>
                <a:latin typeface="Pretendard Variable" pitchFamily="34" charset="0"/>
                <a:ea typeface="Pretendard Variable" pitchFamily="34" charset="-122"/>
                <a:cs typeface="Pretendard Variable" pitchFamily="34" charset="-120"/>
              </a:rPr>
              <a:t>정책 공고, 비자 가이드라인, 최신 법령 및 지침</a:t>
            </a:r>
            <a:endParaRPr lang="en-US" sz="1050" dirty="0"/>
          </a:p>
        </p:txBody>
      </p:sp>
      <p:pic>
        <p:nvPicPr>
          <p:cNvPr id="15" name="Image 2" descr="preencoded.png"/>
          <p:cNvPicPr>
            <a:picLocks noChangeAspect="1"/>
          </p:cNvPicPr>
          <p:nvPr/>
        </p:nvPicPr>
        <p:blipFill>
          <a:blip r:embed="rId5"/>
          <a:stretch>
            <a:fillRect/>
          </a:stretch>
        </p:blipFill>
        <p:spPr>
          <a:xfrm>
            <a:off x="4381491" y="2588716"/>
            <a:ext cx="125016" cy="142875"/>
          </a:xfrm>
          <a:prstGeom prst="rect">
            <a:avLst/>
          </a:prstGeom>
        </p:spPr>
      </p:pic>
      <p:sp>
        <p:nvSpPr>
          <p:cNvPr id="16" name="Text 11"/>
          <p:cNvSpPr/>
          <p:nvPr/>
        </p:nvSpPr>
        <p:spPr>
          <a:xfrm>
            <a:off x="4577944" y="2575322"/>
            <a:ext cx="528638" cy="169664"/>
          </a:xfrm>
          <a:prstGeom prst="rect">
            <a:avLst/>
          </a:prstGeom>
          <a:noFill/>
          <a:ln/>
        </p:spPr>
        <p:txBody>
          <a:bodyPr wrap="none" lIns="0" tIns="0" rIns="0" bIns="0" rtlCol="0" anchor="t">
            <a:spAutoFit/>
          </a:bodyPr>
          <a:lstStyle/>
          <a:p>
            <a:pPr marL="0" indent="0" algn="l">
              <a:buNone/>
            </a:pPr>
            <a:r>
              <a:rPr lang="en-US" sz="1000" b="1" dirty="0">
                <a:solidFill>
                  <a:srgbClr val="2563EB"/>
                </a:solidFill>
                <a:latin typeface="Pretendard Variable" pitchFamily="34" charset="0"/>
                <a:ea typeface="Pretendard Variable" pitchFamily="34" charset="-122"/>
                <a:cs typeface="Pretendard Variable" pitchFamily="34" charset="-120"/>
              </a:rPr>
              <a:t>Internal</a:t>
            </a:r>
            <a:endParaRPr lang="en-US" sz="1000" dirty="0"/>
          </a:p>
        </p:txBody>
      </p:sp>
      <p:sp>
        <p:nvSpPr>
          <p:cNvPr id="17" name="Text 12"/>
          <p:cNvSpPr/>
          <p:nvPr/>
        </p:nvSpPr>
        <p:spPr>
          <a:xfrm>
            <a:off x="5492428" y="2400300"/>
            <a:ext cx="3080045" cy="519708"/>
          </a:xfrm>
          <a:prstGeom prst="rect">
            <a:avLst/>
          </a:prstGeom>
          <a:noFill/>
          <a:ln/>
        </p:spPr>
        <p:txBody>
          <a:bodyPr wrap="square" lIns="170053" tIns="204089" rIns="170053" bIns="204089" rtlCol="0" anchor="ctr">
            <a:spAutoFit/>
          </a:bodyPr>
          <a:lstStyle/>
          <a:p>
            <a:pPr marL="0" indent="0" algn="l">
              <a:buNone/>
            </a:pPr>
            <a:r>
              <a:rPr lang="en-US" sz="1050" dirty="0">
                <a:solidFill>
                  <a:srgbClr val="1E293B"/>
                </a:solidFill>
                <a:latin typeface="Pretendard Variable" pitchFamily="34" charset="0"/>
                <a:ea typeface="Pretendard Variable" pitchFamily="34" charset="-122"/>
                <a:cs typeface="Pretendard Variable" pitchFamily="34" charset="-120"/>
              </a:rPr>
              <a:t>사업장 기본 정보, 숙소 현황, 기존 인력 데이터</a:t>
            </a:r>
            <a:endParaRPr lang="en-US" sz="1050" dirty="0"/>
          </a:p>
        </p:txBody>
      </p:sp>
      <p:pic>
        <p:nvPicPr>
          <p:cNvPr id="18" name="Image 3" descr="preencoded.png"/>
          <p:cNvPicPr>
            <a:picLocks noChangeAspect="1"/>
          </p:cNvPicPr>
          <p:nvPr/>
        </p:nvPicPr>
        <p:blipFill>
          <a:blip r:embed="rId6"/>
          <a:stretch>
            <a:fillRect/>
          </a:stretch>
        </p:blipFill>
        <p:spPr>
          <a:xfrm>
            <a:off x="4381491" y="3108424"/>
            <a:ext cx="160734" cy="142875"/>
          </a:xfrm>
          <a:prstGeom prst="rect">
            <a:avLst/>
          </a:prstGeom>
        </p:spPr>
      </p:pic>
      <p:sp>
        <p:nvSpPr>
          <p:cNvPr id="19" name="Text 13"/>
          <p:cNvSpPr/>
          <p:nvPr/>
        </p:nvSpPr>
        <p:spPr>
          <a:xfrm>
            <a:off x="4613663" y="3095030"/>
            <a:ext cx="632222" cy="169664"/>
          </a:xfrm>
          <a:prstGeom prst="rect">
            <a:avLst/>
          </a:prstGeom>
          <a:noFill/>
          <a:ln/>
        </p:spPr>
        <p:txBody>
          <a:bodyPr wrap="none" lIns="0" tIns="0" rIns="0" bIns="0" rtlCol="0" anchor="t">
            <a:spAutoFit/>
          </a:bodyPr>
          <a:lstStyle/>
          <a:p>
            <a:pPr marL="0" indent="0" algn="l">
              <a:buNone/>
            </a:pPr>
            <a:r>
              <a:rPr lang="en-US" sz="1000" b="1" dirty="0">
                <a:solidFill>
                  <a:srgbClr val="2563EB"/>
                </a:solidFill>
                <a:latin typeface="Pretendard Variable" pitchFamily="34" charset="0"/>
                <a:ea typeface="Pretendard Variable" pitchFamily="34" charset="-122"/>
                <a:cs typeface="Pretendard Variable" pitchFamily="34" charset="-120"/>
              </a:rPr>
              <a:t>Evidence</a:t>
            </a:r>
            <a:endParaRPr lang="en-US" sz="1000" dirty="0"/>
          </a:p>
        </p:txBody>
      </p:sp>
      <p:sp>
        <p:nvSpPr>
          <p:cNvPr id="20" name="Text 14"/>
          <p:cNvSpPr/>
          <p:nvPr/>
        </p:nvSpPr>
        <p:spPr>
          <a:xfrm>
            <a:off x="5492428" y="2920008"/>
            <a:ext cx="3080045" cy="519708"/>
          </a:xfrm>
          <a:prstGeom prst="rect">
            <a:avLst/>
          </a:prstGeom>
          <a:noFill/>
          <a:ln/>
        </p:spPr>
        <p:txBody>
          <a:bodyPr wrap="square" lIns="170053" tIns="204089" rIns="170053" bIns="204089" rtlCol="0" anchor="ctr">
            <a:spAutoFit/>
          </a:bodyPr>
          <a:lstStyle/>
          <a:p>
            <a:pPr marL="0" indent="0" algn="l">
              <a:buNone/>
            </a:pPr>
            <a:r>
              <a:rPr lang="en-US" sz="1050" dirty="0">
                <a:solidFill>
                  <a:srgbClr val="1E293B"/>
                </a:solidFill>
                <a:latin typeface="Pretendard Variable" pitchFamily="34" charset="0"/>
                <a:ea typeface="Pretendard Variable" pitchFamily="34" charset="-122"/>
                <a:cs typeface="Pretendard Variable" pitchFamily="34" charset="-120"/>
              </a:rPr>
              <a:t>판단 근거 Citation(인용) 및 실행 이력 로그</a:t>
            </a:r>
            <a:endParaRPr lang="en-US" sz="1050" dirty="0"/>
          </a:p>
        </p:txBody>
      </p:sp>
      <p:sp>
        <p:nvSpPr>
          <p:cNvPr id="22" name="Text 3">
            <a:extLst>
              <a:ext uri="{FF2B5EF4-FFF2-40B4-BE49-F238E27FC236}">
                <a16:creationId xmlns:a16="http://schemas.microsoft.com/office/drawing/2014/main" id="{7829BCB2-A136-A9BE-2263-9D793D4A1886}"/>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en-US" altLang="ko-KR" sz="1200" b="1" dirty="0">
                <a:latin typeface="Pretendard"/>
              </a:rPr>
              <a:t> </a:t>
            </a:r>
            <a:r>
              <a:rPr lang="en-US" altLang="ko-KR" sz="1200" dirty="0">
                <a:solidFill>
                  <a:schemeClr val="tx1">
                    <a:lumMod val="65000"/>
                    <a:lumOff val="35000"/>
                  </a:schemeClr>
                </a:solidFill>
                <a:latin typeface="Pretendard"/>
              </a:rPr>
              <a:t>– </a:t>
            </a:r>
            <a:r>
              <a:rPr lang="en-US" altLang="ko-KR" sz="1200" b="1" dirty="0">
                <a:latin typeface="Pretendard"/>
              </a:rPr>
              <a:t>How</a:t>
            </a:r>
            <a:r>
              <a:rPr lang="en-US" altLang="ko-KR" sz="1200" dirty="0">
                <a:solidFill>
                  <a:schemeClr val="tx1">
                    <a:lumMod val="65000"/>
                    <a:lumOff val="35000"/>
                  </a:schemeClr>
                </a:solidFill>
                <a:latin typeface="Pretendard"/>
              </a:rPr>
              <a:t> – So what?  </a:t>
            </a:r>
            <a:endParaRPr lang="en-US" sz="1200" dirty="0">
              <a:solidFill>
                <a:schemeClr val="tx1">
                  <a:lumMod val="65000"/>
                  <a:lumOff val="35000"/>
                </a:schemeClr>
              </a:solidFill>
              <a:latin typeface="Pretendar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724198"/>
            <a:ext cx="7059811" cy="408980"/>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pitchFamily="34" charset="0"/>
                <a:ea typeface="Pretendard" pitchFamily="34" charset="-122"/>
                <a:cs typeface="Pretendard" pitchFamily="34" charset="-120"/>
              </a:rPr>
              <a:t>4.감사 기록(Evidence Log): 투명한 의사결정 근거</a:t>
            </a:r>
            <a:endParaRPr lang="en-US" sz="2450" dirty="0"/>
          </a:p>
        </p:txBody>
      </p:sp>
      <p:sp>
        <p:nvSpPr>
          <p:cNvPr id="4" name="Shape 1"/>
          <p:cNvSpPr/>
          <p:nvPr/>
        </p:nvSpPr>
        <p:spPr>
          <a:xfrm>
            <a:off x="571500" y="1714500"/>
            <a:ext cx="3786188" cy="1735931"/>
          </a:xfrm>
          <a:prstGeom prst="rect">
            <a:avLst/>
          </a:prstGeom>
          <a:solidFill>
            <a:srgbClr val="F8FAFC"/>
          </a:solidFill>
          <a:ln/>
        </p:spPr>
      </p:sp>
      <p:sp>
        <p:nvSpPr>
          <p:cNvPr id="5" name="Shape 2"/>
          <p:cNvSpPr/>
          <p:nvPr/>
        </p:nvSpPr>
        <p:spPr>
          <a:xfrm>
            <a:off x="571500" y="1714500"/>
            <a:ext cx="57150" cy="1735931"/>
          </a:xfrm>
          <a:prstGeom prst="rect">
            <a:avLst/>
          </a:prstGeom>
          <a:solidFill>
            <a:srgbClr val="2563EB"/>
          </a:solidFill>
          <a:ln/>
        </p:spPr>
      </p:sp>
      <p:sp>
        <p:nvSpPr>
          <p:cNvPr id="6" name="Text 3"/>
          <p:cNvSpPr/>
          <p:nvPr/>
        </p:nvSpPr>
        <p:spPr>
          <a:xfrm>
            <a:off x="857250" y="2000250"/>
            <a:ext cx="3214688" cy="307181"/>
          </a:xfrm>
          <a:prstGeom prst="rect">
            <a:avLst/>
          </a:prstGeom>
          <a:noFill/>
          <a:ln/>
        </p:spPr>
        <p:txBody>
          <a:bodyPr wrap="square" lIns="0" tIns="0" rIns="0" bIns="0" rtlCol="0" anchor="t">
            <a:spAutoFit/>
          </a:bodyPr>
          <a:lstStyle/>
          <a:p>
            <a:pPr marL="0" indent="0" algn="l">
              <a:buNone/>
            </a:pPr>
            <a:r>
              <a:rPr lang="en-US" sz="1800" b="1" dirty="0">
                <a:solidFill>
                  <a:srgbClr val="0F172A"/>
                </a:solidFill>
                <a:latin typeface="Pretendard" pitchFamily="34" charset="0"/>
                <a:ea typeface="Pretendard" pitchFamily="34" charset="-122"/>
                <a:cs typeface="Pretendard" pitchFamily="34" charset="-120"/>
              </a:rPr>
              <a:t>"왜 그렇게 판단했는가?"</a:t>
            </a:r>
            <a:endParaRPr lang="en-US" sz="1800" dirty="0"/>
          </a:p>
        </p:txBody>
      </p:sp>
      <p:sp>
        <p:nvSpPr>
          <p:cNvPr id="7" name="Text 4"/>
          <p:cNvSpPr/>
          <p:nvPr/>
        </p:nvSpPr>
        <p:spPr>
          <a:xfrm>
            <a:off x="857250" y="2478881"/>
            <a:ext cx="3214688" cy="685800"/>
          </a:xfrm>
          <a:prstGeom prst="rect">
            <a:avLst/>
          </a:prstGeom>
          <a:noFill/>
          <a:ln/>
        </p:spPr>
        <p:txBody>
          <a:bodyPr wrap="square" lIns="0" tIns="0" rIns="0" bIns="0" rtlCol="0" anchor="t">
            <a:spAutoFit/>
          </a:bodyPr>
          <a:lstStyle/>
          <a:p>
            <a:pPr marL="0" indent="0" algn="l">
              <a:lnSpc>
                <a:spcPct val="128000"/>
              </a:lnSpc>
              <a:buNone/>
            </a:pPr>
            <a:r>
              <a:rPr lang="en-US" sz="1050" dirty="0">
                <a:solidFill>
                  <a:srgbClr val="475569"/>
                </a:solidFill>
                <a:latin typeface="Pretendard" pitchFamily="34" charset="0"/>
                <a:ea typeface="Pretendard" pitchFamily="34" charset="-122"/>
                <a:cs typeface="Pretendard" pitchFamily="34" charset="-120"/>
              </a:rPr>
              <a:t>모든 AI의 판단 근거와 사용된 정책 지침을 인용구(Citation) 형태로 저장합니다. 이는 사후 감사나 사고 발생 시 강력한 소명 자료가 됩니다.</a:t>
            </a:r>
            <a:endParaRPr lang="en-US" sz="1050" dirty="0"/>
          </a:p>
        </p:txBody>
      </p:sp>
      <p:sp>
        <p:nvSpPr>
          <p:cNvPr id="8" name="Shape 5"/>
          <p:cNvSpPr/>
          <p:nvPr/>
        </p:nvSpPr>
        <p:spPr>
          <a:xfrm>
            <a:off x="4786313" y="1714500"/>
            <a:ext cx="428625" cy="428625"/>
          </a:xfrm>
          <a:prstGeom prst="rect">
            <a:avLst/>
          </a:prstGeom>
          <a:solidFill>
            <a:srgbClr val="0F172A"/>
          </a:solidFill>
          <a:ln/>
        </p:spPr>
      </p:sp>
      <p:sp>
        <p:nvSpPr>
          <p:cNvPr id="9" name="Text 6"/>
          <p:cNvSpPr/>
          <p:nvPr/>
        </p:nvSpPr>
        <p:spPr>
          <a:xfrm>
            <a:off x="5357813" y="1752898"/>
            <a:ext cx="2459236"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pitchFamily="34" charset="0"/>
                <a:ea typeface="Pretendard" pitchFamily="34" charset="-122"/>
                <a:cs typeface="Pretendard" pitchFamily="34" charset="-120"/>
              </a:rPr>
              <a:t>참조 규정 및 법령 자동 기록</a:t>
            </a:r>
            <a:endParaRPr lang="en-US" sz="1100" dirty="0"/>
          </a:p>
        </p:txBody>
      </p:sp>
      <p:sp>
        <p:nvSpPr>
          <p:cNvPr id="10" name="Text 7"/>
          <p:cNvSpPr/>
          <p:nvPr/>
        </p:nvSpPr>
        <p:spPr>
          <a:xfrm>
            <a:off x="5357813" y="1968996"/>
            <a:ext cx="2459236" cy="135731"/>
          </a:xfrm>
          <a:prstGeom prst="rect">
            <a:avLst/>
          </a:prstGeom>
          <a:noFill/>
          <a:ln/>
        </p:spPr>
        <p:txBody>
          <a:bodyPr wrap="square" lIns="0" tIns="0" rIns="0" bIns="0" rtlCol="0" anchor="t">
            <a:spAutoFit/>
          </a:bodyPr>
          <a:lstStyle/>
          <a:p>
            <a:pPr marL="0" indent="0" algn="l">
              <a:buNone/>
            </a:pPr>
            <a:r>
              <a:rPr lang="en-US" sz="850" dirty="0">
                <a:solidFill>
                  <a:srgbClr val="64748B"/>
                </a:solidFill>
                <a:latin typeface="Pretendard" pitchFamily="34" charset="0"/>
                <a:ea typeface="Pretendard" pitchFamily="34" charset="-122"/>
                <a:cs typeface="Pretendard" pitchFamily="34" charset="-120"/>
              </a:rPr>
              <a:t>판단 시점에 유효했던 실제 법령 텍스트를 박제하여 저장</a:t>
            </a:r>
            <a:endParaRPr lang="en-US" sz="850" dirty="0"/>
          </a:p>
        </p:txBody>
      </p:sp>
      <p:sp>
        <p:nvSpPr>
          <p:cNvPr id="11" name="Shape 8"/>
          <p:cNvSpPr/>
          <p:nvPr/>
        </p:nvSpPr>
        <p:spPr>
          <a:xfrm>
            <a:off x="4786313" y="2371725"/>
            <a:ext cx="428625" cy="428625"/>
          </a:xfrm>
          <a:prstGeom prst="rect">
            <a:avLst/>
          </a:prstGeom>
          <a:solidFill>
            <a:srgbClr val="0F172A"/>
          </a:solidFill>
          <a:ln/>
        </p:spPr>
      </p:sp>
      <p:pic>
        <p:nvPicPr>
          <p:cNvPr id="12" name="Image 1" descr="preencoded.png"/>
          <p:cNvPicPr>
            <a:picLocks noChangeAspect="1"/>
          </p:cNvPicPr>
          <p:nvPr/>
        </p:nvPicPr>
        <p:blipFill>
          <a:blip r:embed="rId4"/>
          <a:stretch>
            <a:fillRect/>
          </a:stretch>
        </p:blipFill>
        <p:spPr>
          <a:xfrm>
            <a:off x="4893469" y="2500313"/>
            <a:ext cx="214313" cy="171450"/>
          </a:xfrm>
          <a:prstGeom prst="rect">
            <a:avLst/>
          </a:prstGeom>
        </p:spPr>
      </p:pic>
      <p:sp>
        <p:nvSpPr>
          <p:cNvPr id="13" name="Text 9"/>
          <p:cNvSpPr/>
          <p:nvPr/>
        </p:nvSpPr>
        <p:spPr>
          <a:xfrm>
            <a:off x="5357813" y="2410123"/>
            <a:ext cx="2618184"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pitchFamily="34" charset="0"/>
                <a:ea typeface="Pretendard" pitchFamily="34" charset="-122"/>
                <a:cs typeface="Pretendard" pitchFamily="34" charset="-120"/>
              </a:rPr>
              <a:t>담당자 승인 시점 및 이력 보존</a:t>
            </a:r>
            <a:endParaRPr lang="en-US" sz="1100" dirty="0"/>
          </a:p>
        </p:txBody>
      </p:sp>
      <p:sp>
        <p:nvSpPr>
          <p:cNvPr id="14" name="Text 10"/>
          <p:cNvSpPr/>
          <p:nvPr/>
        </p:nvSpPr>
        <p:spPr>
          <a:xfrm>
            <a:off x="5357813" y="2626221"/>
            <a:ext cx="2618184" cy="135731"/>
          </a:xfrm>
          <a:prstGeom prst="rect">
            <a:avLst/>
          </a:prstGeom>
          <a:noFill/>
          <a:ln/>
        </p:spPr>
        <p:txBody>
          <a:bodyPr wrap="square" lIns="0" tIns="0" rIns="0" bIns="0" rtlCol="0" anchor="t">
            <a:spAutoFit/>
          </a:bodyPr>
          <a:lstStyle/>
          <a:p>
            <a:pPr marL="0" indent="0" algn="l">
              <a:buNone/>
            </a:pPr>
            <a:r>
              <a:rPr lang="en-US" sz="850" dirty="0">
                <a:solidFill>
                  <a:srgbClr val="64748B"/>
                </a:solidFill>
                <a:latin typeface="Pretendard" pitchFamily="34" charset="0"/>
                <a:ea typeface="Pretendard" pitchFamily="34" charset="-122"/>
                <a:cs typeface="Pretendard" pitchFamily="34" charset="-120"/>
              </a:rPr>
              <a:t>누가, 언제, 어떤 근거를 보고 승인했는지에 대한 타임스탬프</a:t>
            </a:r>
            <a:endParaRPr lang="en-US" sz="850" dirty="0"/>
          </a:p>
        </p:txBody>
      </p:sp>
      <p:sp>
        <p:nvSpPr>
          <p:cNvPr id="15" name="Shape 11"/>
          <p:cNvSpPr/>
          <p:nvPr/>
        </p:nvSpPr>
        <p:spPr>
          <a:xfrm>
            <a:off x="4786313" y="3028950"/>
            <a:ext cx="428625" cy="428625"/>
          </a:xfrm>
          <a:prstGeom prst="rect">
            <a:avLst/>
          </a:prstGeom>
          <a:solidFill>
            <a:srgbClr val="0F172A"/>
          </a:solidFill>
          <a:ln/>
        </p:spPr>
      </p:sp>
      <p:pic>
        <p:nvPicPr>
          <p:cNvPr id="16" name="Image 2" descr="preencoded.png"/>
          <p:cNvPicPr>
            <a:picLocks noChangeAspect="1"/>
          </p:cNvPicPr>
          <p:nvPr/>
        </p:nvPicPr>
        <p:blipFill>
          <a:blip r:embed="rId5"/>
          <a:stretch>
            <a:fillRect/>
          </a:stretch>
        </p:blipFill>
        <p:spPr>
          <a:xfrm>
            <a:off x="4904184" y="3157538"/>
            <a:ext cx="192881" cy="171450"/>
          </a:xfrm>
          <a:prstGeom prst="rect">
            <a:avLst/>
          </a:prstGeom>
        </p:spPr>
      </p:pic>
      <p:sp>
        <p:nvSpPr>
          <p:cNvPr id="17" name="Text 12"/>
          <p:cNvSpPr/>
          <p:nvPr/>
        </p:nvSpPr>
        <p:spPr>
          <a:xfrm>
            <a:off x="5357813" y="3067348"/>
            <a:ext cx="2643188" cy="187523"/>
          </a:xfrm>
          <a:prstGeom prst="rect">
            <a:avLst/>
          </a:prstGeom>
          <a:noFill/>
          <a:ln/>
        </p:spPr>
        <p:txBody>
          <a:bodyPr wrap="square" lIns="0" tIns="0" rIns="0" bIns="0" rtlCol="0" anchor="t">
            <a:spAutoFit/>
          </a:bodyPr>
          <a:lstStyle/>
          <a:p>
            <a:pPr marL="0" indent="0" algn="l">
              <a:buNone/>
            </a:pPr>
            <a:r>
              <a:rPr lang="en-US" sz="1100" b="1" dirty="0">
                <a:solidFill>
                  <a:srgbClr val="0F172A"/>
                </a:solidFill>
                <a:latin typeface="Pretendard" pitchFamily="34" charset="0"/>
                <a:ea typeface="Pretendard" pitchFamily="34" charset="-122"/>
                <a:cs typeface="Pretendard" pitchFamily="34" charset="-120"/>
              </a:rPr>
              <a:t>영구 보존 및 소명 자료 활용</a:t>
            </a:r>
            <a:endParaRPr lang="en-US" sz="1100" dirty="0"/>
          </a:p>
        </p:txBody>
      </p:sp>
      <p:sp>
        <p:nvSpPr>
          <p:cNvPr id="18" name="Text 13"/>
          <p:cNvSpPr/>
          <p:nvPr/>
        </p:nvSpPr>
        <p:spPr>
          <a:xfrm>
            <a:off x="5357813" y="3283446"/>
            <a:ext cx="2643188" cy="135731"/>
          </a:xfrm>
          <a:prstGeom prst="rect">
            <a:avLst/>
          </a:prstGeom>
          <a:noFill/>
          <a:ln/>
        </p:spPr>
        <p:txBody>
          <a:bodyPr wrap="square" lIns="0" tIns="0" rIns="0" bIns="0" rtlCol="0" anchor="t">
            <a:spAutoFit/>
          </a:bodyPr>
          <a:lstStyle/>
          <a:p>
            <a:pPr marL="0" indent="0" algn="l">
              <a:buNone/>
            </a:pPr>
            <a:r>
              <a:rPr lang="en-US" sz="850" dirty="0">
                <a:solidFill>
                  <a:srgbClr val="64748B"/>
                </a:solidFill>
                <a:latin typeface="Pretendard" pitchFamily="34" charset="0"/>
                <a:ea typeface="Pretendard" pitchFamily="34" charset="-122"/>
                <a:cs typeface="Pretendard" pitchFamily="34" charset="-120"/>
              </a:rPr>
              <a:t>행정 사고 발생 시 즉시 제출 가능한 형태의 감사 리포트 생성</a:t>
            </a:r>
            <a:endParaRPr lang="en-US" sz="850" dirty="0"/>
          </a:p>
        </p:txBody>
      </p:sp>
      <p:sp>
        <p:nvSpPr>
          <p:cNvPr id="19" name="Shape 14"/>
          <p:cNvSpPr/>
          <p:nvPr/>
        </p:nvSpPr>
        <p:spPr>
          <a:xfrm>
            <a:off x="571500" y="4204097"/>
            <a:ext cx="8001000" cy="510778"/>
          </a:xfrm>
          <a:prstGeom prst="rect">
            <a:avLst/>
          </a:prstGeom>
          <a:solidFill>
            <a:srgbClr val="EFF6FF"/>
          </a:solidFill>
          <a:ln w="9144">
            <a:solidFill>
              <a:srgbClr val="DBEAFE"/>
            </a:solidFill>
            <a:prstDash val="solid"/>
          </a:ln>
        </p:spPr>
      </p:sp>
      <p:sp>
        <p:nvSpPr>
          <p:cNvPr id="20" name="Text 15"/>
          <p:cNvSpPr/>
          <p:nvPr/>
        </p:nvSpPr>
        <p:spPr>
          <a:xfrm>
            <a:off x="2264569" y="4389834"/>
            <a:ext cx="1480542" cy="153591"/>
          </a:xfrm>
          <a:prstGeom prst="rect">
            <a:avLst/>
          </a:prstGeom>
          <a:noFill/>
          <a:ln/>
        </p:spPr>
        <p:txBody>
          <a:bodyPr wrap="square" lIns="0" tIns="0" rIns="0" bIns="0" rtlCol="0" anchor="t">
            <a:spAutoFit/>
          </a:bodyPr>
          <a:lstStyle/>
          <a:p>
            <a:pPr marL="0" indent="0" algn="ctr">
              <a:buNone/>
            </a:pPr>
            <a:r>
              <a:rPr lang="en-US" sz="900" dirty="0">
                <a:solidFill>
                  <a:srgbClr val="2563EB"/>
                </a:solidFill>
                <a:latin typeface="Pretendard" pitchFamily="34" charset="0"/>
                <a:ea typeface="Pretendard" pitchFamily="34" charset="-122"/>
                <a:cs typeface="Pretendard" pitchFamily="34" charset="-120"/>
              </a:rPr>
              <a:t>외고반장은 모든 업무 수행의</a:t>
            </a:r>
            <a:endParaRPr lang="en-US" sz="900" dirty="0"/>
          </a:p>
        </p:txBody>
      </p:sp>
      <p:sp>
        <p:nvSpPr>
          <p:cNvPr id="21" name="Text 16"/>
          <p:cNvSpPr/>
          <p:nvPr/>
        </p:nvSpPr>
        <p:spPr>
          <a:xfrm>
            <a:off x="3745111" y="4389834"/>
            <a:ext cx="332184" cy="153591"/>
          </a:xfrm>
          <a:prstGeom prst="rect">
            <a:avLst/>
          </a:prstGeom>
          <a:noFill/>
          <a:ln/>
        </p:spPr>
        <p:txBody>
          <a:bodyPr wrap="none" lIns="0" tIns="0" rIns="0" bIns="0" rtlCol="0" anchor="t">
            <a:spAutoFit/>
          </a:bodyPr>
          <a:lstStyle/>
          <a:p>
            <a:pPr marL="0" indent="0" algn="ctr">
              <a:buNone/>
            </a:pPr>
            <a:r>
              <a:rPr lang="en-US" sz="900" b="1" dirty="0">
                <a:solidFill>
                  <a:srgbClr val="2563EB"/>
                </a:solidFill>
                <a:latin typeface="Pretendard" pitchFamily="34" charset="0"/>
                <a:ea typeface="Pretendard" pitchFamily="34" charset="-122"/>
                <a:cs typeface="Pretendard" pitchFamily="34" charset="-120"/>
              </a:rPr>
              <a:t>투명성</a:t>
            </a:r>
            <a:endParaRPr lang="en-US" sz="900" dirty="0"/>
          </a:p>
        </p:txBody>
      </p:sp>
      <p:sp>
        <p:nvSpPr>
          <p:cNvPr id="22" name="Text 17"/>
          <p:cNvSpPr/>
          <p:nvPr/>
        </p:nvSpPr>
        <p:spPr>
          <a:xfrm>
            <a:off x="4077295" y="4389834"/>
            <a:ext cx="3144463" cy="138499"/>
          </a:xfrm>
          <a:prstGeom prst="rect">
            <a:avLst/>
          </a:prstGeom>
          <a:noFill/>
          <a:ln/>
        </p:spPr>
        <p:txBody>
          <a:bodyPr wrap="square" lIns="0" tIns="0" rIns="0" bIns="0" rtlCol="0" anchor="t">
            <a:spAutoFit/>
          </a:bodyPr>
          <a:lstStyle/>
          <a:p>
            <a:pPr marL="0" indent="0" algn="ctr">
              <a:buNone/>
            </a:pPr>
            <a:r>
              <a:rPr lang="en-US" sz="900" dirty="0">
                <a:solidFill>
                  <a:srgbClr val="2563EB"/>
                </a:solidFill>
                <a:latin typeface="Pretendard" pitchFamily="34" charset="0"/>
                <a:ea typeface="Pretendard" pitchFamily="34" charset="-122"/>
                <a:cs typeface="Pretendard" pitchFamily="34" charset="-120"/>
              </a:rPr>
              <a:t>을 확보하여 기업의 법적 리스크를 원천적으로 관리합니다.</a:t>
            </a:r>
            <a:endParaRPr lang="en-US" sz="900" dirty="0"/>
          </a:p>
        </p:txBody>
      </p:sp>
      <p:pic>
        <p:nvPicPr>
          <p:cNvPr id="23" name="Image 1" descr="preencoded.png">
            <a:extLst>
              <a:ext uri="{FF2B5EF4-FFF2-40B4-BE49-F238E27FC236}">
                <a16:creationId xmlns:a16="http://schemas.microsoft.com/office/drawing/2014/main" id="{90E3D689-C60C-D1B5-9CB4-F1EE23BA8C10}"/>
              </a:ext>
            </a:extLst>
          </p:cNvPr>
          <p:cNvPicPr>
            <a:picLocks noChangeAspect="1"/>
          </p:cNvPicPr>
          <p:nvPr/>
        </p:nvPicPr>
        <p:blipFill>
          <a:blip r:embed="rId4"/>
          <a:stretch>
            <a:fillRect/>
          </a:stretch>
        </p:blipFill>
        <p:spPr>
          <a:xfrm>
            <a:off x="4913076" y="1828800"/>
            <a:ext cx="214313" cy="171450"/>
          </a:xfrm>
          <a:prstGeom prst="rect">
            <a:avLst/>
          </a:prstGeom>
        </p:spPr>
      </p:pic>
      <p:sp>
        <p:nvSpPr>
          <p:cNvPr id="25" name="Text 3">
            <a:extLst>
              <a:ext uri="{FF2B5EF4-FFF2-40B4-BE49-F238E27FC236}">
                <a16:creationId xmlns:a16="http://schemas.microsoft.com/office/drawing/2014/main" id="{1B74C72D-07F3-40C7-7F69-16FB7A5968D0}"/>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en-US" altLang="ko-KR" sz="1200" b="1" dirty="0">
                <a:latin typeface="Pretendard"/>
              </a:rPr>
              <a:t> </a:t>
            </a:r>
            <a:r>
              <a:rPr lang="en-US" altLang="ko-KR" sz="1200" dirty="0">
                <a:solidFill>
                  <a:schemeClr val="tx1">
                    <a:lumMod val="65000"/>
                    <a:lumOff val="35000"/>
                  </a:schemeClr>
                </a:solidFill>
                <a:latin typeface="Pretendard"/>
              </a:rPr>
              <a:t>– </a:t>
            </a:r>
            <a:r>
              <a:rPr lang="en-US" altLang="ko-KR" sz="1200" b="1" dirty="0">
                <a:latin typeface="Pretendard"/>
              </a:rPr>
              <a:t>How</a:t>
            </a:r>
            <a:r>
              <a:rPr lang="en-US" altLang="ko-KR" sz="1200" dirty="0">
                <a:solidFill>
                  <a:schemeClr val="tx1">
                    <a:lumMod val="65000"/>
                    <a:lumOff val="35000"/>
                  </a:schemeClr>
                </a:solidFill>
                <a:latin typeface="Pretendard"/>
              </a:rPr>
              <a:t> – So what?  </a:t>
            </a:r>
            <a:endParaRPr lang="en-US" sz="1200" dirty="0">
              <a:solidFill>
                <a:schemeClr val="tx1">
                  <a:lumMod val="65000"/>
                  <a:lumOff val="35000"/>
                </a:schemeClr>
              </a:solidFill>
              <a:latin typeface="Pretendar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57238" y="509885"/>
            <a:ext cx="6667292" cy="377026"/>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a:ea typeface="Pretendard Variable" pitchFamily="34" charset="-122"/>
                <a:cs typeface="Pretendard Variable" pitchFamily="34" charset="-120"/>
              </a:rPr>
              <a:t>5. </a:t>
            </a:r>
            <a:r>
              <a:rPr lang="ko-KR" altLang="en-US" sz="2450" b="1" dirty="0">
                <a:solidFill>
                  <a:srgbClr val="0F172A"/>
                </a:solidFill>
                <a:latin typeface="Pretendard"/>
                <a:ea typeface="Pretendard Variable" pitchFamily="34" charset="-122"/>
                <a:cs typeface="Pretendard Variable" pitchFamily="34" charset="-120"/>
              </a:rPr>
              <a:t>비즈니스 모델  </a:t>
            </a:r>
            <a:r>
              <a:rPr lang="en-US" altLang="ko-KR" sz="2450" b="1" dirty="0">
                <a:solidFill>
                  <a:srgbClr val="0F172A"/>
                </a:solidFill>
                <a:latin typeface="Pretendard"/>
                <a:ea typeface="Pretendard Variable" pitchFamily="34" charset="-122"/>
                <a:cs typeface="Pretendard Variable" pitchFamily="34" charset="-120"/>
              </a:rPr>
              <a:t>&amp; </a:t>
            </a:r>
            <a:r>
              <a:rPr lang="ko-KR" altLang="en-US" sz="2450" b="1" dirty="0">
                <a:solidFill>
                  <a:srgbClr val="0F172A"/>
                </a:solidFill>
                <a:latin typeface="Pretendard"/>
                <a:ea typeface="Pretendard Variable" pitchFamily="34" charset="-122"/>
                <a:cs typeface="Pretendard Variable" pitchFamily="34" charset="-120"/>
              </a:rPr>
              <a:t> 수익 모델</a:t>
            </a:r>
            <a:endParaRPr lang="en-US" sz="2450" b="1" dirty="0">
              <a:latin typeface="Pretendard"/>
            </a:endParaRPr>
          </a:p>
        </p:txBody>
      </p:sp>
      <p:sp>
        <p:nvSpPr>
          <p:cNvPr id="4" name="Text 1"/>
          <p:cNvSpPr/>
          <p:nvPr/>
        </p:nvSpPr>
        <p:spPr>
          <a:xfrm>
            <a:off x="657225" y="1143000"/>
            <a:ext cx="1714500" cy="184666"/>
          </a:xfrm>
          <a:prstGeom prst="rect">
            <a:avLst/>
          </a:prstGeom>
          <a:noFill/>
          <a:ln/>
        </p:spPr>
        <p:txBody>
          <a:bodyPr wrap="square" lIns="0" tIns="0" rIns="0" bIns="0" rtlCol="0" anchor="t">
            <a:spAutoFit/>
          </a:bodyPr>
          <a:lstStyle/>
          <a:p>
            <a:pPr marL="0" indent="0" algn="l">
              <a:buNone/>
            </a:pPr>
            <a:r>
              <a:rPr lang="en-US" sz="1200" b="1" dirty="0">
                <a:solidFill>
                  <a:srgbClr val="2563EB"/>
                </a:solidFill>
                <a:latin typeface="Pretendard Variable" pitchFamily="34" charset="0"/>
                <a:ea typeface="Pretendard Variable" pitchFamily="34" charset="-122"/>
                <a:cs typeface="Pretendard Variable" pitchFamily="34" charset="-120"/>
              </a:rPr>
              <a:t>현장 </a:t>
            </a:r>
            <a:r>
              <a:rPr lang="en-US" sz="1200" b="1" dirty="0" err="1">
                <a:solidFill>
                  <a:srgbClr val="2563EB"/>
                </a:solidFill>
                <a:latin typeface="Pretendard Variable" pitchFamily="34" charset="0"/>
                <a:ea typeface="Pretendard Variable" pitchFamily="34" charset="-122"/>
                <a:cs typeface="Pretendard Variable" pitchFamily="34" charset="-120"/>
              </a:rPr>
              <a:t>수요</a:t>
            </a:r>
            <a:r>
              <a:rPr lang="en-US" sz="1200" b="1" dirty="0">
                <a:solidFill>
                  <a:srgbClr val="2563EB"/>
                </a:solidFill>
                <a:latin typeface="Pretendard Variable" pitchFamily="34" charset="0"/>
                <a:ea typeface="Pretendard Variable" pitchFamily="34" charset="-122"/>
                <a:cs typeface="Pretendard Variable" pitchFamily="34" charset="-120"/>
              </a:rPr>
              <a:t> </a:t>
            </a:r>
            <a:r>
              <a:rPr lang="ko-KR" altLang="en-US" sz="1200" b="1" dirty="0">
                <a:solidFill>
                  <a:srgbClr val="2563EB"/>
                </a:solidFill>
                <a:latin typeface="Pretendard Variable" pitchFamily="34" charset="0"/>
                <a:ea typeface="Pretendard Variable" pitchFamily="34" charset="-122"/>
                <a:cs typeface="Pretendard Variable" pitchFamily="34" charset="-120"/>
              </a:rPr>
              <a:t>기반 </a:t>
            </a:r>
            <a:r>
              <a:rPr lang="en-US" altLang="ko-KR" sz="1200" b="1" dirty="0">
                <a:solidFill>
                  <a:srgbClr val="2563EB"/>
                </a:solidFill>
                <a:latin typeface="Pretendard Variable" pitchFamily="34" charset="0"/>
                <a:ea typeface="Pretendard Variable" pitchFamily="34" charset="-122"/>
                <a:cs typeface="Pretendard Variable" pitchFamily="34" charset="-120"/>
              </a:rPr>
              <a:t>BM</a:t>
            </a:r>
            <a:endParaRPr lang="en-US" sz="1200" dirty="0"/>
          </a:p>
        </p:txBody>
      </p:sp>
      <p:pic>
        <p:nvPicPr>
          <p:cNvPr id="5" name="Image 1" descr="preencoded.png"/>
          <p:cNvPicPr>
            <a:picLocks noChangeAspect="1"/>
          </p:cNvPicPr>
          <p:nvPr/>
        </p:nvPicPr>
        <p:blipFill>
          <a:blip r:embed="rId4"/>
          <a:stretch>
            <a:fillRect/>
          </a:stretch>
        </p:blipFill>
        <p:spPr>
          <a:xfrm>
            <a:off x="571500" y="1503759"/>
            <a:ext cx="142875" cy="185738"/>
          </a:xfrm>
          <a:prstGeom prst="rect">
            <a:avLst/>
          </a:prstGeom>
        </p:spPr>
      </p:pic>
      <p:sp>
        <p:nvSpPr>
          <p:cNvPr id="6" name="Text 2"/>
          <p:cNvSpPr/>
          <p:nvPr/>
        </p:nvSpPr>
        <p:spPr>
          <a:xfrm>
            <a:off x="800100" y="1475184"/>
            <a:ext cx="2384227" cy="214313"/>
          </a:xfrm>
          <a:prstGeom prst="rect">
            <a:avLst/>
          </a:prstGeom>
          <a:noFill/>
          <a:ln/>
        </p:spPr>
        <p:txBody>
          <a:bodyPr wrap="none" lIns="0" tIns="0" rIns="0" bIns="0" rtlCol="0" anchor="t">
            <a:spAutoFit/>
          </a:bodyPr>
          <a:lstStyle/>
          <a:p>
            <a:pPr marL="0" indent="0" algn="l">
              <a:lnSpc>
                <a:spcPct val="120000"/>
              </a:lnSpc>
              <a:buNone/>
            </a:pPr>
            <a:r>
              <a:rPr lang="en-US" sz="1000" dirty="0">
                <a:solidFill>
                  <a:srgbClr val="1E293B"/>
                </a:solidFill>
                <a:latin typeface="Pretendard Variable" pitchFamily="34" charset="0"/>
                <a:ea typeface="Pretendard Variable" pitchFamily="34" charset="-122"/>
                <a:cs typeface="Pretendard Variable" pitchFamily="34" charset="-120"/>
              </a:rPr>
              <a:t>비자 만료/서류 누락 등 행정 사고 예방 수요</a:t>
            </a:r>
            <a:endParaRPr lang="en-US" sz="1000" dirty="0"/>
          </a:p>
        </p:txBody>
      </p:sp>
      <p:pic>
        <p:nvPicPr>
          <p:cNvPr id="7" name="Image 2" descr="preencoded.png"/>
          <p:cNvPicPr>
            <a:picLocks noChangeAspect="1"/>
          </p:cNvPicPr>
          <p:nvPr/>
        </p:nvPicPr>
        <p:blipFill>
          <a:blip r:embed="rId4"/>
          <a:stretch>
            <a:fillRect/>
          </a:stretch>
        </p:blipFill>
        <p:spPr>
          <a:xfrm>
            <a:off x="571500" y="1803797"/>
            <a:ext cx="142875" cy="185738"/>
          </a:xfrm>
          <a:prstGeom prst="rect">
            <a:avLst/>
          </a:prstGeom>
        </p:spPr>
      </p:pic>
      <p:sp>
        <p:nvSpPr>
          <p:cNvPr id="8" name="Text 3"/>
          <p:cNvSpPr/>
          <p:nvPr/>
        </p:nvSpPr>
        <p:spPr>
          <a:xfrm>
            <a:off x="800100" y="1775222"/>
            <a:ext cx="2332434" cy="214313"/>
          </a:xfrm>
          <a:prstGeom prst="rect">
            <a:avLst/>
          </a:prstGeom>
          <a:noFill/>
          <a:ln/>
        </p:spPr>
        <p:txBody>
          <a:bodyPr wrap="none" lIns="0" tIns="0" rIns="0" bIns="0" rtlCol="0" anchor="t">
            <a:spAutoFit/>
          </a:bodyPr>
          <a:lstStyle/>
          <a:p>
            <a:pPr marL="0" indent="0" algn="l">
              <a:lnSpc>
                <a:spcPct val="120000"/>
              </a:lnSpc>
              <a:buNone/>
            </a:pPr>
            <a:r>
              <a:rPr lang="en-US" sz="1000" dirty="0">
                <a:solidFill>
                  <a:srgbClr val="1E293B"/>
                </a:solidFill>
                <a:latin typeface="Pretendard Variable" pitchFamily="34" charset="0"/>
                <a:ea typeface="Pretendard Variable" pitchFamily="34" charset="-122"/>
                <a:cs typeface="Pretendard Variable" pitchFamily="34" charset="-120"/>
              </a:rPr>
              <a:t>복잡한 쿼터 계산 및 채용 절차 자동화 니즈</a:t>
            </a:r>
            <a:endParaRPr lang="en-US" sz="1000" dirty="0"/>
          </a:p>
        </p:txBody>
      </p:sp>
      <p:pic>
        <p:nvPicPr>
          <p:cNvPr id="9" name="Image 3" descr="preencoded.png"/>
          <p:cNvPicPr>
            <a:picLocks noChangeAspect="1"/>
          </p:cNvPicPr>
          <p:nvPr/>
        </p:nvPicPr>
        <p:blipFill>
          <a:blip r:embed="rId4"/>
          <a:stretch>
            <a:fillRect/>
          </a:stretch>
        </p:blipFill>
        <p:spPr>
          <a:xfrm>
            <a:off x="571500" y="2103834"/>
            <a:ext cx="142875" cy="185738"/>
          </a:xfrm>
          <a:prstGeom prst="rect">
            <a:avLst/>
          </a:prstGeom>
        </p:spPr>
      </p:pic>
      <p:sp>
        <p:nvSpPr>
          <p:cNvPr id="10" name="Text 4"/>
          <p:cNvSpPr/>
          <p:nvPr/>
        </p:nvSpPr>
        <p:spPr>
          <a:xfrm>
            <a:off x="800100" y="2075259"/>
            <a:ext cx="2544961" cy="214313"/>
          </a:xfrm>
          <a:prstGeom prst="rect">
            <a:avLst/>
          </a:prstGeom>
          <a:noFill/>
          <a:ln/>
        </p:spPr>
        <p:txBody>
          <a:bodyPr wrap="none" lIns="0" tIns="0" rIns="0" bIns="0" rtlCol="0" anchor="t">
            <a:spAutoFit/>
          </a:bodyPr>
          <a:lstStyle/>
          <a:p>
            <a:pPr marL="0" indent="0" algn="l">
              <a:lnSpc>
                <a:spcPct val="120000"/>
              </a:lnSpc>
              <a:buNone/>
            </a:pPr>
            <a:r>
              <a:rPr lang="en-US" sz="1000" dirty="0">
                <a:solidFill>
                  <a:srgbClr val="1E293B"/>
                </a:solidFill>
                <a:latin typeface="Pretendard Variable" pitchFamily="34" charset="0"/>
                <a:ea typeface="Pretendard Variable" pitchFamily="34" charset="-122"/>
                <a:cs typeface="Pretendard Variable" pitchFamily="34" charset="-120"/>
              </a:rPr>
              <a:t>외국인 근로자와의 다국어 소통 및 온보딩 관리</a:t>
            </a:r>
            <a:endParaRPr lang="en-US" sz="1000" dirty="0"/>
          </a:p>
        </p:txBody>
      </p:sp>
      <p:pic>
        <p:nvPicPr>
          <p:cNvPr id="11" name="Image 4" descr="preencoded.png"/>
          <p:cNvPicPr>
            <a:picLocks noChangeAspect="1"/>
          </p:cNvPicPr>
          <p:nvPr/>
        </p:nvPicPr>
        <p:blipFill>
          <a:blip r:embed="rId4"/>
          <a:stretch>
            <a:fillRect/>
          </a:stretch>
        </p:blipFill>
        <p:spPr>
          <a:xfrm>
            <a:off x="571500" y="2403872"/>
            <a:ext cx="142875" cy="185738"/>
          </a:xfrm>
          <a:prstGeom prst="rect">
            <a:avLst/>
          </a:prstGeom>
        </p:spPr>
      </p:pic>
      <p:sp>
        <p:nvSpPr>
          <p:cNvPr id="12" name="Text 5"/>
          <p:cNvSpPr/>
          <p:nvPr/>
        </p:nvSpPr>
        <p:spPr>
          <a:xfrm>
            <a:off x="800100" y="2375297"/>
            <a:ext cx="2544961" cy="214313"/>
          </a:xfrm>
          <a:prstGeom prst="rect">
            <a:avLst/>
          </a:prstGeom>
          <a:noFill/>
          <a:ln/>
        </p:spPr>
        <p:txBody>
          <a:bodyPr wrap="none" lIns="0" tIns="0" rIns="0" bIns="0" rtlCol="0" anchor="t">
            <a:spAutoFit/>
          </a:bodyPr>
          <a:lstStyle/>
          <a:p>
            <a:pPr marL="0" indent="0" algn="l">
              <a:lnSpc>
                <a:spcPct val="120000"/>
              </a:lnSpc>
              <a:buNone/>
            </a:pPr>
            <a:r>
              <a:rPr lang="en-US" sz="1000" dirty="0">
                <a:solidFill>
                  <a:srgbClr val="1E293B"/>
                </a:solidFill>
                <a:latin typeface="Pretendard Variable" pitchFamily="34" charset="0"/>
                <a:ea typeface="Pretendard Variable" pitchFamily="34" charset="-122"/>
                <a:cs typeface="Pretendard Variable" pitchFamily="34" charset="-120"/>
              </a:rPr>
              <a:t>행정사 업무 효율화를 위한 데이터 패키징 요구</a:t>
            </a:r>
            <a:endParaRPr lang="en-US" sz="1000" dirty="0"/>
          </a:p>
        </p:txBody>
      </p:sp>
      <p:sp>
        <p:nvSpPr>
          <p:cNvPr id="13" name="Shape 6"/>
          <p:cNvSpPr/>
          <p:nvPr/>
        </p:nvSpPr>
        <p:spPr>
          <a:xfrm>
            <a:off x="4700588" y="1143000"/>
            <a:ext cx="3871913" cy="2116336"/>
          </a:xfrm>
          <a:prstGeom prst="rect">
            <a:avLst/>
          </a:prstGeom>
          <a:solidFill>
            <a:srgbClr val="0F172A"/>
          </a:solidFill>
          <a:ln/>
        </p:spPr>
      </p:sp>
      <p:pic>
        <p:nvPicPr>
          <p:cNvPr id="14" name="Image 5" descr="preencoded.png"/>
          <p:cNvPicPr>
            <a:picLocks noChangeAspect="1"/>
          </p:cNvPicPr>
          <p:nvPr/>
        </p:nvPicPr>
        <p:blipFill>
          <a:blip r:embed="rId5"/>
          <a:stretch>
            <a:fillRect/>
          </a:stretch>
        </p:blipFill>
        <p:spPr>
          <a:xfrm>
            <a:off x="4786313" y="1244798"/>
            <a:ext cx="171450" cy="171450"/>
          </a:xfrm>
          <a:prstGeom prst="rect">
            <a:avLst/>
          </a:prstGeom>
        </p:spPr>
      </p:pic>
      <p:sp>
        <p:nvSpPr>
          <p:cNvPr id="15" name="Text 7"/>
          <p:cNvSpPr/>
          <p:nvPr/>
        </p:nvSpPr>
        <p:spPr>
          <a:xfrm>
            <a:off x="5043488" y="1228725"/>
            <a:ext cx="1943721" cy="184666"/>
          </a:xfrm>
          <a:prstGeom prst="rect">
            <a:avLst/>
          </a:prstGeom>
          <a:noFill/>
          <a:ln/>
        </p:spPr>
        <p:txBody>
          <a:bodyPr wrap="square" lIns="0" tIns="0" rIns="0" bIns="0" rtlCol="0" anchor="t">
            <a:spAutoFit/>
          </a:bodyPr>
          <a:lstStyle/>
          <a:p>
            <a:pPr marL="0" indent="0" algn="l">
              <a:buNone/>
            </a:pPr>
            <a:r>
              <a:rPr lang="ko-KR" altLang="en-US" sz="1200" b="1" dirty="0">
                <a:solidFill>
                  <a:srgbClr val="FFFFFF"/>
                </a:solidFill>
                <a:latin typeface="Pretendard Variable" pitchFamily="34" charset="0"/>
                <a:ea typeface="Pretendard Variable" pitchFamily="34" charset="-122"/>
                <a:cs typeface="Pretendard Variable" pitchFamily="34" charset="-120"/>
              </a:rPr>
              <a:t>수익 모델</a:t>
            </a:r>
            <a:endParaRPr lang="en-US" sz="1200" dirty="0"/>
          </a:p>
        </p:txBody>
      </p:sp>
      <p:sp>
        <p:nvSpPr>
          <p:cNvPr id="16" name="Text 8"/>
          <p:cNvSpPr/>
          <p:nvPr/>
        </p:nvSpPr>
        <p:spPr>
          <a:xfrm>
            <a:off x="4786313" y="1560909"/>
            <a:ext cx="1126927" cy="187523"/>
          </a:xfrm>
          <a:prstGeom prst="rect">
            <a:avLst/>
          </a:prstGeom>
          <a:noFill/>
          <a:ln/>
        </p:spPr>
        <p:txBody>
          <a:bodyPr wrap="none" lIns="0" tIns="0" rIns="0" bIns="0" rtlCol="0" anchor="t">
            <a:spAutoFit/>
          </a:bodyPr>
          <a:lstStyle/>
          <a:p>
            <a:pPr marL="0" indent="0" algn="l">
              <a:buNone/>
            </a:pPr>
            <a:r>
              <a:rPr lang="en-US" sz="1100" b="1" dirty="0">
                <a:solidFill>
                  <a:srgbClr val="D6DEF1"/>
                </a:solidFill>
                <a:latin typeface="Pretendard Variable" pitchFamily="34" charset="0"/>
                <a:ea typeface="Pretendard Variable" pitchFamily="34" charset="-122"/>
                <a:cs typeface="Pretendard Variable" pitchFamily="34" charset="-120"/>
              </a:rPr>
              <a:t>White-labeling</a:t>
            </a:r>
            <a:endParaRPr lang="en-US" sz="1100" dirty="0"/>
          </a:p>
        </p:txBody>
      </p:sp>
      <p:sp>
        <p:nvSpPr>
          <p:cNvPr id="17" name="Text 9"/>
          <p:cNvSpPr/>
          <p:nvPr/>
        </p:nvSpPr>
        <p:spPr>
          <a:xfrm>
            <a:off x="4786313" y="1805583"/>
            <a:ext cx="3700463"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94A3B8"/>
                </a:solidFill>
                <a:latin typeface="Pretendard Variable" pitchFamily="34" charset="0"/>
                <a:ea typeface="Pretendard Variable" pitchFamily="34" charset="-122"/>
                <a:cs typeface="Pretendard Variable" pitchFamily="34" charset="-120"/>
              </a:rPr>
              <a:t>행정사/노무사 사무소 대상의 전문 업무 툴 제공</a:t>
            </a:r>
            <a:endParaRPr lang="en-US" sz="950" dirty="0"/>
          </a:p>
        </p:txBody>
      </p:sp>
      <p:sp>
        <p:nvSpPr>
          <p:cNvPr id="18" name="Text 10"/>
          <p:cNvSpPr/>
          <p:nvPr/>
        </p:nvSpPr>
        <p:spPr>
          <a:xfrm>
            <a:off x="4786313" y="2148483"/>
            <a:ext cx="3700463" cy="169277"/>
          </a:xfrm>
          <a:prstGeom prst="rect">
            <a:avLst/>
          </a:prstGeom>
          <a:noFill/>
          <a:ln/>
        </p:spPr>
        <p:txBody>
          <a:bodyPr wrap="square" lIns="0" tIns="0" rIns="0" bIns="0" rtlCol="0" anchor="t">
            <a:spAutoFit/>
          </a:bodyPr>
          <a:lstStyle/>
          <a:p>
            <a:pPr marL="0" indent="0" algn="l">
              <a:buNone/>
            </a:pPr>
            <a:r>
              <a:rPr lang="en-US" sz="1100" b="1" dirty="0">
                <a:solidFill>
                  <a:srgbClr val="0070C0"/>
                </a:solidFill>
                <a:latin typeface="Pretendard Variable" pitchFamily="34" charset="0"/>
                <a:ea typeface="Pretendard Variable" pitchFamily="34" charset="-122"/>
                <a:cs typeface="Pretendard Variable" pitchFamily="34" charset="-120"/>
              </a:rPr>
              <a:t>Usage-based</a:t>
            </a:r>
            <a:endParaRPr lang="en-US" sz="1100" dirty="0">
              <a:solidFill>
                <a:srgbClr val="0070C0"/>
              </a:solidFill>
            </a:endParaRPr>
          </a:p>
        </p:txBody>
      </p:sp>
      <p:sp>
        <p:nvSpPr>
          <p:cNvPr id="19" name="Text 11"/>
          <p:cNvSpPr/>
          <p:nvPr/>
        </p:nvSpPr>
        <p:spPr>
          <a:xfrm>
            <a:off x="4786313" y="2393156"/>
            <a:ext cx="2261838" cy="162545"/>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0070C0"/>
                </a:solidFill>
                <a:latin typeface="Pretendard Variable" pitchFamily="34" charset="0"/>
                <a:ea typeface="Pretendard Variable" pitchFamily="34" charset="-122"/>
                <a:cs typeface="Pretendard Variable" pitchFamily="34" charset="-120"/>
              </a:rPr>
              <a:t>채용 및 비자 케이스별 성공 기반 과금 모델</a:t>
            </a:r>
            <a:endParaRPr lang="en-US" sz="950" dirty="0">
              <a:solidFill>
                <a:srgbClr val="0070C0"/>
              </a:solidFill>
            </a:endParaRPr>
          </a:p>
        </p:txBody>
      </p:sp>
      <p:sp>
        <p:nvSpPr>
          <p:cNvPr id="20" name="Text 12"/>
          <p:cNvSpPr/>
          <p:nvPr/>
        </p:nvSpPr>
        <p:spPr>
          <a:xfrm>
            <a:off x="4786313" y="2736056"/>
            <a:ext cx="712589" cy="187523"/>
          </a:xfrm>
          <a:prstGeom prst="rect">
            <a:avLst/>
          </a:prstGeom>
          <a:noFill/>
          <a:ln/>
        </p:spPr>
        <p:txBody>
          <a:bodyPr wrap="none" lIns="0" tIns="0" rIns="0" bIns="0" rtlCol="0" anchor="t">
            <a:spAutoFit/>
          </a:bodyPr>
          <a:lstStyle/>
          <a:p>
            <a:pPr marL="0" indent="0" algn="l">
              <a:buNone/>
            </a:pPr>
            <a:r>
              <a:rPr lang="en-US" sz="1100" b="1" dirty="0">
                <a:solidFill>
                  <a:srgbClr val="E3EAFA"/>
                </a:solidFill>
                <a:latin typeface="Pretendard Variable" pitchFamily="34" charset="0"/>
                <a:ea typeface="Pretendard Variable" pitchFamily="34" charset="-122"/>
                <a:cs typeface="Pretendard Variable" pitchFamily="34" charset="-120"/>
              </a:rPr>
              <a:t>B2B SaaS</a:t>
            </a:r>
            <a:endParaRPr lang="en-US" sz="1100" dirty="0"/>
          </a:p>
        </p:txBody>
      </p:sp>
      <p:sp>
        <p:nvSpPr>
          <p:cNvPr id="21" name="Text 13"/>
          <p:cNvSpPr/>
          <p:nvPr/>
        </p:nvSpPr>
        <p:spPr>
          <a:xfrm>
            <a:off x="4786313" y="2980730"/>
            <a:ext cx="3700463"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94A3B8"/>
                </a:solidFill>
                <a:latin typeface="Pretendard Variable" pitchFamily="34" charset="0"/>
                <a:ea typeface="Pretendard Variable" pitchFamily="34" charset="-122"/>
                <a:cs typeface="Pretendard Variable" pitchFamily="34" charset="-120"/>
              </a:rPr>
              <a:t>대규모 외국인 인력 활용 기업 대상 정기 구독</a:t>
            </a:r>
            <a:endParaRPr lang="en-US" sz="950" dirty="0"/>
          </a:p>
        </p:txBody>
      </p:sp>
      <p:sp>
        <p:nvSpPr>
          <p:cNvPr id="22" name="Shape 14"/>
          <p:cNvSpPr/>
          <p:nvPr/>
        </p:nvSpPr>
        <p:spPr>
          <a:xfrm>
            <a:off x="571501" y="3898702"/>
            <a:ext cx="8001000" cy="398264"/>
          </a:xfrm>
          <a:prstGeom prst="rect">
            <a:avLst/>
          </a:prstGeom>
          <a:solidFill>
            <a:srgbClr val="F1F5F9"/>
          </a:solidFill>
          <a:ln/>
        </p:spPr>
      </p:sp>
      <p:sp>
        <p:nvSpPr>
          <p:cNvPr id="23" name="Text 15"/>
          <p:cNvSpPr/>
          <p:nvPr/>
        </p:nvSpPr>
        <p:spPr>
          <a:xfrm>
            <a:off x="571501" y="3898702"/>
            <a:ext cx="8001000" cy="428579"/>
          </a:xfrm>
          <a:prstGeom prst="rect">
            <a:avLst/>
          </a:prstGeom>
          <a:noFill/>
          <a:ln/>
        </p:spPr>
        <p:txBody>
          <a:bodyPr wrap="square" lIns="136017" tIns="136017" rIns="136017" bIns="136017" rtlCol="0" anchor="t">
            <a:spAutoFit/>
          </a:bodyPr>
          <a:lstStyle/>
          <a:p>
            <a:pPr marL="0" indent="0" algn="ctr">
              <a:buNone/>
            </a:pPr>
            <a:r>
              <a:rPr lang="en-US" sz="1000" b="1" dirty="0">
                <a:solidFill>
                  <a:srgbClr val="0F172A"/>
                </a:solidFill>
                <a:latin typeface="Pretendard Variable" pitchFamily="34" charset="0"/>
                <a:ea typeface="Pretendard Variable" pitchFamily="34" charset="-122"/>
                <a:cs typeface="Pretendard Variable" pitchFamily="34" charset="-120"/>
              </a:rPr>
              <a:t>"</a:t>
            </a:r>
            <a:r>
              <a:rPr lang="en-US" sz="1000" b="1" dirty="0" err="1">
                <a:solidFill>
                  <a:srgbClr val="0F172A"/>
                </a:solidFill>
                <a:latin typeface="Pretendard Variable" pitchFamily="34" charset="0"/>
                <a:ea typeface="Pretendard Variable" pitchFamily="34" charset="-122"/>
                <a:cs typeface="Pretendard Variable" pitchFamily="34" charset="-120"/>
              </a:rPr>
              <a:t>외고반장은</a:t>
            </a:r>
            <a:r>
              <a:rPr lang="en-US" sz="1000" b="1" dirty="0">
                <a:solidFill>
                  <a:srgbClr val="0F172A"/>
                </a:solidFill>
                <a:latin typeface="Pretendard Variable" pitchFamily="34" charset="0"/>
                <a:ea typeface="Pretendard Variable" pitchFamily="34" charset="-122"/>
                <a:cs typeface="Pretendard Variable" pitchFamily="34" charset="-120"/>
              </a:rPr>
              <a:t> 단순 도구를 넘어 외국인 고용 생태계의 표준 운영 체제를 지향합니다."</a:t>
            </a:r>
            <a:endParaRPr lang="en-US" sz="1000" dirty="0"/>
          </a:p>
        </p:txBody>
      </p:sp>
      <p:sp>
        <p:nvSpPr>
          <p:cNvPr id="24" name="Text 3">
            <a:extLst>
              <a:ext uri="{FF2B5EF4-FFF2-40B4-BE49-F238E27FC236}">
                <a16:creationId xmlns:a16="http://schemas.microsoft.com/office/drawing/2014/main" id="{C01106FB-F7B2-1716-5EF5-61960C5196C8}"/>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en-US" altLang="ko-KR" sz="1200" b="1" dirty="0">
                <a:latin typeface="Pretendard"/>
              </a:rPr>
              <a:t> </a:t>
            </a:r>
            <a:r>
              <a:rPr lang="en-US" altLang="ko-KR" sz="1200" dirty="0">
                <a:solidFill>
                  <a:schemeClr val="tx1">
                    <a:lumMod val="65000"/>
                    <a:lumOff val="35000"/>
                  </a:schemeClr>
                </a:solidFill>
                <a:latin typeface="Pretendard"/>
              </a:rPr>
              <a:t>– How – </a:t>
            </a:r>
            <a:r>
              <a:rPr lang="en-US" altLang="ko-KR" sz="1200" b="1" dirty="0">
                <a:latin typeface="Pretendard"/>
              </a:rPr>
              <a:t>So what?  </a:t>
            </a:r>
            <a:endParaRPr lang="en-US" sz="1200" b="1" dirty="0">
              <a:latin typeface="Pretendar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36662"/>
            <a:ext cx="4411266" cy="307777"/>
          </a:xfrm>
          <a:prstGeom prst="rect">
            <a:avLst/>
          </a:prstGeom>
          <a:noFill/>
          <a:ln/>
        </p:spPr>
        <p:txBody>
          <a:bodyPr wrap="square" lIns="0" tIns="0" rIns="0" bIns="0" rtlCol="0" anchor="t">
            <a:spAutoFit/>
          </a:bodyPr>
          <a:lstStyle/>
          <a:p>
            <a:pPr marL="0" indent="0" algn="l">
              <a:buNone/>
            </a:pPr>
            <a:r>
              <a:rPr lang="en-US" sz="2000" b="1" dirty="0">
                <a:solidFill>
                  <a:srgbClr val="0F172A"/>
                </a:solidFill>
                <a:latin typeface="Pretendard Variable" pitchFamily="34" charset="0"/>
                <a:ea typeface="Pretendard Variable" pitchFamily="34" charset="-122"/>
                <a:cs typeface="Pretendard Variable" pitchFamily="34" charset="-120"/>
              </a:rPr>
              <a:t>5. </a:t>
            </a:r>
            <a:r>
              <a:rPr lang="en-US" sz="2000" b="1" dirty="0" err="1">
                <a:solidFill>
                  <a:srgbClr val="0F172A"/>
                </a:solidFill>
                <a:latin typeface="Pretendard Variable" pitchFamily="34" charset="0"/>
                <a:ea typeface="Pretendard Variable" pitchFamily="34" charset="-122"/>
                <a:cs typeface="Pretendard Variable" pitchFamily="34" charset="-120"/>
              </a:rPr>
              <a:t>이번</a:t>
            </a:r>
            <a:r>
              <a:rPr lang="en-US" sz="2000" b="1" dirty="0">
                <a:solidFill>
                  <a:srgbClr val="0F172A"/>
                </a:solidFill>
                <a:latin typeface="Pretendard Variable" pitchFamily="34" charset="0"/>
                <a:ea typeface="Pretendard Variable" pitchFamily="34" charset="-122"/>
                <a:cs typeface="Pretendard Variable" pitchFamily="34" charset="-120"/>
              </a:rPr>
              <a:t> 달 처리 필요 업무 브리핑</a:t>
            </a:r>
            <a:endParaRPr lang="en-US" sz="2000" dirty="0"/>
          </a:p>
        </p:txBody>
      </p:sp>
      <p:sp>
        <p:nvSpPr>
          <p:cNvPr id="5" name="Shape 1"/>
          <p:cNvSpPr/>
          <p:nvPr/>
        </p:nvSpPr>
        <p:spPr>
          <a:xfrm>
            <a:off x="571500" y="1000125"/>
            <a:ext cx="3000375" cy="3429000"/>
          </a:xfrm>
          <a:prstGeom prst="rect">
            <a:avLst/>
          </a:prstGeom>
          <a:solidFill>
            <a:srgbClr val="0F172A"/>
          </a:solidFill>
          <a:ln w="73152">
            <a:solidFill>
              <a:srgbClr val="334155"/>
            </a:solidFill>
            <a:prstDash val="solid"/>
          </a:ln>
        </p:spPr>
      </p:sp>
      <p:sp>
        <p:nvSpPr>
          <p:cNvPr id="6" name="Shape 2"/>
          <p:cNvSpPr/>
          <p:nvPr/>
        </p:nvSpPr>
        <p:spPr>
          <a:xfrm>
            <a:off x="1412677" y="1171575"/>
            <a:ext cx="2044898" cy="321469"/>
          </a:xfrm>
          <a:prstGeom prst="rect">
            <a:avLst/>
          </a:prstGeom>
          <a:solidFill>
            <a:srgbClr val="2563EB"/>
          </a:solidFill>
          <a:ln/>
        </p:spPr>
      </p:sp>
      <p:sp>
        <p:nvSpPr>
          <p:cNvPr id="7" name="Text 3"/>
          <p:cNvSpPr/>
          <p:nvPr/>
        </p:nvSpPr>
        <p:spPr>
          <a:xfrm>
            <a:off x="1352824" y="1171575"/>
            <a:ext cx="2387798" cy="335733"/>
          </a:xfrm>
          <a:prstGeom prst="rect">
            <a:avLst/>
          </a:prstGeom>
          <a:noFill/>
          <a:ln/>
        </p:spPr>
        <p:txBody>
          <a:bodyPr wrap="square" lIns="136017" tIns="102108" rIns="136017" bIns="102108" rtlCol="0" anchor="t">
            <a:spAutoFit/>
          </a:bodyPr>
          <a:lstStyle/>
          <a:p>
            <a:pPr marL="0" indent="0" algn="l">
              <a:lnSpc>
                <a:spcPct val="112000"/>
              </a:lnSpc>
              <a:buNone/>
            </a:pPr>
            <a:r>
              <a:rPr lang="en-US" sz="800" dirty="0">
                <a:solidFill>
                  <a:srgbClr val="FFFFFF"/>
                </a:solidFill>
                <a:latin typeface="Pretendard Variable" pitchFamily="34" charset="0"/>
                <a:ea typeface="Pretendard Variable" pitchFamily="34" charset="-122"/>
                <a:cs typeface="Pretendard Variable" pitchFamily="34" charset="-120"/>
              </a:rPr>
              <a:t>“이번 달 외국인 직원 중에 처리할 거 있어?”</a:t>
            </a:r>
            <a:endParaRPr lang="en-US" sz="800" dirty="0"/>
          </a:p>
        </p:txBody>
      </p:sp>
      <p:sp>
        <p:nvSpPr>
          <p:cNvPr id="8" name="Shape 4"/>
          <p:cNvSpPr/>
          <p:nvPr/>
        </p:nvSpPr>
        <p:spPr>
          <a:xfrm>
            <a:off x="685800" y="1607344"/>
            <a:ext cx="1666280" cy="921544"/>
          </a:xfrm>
          <a:prstGeom prst="rect">
            <a:avLst/>
          </a:prstGeom>
          <a:solidFill>
            <a:srgbClr val="334155"/>
          </a:solidFill>
          <a:ln/>
        </p:spPr>
      </p:sp>
      <p:sp>
        <p:nvSpPr>
          <p:cNvPr id="9" name="Text 5"/>
          <p:cNvSpPr/>
          <p:nvPr/>
        </p:nvSpPr>
        <p:spPr>
          <a:xfrm>
            <a:off x="685800" y="1607344"/>
            <a:ext cx="1666280" cy="921544"/>
          </a:xfrm>
          <a:prstGeom prst="rect">
            <a:avLst/>
          </a:prstGeom>
          <a:noFill/>
          <a:ln/>
        </p:spPr>
        <p:txBody>
          <a:bodyPr wrap="square" lIns="136017" tIns="102108" rIns="136017" bIns="102108" rtlCol="0" anchor="t">
            <a:spAutoFit/>
          </a:bodyPr>
          <a:lstStyle/>
          <a:p>
            <a:pPr marL="0" indent="0" algn="l">
              <a:lnSpc>
                <a:spcPct val="112000"/>
              </a:lnSpc>
              <a:buNone/>
            </a:pPr>
            <a:r>
              <a:rPr lang="en-US" sz="800" dirty="0">
                <a:solidFill>
                  <a:srgbClr val="FFFFFF"/>
                </a:solidFill>
                <a:latin typeface="Pretendard Variable" pitchFamily="34" charset="0"/>
                <a:ea typeface="Pretendard Variable" pitchFamily="34" charset="-122"/>
                <a:cs typeface="Pretendard Variable" pitchFamily="34" charset="-120"/>
              </a:rPr>
              <a:t>이번 달 처리 필요 업무 4건입니다.
1. Nguyen Van A (D-76)
2. Tran Thi B (D-45)
3. 신규 채용 3명 요청</a:t>
            </a:r>
            <a:endParaRPr lang="en-US" sz="800" dirty="0"/>
          </a:p>
        </p:txBody>
      </p:sp>
      <p:sp>
        <p:nvSpPr>
          <p:cNvPr id="10" name="Shape 6"/>
          <p:cNvSpPr/>
          <p:nvPr/>
        </p:nvSpPr>
        <p:spPr>
          <a:xfrm>
            <a:off x="3857625" y="1000125"/>
            <a:ext cx="4714875" cy="905470"/>
          </a:xfrm>
          <a:prstGeom prst="rect">
            <a:avLst/>
          </a:prstGeom>
          <a:solidFill>
            <a:srgbClr val="F8FAFC"/>
          </a:solidFill>
          <a:ln/>
        </p:spPr>
      </p:sp>
      <p:sp>
        <p:nvSpPr>
          <p:cNvPr id="11" name="Shape 7"/>
          <p:cNvSpPr/>
          <p:nvPr/>
        </p:nvSpPr>
        <p:spPr>
          <a:xfrm>
            <a:off x="3857625" y="1000125"/>
            <a:ext cx="35719" cy="905470"/>
          </a:xfrm>
          <a:prstGeom prst="rect">
            <a:avLst/>
          </a:prstGeom>
          <a:solidFill>
            <a:srgbClr val="EF4444"/>
          </a:solidFill>
          <a:ln/>
        </p:spPr>
      </p:sp>
      <p:sp>
        <p:nvSpPr>
          <p:cNvPr id="12" name="Text 8"/>
          <p:cNvSpPr/>
          <p:nvPr/>
        </p:nvSpPr>
        <p:spPr>
          <a:xfrm>
            <a:off x="3971925" y="1114425"/>
            <a:ext cx="1941314"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1. Nguyen Van A — 체류만료 D-76</a:t>
            </a:r>
            <a:endParaRPr lang="en-US" sz="900" dirty="0"/>
          </a:p>
        </p:txBody>
      </p:sp>
      <p:sp>
        <p:nvSpPr>
          <p:cNvPr id="13" name="Text 9"/>
          <p:cNvSpPr/>
          <p:nvPr/>
        </p:nvSpPr>
        <p:spPr>
          <a:xfrm>
            <a:off x="8092083" y="1114425"/>
            <a:ext cx="366117" cy="153591"/>
          </a:xfrm>
          <a:prstGeom prst="rect">
            <a:avLst/>
          </a:prstGeom>
          <a:noFill/>
          <a:ln/>
        </p:spPr>
        <p:txBody>
          <a:bodyPr wrap="none" lIns="0" tIns="0" rIns="0" bIns="0" rtlCol="0" anchor="t">
            <a:spAutoFit/>
          </a:bodyPr>
          <a:lstStyle/>
          <a:p>
            <a:pPr marL="0" indent="0" algn="l">
              <a:buNone/>
            </a:pPr>
            <a:r>
              <a:rPr lang="en-US" sz="700" b="1" dirty="0">
                <a:solidFill>
                  <a:srgbClr val="EF4444"/>
                </a:solidFill>
                <a:latin typeface="Pretendard Variable" pitchFamily="34" charset="0"/>
                <a:ea typeface="Pretendard Variable" pitchFamily="34" charset="-122"/>
                <a:cs typeface="Pretendard Variable" pitchFamily="34" charset="-120"/>
              </a:rPr>
              <a:t>서류 누락</a:t>
            </a:r>
            <a:endParaRPr lang="en-US" sz="700" dirty="0"/>
          </a:p>
        </p:txBody>
      </p:sp>
      <p:pic>
        <p:nvPicPr>
          <p:cNvPr id="14" name="Image 1" descr="preencoded.png"/>
          <p:cNvPicPr>
            <a:picLocks noChangeAspect="1"/>
          </p:cNvPicPr>
          <p:nvPr/>
        </p:nvPicPr>
        <p:blipFill>
          <a:blip r:embed="rId4"/>
          <a:stretch>
            <a:fillRect/>
          </a:stretch>
        </p:blipFill>
        <p:spPr>
          <a:xfrm>
            <a:off x="3971925" y="1345704"/>
            <a:ext cx="53578" cy="85725"/>
          </a:xfrm>
          <a:prstGeom prst="rect">
            <a:avLst/>
          </a:prstGeom>
        </p:spPr>
      </p:pic>
      <p:sp>
        <p:nvSpPr>
          <p:cNvPr id="15" name="Text 10"/>
          <p:cNvSpPr/>
          <p:nvPr/>
        </p:nvSpPr>
        <p:spPr>
          <a:xfrm>
            <a:off x="4082653" y="1325166"/>
            <a:ext cx="862608" cy="126802"/>
          </a:xfrm>
          <a:prstGeom prst="rect">
            <a:avLst/>
          </a:prstGeom>
          <a:noFill/>
          <a:ln/>
        </p:spPr>
        <p:txBody>
          <a:bodyPr wrap="non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표준근로계약서 없음</a:t>
            </a:r>
            <a:endParaRPr lang="en-US" sz="800" dirty="0"/>
          </a:p>
        </p:txBody>
      </p:sp>
      <p:pic>
        <p:nvPicPr>
          <p:cNvPr id="16" name="Image 2" descr="preencoded.png"/>
          <p:cNvPicPr>
            <a:picLocks noChangeAspect="1"/>
          </p:cNvPicPr>
          <p:nvPr/>
        </p:nvPicPr>
        <p:blipFill>
          <a:blip r:embed="rId5"/>
          <a:stretch>
            <a:fillRect/>
          </a:stretch>
        </p:blipFill>
        <p:spPr>
          <a:xfrm>
            <a:off x="3971925" y="1501080"/>
            <a:ext cx="53578" cy="85725"/>
          </a:xfrm>
          <a:prstGeom prst="rect">
            <a:avLst/>
          </a:prstGeom>
        </p:spPr>
      </p:pic>
      <p:sp>
        <p:nvSpPr>
          <p:cNvPr id="17" name="Text 11"/>
          <p:cNvSpPr/>
          <p:nvPr/>
        </p:nvSpPr>
        <p:spPr>
          <a:xfrm>
            <a:off x="4082653" y="1480542"/>
            <a:ext cx="889397" cy="126802"/>
          </a:xfrm>
          <a:prstGeom prst="rect">
            <a:avLst/>
          </a:prstGeom>
          <a:noFill/>
          <a:ln/>
        </p:spPr>
        <p:txBody>
          <a:bodyPr wrap="non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고용허가서 사본 없음</a:t>
            </a:r>
            <a:endParaRPr lang="en-US" sz="800" dirty="0"/>
          </a:p>
        </p:txBody>
      </p:sp>
      <p:pic>
        <p:nvPicPr>
          <p:cNvPr id="18" name="Image 3" descr="preencoded.png"/>
          <p:cNvPicPr>
            <a:picLocks noChangeAspect="1"/>
          </p:cNvPicPr>
          <p:nvPr/>
        </p:nvPicPr>
        <p:blipFill>
          <a:blip r:embed="rId6"/>
          <a:stretch>
            <a:fillRect/>
          </a:stretch>
        </p:blipFill>
        <p:spPr>
          <a:xfrm>
            <a:off x="3971925" y="1656457"/>
            <a:ext cx="85725" cy="85725"/>
          </a:xfrm>
          <a:prstGeom prst="rect">
            <a:avLst/>
          </a:prstGeom>
        </p:spPr>
      </p:pic>
      <p:sp>
        <p:nvSpPr>
          <p:cNvPr id="19" name="Text 12"/>
          <p:cNvSpPr/>
          <p:nvPr/>
        </p:nvSpPr>
        <p:spPr>
          <a:xfrm>
            <a:off x="4114800" y="1635919"/>
            <a:ext cx="1526977" cy="126802"/>
          </a:xfrm>
          <a:prstGeom prst="rect">
            <a:avLst/>
          </a:prstGeom>
          <a:noFill/>
          <a:ln/>
        </p:spPr>
        <p:txBody>
          <a:bodyPr wrap="squar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베트남어 서류 요청 메시지 생성 가능</a:t>
            </a:r>
            <a:endParaRPr lang="en-US" sz="800" dirty="0"/>
          </a:p>
        </p:txBody>
      </p:sp>
      <p:sp>
        <p:nvSpPr>
          <p:cNvPr id="20" name="Shape 13"/>
          <p:cNvSpPr/>
          <p:nvPr/>
        </p:nvSpPr>
        <p:spPr>
          <a:xfrm>
            <a:off x="3857625" y="1991320"/>
            <a:ext cx="4714875" cy="750094"/>
          </a:xfrm>
          <a:prstGeom prst="rect">
            <a:avLst/>
          </a:prstGeom>
          <a:solidFill>
            <a:srgbClr val="F8FAFC"/>
          </a:solidFill>
          <a:ln/>
        </p:spPr>
      </p:sp>
      <p:sp>
        <p:nvSpPr>
          <p:cNvPr id="21" name="Shape 14"/>
          <p:cNvSpPr/>
          <p:nvPr/>
        </p:nvSpPr>
        <p:spPr>
          <a:xfrm>
            <a:off x="3857625" y="1991320"/>
            <a:ext cx="35719" cy="750094"/>
          </a:xfrm>
          <a:prstGeom prst="rect">
            <a:avLst/>
          </a:prstGeom>
          <a:solidFill>
            <a:srgbClr val="F59E0B"/>
          </a:solidFill>
          <a:ln/>
        </p:spPr>
      </p:sp>
      <p:sp>
        <p:nvSpPr>
          <p:cNvPr id="22" name="Text 15"/>
          <p:cNvSpPr/>
          <p:nvPr/>
        </p:nvSpPr>
        <p:spPr>
          <a:xfrm>
            <a:off x="3971925" y="2105620"/>
            <a:ext cx="1839516"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2. Tran Thi B — 계약종료일 D-45</a:t>
            </a:r>
            <a:endParaRPr lang="en-US" sz="900" dirty="0"/>
          </a:p>
        </p:txBody>
      </p:sp>
      <p:sp>
        <p:nvSpPr>
          <p:cNvPr id="23" name="Text 16"/>
          <p:cNvSpPr/>
          <p:nvPr/>
        </p:nvSpPr>
        <p:spPr>
          <a:xfrm>
            <a:off x="8092083" y="2105620"/>
            <a:ext cx="366117" cy="153591"/>
          </a:xfrm>
          <a:prstGeom prst="rect">
            <a:avLst/>
          </a:prstGeom>
          <a:noFill/>
          <a:ln/>
        </p:spPr>
        <p:txBody>
          <a:bodyPr wrap="none" lIns="0" tIns="0" rIns="0" bIns="0" rtlCol="0" anchor="t">
            <a:spAutoFit/>
          </a:bodyPr>
          <a:lstStyle/>
          <a:p>
            <a:pPr marL="0" indent="0" algn="l">
              <a:buNone/>
            </a:pPr>
            <a:r>
              <a:rPr lang="en-US" sz="700" b="1" dirty="0">
                <a:solidFill>
                  <a:srgbClr val="F59E0B"/>
                </a:solidFill>
                <a:latin typeface="Pretendard Variable" pitchFamily="34" charset="0"/>
                <a:ea typeface="Pretendard Variable" pitchFamily="34" charset="-122"/>
                <a:cs typeface="Pretendard Variable" pitchFamily="34" charset="-120"/>
              </a:rPr>
              <a:t>검토 필요</a:t>
            </a:r>
            <a:endParaRPr lang="en-US" sz="700" dirty="0"/>
          </a:p>
        </p:txBody>
      </p:sp>
      <p:pic>
        <p:nvPicPr>
          <p:cNvPr id="24" name="Image 4" descr="preencoded.png"/>
          <p:cNvPicPr>
            <a:picLocks noChangeAspect="1"/>
          </p:cNvPicPr>
          <p:nvPr/>
        </p:nvPicPr>
        <p:blipFill>
          <a:blip r:embed="rId7"/>
          <a:stretch>
            <a:fillRect/>
          </a:stretch>
        </p:blipFill>
        <p:spPr>
          <a:xfrm>
            <a:off x="3971925" y="2336899"/>
            <a:ext cx="85725" cy="85725"/>
          </a:xfrm>
          <a:prstGeom prst="rect">
            <a:avLst/>
          </a:prstGeom>
        </p:spPr>
      </p:pic>
      <p:sp>
        <p:nvSpPr>
          <p:cNvPr id="25" name="Text 17"/>
          <p:cNvSpPr/>
          <p:nvPr/>
        </p:nvSpPr>
        <p:spPr>
          <a:xfrm>
            <a:off x="4114800" y="2316360"/>
            <a:ext cx="2234982" cy="123111"/>
          </a:xfrm>
          <a:prstGeom prst="rect">
            <a:avLst/>
          </a:prstGeom>
          <a:noFill/>
          <a:ln/>
        </p:spPr>
        <p:txBody>
          <a:bodyPr wrap="squar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체류만료일과 계약종료일 충돌 가능성 탐지</a:t>
            </a:r>
            <a:endParaRPr lang="en-US" sz="800" dirty="0"/>
          </a:p>
        </p:txBody>
      </p:sp>
      <p:pic>
        <p:nvPicPr>
          <p:cNvPr id="26" name="Image 5" descr="preencoded.png"/>
          <p:cNvPicPr>
            <a:picLocks noChangeAspect="1"/>
          </p:cNvPicPr>
          <p:nvPr/>
        </p:nvPicPr>
        <p:blipFill>
          <a:blip r:embed="rId8"/>
          <a:stretch>
            <a:fillRect/>
          </a:stretch>
        </p:blipFill>
        <p:spPr>
          <a:xfrm>
            <a:off x="3971925" y="2492276"/>
            <a:ext cx="75009" cy="85725"/>
          </a:xfrm>
          <a:prstGeom prst="rect">
            <a:avLst/>
          </a:prstGeom>
        </p:spPr>
      </p:pic>
      <p:sp>
        <p:nvSpPr>
          <p:cNvPr id="27" name="Text 18"/>
          <p:cNvSpPr/>
          <p:nvPr/>
        </p:nvSpPr>
        <p:spPr>
          <a:xfrm>
            <a:off x="4104084" y="2471738"/>
            <a:ext cx="916186" cy="126802"/>
          </a:xfrm>
          <a:prstGeom prst="rect">
            <a:avLst/>
          </a:prstGeom>
          <a:noFill/>
          <a:ln/>
        </p:spPr>
        <p:txBody>
          <a:bodyPr wrap="non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행정사 정밀 검토 권장</a:t>
            </a:r>
            <a:endParaRPr lang="en-US" sz="800" dirty="0"/>
          </a:p>
        </p:txBody>
      </p:sp>
      <p:sp>
        <p:nvSpPr>
          <p:cNvPr id="28" name="Shape 19"/>
          <p:cNvSpPr/>
          <p:nvPr/>
        </p:nvSpPr>
        <p:spPr>
          <a:xfrm>
            <a:off x="3857625" y="2827139"/>
            <a:ext cx="4714875" cy="750094"/>
          </a:xfrm>
          <a:prstGeom prst="rect">
            <a:avLst/>
          </a:prstGeom>
          <a:solidFill>
            <a:srgbClr val="F8FAFC"/>
          </a:solidFill>
          <a:ln/>
        </p:spPr>
      </p:sp>
      <p:sp>
        <p:nvSpPr>
          <p:cNvPr id="29" name="Shape 20"/>
          <p:cNvSpPr/>
          <p:nvPr/>
        </p:nvSpPr>
        <p:spPr>
          <a:xfrm>
            <a:off x="3857625" y="2827139"/>
            <a:ext cx="35719" cy="750094"/>
          </a:xfrm>
          <a:prstGeom prst="rect">
            <a:avLst/>
          </a:prstGeom>
          <a:solidFill>
            <a:srgbClr val="3B82F6"/>
          </a:solidFill>
          <a:ln/>
        </p:spPr>
      </p:sp>
      <p:sp>
        <p:nvSpPr>
          <p:cNvPr id="30" name="Text 21"/>
          <p:cNvSpPr/>
          <p:nvPr/>
        </p:nvSpPr>
        <p:spPr>
          <a:xfrm>
            <a:off x="3971925" y="2941439"/>
            <a:ext cx="1805583" cy="153591"/>
          </a:xfrm>
          <a:prstGeom prst="rect">
            <a:avLst/>
          </a:prstGeom>
          <a:noFill/>
          <a:ln/>
        </p:spPr>
        <p:txBody>
          <a:bodyPr wrap="square" lIns="0" tIns="0" rIns="0" bIns="0" rtlCol="0" anchor="t">
            <a:spAutoFit/>
          </a:bodyPr>
          <a:lstStyle/>
          <a:p>
            <a:pPr marL="0" indent="0" algn="l">
              <a:buNone/>
            </a:pPr>
            <a:r>
              <a:rPr lang="en-US" sz="900" b="1" dirty="0">
                <a:solidFill>
                  <a:srgbClr val="0F172A"/>
                </a:solidFill>
                <a:latin typeface="Pretendard Variable" pitchFamily="34" charset="0"/>
                <a:ea typeface="Pretendard Variable" pitchFamily="34" charset="-122"/>
                <a:cs typeface="Pretendard Variable" pitchFamily="34" charset="-120"/>
              </a:rPr>
              <a:t>3. 신규 베트남 근로자 3명 채용 요청</a:t>
            </a:r>
            <a:endParaRPr lang="en-US" sz="900" dirty="0"/>
          </a:p>
        </p:txBody>
      </p:sp>
      <p:sp>
        <p:nvSpPr>
          <p:cNvPr id="31" name="Text 22"/>
          <p:cNvSpPr/>
          <p:nvPr/>
        </p:nvSpPr>
        <p:spPr>
          <a:xfrm>
            <a:off x="8092083" y="2941439"/>
            <a:ext cx="366117" cy="153591"/>
          </a:xfrm>
          <a:prstGeom prst="rect">
            <a:avLst/>
          </a:prstGeom>
          <a:noFill/>
          <a:ln/>
        </p:spPr>
        <p:txBody>
          <a:bodyPr wrap="none" lIns="0" tIns="0" rIns="0" bIns="0" rtlCol="0" anchor="t">
            <a:spAutoFit/>
          </a:bodyPr>
          <a:lstStyle/>
          <a:p>
            <a:pPr marL="0" indent="0" algn="l">
              <a:buNone/>
            </a:pPr>
            <a:r>
              <a:rPr lang="en-US" sz="700" b="1" dirty="0">
                <a:solidFill>
                  <a:srgbClr val="3B82F6"/>
                </a:solidFill>
                <a:latin typeface="Pretendard Variable" pitchFamily="34" charset="0"/>
                <a:ea typeface="Pretendard Variable" pitchFamily="34" charset="-122"/>
                <a:cs typeface="Pretendard Variable" pitchFamily="34" charset="-120"/>
              </a:rPr>
              <a:t>준비 완료</a:t>
            </a:r>
            <a:endParaRPr lang="en-US" sz="700" dirty="0"/>
          </a:p>
        </p:txBody>
      </p:sp>
      <p:pic>
        <p:nvPicPr>
          <p:cNvPr id="32" name="Image 6" descr="preencoded.png"/>
          <p:cNvPicPr>
            <a:picLocks noChangeAspect="1"/>
          </p:cNvPicPr>
          <p:nvPr/>
        </p:nvPicPr>
        <p:blipFill>
          <a:blip r:embed="rId9"/>
          <a:stretch>
            <a:fillRect/>
          </a:stretch>
        </p:blipFill>
        <p:spPr>
          <a:xfrm>
            <a:off x="3971925" y="3172718"/>
            <a:ext cx="96441" cy="85725"/>
          </a:xfrm>
          <a:prstGeom prst="rect">
            <a:avLst/>
          </a:prstGeom>
        </p:spPr>
      </p:pic>
      <p:sp>
        <p:nvSpPr>
          <p:cNvPr id="33" name="Text 23"/>
          <p:cNvSpPr/>
          <p:nvPr/>
        </p:nvSpPr>
        <p:spPr>
          <a:xfrm>
            <a:off x="4125516" y="3152180"/>
            <a:ext cx="1721935" cy="123111"/>
          </a:xfrm>
          <a:prstGeom prst="rect">
            <a:avLst/>
          </a:prstGeom>
          <a:noFill/>
          <a:ln/>
        </p:spPr>
        <p:txBody>
          <a:bodyPr wrap="squar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송출회사 전달용 요청서 생성 완료</a:t>
            </a:r>
            <a:endParaRPr lang="en-US" sz="800" dirty="0"/>
          </a:p>
        </p:txBody>
      </p:sp>
      <p:pic>
        <p:nvPicPr>
          <p:cNvPr id="34" name="Image 7" descr="preencoded.png"/>
          <p:cNvPicPr>
            <a:picLocks noChangeAspect="1"/>
          </p:cNvPicPr>
          <p:nvPr/>
        </p:nvPicPr>
        <p:blipFill>
          <a:blip r:embed="rId10"/>
          <a:stretch>
            <a:fillRect/>
          </a:stretch>
        </p:blipFill>
        <p:spPr>
          <a:xfrm>
            <a:off x="3971925" y="3328095"/>
            <a:ext cx="85725" cy="85725"/>
          </a:xfrm>
          <a:prstGeom prst="rect">
            <a:avLst/>
          </a:prstGeom>
        </p:spPr>
      </p:pic>
      <p:sp>
        <p:nvSpPr>
          <p:cNvPr id="35" name="Text 24"/>
          <p:cNvSpPr/>
          <p:nvPr/>
        </p:nvSpPr>
        <p:spPr>
          <a:xfrm>
            <a:off x="4114800" y="3307556"/>
            <a:ext cx="1732651" cy="123111"/>
          </a:xfrm>
          <a:prstGeom prst="rect">
            <a:avLst/>
          </a:prstGeom>
          <a:noFill/>
          <a:ln/>
        </p:spPr>
        <p:txBody>
          <a:bodyPr wrap="square" lIns="0" tIns="0" rIns="0" bIns="0" rtlCol="0" anchor="t">
            <a:spAutoFit/>
          </a:bodyPr>
          <a:lstStyle/>
          <a:p>
            <a:pPr marL="0" indent="0" algn="l">
              <a:buNone/>
            </a:pPr>
            <a:r>
              <a:rPr lang="en-US" sz="800" dirty="0">
                <a:solidFill>
                  <a:srgbClr val="475569"/>
                </a:solidFill>
                <a:latin typeface="Pretendard Variable" pitchFamily="34" charset="0"/>
                <a:ea typeface="Pretendard Variable" pitchFamily="34" charset="-122"/>
                <a:cs typeface="Pretendard Variable" pitchFamily="34" charset="-120"/>
              </a:rPr>
              <a:t>후보자 서류 준비도 확인 대기 중</a:t>
            </a:r>
            <a:endParaRPr lang="en-US" sz="800" dirty="0"/>
          </a:p>
        </p:txBody>
      </p:sp>
      <p:sp>
        <p:nvSpPr>
          <p:cNvPr id="36" name="Shape 25"/>
          <p:cNvSpPr/>
          <p:nvPr/>
        </p:nvSpPr>
        <p:spPr>
          <a:xfrm>
            <a:off x="3857625" y="3748683"/>
            <a:ext cx="1089422" cy="225028"/>
          </a:xfrm>
          <a:prstGeom prst="rect">
            <a:avLst/>
          </a:prstGeom>
          <a:solidFill>
            <a:srgbClr val="0F172A"/>
          </a:solidFill>
          <a:ln/>
        </p:spPr>
      </p:sp>
      <p:sp>
        <p:nvSpPr>
          <p:cNvPr id="37" name="Text 26"/>
          <p:cNvSpPr/>
          <p:nvPr/>
        </p:nvSpPr>
        <p:spPr>
          <a:xfrm>
            <a:off x="3857625" y="3748683"/>
            <a:ext cx="1089422" cy="225028"/>
          </a:xfrm>
          <a:prstGeom prst="rect">
            <a:avLst/>
          </a:prstGeom>
          <a:noFill/>
          <a:ln/>
        </p:spPr>
        <p:txBody>
          <a:bodyPr wrap="none" lIns="136017" tIns="68072" rIns="136017" bIns="68072" rtlCol="0" anchor="t">
            <a:spAutoFit/>
          </a:bodyPr>
          <a:lstStyle/>
          <a:p>
            <a:pPr marL="0" indent="0" algn="l">
              <a:buNone/>
            </a:pPr>
            <a:r>
              <a:rPr lang="en-US" sz="650" b="1" dirty="0">
                <a:solidFill>
                  <a:srgbClr val="FFFFFF"/>
                </a:solidFill>
                <a:latin typeface="Pretendard Variable" pitchFamily="34" charset="0"/>
                <a:ea typeface="Pretendard Variable" pitchFamily="34" charset="-122"/>
                <a:cs typeface="Pretendard Variable" pitchFamily="34" charset="-120"/>
              </a:rPr>
              <a:t>[서류 요청 메시지 발송]</a:t>
            </a:r>
            <a:endParaRPr lang="en-US" sz="650" dirty="0"/>
          </a:p>
        </p:txBody>
      </p:sp>
      <p:sp>
        <p:nvSpPr>
          <p:cNvPr id="38" name="Shape 27"/>
          <p:cNvSpPr/>
          <p:nvPr/>
        </p:nvSpPr>
        <p:spPr>
          <a:xfrm>
            <a:off x="5018484" y="3748683"/>
            <a:ext cx="987623" cy="225028"/>
          </a:xfrm>
          <a:prstGeom prst="rect">
            <a:avLst/>
          </a:prstGeom>
          <a:solidFill>
            <a:srgbClr val="0F172A"/>
          </a:solidFill>
          <a:ln/>
        </p:spPr>
      </p:sp>
      <p:sp>
        <p:nvSpPr>
          <p:cNvPr id="39" name="Text 28"/>
          <p:cNvSpPr/>
          <p:nvPr/>
        </p:nvSpPr>
        <p:spPr>
          <a:xfrm>
            <a:off x="5018484" y="3748683"/>
            <a:ext cx="987623" cy="225028"/>
          </a:xfrm>
          <a:prstGeom prst="rect">
            <a:avLst/>
          </a:prstGeom>
          <a:noFill/>
          <a:ln/>
        </p:spPr>
        <p:txBody>
          <a:bodyPr wrap="none" lIns="136017" tIns="68072" rIns="136017" bIns="68072" rtlCol="0" anchor="t">
            <a:spAutoFit/>
          </a:bodyPr>
          <a:lstStyle/>
          <a:p>
            <a:pPr marL="0" indent="0" algn="l">
              <a:buNone/>
            </a:pPr>
            <a:r>
              <a:rPr lang="en-US" sz="650" b="1" dirty="0">
                <a:solidFill>
                  <a:srgbClr val="FFFFFF"/>
                </a:solidFill>
                <a:latin typeface="Pretendard Variable" pitchFamily="34" charset="0"/>
                <a:ea typeface="Pretendard Variable" pitchFamily="34" charset="-122"/>
                <a:cs typeface="Pretendard Variable" pitchFamily="34" charset="-120"/>
              </a:rPr>
              <a:t>[행정사 패키지 생성]</a:t>
            </a:r>
            <a:endParaRPr lang="en-US" sz="650" dirty="0"/>
          </a:p>
        </p:txBody>
      </p:sp>
      <p:sp>
        <p:nvSpPr>
          <p:cNvPr id="40" name="Text 3">
            <a:extLst>
              <a:ext uri="{FF2B5EF4-FFF2-40B4-BE49-F238E27FC236}">
                <a16:creationId xmlns:a16="http://schemas.microsoft.com/office/drawing/2014/main" id="{5844F41D-27A7-AA0E-9A27-312F11703AC7}"/>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en-US" altLang="ko-KR" sz="1200" b="1" dirty="0">
                <a:latin typeface="Pretendard"/>
              </a:rPr>
              <a:t> </a:t>
            </a:r>
            <a:r>
              <a:rPr lang="en-US" altLang="ko-KR" sz="1200" dirty="0">
                <a:solidFill>
                  <a:schemeClr val="tx1">
                    <a:lumMod val="65000"/>
                    <a:lumOff val="35000"/>
                  </a:schemeClr>
                </a:solidFill>
                <a:latin typeface="Pretendard"/>
              </a:rPr>
              <a:t>– How – </a:t>
            </a:r>
            <a:r>
              <a:rPr lang="en-US" altLang="ko-KR" sz="1200" b="1" dirty="0">
                <a:latin typeface="Pretendard"/>
              </a:rPr>
              <a:t>So what?  </a:t>
            </a:r>
            <a:endParaRPr lang="en-US" sz="1200" b="1" dirty="0">
              <a:latin typeface="Pretendar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57238" y="420588"/>
            <a:ext cx="5400245" cy="346249"/>
          </a:xfrm>
          <a:prstGeom prst="rect">
            <a:avLst/>
          </a:prstGeom>
          <a:noFill/>
          <a:ln/>
        </p:spPr>
        <p:txBody>
          <a:bodyPr wrap="square" lIns="0" tIns="0" rIns="0" bIns="0" rtlCol="0" anchor="t">
            <a:spAutoFit/>
          </a:bodyPr>
          <a:lstStyle/>
          <a:p>
            <a:pPr marL="0" indent="0" algn="l">
              <a:buNone/>
            </a:pPr>
            <a:r>
              <a:rPr lang="en-US" sz="2250" b="1" dirty="0">
                <a:solidFill>
                  <a:srgbClr val="0F172A"/>
                </a:solidFill>
                <a:latin typeface="Pretendard Variable" pitchFamily="34" charset="0"/>
                <a:ea typeface="Pretendard Variable" pitchFamily="34" charset="-122"/>
                <a:cs typeface="Pretendard Variable" pitchFamily="34" charset="-120"/>
              </a:rPr>
              <a:t>5. </a:t>
            </a:r>
            <a:r>
              <a:rPr lang="en-US" sz="2250" b="1" dirty="0" err="1">
                <a:solidFill>
                  <a:srgbClr val="0F172A"/>
                </a:solidFill>
                <a:latin typeface="Pretendard Variable" pitchFamily="34" charset="0"/>
                <a:ea typeface="Pretendard Variable" pitchFamily="34" charset="-122"/>
                <a:cs typeface="Pretendard Variable" pitchFamily="34" charset="-120"/>
              </a:rPr>
              <a:t>외고반장이</a:t>
            </a:r>
            <a:r>
              <a:rPr lang="en-US" sz="2250" b="1" dirty="0">
                <a:solidFill>
                  <a:srgbClr val="0F172A"/>
                </a:solidFill>
                <a:latin typeface="Pretendard Variable" pitchFamily="34" charset="0"/>
                <a:ea typeface="Pretendard Variable" pitchFamily="34" charset="-122"/>
                <a:cs typeface="Pretendard Variable" pitchFamily="34" charset="-120"/>
              </a:rPr>
              <a:t> 사장님께 드리는 5가지 가치</a:t>
            </a:r>
            <a:endParaRPr lang="en-US" sz="2250" dirty="0"/>
          </a:p>
        </p:txBody>
      </p:sp>
      <p:sp>
        <p:nvSpPr>
          <p:cNvPr id="5" name="Shape 1"/>
          <p:cNvSpPr/>
          <p:nvPr/>
        </p:nvSpPr>
        <p:spPr>
          <a:xfrm>
            <a:off x="571500" y="928688"/>
            <a:ext cx="8001000" cy="467916"/>
          </a:xfrm>
          <a:prstGeom prst="rect">
            <a:avLst/>
          </a:prstGeom>
          <a:solidFill>
            <a:srgbClr val="FFFFFF"/>
          </a:solidFill>
          <a:ln/>
        </p:spPr>
      </p:sp>
      <p:sp>
        <p:nvSpPr>
          <p:cNvPr id="6" name="Shape 2"/>
          <p:cNvSpPr/>
          <p:nvPr/>
        </p:nvSpPr>
        <p:spPr>
          <a:xfrm>
            <a:off x="571500" y="928688"/>
            <a:ext cx="42863" cy="467916"/>
          </a:xfrm>
          <a:prstGeom prst="rect">
            <a:avLst/>
          </a:prstGeom>
          <a:solidFill>
            <a:srgbClr val="2563EB"/>
          </a:solidFill>
          <a:ln/>
        </p:spPr>
      </p:sp>
      <p:pic>
        <p:nvPicPr>
          <p:cNvPr id="7" name="Image 1" descr="preencoded.png"/>
          <p:cNvPicPr>
            <a:picLocks noChangeAspect="1"/>
          </p:cNvPicPr>
          <p:nvPr/>
        </p:nvPicPr>
        <p:blipFill>
          <a:blip r:embed="rId4"/>
          <a:stretch>
            <a:fillRect/>
          </a:stretch>
        </p:blipFill>
        <p:spPr>
          <a:xfrm>
            <a:off x="801886" y="1059061"/>
            <a:ext cx="225028" cy="200025"/>
          </a:xfrm>
          <a:prstGeom prst="rect">
            <a:avLst/>
          </a:prstGeom>
        </p:spPr>
      </p:pic>
      <p:sp>
        <p:nvSpPr>
          <p:cNvPr id="8" name="Text 3"/>
          <p:cNvSpPr/>
          <p:nvPr/>
        </p:nvSpPr>
        <p:spPr>
          <a:xfrm>
            <a:off x="1228724" y="1068884"/>
            <a:ext cx="3343275" cy="169277"/>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무엇을 놓쳤는지 실시간으로 즉시 알 수 있습니다.</a:t>
            </a:r>
            <a:endParaRPr lang="en-US" sz="1100" dirty="0"/>
          </a:p>
        </p:txBody>
      </p:sp>
      <p:sp>
        <p:nvSpPr>
          <p:cNvPr id="9" name="Shape 4"/>
          <p:cNvSpPr/>
          <p:nvPr/>
        </p:nvSpPr>
        <p:spPr>
          <a:xfrm>
            <a:off x="571500" y="1482328"/>
            <a:ext cx="8001000" cy="467916"/>
          </a:xfrm>
          <a:prstGeom prst="rect">
            <a:avLst/>
          </a:prstGeom>
          <a:solidFill>
            <a:srgbClr val="FFFFFF"/>
          </a:solidFill>
          <a:ln/>
        </p:spPr>
      </p:sp>
      <p:sp>
        <p:nvSpPr>
          <p:cNvPr id="10" name="Shape 5"/>
          <p:cNvSpPr/>
          <p:nvPr/>
        </p:nvSpPr>
        <p:spPr>
          <a:xfrm>
            <a:off x="571500" y="1482328"/>
            <a:ext cx="42863" cy="467916"/>
          </a:xfrm>
          <a:prstGeom prst="rect">
            <a:avLst/>
          </a:prstGeom>
          <a:solidFill>
            <a:srgbClr val="2563EB"/>
          </a:solidFill>
          <a:ln/>
        </p:spPr>
      </p:sp>
      <p:pic>
        <p:nvPicPr>
          <p:cNvPr id="11" name="Image 2" descr="preencoded.png"/>
          <p:cNvPicPr>
            <a:picLocks noChangeAspect="1"/>
          </p:cNvPicPr>
          <p:nvPr/>
        </p:nvPicPr>
        <p:blipFill>
          <a:blip r:embed="rId5"/>
          <a:stretch>
            <a:fillRect/>
          </a:stretch>
        </p:blipFill>
        <p:spPr>
          <a:xfrm>
            <a:off x="814388" y="1612702"/>
            <a:ext cx="200025" cy="200025"/>
          </a:xfrm>
          <a:prstGeom prst="rect">
            <a:avLst/>
          </a:prstGeom>
        </p:spPr>
      </p:pic>
      <p:sp>
        <p:nvSpPr>
          <p:cNvPr id="12" name="Text 6"/>
          <p:cNvSpPr/>
          <p:nvPr/>
        </p:nvSpPr>
        <p:spPr>
          <a:xfrm>
            <a:off x="1228725" y="1622525"/>
            <a:ext cx="3433538" cy="171412"/>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누구에게 연락해야 하는지 AI가 명확히 짚어줍니다.</a:t>
            </a:r>
            <a:endParaRPr lang="en-US" sz="1100" dirty="0"/>
          </a:p>
        </p:txBody>
      </p:sp>
      <p:sp>
        <p:nvSpPr>
          <p:cNvPr id="13" name="Shape 7"/>
          <p:cNvSpPr/>
          <p:nvPr/>
        </p:nvSpPr>
        <p:spPr>
          <a:xfrm>
            <a:off x="571500" y="2035969"/>
            <a:ext cx="8001000" cy="467916"/>
          </a:xfrm>
          <a:prstGeom prst="rect">
            <a:avLst/>
          </a:prstGeom>
          <a:solidFill>
            <a:srgbClr val="FFFFFF"/>
          </a:solidFill>
          <a:ln/>
        </p:spPr>
      </p:sp>
      <p:sp>
        <p:nvSpPr>
          <p:cNvPr id="14" name="Shape 8"/>
          <p:cNvSpPr/>
          <p:nvPr/>
        </p:nvSpPr>
        <p:spPr>
          <a:xfrm>
            <a:off x="571500" y="2035969"/>
            <a:ext cx="42863" cy="467916"/>
          </a:xfrm>
          <a:prstGeom prst="rect">
            <a:avLst/>
          </a:prstGeom>
          <a:solidFill>
            <a:srgbClr val="2563EB"/>
          </a:solidFill>
          <a:ln/>
        </p:spPr>
      </p:sp>
      <p:pic>
        <p:nvPicPr>
          <p:cNvPr id="15" name="Image 3" descr="preencoded.png"/>
          <p:cNvPicPr>
            <a:picLocks noChangeAspect="1"/>
          </p:cNvPicPr>
          <p:nvPr/>
        </p:nvPicPr>
        <p:blipFill>
          <a:blip r:embed="rId6"/>
          <a:stretch>
            <a:fillRect/>
          </a:stretch>
        </p:blipFill>
        <p:spPr>
          <a:xfrm>
            <a:off x="789384" y="2166342"/>
            <a:ext cx="250031" cy="200025"/>
          </a:xfrm>
          <a:prstGeom prst="rect">
            <a:avLst/>
          </a:prstGeom>
        </p:spPr>
      </p:pic>
      <p:sp>
        <p:nvSpPr>
          <p:cNvPr id="16" name="Text 9"/>
          <p:cNvSpPr/>
          <p:nvPr/>
        </p:nvSpPr>
        <p:spPr>
          <a:xfrm>
            <a:off x="1228725" y="2176165"/>
            <a:ext cx="3841682" cy="169277"/>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외국어 메시지를 직접 쓸 필요 없이 자동 생성됩니다.</a:t>
            </a:r>
            <a:endParaRPr lang="en-US" sz="1100" dirty="0"/>
          </a:p>
        </p:txBody>
      </p:sp>
      <p:sp>
        <p:nvSpPr>
          <p:cNvPr id="17" name="Shape 10"/>
          <p:cNvSpPr/>
          <p:nvPr/>
        </p:nvSpPr>
        <p:spPr>
          <a:xfrm>
            <a:off x="571500" y="2589609"/>
            <a:ext cx="8001000" cy="467916"/>
          </a:xfrm>
          <a:prstGeom prst="rect">
            <a:avLst/>
          </a:prstGeom>
          <a:solidFill>
            <a:srgbClr val="FFFFFF"/>
          </a:solidFill>
          <a:ln/>
        </p:spPr>
      </p:sp>
      <p:sp>
        <p:nvSpPr>
          <p:cNvPr id="18" name="Shape 11"/>
          <p:cNvSpPr/>
          <p:nvPr/>
        </p:nvSpPr>
        <p:spPr>
          <a:xfrm>
            <a:off x="571500" y="2589609"/>
            <a:ext cx="42863" cy="467916"/>
          </a:xfrm>
          <a:prstGeom prst="rect">
            <a:avLst/>
          </a:prstGeom>
          <a:solidFill>
            <a:srgbClr val="2563EB"/>
          </a:solidFill>
          <a:ln/>
        </p:spPr>
      </p:sp>
      <p:pic>
        <p:nvPicPr>
          <p:cNvPr id="19" name="Image 4" descr="preencoded.png"/>
          <p:cNvPicPr>
            <a:picLocks noChangeAspect="1"/>
          </p:cNvPicPr>
          <p:nvPr/>
        </p:nvPicPr>
        <p:blipFill>
          <a:blip r:embed="rId7"/>
          <a:stretch>
            <a:fillRect/>
          </a:stretch>
        </p:blipFill>
        <p:spPr>
          <a:xfrm>
            <a:off x="839391" y="2719983"/>
            <a:ext cx="150019" cy="200025"/>
          </a:xfrm>
          <a:prstGeom prst="rect">
            <a:avLst/>
          </a:prstGeom>
        </p:spPr>
      </p:pic>
      <p:sp>
        <p:nvSpPr>
          <p:cNvPr id="20" name="Text 12"/>
          <p:cNvSpPr/>
          <p:nvPr/>
        </p:nvSpPr>
        <p:spPr>
          <a:xfrm>
            <a:off x="1228725" y="2729805"/>
            <a:ext cx="3539498" cy="169277"/>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행정사에게 넘길 복잡한 자료가 자동으로 정리됩니다.</a:t>
            </a:r>
            <a:endParaRPr lang="en-US" sz="1100" dirty="0"/>
          </a:p>
        </p:txBody>
      </p:sp>
      <p:sp>
        <p:nvSpPr>
          <p:cNvPr id="21" name="Shape 13"/>
          <p:cNvSpPr/>
          <p:nvPr/>
        </p:nvSpPr>
        <p:spPr>
          <a:xfrm>
            <a:off x="571500" y="3143250"/>
            <a:ext cx="8001000" cy="467916"/>
          </a:xfrm>
          <a:prstGeom prst="rect">
            <a:avLst/>
          </a:prstGeom>
          <a:solidFill>
            <a:srgbClr val="FFFFFF"/>
          </a:solidFill>
          <a:ln/>
        </p:spPr>
      </p:sp>
      <p:sp>
        <p:nvSpPr>
          <p:cNvPr id="22" name="Shape 14"/>
          <p:cNvSpPr/>
          <p:nvPr/>
        </p:nvSpPr>
        <p:spPr>
          <a:xfrm>
            <a:off x="571500" y="3143250"/>
            <a:ext cx="42863" cy="467916"/>
          </a:xfrm>
          <a:prstGeom prst="rect">
            <a:avLst/>
          </a:prstGeom>
          <a:solidFill>
            <a:srgbClr val="2563EB"/>
          </a:solidFill>
          <a:ln/>
        </p:spPr>
      </p:sp>
      <p:pic>
        <p:nvPicPr>
          <p:cNvPr id="23" name="Image 5" descr="preencoded.png"/>
          <p:cNvPicPr>
            <a:picLocks noChangeAspect="1"/>
          </p:cNvPicPr>
          <p:nvPr/>
        </p:nvPicPr>
        <p:blipFill>
          <a:blip r:embed="rId8"/>
          <a:stretch>
            <a:fillRect/>
          </a:stretch>
        </p:blipFill>
        <p:spPr>
          <a:xfrm>
            <a:off x="789384" y="3273623"/>
            <a:ext cx="250031" cy="200025"/>
          </a:xfrm>
          <a:prstGeom prst="rect">
            <a:avLst/>
          </a:prstGeom>
        </p:spPr>
      </p:pic>
      <p:sp>
        <p:nvSpPr>
          <p:cNvPr id="24" name="Text 15"/>
          <p:cNvSpPr/>
          <p:nvPr/>
        </p:nvSpPr>
        <p:spPr>
          <a:xfrm>
            <a:off x="1228725" y="3283446"/>
            <a:ext cx="4186238" cy="169277"/>
          </a:xfrm>
          <a:prstGeom prst="rect">
            <a:avLst/>
          </a:prstGeom>
          <a:noFill/>
          <a:ln/>
        </p:spPr>
        <p:txBody>
          <a:bodyPr wrap="square" lIns="0" tIns="0" rIns="0" bIns="0" rtlCol="0" anchor="t">
            <a:spAutoFit/>
          </a:bodyPr>
          <a:lstStyle/>
          <a:p>
            <a:pPr marL="0" indent="0" algn="l">
              <a:buNone/>
            </a:pPr>
            <a:r>
              <a:rPr lang="en-US" sz="1100" b="1" dirty="0">
                <a:solidFill>
                  <a:srgbClr val="1E293B"/>
                </a:solidFill>
                <a:latin typeface="Pretendard Variable" pitchFamily="34" charset="0"/>
                <a:ea typeface="Pretendard Variable" pitchFamily="34" charset="-122"/>
                <a:cs typeface="Pretendard Variable" pitchFamily="34" charset="-120"/>
              </a:rPr>
              <a:t>AI가 독단적으로 판단하지 않고, 오직 사장님의 승인 </a:t>
            </a:r>
            <a:r>
              <a:rPr lang="en-US" sz="1100" b="1" dirty="0" err="1">
                <a:solidFill>
                  <a:srgbClr val="1E293B"/>
                </a:solidFill>
                <a:latin typeface="Pretendard Variable" pitchFamily="34" charset="0"/>
                <a:ea typeface="Pretendard Variable" pitchFamily="34" charset="-122"/>
                <a:cs typeface="Pretendard Variable" pitchFamily="34" charset="-120"/>
              </a:rPr>
              <a:t>하에</a:t>
            </a:r>
            <a:r>
              <a:rPr lang="en-US" sz="1100" b="1" dirty="0">
                <a:solidFill>
                  <a:srgbClr val="1E293B"/>
                </a:solidFill>
                <a:latin typeface="Pretendard Variable" pitchFamily="34" charset="0"/>
                <a:ea typeface="Pretendard Variable" pitchFamily="34" charset="-122"/>
                <a:cs typeface="Pretendard Variable" pitchFamily="34" charset="-120"/>
              </a:rPr>
              <a:t> </a:t>
            </a:r>
            <a:r>
              <a:rPr lang="en-US" sz="1100" b="1" dirty="0" err="1">
                <a:solidFill>
                  <a:srgbClr val="1E293B"/>
                </a:solidFill>
                <a:latin typeface="Pretendard Variable" pitchFamily="34" charset="0"/>
                <a:ea typeface="Pretendard Variable" pitchFamily="34" charset="-122"/>
                <a:cs typeface="Pretendard Variable" pitchFamily="34" charset="-120"/>
              </a:rPr>
              <a:t>실행됩니다</a:t>
            </a:r>
            <a:endParaRPr lang="en-US" sz="1100" dirty="0"/>
          </a:p>
        </p:txBody>
      </p:sp>
      <p:sp>
        <p:nvSpPr>
          <p:cNvPr id="25" name="Text 16"/>
          <p:cNvSpPr/>
          <p:nvPr/>
        </p:nvSpPr>
        <p:spPr>
          <a:xfrm>
            <a:off x="571500" y="3866351"/>
            <a:ext cx="8572500" cy="153591"/>
          </a:xfrm>
          <a:prstGeom prst="rect">
            <a:avLst/>
          </a:prstGeom>
          <a:noFill/>
          <a:ln/>
        </p:spPr>
        <p:txBody>
          <a:bodyPr wrap="square" lIns="0" tIns="0" rIns="0" bIns="0" rtlCol="0" anchor="t">
            <a:spAutoFit/>
          </a:bodyPr>
          <a:lstStyle/>
          <a:p>
            <a:pPr marL="0" indent="0" algn="l">
              <a:buNone/>
            </a:pPr>
            <a:r>
              <a:rPr lang="en-US" sz="900" dirty="0">
                <a:solidFill>
                  <a:srgbClr val="64748B"/>
                </a:solidFill>
                <a:latin typeface="Pretendard Variable" pitchFamily="34" charset="0"/>
                <a:ea typeface="Pretendard Variable" pitchFamily="34" charset="-122"/>
                <a:cs typeface="Pretendard Variable" pitchFamily="34" charset="-120"/>
              </a:rPr>
              <a:t>"외고반장은 사장님의 </a:t>
            </a:r>
            <a:r>
              <a:rPr lang="en-US" sz="900" b="1" dirty="0">
                <a:solidFill>
                  <a:srgbClr val="64748B"/>
                </a:solidFill>
                <a:latin typeface="Pretendard Variable" pitchFamily="34" charset="0"/>
                <a:ea typeface="Pretendard Variable" pitchFamily="34" charset="-122"/>
                <a:cs typeface="Pretendard Variable" pitchFamily="34" charset="-120"/>
              </a:rPr>
              <a:t>가장 믿음직한 외국인 고용 관리 파트너</a:t>
            </a:r>
            <a:r>
              <a:rPr lang="en-US" sz="900" dirty="0">
                <a:solidFill>
                  <a:srgbClr val="64748B"/>
                </a:solidFill>
                <a:latin typeface="Pretendard Variable" pitchFamily="34" charset="0"/>
                <a:ea typeface="Pretendard Variable" pitchFamily="34" charset="-122"/>
                <a:cs typeface="Pretendard Variable" pitchFamily="34" charset="-120"/>
              </a:rPr>
              <a:t>가 됩니다."</a:t>
            </a:r>
            <a:endParaRPr lang="en-US" sz="900" dirty="0"/>
          </a:p>
        </p:txBody>
      </p:sp>
      <p:sp>
        <p:nvSpPr>
          <p:cNvPr id="26" name="Text 3">
            <a:extLst>
              <a:ext uri="{FF2B5EF4-FFF2-40B4-BE49-F238E27FC236}">
                <a16:creationId xmlns:a16="http://schemas.microsoft.com/office/drawing/2014/main" id="{F85CA01E-00CC-BA7E-47BF-72C825B21473}"/>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en-US" altLang="ko-KR" sz="1200" b="1" dirty="0">
                <a:latin typeface="Pretendard"/>
              </a:rPr>
              <a:t> </a:t>
            </a:r>
            <a:r>
              <a:rPr lang="en-US" altLang="ko-KR" sz="1200" dirty="0">
                <a:solidFill>
                  <a:schemeClr val="tx1">
                    <a:lumMod val="65000"/>
                    <a:lumOff val="35000"/>
                  </a:schemeClr>
                </a:solidFill>
                <a:latin typeface="Pretendard"/>
              </a:rPr>
              <a:t>– How – </a:t>
            </a:r>
            <a:r>
              <a:rPr lang="en-US" altLang="ko-KR" sz="1200" b="1" dirty="0">
                <a:latin typeface="Pretendard"/>
              </a:rPr>
              <a:t>So what?  </a:t>
            </a:r>
            <a:endParaRPr lang="en-US" sz="1200" b="1" dirty="0">
              <a:latin typeface="Pretendar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349553"/>
          </a:xfrm>
          <a:prstGeom prst="rect">
            <a:avLst/>
          </a:prstGeom>
        </p:spPr>
      </p:pic>
      <p:sp>
        <p:nvSpPr>
          <p:cNvPr id="3" name="Text 0"/>
          <p:cNvSpPr/>
          <p:nvPr/>
        </p:nvSpPr>
        <p:spPr>
          <a:xfrm>
            <a:off x="757238" y="509885"/>
            <a:ext cx="5852284" cy="377026"/>
          </a:xfrm>
          <a:prstGeom prst="rect">
            <a:avLst/>
          </a:prstGeom>
          <a:noFill/>
          <a:ln/>
        </p:spPr>
        <p:txBody>
          <a:bodyPr wrap="square" lIns="0" tIns="0" rIns="0" bIns="0" rtlCol="0" anchor="t">
            <a:spAutoFit/>
          </a:bodyPr>
          <a:lstStyle/>
          <a:p>
            <a:pPr marL="0" indent="0" algn="l">
              <a:buNone/>
            </a:pPr>
            <a:r>
              <a:rPr lang="en-US" sz="2450" b="1" dirty="0">
                <a:solidFill>
                  <a:srgbClr val="0F172A"/>
                </a:solidFill>
                <a:latin typeface="Pretendard Variable" pitchFamily="34" charset="0"/>
                <a:ea typeface="Pretendard Variable" pitchFamily="34" charset="-122"/>
                <a:cs typeface="Pretendard Variable" pitchFamily="34" charset="-120"/>
              </a:rPr>
              <a:t>5. 비즈니스 임팩트: 안정적 거버넌스 완성</a:t>
            </a:r>
            <a:endParaRPr lang="en-US" sz="2450" dirty="0"/>
          </a:p>
        </p:txBody>
      </p:sp>
      <p:sp>
        <p:nvSpPr>
          <p:cNvPr id="4" name="Shape 1"/>
          <p:cNvSpPr/>
          <p:nvPr/>
        </p:nvSpPr>
        <p:spPr>
          <a:xfrm>
            <a:off x="571500" y="1285875"/>
            <a:ext cx="2524116" cy="1912739"/>
          </a:xfrm>
          <a:prstGeom prst="rect">
            <a:avLst/>
          </a:prstGeom>
          <a:solidFill>
            <a:srgbClr val="EFF6FF"/>
          </a:solidFill>
          <a:ln/>
        </p:spPr>
      </p:sp>
      <p:sp>
        <p:nvSpPr>
          <p:cNvPr id="5" name="Shape 2"/>
          <p:cNvSpPr/>
          <p:nvPr/>
        </p:nvSpPr>
        <p:spPr>
          <a:xfrm>
            <a:off x="571500" y="3155752"/>
            <a:ext cx="2524116" cy="42863"/>
          </a:xfrm>
          <a:prstGeom prst="rect">
            <a:avLst/>
          </a:prstGeom>
          <a:solidFill>
            <a:srgbClr val="2563EB"/>
          </a:solidFill>
          <a:ln/>
        </p:spPr>
      </p:sp>
      <p:sp>
        <p:nvSpPr>
          <p:cNvPr id="7" name="Text 4"/>
          <p:cNvSpPr/>
          <p:nvPr/>
        </p:nvSpPr>
        <p:spPr>
          <a:xfrm>
            <a:off x="785812" y="2263624"/>
            <a:ext cx="2095491" cy="215444"/>
          </a:xfrm>
          <a:prstGeom prst="rect">
            <a:avLst/>
          </a:prstGeom>
          <a:noFill/>
          <a:ln/>
        </p:spPr>
        <p:txBody>
          <a:bodyPr wrap="square" lIns="0" tIns="0" rIns="0" bIns="0" rtlCol="0" anchor="t">
            <a:spAutoFit/>
          </a:bodyPr>
          <a:lstStyle/>
          <a:p>
            <a:pPr marL="0" indent="0" algn="ctr">
              <a:buNone/>
            </a:pPr>
            <a:r>
              <a:rPr lang="en-US" sz="1400" b="1" dirty="0">
                <a:solidFill>
                  <a:srgbClr val="64748B"/>
                </a:solidFill>
                <a:latin typeface="Pretendard Variable" pitchFamily="34" charset="0"/>
                <a:ea typeface="Pretendard Variable" pitchFamily="34" charset="-122"/>
                <a:cs typeface="Pretendard Variable" pitchFamily="34" charset="-120"/>
              </a:rPr>
              <a:t>행정 처리 리드타임 단축</a:t>
            </a:r>
            <a:endParaRPr lang="en-US" sz="1400" dirty="0"/>
          </a:p>
        </p:txBody>
      </p:sp>
      <p:sp>
        <p:nvSpPr>
          <p:cNvPr id="8" name="Shape 5"/>
          <p:cNvSpPr/>
          <p:nvPr/>
        </p:nvSpPr>
        <p:spPr>
          <a:xfrm>
            <a:off x="3309928" y="1285875"/>
            <a:ext cx="2524116" cy="1912739"/>
          </a:xfrm>
          <a:prstGeom prst="rect">
            <a:avLst/>
          </a:prstGeom>
          <a:solidFill>
            <a:srgbClr val="EFF6FF"/>
          </a:solidFill>
          <a:ln/>
        </p:spPr>
      </p:sp>
      <p:sp>
        <p:nvSpPr>
          <p:cNvPr id="9" name="Shape 6"/>
          <p:cNvSpPr/>
          <p:nvPr/>
        </p:nvSpPr>
        <p:spPr>
          <a:xfrm>
            <a:off x="3309928" y="3155752"/>
            <a:ext cx="2524116" cy="42863"/>
          </a:xfrm>
          <a:prstGeom prst="rect">
            <a:avLst/>
          </a:prstGeom>
          <a:solidFill>
            <a:srgbClr val="2563EB"/>
          </a:solidFill>
          <a:ln/>
        </p:spPr>
      </p:sp>
      <p:pic>
        <p:nvPicPr>
          <p:cNvPr id="10" name="Image 1" descr="preencoded.png"/>
          <p:cNvPicPr>
            <a:picLocks noChangeAspect="1"/>
          </p:cNvPicPr>
          <p:nvPr/>
        </p:nvPicPr>
        <p:blipFill>
          <a:blip r:embed="rId4"/>
          <a:stretch>
            <a:fillRect/>
          </a:stretch>
        </p:blipFill>
        <p:spPr>
          <a:xfrm>
            <a:off x="4400522" y="1598414"/>
            <a:ext cx="342900" cy="342900"/>
          </a:xfrm>
          <a:prstGeom prst="rect">
            <a:avLst/>
          </a:prstGeom>
        </p:spPr>
      </p:pic>
      <p:sp>
        <p:nvSpPr>
          <p:cNvPr id="11" name="Text 7"/>
          <p:cNvSpPr/>
          <p:nvPr/>
        </p:nvSpPr>
        <p:spPr>
          <a:xfrm>
            <a:off x="3524241" y="2152055"/>
            <a:ext cx="2095491" cy="438582"/>
          </a:xfrm>
          <a:prstGeom prst="rect">
            <a:avLst/>
          </a:prstGeom>
          <a:noFill/>
          <a:ln/>
        </p:spPr>
        <p:txBody>
          <a:bodyPr wrap="square" lIns="0" tIns="0" rIns="0" bIns="0" rtlCol="0" anchor="t">
            <a:spAutoFit/>
          </a:bodyPr>
          <a:lstStyle/>
          <a:p>
            <a:pPr marL="0" indent="0" algn="ctr">
              <a:buNone/>
            </a:pPr>
            <a:endParaRPr lang="en-US" sz="2850" dirty="0"/>
          </a:p>
        </p:txBody>
      </p:sp>
      <p:sp>
        <p:nvSpPr>
          <p:cNvPr id="12" name="Text 8"/>
          <p:cNvSpPr/>
          <p:nvPr/>
        </p:nvSpPr>
        <p:spPr>
          <a:xfrm>
            <a:off x="3524241" y="2324187"/>
            <a:ext cx="2095491" cy="646331"/>
          </a:xfrm>
          <a:prstGeom prst="rect">
            <a:avLst/>
          </a:prstGeom>
          <a:noFill/>
          <a:ln/>
        </p:spPr>
        <p:txBody>
          <a:bodyPr wrap="square" lIns="0" tIns="0" rIns="0" bIns="0" rtlCol="0" anchor="t">
            <a:spAutoFit/>
          </a:bodyPr>
          <a:lstStyle/>
          <a:p>
            <a:pPr marL="0" indent="0" algn="ctr">
              <a:buNone/>
            </a:pPr>
            <a:r>
              <a:rPr lang="en-US" sz="1400" b="1" dirty="0">
                <a:solidFill>
                  <a:srgbClr val="64748B"/>
                </a:solidFill>
                <a:latin typeface="Pretendard Variable" pitchFamily="34" charset="0"/>
                <a:ea typeface="Pretendard Variable" pitchFamily="34" charset="-122"/>
                <a:cs typeface="Pretendard Variable" pitchFamily="34" charset="-120"/>
              </a:rPr>
              <a:t>비자/</a:t>
            </a:r>
            <a:r>
              <a:rPr lang="en-US" sz="1400" b="1" dirty="0" err="1">
                <a:solidFill>
                  <a:srgbClr val="64748B"/>
                </a:solidFill>
                <a:latin typeface="Pretendard Variable" pitchFamily="34" charset="0"/>
                <a:ea typeface="Pretendard Variable" pitchFamily="34" charset="-122"/>
                <a:cs typeface="Pretendard Variable" pitchFamily="34" charset="-120"/>
              </a:rPr>
              <a:t>서류</a:t>
            </a:r>
            <a:r>
              <a:rPr lang="en-US" sz="1400" b="1" dirty="0">
                <a:solidFill>
                  <a:srgbClr val="64748B"/>
                </a:solidFill>
                <a:latin typeface="Pretendard Variable" pitchFamily="34" charset="0"/>
                <a:ea typeface="Pretendard Variable" pitchFamily="34" charset="-122"/>
                <a:cs typeface="Pretendard Variable" pitchFamily="34" charset="-120"/>
              </a:rPr>
              <a:t> </a:t>
            </a:r>
          </a:p>
          <a:p>
            <a:pPr marL="0" indent="0" algn="ctr">
              <a:buNone/>
            </a:pPr>
            <a:r>
              <a:rPr lang="en-US" sz="1400" b="1" dirty="0" err="1">
                <a:solidFill>
                  <a:srgbClr val="64748B"/>
                </a:solidFill>
                <a:latin typeface="Pretendard Variable" pitchFamily="34" charset="0"/>
                <a:ea typeface="Pretendard Variable" pitchFamily="34" charset="-122"/>
                <a:cs typeface="Pretendard Variable" pitchFamily="34" charset="-120"/>
              </a:rPr>
              <a:t>행정</a:t>
            </a:r>
            <a:r>
              <a:rPr lang="en-US" sz="1400" b="1" dirty="0">
                <a:solidFill>
                  <a:srgbClr val="64748B"/>
                </a:solidFill>
                <a:latin typeface="Pretendard Variable" pitchFamily="34" charset="0"/>
                <a:ea typeface="Pretendard Variable" pitchFamily="34" charset="-122"/>
                <a:cs typeface="Pretendard Variable" pitchFamily="34" charset="-120"/>
              </a:rPr>
              <a:t> </a:t>
            </a:r>
            <a:r>
              <a:rPr lang="en-US" sz="1400" b="1" dirty="0" err="1">
                <a:solidFill>
                  <a:srgbClr val="64748B"/>
                </a:solidFill>
                <a:latin typeface="Pretendard Variable" pitchFamily="34" charset="0"/>
                <a:ea typeface="Pretendard Variable" pitchFamily="34" charset="-122"/>
                <a:cs typeface="Pretendard Variable" pitchFamily="34" charset="-120"/>
              </a:rPr>
              <a:t>사고</a:t>
            </a:r>
            <a:r>
              <a:rPr lang="en-US" sz="1400" b="1" dirty="0">
                <a:solidFill>
                  <a:srgbClr val="64748B"/>
                </a:solidFill>
                <a:latin typeface="Pretendard Variable" pitchFamily="34" charset="0"/>
                <a:ea typeface="Pretendard Variable" pitchFamily="34" charset="-122"/>
                <a:cs typeface="Pretendard Variable" pitchFamily="34" charset="-120"/>
              </a:rPr>
              <a:t> </a:t>
            </a:r>
          </a:p>
          <a:p>
            <a:pPr marL="0" indent="0" algn="ctr">
              <a:buNone/>
            </a:pPr>
            <a:r>
              <a:rPr lang="en-US" sz="1400" b="1" dirty="0" err="1">
                <a:solidFill>
                  <a:srgbClr val="64748B"/>
                </a:solidFill>
                <a:latin typeface="Pretendard Variable" pitchFamily="34" charset="0"/>
                <a:ea typeface="Pretendard Variable" pitchFamily="34" charset="-122"/>
                <a:cs typeface="Pretendard Variable" pitchFamily="34" charset="-120"/>
              </a:rPr>
              <a:t>발생</a:t>
            </a:r>
            <a:r>
              <a:rPr lang="en-US" sz="1400" b="1" dirty="0">
                <a:solidFill>
                  <a:srgbClr val="64748B"/>
                </a:solidFill>
                <a:latin typeface="Pretendard Variable" pitchFamily="34" charset="0"/>
                <a:ea typeface="Pretendard Variable" pitchFamily="34" charset="-122"/>
                <a:cs typeface="Pretendard Variable" pitchFamily="34" charset="-120"/>
              </a:rPr>
              <a:t> </a:t>
            </a:r>
            <a:r>
              <a:rPr lang="ko-KR" altLang="en-US" sz="1400" b="1" dirty="0">
                <a:solidFill>
                  <a:srgbClr val="64748B"/>
                </a:solidFill>
                <a:latin typeface="Pretendard Variable" pitchFamily="34" charset="0"/>
                <a:ea typeface="Pretendard Variable" pitchFamily="34" charset="-122"/>
                <a:cs typeface="Pretendard Variable" pitchFamily="34" charset="-120"/>
              </a:rPr>
              <a:t>감소</a:t>
            </a:r>
            <a:endParaRPr lang="en-US" sz="1400" dirty="0"/>
          </a:p>
        </p:txBody>
      </p:sp>
      <p:sp>
        <p:nvSpPr>
          <p:cNvPr id="13" name="Shape 9"/>
          <p:cNvSpPr/>
          <p:nvPr/>
        </p:nvSpPr>
        <p:spPr>
          <a:xfrm>
            <a:off x="6048356" y="1285875"/>
            <a:ext cx="2524144" cy="1912739"/>
          </a:xfrm>
          <a:prstGeom prst="rect">
            <a:avLst/>
          </a:prstGeom>
          <a:solidFill>
            <a:srgbClr val="EFF6FF"/>
          </a:solidFill>
          <a:ln/>
        </p:spPr>
      </p:sp>
      <p:sp>
        <p:nvSpPr>
          <p:cNvPr id="14" name="Shape 10"/>
          <p:cNvSpPr/>
          <p:nvPr/>
        </p:nvSpPr>
        <p:spPr>
          <a:xfrm>
            <a:off x="6048356" y="3155752"/>
            <a:ext cx="2524144" cy="42863"/>
          </a:xfrm>
          <a:prstGeom prst="rect">
            <a:avLst/>
          </a:prstGeom>
          <a:solidFill>
            <a:srgbClr val="2563EB"/>
          </a:solidFill>
          <a:ln/>
        </p:spPr>
      </p:sp>
      <p:pic>
        <p:nvPicPr>
          <p:cNvPr id="15" name="Image 2" descr="preencoded.png"/>
          <p:cNvPicPr>
            <a:picLocks noChangeAspect="1"/>
          </p:cNvPicPr>
          <p:nvPr/>
        </p:nvPicPr>
        <p:blipFill>
          <a:blip r:embed="rId5"/>
          <a:stretch>
            <a:fillRect/>
          </a:stretch>
        </p:blipFill>
        <p:spPr>
          <a:xfrm>
            <a:off x="7096116" y="1598414"/>
            <a:ext cx="428625" cy="342900"/>
          </a:xfrm>
          <a:prstGeom prst="rect">
            <a:avLst/>
          </a:prstGeom>
        </p:spPr>
      </p:pic>
      <p:sp>
        <p:nvSpPr>
          <p:cNvPr id="17" name="Text 12"/>
          <p:cNvSpPr/>
          <p:nvPr/>
        </p:nvSpPr>
        <p:spPr>
          <a:xfrm>
            <a:off x="6262669" y="2313222"/>
            <a:ext cx="2095519" cy="215444"/>
          </a:xfrm>
          <a:prstGeom prst="rect">
            <a:avLst/>
          </a:prstGeom>
          <a:noFill/>
          <a:ln/>
        </p:spPr>
        <p:txBody>
          <a:bodyPr wrap="square" lIns="0" tIns="0" rIns="0" bIns="0" rtlCol="0" anchor="t">
            <a:spAutoFit/>
          </a:bodyPr>
          <a:lstStyle/>
          <a:p>
            <a:pPr marL="0" indent="0" algn="ctr">
              <a:buNone/>
            </a:pPr>
            <a:r>
              <a:rPr lang="en-US" sz="1400" b="1" dirty="0">
                <a:solidFill>
                  <a:srgbClr val="64748B"/>
                </a:solidFill>
                <a:latin typeface="Pretendard Variable" pitchFamily="34" charset="0"/>
                <a:ea typeface="Pretendard Variable" pitchFamily="34" charset="-122"/>
                <a:cs typeface="Pretendard Variable" pitchFamily="34" charset="-120"/>
              </a:rPr>
              <a:t>다국어 소통 커버리지</a:t>
            </a:r>
            <a:endParaRPr lang="en-US" sz="1400" dirty="0"/>
          </a:p>
        </p:txBody>
      </p:sp>
      <p:sp>
        <p:nvSpPr>
          <p:cNvPr id="18" name="Shape 13"/>
          <p:cNvSpPr/>
          <p:nvPr/>
        </p:nvSpPr>
        <p:spPr>
          <a:xfrm>
            <a:off x="571500" y="3441502"/>
            <a:ext cx="8001000" cy="1130498"/>
          </a:xfrm>
          <a:prstGeom prst="rect">
            <a:avLst/>
          </a:prstGeom>
          <a:solidFill>
            <a:srgbClr val="0F172A"/>
          </a:solidFill>
          <a:ln/>
        </p:spPr>
      </p:sp>
      <p:sp>
        <p:nvSpPr>
          <p:cNvPr id="19" name="Text 14"/>
          <p:cNvSpPr/>
          <p:nvPr/>
        </p:nvSpPr>
        <p:spPr>
          <a:xfrm>
            <a:off x="1143000" y="3727252"/>
            <a:ext cx="3502223" cy="239316"/>
          </a:xfrm>
          <a:prstGeom prst="rect">
            <a:avLst/>
          </a:prstGeom>
          <a:noFill/>
          <a:ln/>
        </p:spPr>
        <p:txBody>
          <a:bodyPr wrap="square" lIns="0" tIns="0" rIns="0" bIns="0" rtlCol="0" anchor="t">
            <a:spAutoFit/>
          </a:bodyPr>
          <a:lstStyle/>
          <a:p>
            <a:pPr marL="0" indent="0" algn="l">
              <a:buNone/>
            </a:pPr>
            <a:r>
              <a:rPr lang="en-US" sz="1400" b="1" dirty="0">
                <a:solidFill>
                  <a:srgbClr val="FFFFFF"/>
                </a:solidFill>
                <a:latin typeface="Pretendard Variable" pitchFamily="34" charset="0"/>
                <a:ea typeface="Pretendard Variable" pitchFamily="34" charset="-122"/>
                <a:cs typeface="Pretendard Variable" pitchFamily="34" charset="-120"/>
              </a:rPr>
              <a:t>지속 가능한 외국인 고용 거버넌스</a:t>
            </a:r>
            <a:endParaRPr lang="en-US" sz="1400" dirty="0"/>
          </a:p>
        </p:txBody>
      </p:sp>
      <p:sp>
        <p:nvSpPr>
          <p:cNvPr id="20" name="Text 15"/>
          <p:cNvSpPr/>
          <p:nvPr/>
        </p:nvSpPr>
        <p:spPr>
          <a:xfrm>
            <a:off x="1143000" y="4038005"/>
            <a:ext cx="4284533" cy="35843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94A3B8"/>
                </a:solidFill>
                <a:latin typeface="Pretendard Variable" pitchFamily="34" charset="0"/>
                <a:ea typeface="Pretendard Variable" pitchFamily="34" charset="-122"/>
                <a:cs typeface="Pretendard Variable" pitchFamily="34" charset="-120"/>
              </a:rPr>
              <a:t>외고반장은 단순한 업무 효율화를 넘어, 법적 리스크가 완벽히 통제되는
안정적인 외국인 인력 운영 환경을 제공합니다.</a:t>
            </a:r>
            <a:endParaRPr lang="en-US" sz="950" dirty="0"/>
          </a:p>
        </p:txBody>
      </p:sp>
      <p:pic>
        <p:nvPicPr>
          <p:cNvPr id="21" name="Image 3" descr="preencoded.png">
            <a:extLst>
              <a:ext uri="{FF2B5EF4-FFF2-40B4-BE49-F238E27FC236}">
                <a16:creationId xmlns:a16="http://schemas.microsoft.com/office/drawing/2014/main" id="{10E2E81E-9F0F-C4A1-3A63-9306E6C8D18F}"/>
              </a:ext>
            </a:extLst>
          </p:cNvPr>
          <p:cNvPicPr>
            <a:picLocks noChangeAspect="1"/>
          </p:cNvPicPr>
          <p:nvPr/>
        </p:nvPicPr>
        <p:blipFill>
          <a:blip r:embed="rId6"/>
          <a:stretch>
            <a:fillRect/>
          </a:stretch>
        </p:blipFill>
        <p:spPr>
          <a:xfrm>
            <a:off x="1619259" y="1662010"/>
            <a:ext cx="257175" cy="257175"/>
          </a:xfrm>
          <a:prstGeom prst="rect">
            <a:avLst/>
          </a:prstGeom>
        </p:spPr>
      </p:pic>
      <p:sp>
        <p:nvSpPr>
          <p:cNvPr id="23" name="Text 3">
            <a:extLst>
              <a:ext uri="{FF2B5EF4-FFF2-40B4-BE49-F238E27FC236}">
                <a16:creationId xmlns:a16="http://schemas.microsoft.com/office/drawing/2014/main" id="{F453522C-1E15-8B18-6B00-9E04B5C6C3BD}"/>
              </a:ext>
            </a:extLst>
          </p:cNvPr>
          <p:cNvSpPr/>
          <p:nvPr/>
        </p:nvSpPr>
        <p:spPr>
          <a:xfrm>
            <a:off x="197143" y="4815615"/>
            <a:ext cx="2805072" cy="184666"/>
          </a:xfrm>
          <a:prstGeom prst="rect">
            <a:avLst/>
          </a:prstGeom>
          <a:noFill/>
          <a:ln/>
        </p:spPr>
        <p:txBody>
          <a:bodyPr wrap="square" lIns="0" tIns="0" rIns="0" bIns="0" rtlCol="0" anchor="t">
            <a:spAutoFit/>
          </a:bodyPr>
          <a:lstStyle/>
          <a:p>
            <a:pPr marL="0" indent="0" algn="l">
              <a:buNone/>
            </a:pPr>
            <a:r>
              <a:rPr lang="en-US" sz="1200" dirty="0">
                <a:solidFill>
                  <a:schemeClr val="tx1">
                    <a:lumMod val="75000"/>
                    <a:lumOff val="25000"/>
                  </a:schemeClr>
                </a:solidFill>
                <a:latin typeface="Pretendard"/>
              </a:rPr>
              <a:t>Why</a:t>
            </a:r>
            <a:r>
              <a:rPr lang="ko-KR" altLang="en-US" sz="1200" dirty="0">
                <a:solidFill>
                  <a:schemeClr val="tx1">
                    <a:lumMod val="65000"/>
                    <a:lumOff val="3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ko-KR" altLang="en-US" sz="1200" dirty="0">
                <a:solidFill>
                  <a:schemeClr val="tx1">
                    <a:lumMod val="85000"/>
                    <a:lumOff val="15000"/>
                  </a:schemeClr>
                </a:solidFill>
                <a:latin typeface="Pretendard"/>
              </a:rPr>
              <a:t> </a:t>
            </a:r>
            <a:r>
              <a:rPr lang="en-US" altLang="ko-KR" sz="1200" dirty="0">
                <a:solidFill>
                  <a:schemeClr val="tx1">
                    <a:lumMod val="85000"/>
                    <a:lumOff val="15000"/>
                  </a:schemeClr>
                </a:solidFill>
                <a:latin typeface="Pretendard"/>
              </a:rPr>
              <a:t>if</a:t>
            </a:r>
            <a:r>
              <a:rPr lang="ko-KR" altLang="en-US" sz="1200" dirty="0">
                <a:solidFill>
                  <a:schemeClr val="tx1">
                    <a:lumMod val="85000"/>
                    <a:lumOff val="15000"/>
                  </a:schemeClr>
                </a:solidFill>
                <a:latin typeface="Pretendard"/>
              </a:rPr>
              <a:t> </a:t>
            </a:r>
            <a:r>
              <a:rPr lang="en-US" altLang="ko-KR" sz="1200" dirty="0">
                <a:solidFill>
                  <a:schemeClr val="tx1">
                    <a:lumMod val="65000"/>
                    <a:lumOff val="35000"/>
                  </a:schemeClr>
                </a:solidFill>
                <a:latin typeface="Pretendard"/>
              </a:rPr>
              <a:t>–</a:t>
            </a:r>
            <a:r>
              <a:rPr lang="ko-KR" altLang="en-US" sz="1200" dirty="0">
                <a:solidFill>
                  <a:schemeClr val="tx1">
                    <a:lumMod val="65000"/>
                    <a:lumOff val="35000"/>
                  </a:schemeClr>
                </a:solidFill>
                <a:latin typeface="Pretendard"/>
              </a:rPr>
              <a:t> </a:t>
            </a:r>
            <a:r>
              <a:rPr lang="en-US" altLang="ko-KR" sz="1200" dirty="0">
                <a:solidFill>
                  <a:schemeClr val="tx1">
                    <a:lumMod val="85000"/>
                    <a:lumOff val="15000"/>
                  </a:schemeClr>
                </a:solidFill>
                <a:latin typeface="Pretendard"/>
              </a:rPr>
              <a:t>What</a:t>
            </a:r>
            <a:r>
              <a:rPr lang="en-US" altLang="ko-KR" sz="1200" b="1" dirty="0">
                <a:latin typeface="Pretendard"/>
              </a:rPr>
              <a:t> </a:t>
            </a:r>
            <a:r>
              <a:rPr lang="en-US" altLang="ko-KR" sz="1200" dirty="0">
                <a:solidFill>
                  <a:schemeClr val="tx1">
                    <a:lumMod val="65000"/>
                    <a:lumOff val="35000"/>
                  </a:schemeClr>
                </a:solidFill>
                <a:latin typeface="Pretendard"/>
              </a:rPr>
              <a:t>– How – </a:t>
            </a:r>
            <a:r>
              <a:rPr lang="en-US" altLang="ko-KR" sz="1200" b="1" dirty="0">
                <a:latin typeface="Pretendard"/>
              </a:rPr>
              <a:t>So what?  </a:t>
            </a:r>
            <a:endParaRPr lang="en-US" sz="1200" b="1" dirty="0">
              <a:latin typeface="Pretendar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3862090" y="1160692"/>
            <a:ext cx="1419820" cy="312539"/>
          </a:xfrm>
          <a:prstGeom prst="rect">
            <a:avLst/>
          </a:prstGeom>
          <a:solidFill>
            <a:srgbClr val="2563EB"/>
          </a:solidFill>
          <a:ln/>
        </p:spPr>
      </p:sp>
      <p:sp>
        <p:nvSpPr>
          <p:cNvPr id="4" name="Text 1"/>
          <p:cNvSpPr/>
          <p:nvPr/>
        </p:nvSpPr>
        <p:spPr>
          <a:xfrm>
            <a:off x="3862090" y="1160692"/>
            <a:ext cx="1419820" cy="312539"/>
          </a:xfrm>
          <a:prstGeom prst="rect">
            <a:avLst/>
          </a:prstGeom>
          <a:noFill/>
          <a:ln/>
        </p:spPr>
        <p:txBody>
          <a:bodyPr wrap="square" lIns="204089" tIns="85090" rIns="204089" bIns="85090" rtlCol="0" anchor="t">
            <a:spAutoFit/>
          </a:bodyPr>
          <a:lstStyle/>
          <a:p>
            <a:pPr marL="0" indent="0" algn="ctr">
              <a:buNone/>
            </a:pPr>
            <a:r>
              <a:rPr lang="en-US" sz="1000" b="1" kern="0" spc="2" dirty="0">
                <a:solidFill>
                  <a:srgbClr val="FFFFFF"/>
                </a:solidFill>
                <a:latin typeface="Pretendard Variable" pitchFamily="34" charset="0"/>
                <a:ea typeface="Pretendard Variable" pitchFamily="34" charset="-122"/>
                <a:cs typeface="Pretendard Variable" pitchFamily="34" charset="-120"/>
              </a:rPr>
              <a:t>AGENTIC OS</a:t>
            </a:r>
            <a:endParaRPr lang="en-US" sz="1000" dirty="0"/>
          </a:p>
        </p:txBody>
      </p:sp>
      <p:sp>
        <p:nvSpPr>
          <p:cNvPr id="5" name="Text 2"/>
          <p:cNvSpPr/>
          <p:nvPr/>
        </p:nvSpPr>
        <p:spPr>
          <a:xfrm>
            <a:off x="3095419" y="1810003"/>
            <a:ext cx="2881537" cy="761747"/>
          </a:xfrm>
          <a:prstGeom prst="rect">
            <a:avLst/>
          </a:prstGeom>
          <a:noFill/>
          <a:ln/>
        </p:spPr>
        <p:txBody>
          <a:bodyPr wrap="square" lIns="0" tIns="0" rIns="0" bIns="0" rtlCol="0" anchor="t">
            <a:spAutoFit/>
          </a:bodyPr>
          <a:lstStyle/>
          <a:p>
            <a:pPr marL="0" indent="0" algn="ctr">
              <a:buNone/>
            </a:pPr>
            <a:r>
              <a:rPr lang="en-US" sz="4950" b="1" kern="0" spc="-2" dirty="0" err="1">
                <a:solidFill>
                  <a:srgbClr val="2563EB"/>
                </a:solidFill>
                <a:latin typeface="Pretendard Variable" pitchFamily="34" charset="0"/>
                <a:ea typeface="Pretendard Variable" pitchFamily="34" charset="-122"/>
                <a:cs typeface="Pretendard Variable" pitchFamily="34" charset="-120"/>
              </a:rPr>
              <a:t>외고반장</a:t>
            </a:r>
            <a:endParaRPr lang="en-US" sz="4950" dirty="0"/>
          </a:p>
        </p:txBody>
      </p:sp>
      <p:sp>
        <p:nvSpPr>
          <p:cNvPr id="6" name="Text 3"/>
          <p:cNvSpPr/>
          <p:nvPr/>
        </p:nvSpPr>
        <p:spPr>
          <a:xfrm>
            <a:off x="3228082" y="2791253"/>
            <a:ext cx="2687836" cy="720068"/>
          </a:xfrm>
          <a:prstGeom prst="rect">
            <a:avLst/>
          </a:prstGeom>
          <a:noFill/>
          <a:ln/>
        </p:spPr>
        <p:txBody>
          <a:bodyPr wrap="square" lIns="0" tIns="0" rIns="0" bIns="0" rtlCol="0" anchor="t">
            <a:spAutoFit/>
          </a:bodyPr>
          <a:lstStyle/>
          <a:p>
            <a:pPr marL="0" indent="0" algn="ctr">
              <a:lnSpc>
                <a:spcPct val="112000"/>
              </a:lnSpc>
              <a:buNone/>
            </a:pPr>
            <a:r>
              <a:rPr lang="en-US" sz="1800" b="1" dirty="0">
                <a:solidFill>
                  <a:srgbClr val="94A3B8"/>
                </a:solidFill>
                <a:latin typeface="Pretendard Variable" pitchFamily="34" charset="0"/>
                <a:ea typeface="Pretendard Variable" pitchFamily="34" charset="-122"/>
                <a:cs typeface="Pretendard Variable" pitchFamily="34" charset="-120"/>
              </a:rPr>
              <a:t>외국인 고용 업무,
놓치기 전에 먼저 챙깁니다.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2013 - 2022 테마">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5E4CECC-D22F-4533-A757-FAFAE8B5FCDB}">
  <we:reference id="wa200010001" version="1.0.0.1" store="ko-KR" storeType="OMEX"/>
  <we:alternateReferences>
    <we:reference id="wa200010001" version="1.0.0.1" store="wa200010001" storeType="OMEX"/>
  </we:alternateReferences>
  <we:properties>
    <we:property name="claude.fileId" value="&quot;d6656e5e-117f-4579-86dc-8dad6278fcf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1124</TotalTime>
  <Words>2358</Words>
  <Application>Microsoft Office PowerPoint</Application>
  <PresentationFormat>화면 슬라이드 쇼(16:9)</PresentationFormat>
  <Paragraphs>294</Paragraphs>
  <Slides>22</Slides>
  <Notes>21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Pretendard</vt:lpstr>
      <vt:lpstr>Pretendard Variable</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taena yim</cp:lastModifiedBy>
  <cp:revision>11</cp:revision>
  <dcterms:created xsi:type="dcterms:W3CDTF">2026-04-29T12:58:49Z</dcterms:created>
  <dcterms:modified xsi:type="dcterms:W3CDTF">2026-04-30T07:44:49Z</dcterms:modified>
</cp:coreProperties>
</file>