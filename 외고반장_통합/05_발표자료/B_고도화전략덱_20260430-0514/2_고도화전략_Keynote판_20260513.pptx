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1185221"/>
            <a:ext cx="5143500" cy="233958"/>
          </a:xfrm>
          <a:prstGeom prst="rect">
            <a:avLst/>
          </a:prstGeom>
          <a:solidFill>
            <a:srgbClr val="20C997">
              <a:alpha val="1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1185221"/>
            <a:ext cx="5143500" cy="233958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ADVANCED KEYNOTE STRATEGY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1964085"/>
            <a:ext cx="5143500" cy="660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5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외고반장</a:t>
            </a:r>
            <a:endParaRPr lang="en-US" sz="4350" dirty="0"/>
          </a:p>
        </p:txBody>
      </p:sp>
      <p:sp>
        <p:nvSpPr>
          <p:cNvPr id="6" name="Text 3"/>
          <p:cNvSpPr/>
          <p:nvPr/>
        </p:nvSpPr>
        <p:spPr>
          <a:xfrm>
            <a:off x="571500" y="2767031"/>
            <a:ext cx="5143500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외국인 고용 관리 Agentic OS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71500" y="3468905"/>
            <a:ext cx="5143500" cy="489347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3468905"/>
            <a:ext cx="5143500" cy="489347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"외국인 고용 업무, 놓치기 전에 먼저 챙깁니다"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10" name="Shape 7"/>
          <p:cNvSpPr/>
          <p:nvPr/>
        </p:nvSpPr>
        <p:spPr>
          <a:xfrm>
            <a:off x="5786438" y="1000125"/>
            <a:ext cx="2714625" cy="3143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6072188" y="1285875"/>
            <a:ext cx="2143125" cy="28932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Promises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88" y="1932384"/>
            <a:ext cx="128588" cy="128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07931" y="1903809"/>
            <a:ext cx="847567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D-day 리스크 탐지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155498" y="1903809"/>
            <a:ext cx="1059814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만료/누락 리스크 선제 브리핑</a:t>
            </a:r>
            <a:endParaRPr lang="en-US" sz="8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88" y="2411016"/>
            <a:ext cx="128588" cy="1285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7931" y="2382441"/>
            <a:ext cx="83886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Action 준비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7146792" y="2382441"/>
            <a:ext cx="1068521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다국어 메시지 및 패키지 초안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179344" y="2861072"/>
            <a:ext cx="932734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안전한 실행 및 증빙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7112078" y="2861072"/>
            <a:ext cx="1103235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기반 실행 및 감사 로그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6072188" y="3737967"/>
            <a:ext cx="2143125" cy="11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Daily Briefing + Approval + Evidence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829050" cy="5143500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571500"/>
            <a:ext cx="32575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FD7E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 DEFINITION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71500" y="991837"/>
            <a:ext cx="3257550" cy="1337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부족이 아닌</a:t>
            </a:r>
            <a:r>
              <a:rPr lang="en-US" sz="2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2450" b="1" dirty="0">
                <a:solidFill>
                  <a:srgbClr val="FD7E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공백</a:t>
            </a:r>
            <a:r>
              <a:rPr lang="en-US" sz="2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</a:t>
            </a:r>
            <a:r>
              <a:rPr lang="en-US" sz="2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2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사고를 만듭니다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571500" y="2614864"/>
            <a:ext cx="3257550" cy="455414"/>
          </a:xfrm>
          <a:prstGeom prst="rect">
            <a:avLst/>
          </a:prstGeom>
          <a:solidFill>
            <a:srgbClr val="FD7E14">
              <a:alpha val="1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2614864"/>
            <a:ext cx="28575" cy="455414"/>
          </a:xfrm>
          <a:prstGeom prst="rect">
            <a:avLst/>
          </a:prstGeom>
          <a:solidFill>
            <a:srgbClr val="FD7E14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2614864"/>
            <a:ext cx="3257550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D7E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"오늘 챙겨야 할 것이 한 화면에 모이지 않습니다."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1500" y="3284590"/>
            <a:ext cx="32575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 시스템은 '신청' 중심이고, 행정사는 '대행' 중심입니다. 기업 내부의 '매일 업무'는 비어 있습니다.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675" y="680442"/>
            <a:ext cx="157163" cy="15716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1994" y="657225"/>
            <a:ext cx="1260872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파편화된 관리 도구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257675" y="946547"/>
            <a:ext cx="4886325" cy="205718"/>
          </a:xfrm>
          <a:prstGeom prst="rect">
            <a:avLst/>
          </a:prstGeom>
          <a:noFill/>
          <a:ln/>
        </p:spPr>
        <p:txBody>
          <a:bodyPr wrap="none" lIns="314706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엑셀, 메신저, 서류 폴더로 분산된 정보로 인해 통합적인 현황 파악이 불가능합니다.</a:t>
            </a:r>
            <a:endParaRPr lang="en-US" sz="9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675" y="2080617"/>
            <a:ext cx="157163" cy="15716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21994" y="2057400"/>
            <a:ext cx="1743075" cy="203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사람에 의존하는 뒷북 대응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257675" y="2346722"/>
            <a:ext cx="4886325" cy="205718"/>
          </a:xfrm>
          <a:prstGeom prst="rect">
            <a:avLst/>
          </a:prstGeom>
          <a:noFill/>
          <a:ln/>
        </p:spPr>
        <p:txBody>
          <a:bodyPr wrap="none" lIns="314706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시스템이 아닌 담당자의 기억에 의존하는 구조는 필연적으로 기한 누락과 사고를 야기합니다.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7675" y="3480792"/>
            <a:ext cx="157163" cy="15716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521994" y="3457575"/>
            <a:ext cx="1409105" cy="203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치명적인 운영 리스크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257675" y="3746897"/>
            <a:ext cx="4886325" cy="411435"/>
          </a:xfrm>
          <a:prstGeom prst="rect">
            <a:avLst/>
          </a:prstGeom>
          <a:noFill/>
          <a:ln/>
        </p:spPr>
        <p:txBody>
          <a:bodyPr wrap="square" lIns="314706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체류만료 및 서류 누락은 단순 실수를 넘어 벌금, 제재, 그리고 생산 공백이라는 막대한 손실로 이어집니다.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496991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571500"/>
            <a:ext cx="363974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71500" y="1144423"/>
            <a:ext cx="3639741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제조업의 구조적 의존과</a:t>
            </a:r>
            <a:r>
              <a:rPr lang="en-US" sz="20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20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상시적인 관리 수요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71500" y="2315998"/>
            <a:ext cx="1748433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E-9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571500" y="2760697"/>
            <a:ext cx="174843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비전문취업 체류외국인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71500" y="2967865"/>
            <a:ext cx="1748433" cy="11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상시적인 운영 관리 수요 존재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462808" y="2315998"/>
            <a:ext cx="1748433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</a:t>
            </a:r>
            <a:endParaRPr lang="en-US" sz="2450" dirty="0"/>
          </a:p>
        </p:txBody>
      </p:sp>
      <p:sp>
        <p:nvSpPr>
          <p:cNvPr id="10" name="Text 7"/>
          <p:cNvSpPr/>
          <p:nvPr/>
        </p:nvSpPr>
        <p:spPr>
          <a:xfrm>
            <a:off x="2462808" y="2760697"/>
            <a:ext cx="174843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규모 역대 최대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62808" y="2967865"/>
            <a:ext cx="1748433" cy="11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정부의 공격적 인력 공급 정책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71500" y="3616161"/>
            <a:ext cx="3639741" cy="651477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3616161"/>
            <a:ext cx="3639741" cy="65147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6C75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"중소 제조업의 인력 문제는 충원 실패를 넘어, </a:t>
            </a:r>
            <a:r>
              <a:rPr lang="en-US" sz="800" b="1" dirty="0">
                <a:solidFill>
                  <a:srgbClr val="6C75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반복되는 운영 리스크 관리</a:t>
            </a:r>
            <a:r>
              <a:rPr lang="en-US" sz="850" dirty="0">
                <a:solidFill>
                  <a:srgbClr val="6C75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</a:t>
            </a:r>
            <a:r>
              <a:rPr lang="en-US" sz="850" dirty="0">
                <a:solidFill>
                  <a:srgbClr val="6C75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문제입니다."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496991" y="0"/>
            <a:ext cx="4647009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496991" y="0"/>
            <a:ext cx="7144" cy="51435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Text 13"/>
          <p:cNvSpPr/>
          <p:nvPr/>
        </p:nvSpPr>
        <p:spPr>
          <a:xfrm>
            <a:off x="4929188" y="571500"/>
            <a:ext cx="364331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TARGET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00638" y="985838"/>
            <a:ext cx="347186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10~100명 규모 제조업체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100638" y="1244798"/>
            <a:ext cx="3471863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케이스가 동시다발적으로 발생하며, 서류/증빙/승인이 반복되는 인사/총무 담당자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100638" y="2264569"/>
            <a:ext cx="347186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B2B2B 확장 모델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100638" y="2523530"/>
            <a:ext cx="3471863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사업장을 대행 운영하는 행정사/노무사를 위한 White-label 관리 도구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929188" y="3550444"/>
            <a:ext cx="364331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규모를 만드는 단위:</a:t>
            </a:r>
            <a:r>
              <a:rPr lang="en-US" sz="9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90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[근로자 수] × [반복 관리 이벤트 수]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571500"/>
            <a:ext cx="30861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SOLUTION CONCEPT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71500" y="968118"/>
            <a:ext cx="3086100" cy="817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답변형 챗봇이 아닌</a:t>
            </a:r>
            <a:r>
              <a:rPr lang="en-US" sz="2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225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처리 시스템</a:t>
            </a:r>
            <a:r>
              <a:rPr lang="en-US" sz="2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571500" y="2013951"/>
            <a:ext cx="30861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외고반장은 단순 신청 시스템을 넘어,</a:t>
            </a:r>
            <a:r>
              <a:rPr lang="en-US" sz="95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95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사업장 내부의 외국인 고용 업무를</a:t>
            </a:r>
            <a:r>
              <a:rPr lang="en-US" sz="95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95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표준화하는 Agentic OS입니다.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3059730"/>
            <a:ext cx="3086100" cy="33932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"검색이 아니라 Next Action 제안으로 업무가 진행됩니다."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086225" y="857250"/>
            <a:ext cx="1447809" cy="2714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4086225" y="857250"/>
            <a:ext cx="1447809" cy="28575"/>
          </a:xfrm>
          <a:prstGeom prst="rect">
            <a:avLst/>
          </a:prstGeom>
          <a:solidFill>
            <a:srgbClr val="20C99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675" y="1089422"/>
            <a:ext cx="200025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57675" y="1487686"/>
            <a:ext cx="1104909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Daily Briefing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257675" y="1782366"/>
            <a:ext cx="1104909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오늘/이번 주 리스크와 해야 할 일을 선제적으로 제시하여 사고를 예방합니다.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257675" y="2620975"/>
            <a:ext cx="539353" cy="160734"/>
          </a:xfrm>
          <a:prstGeom prst="rect">
            <a:avLst/>
          </a:prstGeom>
          <a:solidFill>
            <a:srgbClr val="20C997">
              <a:alpha val="1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4257675" y="2620975"/>
            <a:ext cx="539353" cy="160734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Detection</a:t>
            </a:r>
            <a:endParaRPr lang="en-US" sz="600" dirty="0"/>
          </a:p>
        </p:txBody>
      </p:sp>
      <p:sp>
        <p:nvSpPr>
          <p:cNvPr id="15" name="Shape 11"/>
          <p:cNvSpPr/>
          <p:nvPr/>
        </p:nvSpPr>
        <p:spPr>
          <a:xfrm>
            <a:off x="5676909" y="857250"/>
            <a:ext cx="1447809" cy="2714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5676909" y="857250"/>
            <a:ext cx="1447809" cy="28575"/>
          </a:xfrm>
          <a:prstGeom prst="rect">
            <a:avLst/>
          </a:prstGeom>
          <a:solidFill>
            <a:srgbClr val="20C99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9" y="1089422"/>
            <a:ext cx="28575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48359" y="1487686"/>
            <a:ext cx="1104909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Approval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848359" y="1782366"/>
            <a:ext cx="1104909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중요한 실행(메시지 발송, 서류 제출 등)을 관리자의 승인으로 철저히 통제합니다.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848359" y="2620975"/>
            <a:ext cx="446484" cy="160734"/>
          </a:xfrm>
          <a:prstGeom prst="rect">
            <a:avLst/>
          </a:prstGeom>
          <a:solidFill>
            <a:srgbClr val="20C997">
              <a:alpha val="1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5848359" y="2620975"/>
            <a:ext cx="446484" cy="160734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Control</a:t>
            </a:r>
            <a:endParaRPr lang="en-US" sz="600" dirty="0"/>
          </a:p>
        </p:txBody>
      </p:sp>
      <p:sp>
        <p:nvSpPr>
          <p:cNvPr id="22" name="Shape 17"/>
          <p:cNvSpPr/>
          <p:nvPr/>
        </p:nvSpPr>
        <p:spPr>
          <a:xfrm>
            <a:off x="7267594" y="857250"/>
            <a:ext cx="1447809" cy="2714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7267594" y="857250"/>
            <a:ext cx="1447809" cy="28575"/>
          </a:xfrm>
          <a:prstGeom prst="rect">
            <a:avLst/>
          </a:prstGeom>
          <a:solidFill>
            <a:srgbClr val="20C99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9044" y="1089422"/>
            <a:ext cx="200025" cy="2286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39044" y="1487686"/>
            <a:ext cx="1104909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439044" y="1782366"/>
            <a:ext cx="1104909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실행 결과와 판단 근거를 증빙으로 축적하여 인수인계와 감사에 대비합니다.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7439044" y="2620975"/>
            <a:ext cx="635794" cy="160734"/>
          </a:xfrm>
          <a:prstGeom prst="rect">
            <a:avLst/>
          </a:prstGeom>
          <a:solidFill>
            <a:srgbClr val="20C997">
              <a:alpha val="1000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7439044" y="2620975"/>
            <a:ext cx="635794" cy="160734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Governance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571500"/>
            <a:ext cx="30861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SYSTEM ARCHITECTURE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71500" y="968118"/>
            <a:ext cx="3086100" cy="1225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통제된</a:t>
            </a:r>
            <a:r>
              <a:rPr lang="en-US" sz="2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225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Agentic Workflow</a:t>
            </a:r>
            <a:r>
              <a:rPr lang="en-US" sz="2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2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571500" y="2336843"/>
            <a:ext cx="3086100" cy="535781"/>
          </a:xfrm>
          <a:prstGeom prst="rect">
            <a:avLst/>
          </a:prstGeom>
          <a:solidFill>
            <a:srgbClr val="20C997">
              <a:alpha val="1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2336843"/>
            <a:ext cx="28575" cy="535781"/>
          </a:xfrm>
          <a:prstGeom prst="rect">
            <a:avLst/>
          </a:prstGeom>
          <a:solidFill>
            <a:srgbClr val="20C997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2336843"/>
            <a:ext cx="3086100" cy="535781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"AI는 준비하고, 사람은 승인하며,</a:t>
            </a:r>
            <a:r>
              <a:rPr lang="en-US" sz="90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90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외부 실행은 통제됩니다."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1500" y="3086937"/>
            <a:ext cx="30861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외고반장은 AI가 자유롭게 실행하는 챗봇이 아니라, 엄격한 안전 기준과 승인 절차를 따르는 업무 관리 시스템입니다.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086225" y="342900"/>
            <a:ext cx="4286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9EC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4643438" y="551910"/>
            <a:ext cx="2968228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Input Guard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43438" y="768009"/>
            <a:ext cx="296822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PII 마스킹, Tenant Scope, Rate Limit을 통한 안전한 진입점 확보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086225" y="1070893"/>
            <a:ext cx="4286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9EC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450" dirty="0"/>
          </a:p>
        </p:txBody>
      </p:sp>
      <p:sp>
        <p:nvSpPr>
          <p:cNvPr id="14" name="Text 11"/>
          <p:cNvSpPr/>
          <p:nvPr/>
        </p:nvSpPr>
        <p:spPr>
          <a:xfrm>
            <a:off x="4643438" y="1279903"/>
            <a:ext cx="255746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Bounded Router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43438" y="1496002"/>
            <a:ext cx="255746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의도를 분석하여 최적의 미션 에이전트로 업무 할당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086225" y="1798886"/>
            <a:ext cx="4286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9EC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450" dirty="0"/>
          </a:p>
        </p:txBody>
      </p:sp>
      <p:sp>
        <p:nvSpPr>
          <p:cNvPr id="17" name="Text 14"/>
          <p:cNvSpPr/>
          <p:nvPr/>
        </p:nvSpPr>
        <p:spPr>
          <a:xfrm>
            <a:off x="4643438" y="2007896"/>
            <a:ext cx="2986088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Mission Agents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643438" y="2223994"/>
            <a:ext cx="29860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Workforce / Visa / Contact 에이전트의 전문 지식 기반 업무 수행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086225" y="2526878"/>
            <a:ext cx="4286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9EC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50" dirty="0"/>
          </a:p>
        </p:txBody>
      </p:sp>
      <p:sp>
        <p:nvSpPr>
          <p:cNvPr id="20" name="Text 17"/>
          <p:cNvSpPr/>
          <p:nvPr/>
        </p:nvSpPr>
        <p:spPr>
          <a:xfrm>
            <a:off x="4643438" y="2735889"/>
            <a:ext cx="241637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Approval Gate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643438" y="2951987"/>
            <a:ext cx="241637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발송 전 관리자의 최종 승인 (Pending-first 구조)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643438" y="3154859"/>
            <a:ext cx="1109067" cy="160734"/>
          </a:xfrm>
          <a:prstGeom prst="rect">
            <a:avLst/>
          </a:prstGeom>
          <a:solidFill>
            <a:srgbClr val="FD7E14"/>
          </a:solidFill>
          <a:ln/>
        </p:spPr>
      </p:sp>
      <p:sp>
        <p:nvSpPr>
          <p:cNvPr id="23" name="Text 20"/>
          <p:cNvSpPr/>
          <p:nvPr/>
        </p:nvSpPr>
        <p:spPr>
          <a:xfrm>
            <a:off x="4643438" y="3154859"/>
            <a:ext cx="1109067" cy="16073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HUMAN-IN-THE-LOOP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4086225" y="3458468"/>
            <a:ext cx="4286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9EC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450" dirty="0"/>
          </a:p>
        </p:txBody>
      </p:sp>
      <p:sp>
        <p:nvSpPr>
          <p:cNvPr id="25" name="Text 22"/>
          <p:cNvSpPr/>
          <p:nvPr/>
        </p:nvSpPr>
        <p:spPr>
          <a:xfrm>
            <a:off x="4643438" y="3667478"/>
            <a:ext cx="2516386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 Log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643438" y="3883577"/>
            <a:ext cx="251638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판단 근거 및 실행 이력을 감사용 데이터로 영구 저장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MISSION AGENTS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71500" y="825243"/>
            <a:ext cx="857250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5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분야별 전문 지식을 결합한</a:t>
            </a:r>
            <a:r>
              <a:rPr lang="en-US" sz="225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225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미션 에이전트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428625" y="1983339"/>
            <a:ext cx="2647959" cy="2571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983339"/>
            <a:ext cx="2647959" cy="42863"/>
          </a:xfrm>
          <a:prstGeom prst="rect">
            <a:avLst/>
          </a:prstGeom>
          <a:solidFill>
            <a:srgbClr val="20C99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76221"/>
            <a:ext cx="250031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1500" y="2610203"/>
            <a:ext cx="236220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M1. WORKFORCE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571500" y="2831660"/>
            <a:ext cx="2362209" cy="203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인력 확보 에이전트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71500" y="3149557"/>
            <a:ext cx="236220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채용 의도 분석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71500" y="3417447"/>
            <a:ext cx="236220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고용 쿼터 실시간 판별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71500" y="3685338"/>
            <a:ext cx="236220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후보자 요건 및 적합성 검토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71500" y="3953228"/>
            <a:ext cx="236220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Fact-based 인재 매칭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48034" y="1983339"/>
            <a:ext cx="2647959" cy="2571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3248034" y="1983339"/>
            <a:ext cx="2647959" cy="42863"/>
          </a:xfrm>
          <a:prstGeom prst="rect">
            <a:avLst/>
          </a:prstGeom>
          <a:solidFill>
            <a:srgbClr val="20C99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909" y="2176221"/>
            <a:ext cx="321469" cy="2857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90909" y="2610203"/>
            <a:ext cx="236220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M2. VISA DOCUMENT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3390909" y="2831660"/>
            <a:ext cx="2362209" cy="203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비자 운영 에이전트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390909" y="3149557"/>
            <a:ext cx="236220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체류 만료일 상시 모니터링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3390909" y="3417447"/>
            <a:ext cx="236220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충돌 및 리스크 감지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3390909" y="3685338"/>
            <a:ext cx="236220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서류 누락 여부 체크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3390909" y="3953228"/>
            <a:ext cx="236220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행정사 검토용 패키지 생성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067444" y="1983339"/>
            <a:ext cx="2647959" cy="2571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19"/>
          <p:cNvSpPr/>
          <p:nvPr/>
        </p:nvSpPr>
        <p:spPr>
          <a:xfrm>
            <a:off x="6067444" y="1983339"/>
            <a:ext cx="2647959" cy="42863"/>
          </a:xfrm>
          <a:prstGeom prst="rect">
            <a:avLst/>
          </a:prstGeom>
          <a:solidFill>
            <a:srgbClr val="20C997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19" y="2176221"/>
            <a:ext cx="357188" cy="28575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210319" y="2610203"/>
            <a:ext cx="236220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M3. CONTACT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6210319" y="2831660"/>
            <a:ext cx="2362209" cy="203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다국어 컨택 에이전트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210319" y="3149557"/>
            <a:ext cx="236220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16개국어 메시지 최적화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210319" y="3417447"/>
            <a:ext cx="236220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외국어 응답 실시간 해석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6210319" y="3685338"/>
            <a:ext cx="236220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행정적 맥락 유지 소통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6210319" y="3953228"/>
            <a:ext cx="236220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 소통 가이드라인 적용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0" y="4750594"/>
            <a:ext cx="9144000" cy="392906"/>
          </a:xfrm>
          <a:prstGeom prst="rect">
            <a:avLst/>
          </a:prstGeom>
          <a:noFill/>
          <a:ln/>
        </p:spPr>
        <p:txBody>
          <a:bodyPr wrap="square" lIns="680339" tIns="102108" rIns="0" bIns="204089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각 에이전트는 독립된 전문 지식을 보유하며, Bounded Router를 통해 유기적으로 협업합니다.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233035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571500"/>
            <a:ext cx="366153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DATA STRATEGY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71500" y="1144423"/>
            <a:ext cx="366153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공신력 있는</a:t>
            </a:r>
            <a:r>
              <a:rPr lang="en-US" sz="20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20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데이터 소스 활용</a:t>
            </a:r>
            <a:endParaRPr lang="en-US" sz="2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290995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7263" y="2280279"/>
            <a:ext cx="1625203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EPS 사업주 고용절차 가이드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742950" y="2507093"/>
            <a:ext cx="349008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C75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내국인 구인노력부터 고용허가서 발급까지의 전체 행정 경로 데이터 동기화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255401"/>
            <a:ext cx="142875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7263" y="3244686"/>
            <a:ext cx="1294805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정부24 체류 관리 안내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742950" y="3471500"/>
            <a:ext cx="349008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C75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체류기간 연장, 고용변동 신고 등 케이스별 필수 제출 항목 및 유의사항 추출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4219808"/>
            <a:ext cx="178594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2981" y="4209092"/>
            <a:ext cx="1017984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국가법령정보센터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742950" y="4435906"/>
            <a:ext cx="349008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C75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외국인근로자 고용법령 및 최신 법정 서식 데이터를 기반으로 한 항목 검증</a:t>
            </a:r>
            <a:endParaRPr lang="en-US" sz="850" dirty="0"/>
          </a:p>
        </p:txBody>
      </p:sp>
      <p:sp>
        <p:nvSpPr>
          <p:cNvPr id="15" name="Shape 9"/>
          <p:cNvSpPr/>
          <p:nvPr/>
        </p:nvSpPr>
        <p:spPr>
          <a:xfrm>
            <a:off x="4233035" y="0"/>
            <a:ext cx="4910965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6" name="Shape 10"/>
          <p:cNvSpPr/>
          <p:nvPr/>
        </p:nvSpPr>
        <p:spPr>
          <a:xfrm>
            <a:off x="4233035" y="0"/>
            <a:ext cx="7144" cy="5143500"/>
          </a:xfrm>
          <a:prstGeom prst="rect">
            <a:avLst/>
          </a:prstGeom>
          <a:solidFill>
            <a:srgbClr val="EEEEEE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4869" y="730448"/>
            <a:ext cx="171450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43475" y="714375"/>
            <a:ext cx="1446609" cy="203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객관적 법적 근거 제공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4664869" y="1025128"/>
            <a:ext cx="4479131" cy="411435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AI의 주관적인 요약이나 추측을 배제합니다. 모든 안내와 답변은 </a:t>
            </a:r>
            <a:r>
              <a:rPr lang="en-US" sz="90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가이드라인과 법령 텍스트</a:t>
            </a:r>
            <a:r>
              <a:rPr lang="en-US" sz="95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직접 인용하여 정보의 신뢰성을 극대화합니다.</a:t>
            </a:r>
            <a:endParaRPr lang="en-US" sz="9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4869" y="2516386"/>
            <a:ext cx="171450" cy="1714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943475" y="2500313"/>
            <a:ext cx="1260872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행정적 타당성 확보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4664869" y="2811066"/>
            <a:ext cx="4479131" cy="411435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요청이 아닌, </a:t>
            </a:r>
            <a:r>
              <a:rPr lang="en-US" sz="90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법적 근거(Necessity)</a:t>
            </a:r>
            <a:r>
              <a:rPr lang="en-US" sz="95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</a:t>
            </a:r>
            <a:r>
              <a:rPr lang="en-US" sz="90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행정 데드라인</a:t>
            </a:r>
            <a:r>
              <a:rPr lang="en-US" sz="95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명시합니다. 개인정보 </a:t>
            </a:r>
            <a:r>
              <a:rPr lang="en-US" sz="95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파기 원칙을 고지하여 근로자와의 신뢰를 구축합니다.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385441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 SCENE 01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71500" y="1168143"/>
            <a:ext cx="3854416" cy="817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놓치기 전에 AI가</a:t>
            </a:r>
            <a:r>
              <a:rPr lang="en-US" sz="225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225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챙겨주는 브리핑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571500" y="2271126"/>
            <a:ext cx="3514725" cy="126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2271126"/>
            <a:ext cx="28575" cy="1268016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7" name="Text 4"/>
          <p:cNvSpPr/>
          <p:nvPr/>
        </p:nvSpPr>
        <p:spPr>
          <a:xfrm>
            <a:off x="742950" y="2442576"/>
            <a:ext cx="314325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 CASE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42950" y="2681892"/>
            <a:ext cx="3143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Nguyen Van A (베트남, E-9)</a:t>
            </a:r>
            <a:r>
              <a:rPr lang="en-US" sz="10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10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체류만료: </a:t>
            </a:r>
            <a:r>
              <a:rPr lang="en-US" sz="100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D-30 감지</a:t>
            </a:r>
            <a:r>
              <a:rPr lang="en-US" sz="10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10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누락: </a:t>
            </a:r>
            <a:r>
              <a:rPr lang="en-US" sz="100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표준근로계약서, 여권 사본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1500" y="3753455"/>
            <a:ext cx="31432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"오늘 놓치면 사고 나는 것을 브리핑이 먼저 알려주고, 곧바로 처리 화면으로 이어집니다."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425916" y="0"/>
            <a:ext cx="4718084" cy="514350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1" name="Shape 8"/>
          <p:cNvSpPr/>
          <p:nvPr/>
        </p:nvSpPr>
        <p:spPr>
          <a:xfrm>
            <a:off x="4425916" y="0"/>
            <a:ext cx="7144" cy="5143500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12" name="Shape 9"/>
          <p:cNvSpPr/>
          <p:nvPr/>
        </p:nvSpPr>
        <p:spPr>
          <a:xfrm>
            <a:off x="5500688" y="357188"/>
            <a:ext cx="2571750" cy="4286250"/>
          </a:xfrm>
          <a:prstGeom prst="rect">
            <a:avLst/>
          </a:prstGeom>
          <a:solidFill>
            <a:srgbClr val="FFEB33"/>
          </a:solidFill>
          <a:ln w="73152">
            <a:solidFill>
              <a:srgbClr val="21252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72125" y="357188"/>
            <a:ext cx="2428875" cy="357188"/>
          </a:xfrm>
          <a:prstGeom prst="rect">
            <a:avLst/>
          </a:prstGeom>
          <a:solidFill>
            <a:srgbClr val="3C3E4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281" y="485775"/>
            <a:ext cx="62508" cy="10001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13227" y="475952"/>
            <a:ext cx="955477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외고반장 Daily Briefing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5679281" y="821531"/>
            <a:ext cx="2214563" cy="1128713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679281" y="821531"/>
            <a:ext cx="2214563" cy="112871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[오늘의 리스크 브리핑]</a:t>
            </a:r>
            <a:r>
              <a:rPr lang="en-US" sz="750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750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사장님, 오늘 꼭 챙겨야 할 업무입니다.</a:t>
            </a:r>
            <a:r>
              <a:rPr lang="en-US" sz="750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750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700" b="1" dirty="0">
                <a:solidFill>
                  <a:srgbClr val="FD7E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Nguyen (D-30)</a:t>
            </a:r>
            <a:r>
              <a:rPr lang="en-US" sz="750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체류만료 임박</a:t>
            </a:r>
            <a:r>
              <a:rPr lang="en-US" sz="750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750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누락 서류 2건 확인됨</a:t>
            </a:r>
            <a:r>
              <a:rPr lang="en-US" sz="750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750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베트남어 요청 메시지 준비 완료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5679281" y="2043113"/>
            <a:ext cx="2214563" cy="291108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19" name="Text 15"/>
          <p:cNvSpPr/>
          <p:nvPr/>
        </p:nvSpPr>
        <p:spPr>
          <a:xfrm>
            <a:off x="5679281" y="2043113"/>
            <a:ext cx="2214563" cy="29110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 확인 및 승인하기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571500"/>
            <a:ext cx="30861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 SCENE 02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71500" y="968118"/>
            <a:ext cx="3086100" cy="817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준비하고,</a:t>
            </a:r>
            <a:r>
              <a:rPr lang="en-US" sz="2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225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사람은 승인</a:t>
            </a:r>
            <a:r>
              <a:rPr lang="en-US" sz="2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합니다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735806" y="2085389"/>
            <a:ext cx="2921794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초안 자동 생성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35806" y="2312203"/>
            <a:ext cx="292179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다국어 메시지 초안과 한국어 번역본, 행정적 근거를 즉시 준비합니다.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35806" y="3056939"/>
            <a:ext cx="2921794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Approval Gate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5806" y="3283753"/>
            <a:ext cx="292179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전에는 외부 발송이 원천 차단되는 안전한 구조를 유지합니다.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5806" y="4028489"/>
            <a:ext cx="2921794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실행 및 기록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5806" y="4255303"/>
            <a:ext cx="292179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즉시 실행되며, 모든 과정은 Evidence Log에 영구 기록됩니다.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086225" y="571500"/>
            <a:ext cx="4629150" cy="342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086225" y="571500"/>
            <a:ext cx="4629150" cy="42863"/>
          </a:xfrm>
          <a:prstGeom prst="rect">
            <a:avLst/>
          </a:prstGeom>
          <a:solidFill>
            <a:srgbClr val="FD7E1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538" y="800993"/>
            <a:ext cx="157163" cy="15716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43425" y="785813"/>
            <a:ext cx="198596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Action: 메시지 발송 준비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300538" y="1116211"/>
            <a:ext cx="4200525" cy="856859"/>
          </a:xfrm>
          <a:prstGeom prst="rect">
            <a:avLst/>
          </a:prstGeom>
          <a:solidFill>
            <a:srgbClr val="F8F9FA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443413" y="1259086"/>
            <a:ext cx="3914775" cy="11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75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베트남어 초안 (VN)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4443413" y="1450181"/>
            <a:ext cx="39147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Chào Nguyen, đây là thông báo từ Oegobanjang. Vui lòng gửi bản sao hộ chiếu của bạn trước ngày 20/05...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4300538" y="2101658"/>
            <a:ext cx="4200525" cy="856859"/>
          </a:xfrm>
          <a:prstGeom prst="rect">
            <a:avLst/>
          </a:prstGeom>
          <a:solidFill>
            <a:srgbClr val="F8F9FA"/>
          </a:solidFill>
          <a:ln w="9144">
            <a:solidFill>
              <a:srgbClr val="EEEEE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443413" y="2244533"/>
            <a:ext cx="3914775" cy="11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C75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번역 (KR)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4443413" y="2435628"/>
            <a:ext cx="39147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안녕하세요 Nguyen님, 외고반장입니다. 체류 연장을 위해 5월 20일까지 여권 사본 제출을 부탁드립니다...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4300538" y="3288023"/>
            <a:ext cx="1160859" cy="205383"/>
          </a:xfrm>
          <a:prstGeom prst="rect">
            <a:avLst/>
          </a:prstGeom>
          <a:solidFill>
            <a:srgbClr val="FD7E14"/>
          </a:solidFill>
          <a:ln/>
        </p:spPr>
      </p:sp>
      <p:sp>
        <p:nvSpPr>
          <p:cNvPr id="23" name="Text 19"/>
          <p:cNvSpPr/>
          <p:nvPr/>
        </p:nvSpPr>
        <p:spPr>
          <a:xfrm>
            <a:off x="4300538" y="3288023"/>
            <a:ext cx="1160859" cy="205383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PENDING APPROVAL</a:t>
            </a:r>
            <a:endParaRPr lang="en-US" sz="700" dirty="0"/>
          </a:p>
        </p:txBody>
      </p:sp>
      <p:sp>
        <p:nvSpPr>
          <p:cNvPr id="24" name="Shape 20"/>
          <p:cNvSpPr/>
          <p:nvPr/>
        </p:nvSpPr>
        <p:spPr>
          <a:xfrm>
            <a:off x="7420570" y="3237123"/>
            <a:ext cx="1080492" cy="307181"/>
          </a:xfrm>
          <a:prstGeom prst="rect">
            <a:avLst/>
          </a:prstGeom>
          <a:solidFill>
            <a:srgbClr val="20C997"/>
          </a:solidFill>
          <a:ln/>
        </p:spPr>
      </p:sp>
      <p:sp>
        <p:nvSpPr>
          <p:cNvPr id="25" name="Text 21"/>
          <p:cNvSpPr/>
          <p:nvPr/>
        </p:nvSpPr>
        <p:spPr>
          <a:xfrm>
            <a:off x="7420570" y="3237123"/>
            <a:ext cx="1080492" cy="307181"/>
          </a:xfrm>
          <a:prstGeom prst="rect">
            <a:avLst/>
          </a:prstGeom>
          <a:noFill/>
          <a:ln/>
        </p:spPr>
        <p:txBody>
          <a:bodyPr wrap="none" lIns="204089" tIns="102108" rIns="204089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후 발송하기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4300538" y="3687180"/>
            <a:ext cx="420052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승인 시 다국어 컨택 에이전트가 근로자에게 메시지를 발송하고 결과를 기록합니다.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829050" cy="5143500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571500"/>
            <a:ext cx="32575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 &amp; TRACEABILITY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71500" y="968118"/>
            <a:ext cx="3257550" cy="1225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판단의 근거를</a:t>
            </a:r>
            <a:r>
              <a:rPr lang="en-US" sz="2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225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인용구 형태</a:t>
            </a:r>
            <a:r>
              <a:rPr lang="en-US" sz="2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</a:t>
            </a:r>
            <a:r>
              <a:rPr lang="en-US" sz="2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2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영구 보존합니다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571500" y="2479718"/>
            <a:ext cx="3257550" cy="767172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"왜 그렇게 판단했는가?"에 대한 답을</a:t>
            </a:r>
            <a:r>
              <a:rPr lang="en-US" sz="95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95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AI의 주관적 요약이 아닌 객관적 데이터와</a:t>
            </a:r>
            <a:r>
              <a:rPr lang="en-US" sz="95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95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법령 텍스트로 증명합니다.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701873"/>
            <a:ext cx="139303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04159" y="678656"/>
            <a:ext cx="1818084" cy="203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참조 규정 및 법령 자동 기록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457700" y="967978"/>
            <a:ext cx="46863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시점에 유효했던 실제 법령 텍스트를 박제하여 저장합니다. 사후 감사 시 강력한 소명 자료가 됩니다.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457700" y="1450851"/>
            <a:ext cx="1105495" cy="205383"/>
          </a:xfrm>
          <a:prstGeom prst="rect">
            <a:avLst/>
          </a:prstGeom>
          <a:solidFill>
            <a:srgbClr val="20C997">
              <a:alpha val="1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4457700" y="1450851"/>
            <a:ext cx="1105495" cy="205383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Citation-Based RAG</a:t>
            </a:r>
            <a:endParaRPr lang="en-US" sz="7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2023467"/>
            <a:ext cx="196453" cy="1571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61309" y="2000250"/>
            <a:ext cx="1446609" cy="203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 승인 이력 보존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457700" y="2289572"/>
            <a:ext cx="46863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누가, 언제, 어떤 근거를 보고 승인했는지에 대한 타임스탬프를 기록하여 의사결정의 투명성을 보장합니다.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457700" y="2772445"/>
            <a:ext cx="1359098" cy="205383"/>
          </a:xfrm>
          <a:prstGeom prst="rect">
            <a:avLst/>
          </a:prstGeom>
          <a:solidFill>
            <a:srgbClr val="20C997">
              <a:alpha val="10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4457700" y="2772445"/>
            <a:ext cx="1359098" cy="205383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Human-in-the-loop Audit</a:t>
            </a:r>
            <a:endParaRPr lang="en-US" sz="7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3345061"/>
            <a:ext cx="137517" cy="15716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02373" y="3321844"/>
            <a:ext cx="1446609" cy="203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 리포트 자동 생성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457700" y="3611166"/>
            <a:ext cx="46863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행정 사고 발생 시 즉시 제출 가능한 형태의 감사 리포트를 생성하여 기업의 법적 리스크를 원천 관리합니다.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457700" y="4094038"/>
            <a:ext cx="1237655" cy="205383"/>
          </a:xfrm>
          <a:prstGeom prst="rect">
            <a:avLst/>
          </a:prstGeom>
          <a:solidFill>
            <a:srgbClr val="20C997">
              <a:alpha val="10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4457700" y="4094038"/>
            <a:ext cx="1237655" cy="205383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Legal Risk Governance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571500"/>
            <a:ext cx="30861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TECHNICAL TRUST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71500" y="968118"/>
            <a:ext cx="3086100" cy="1225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실패해도</a:t>
            </a:r>
            <a:r>
              <a:rPr lang="en-US" sz="2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225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안전하게 무너지는</a:t>
            </a:r>
            <a:r>
              <a:rPr lang="en-US" sz="2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2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Fail-safe 설계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571500" y="2479718"/>
            <a:ext cx="3086100" cy="592931"/>
          </a:xfrm>
          <a:prstGeom prst="rect">
            <a:avLst/>
          </a:prstGeom>
          <a:solidFill>
            <a:srgbClr val="20C997">
              <a:alpha val="1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2479718"/>
            <a:ext cx="28575" cy="592931"/>
          </a:xfrm>
          <a:prstGeom prst="rect">
            <a:avLst/>
          </a:prstGeom>
          <a:solidFill>
            <a:srgbClr val="20C997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2479718"/>
            <a:ext cx="3086100" cy="59293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"그럴듯함이 가장 위험한 도메인입니다.</a:t>
            </a:r>
            <a:r>
              <a:rPr lang="en-US" sz="90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90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우리는 기술적 장치로 신뢰를 보장합니다."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1500" y="3286962"/>
            <a:ext cx="308610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LLM은 정리와 생성을 담당하고,</a:t>
            </a:r>
            <a:r>
              <a:rPr lang="en-US" sz="85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85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판단과 외부 실행은 결정론적 Rule과</a:t>
            </a:r>
            <a:r>
              <a:rPr lang="en-US" sz="85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85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구조로 통제합니다.</a:t>
            </a:r>
            <a:endParaRPr lang="en-US" sz="8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0" y="679549"/>
            <a:ext cx="178594" cy="1428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657225"/>
            <a:ext cx="195024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3중 안전 장치 (Safety Layer)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286250" y="916186"/>
            <a:ext cx="442912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Engine(필수조건/금지/리스크) + Human Approval(실행 통제) + PII Masking(개인정보 보호)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286250" y="1351955"/>
            <a:ext cx="948333" cy="167878"/>
          </a:xfrm>
          <a:prstGeom prst="rect">
            <a:avLst/>
          </a:prstGeom>
          <a:solidFill>
            <a:srgbClr val="20C997">
              <a:alpha val="1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4286250" y="1351955"/>
            <a:ext cx="948333" cy="167878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Deterministic Rule</a:t>
            </a:r>
            <a:endParaRPr lang="en-US" sz="650" dirty="0"/>
          </a:p>
        </p:txBody>
      </p:sp>
      <p:sp>
        <p:nvSpPr>
          <p:cNvPr id="15" name="Shape 11"/>
          <p:cNvSpPr/>
          <p:nvPr/>
        </p:nvSpPr>
        <p:spPr>
          <a:xfrm>
            <a:off x="5320308" y="1351955"/>
            <a:ext cx="684014" cy="167878"/>
          </a:xfrm>
          <a:prstGeom prst="rect">
            <a:avLst/>
          </a:prstGeom>
          <a:solidFill>
            <a:srgbClr val="20C997">
              <a:alpha val="1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5320308" y="1351955"/>
            <a:ext cx="684014" cy="167878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Privacy First</a:t>
            </a:r>
            <a:endParaRPr lang="en-US" sz="6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2079724"/>
            <a:ext cx="142875" cy="1428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36281" y="2057400"/>
            <a:ext cx="211455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가능한 구조 (Testability)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286250" y="2316361"/>
            <a:ext cx="442912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라우팅, 룰, RAG, 승인 단계를 분해하여 개별 자동 테스트가 가능하며 회귀 오류를 방지합니다.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286250" y="2569964"/>
            <a:ext cx="676870" cy="167878"/>
          </a:xfrm>
          <a:prstGeom prst="rect">
            <a:avLst/>
          </a:prstGeom>
          <a:solidFill>
            <a:srgbClr val="20C997">
              <a:alpha val="1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4286250" y="2569964"/>
            <a:ext cx="676870" cy="167878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Unit Testing</a:t>
            </a:r>
            <a:endParaRPr lang="en-US" sz="650" dirty="0"/>
          </a:p>
        </p:txBody>
      </p:sp>
      <p:sp>
        <p:nvSpPr>
          <p:cNvPr id="22" name="Shape 17"/>
          <p:cNvSpPr/>
          <p:nvPr/>
        </p:nvSpPr>
        <p:spPr>
          <a:xfrm>
            <a:off x="5048845" y="2569964"/>
            <a:ext cx="721519" cy="167878"/>
          </a:xfrm>
          <a:prstGeom prst="rect">
            <a:avLst/>
          </a:prstGeom>
          <a:solidFill>
            <a:srgbClr val="20C997">
              <a:alpha val="1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5048845" y="2569964"/>
            <a:ext cx="721519" cy="167878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Idempotency</a:t>
            </a:r>
            <a:endParaRPr lang="en-US" sz="6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3479899"/>
            <a:ext cx="142875" cy="14287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536281" y="3457575"/>
            <a:ext cx="1841302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검증 지표 (Evaluation)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286250" y="3716536"/>
            <a:ext cx="442912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관리의 품질을 데모가 아닌 반복 가능한 지표로 측정하여 시스템의 성숙도를 관리합니다.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286250" y="3970139"/>
            <a:ext cx="925116" cy="167878"/>
          </a:xfrm>
          <a:prstGeom prst="rect">
            <a:avLst/>
          </a:prstGeom>
          <a:solidFill>
            <a:srgbClr val="20C997">
              <a:alpha val="1000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4286250" y="3970139"/>
            <a:ext cx="925116" cy="167878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Citation Accuracy</a:t>
            </a:r>
            <a:endParaRPr lang="en-US" sz="650" dirty="0"/>
          </a:p>
        </p:txBody>
      </p:sp>
      <p:sp>
        <p:nvSpPr>
          <p:cNvPr id="29" name="Shape 23"/>
          <p:cNvSpPr/>
          <p:nvPr/>
        </p:nvSpPr>
        <p:spPr>
          <a:xfrm>
            <a:off x="5297091" y="3970139"/>
            <a:ext cx="962620" cy="167878"/>
          </a:xfrm>
          <a:prstGeom prst="rect">
            <a:avLst/>
          </a:prstGeom>
          <a:solidFill>
            <a:srgbClr val="20C997">
              <a:alpha val="1000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5297091" y="3970139"/>
            <a:ext cx="962620" cy="167878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Route Correctness</a:t>
            </a:r>
            <a:endParaRPr lang="en-US" sz="650" dirty="0"/>
          </a:p>
        </p:txBody>
      </p:sp>
      <p:sp>
        <p:nvSpPr>
          <p:cNvPr id="31" name="Shape 25"/>
          <p:cNvSpPr/>
          <p:nvPr/>
        </p:nvSpPr>
        <p:spPr>
          <a:xfrm>
            <a:off x="6345436" y="3970139"/>
            <a:ext cx="680442" cy="167878"/>
          </a:xfrm>
          <a:prstGeom prst="rect">
            <a:avLst/>
          </a:prstGeom>
          <a:solidFill>
            <a:srgbClr val="20C997">
              <a:alpha val="10000"/>
            </a:srgbClr>
          </a:solidFill>
          <a:ln/>
        </p:spPr>
      </p:sp>
      <p:sp>
        <p:nvSpPr>
          <p:cNvPr id="32" name="Text 26"/>
          <p:cNvSpPr/>
          <p:nvPr/>
        </p:nvSpPr>
        <p:spPr>
          <a:xfrm>
            <a:off x="6345436" y="3970139"/>
            <a:ext cx="680442" cy="167878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E2E Latency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643438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571500"/>
            <a:ext cx="407193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ROADMAP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71500" y="956258"/>
            <a:ext cx="4071938" cy="780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가능한</a:t>
            </a:r>
            <a:r>
              <a:rPr lang="en-US" sz="21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21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단계적 성장 전략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28638" y="2050647"/>
            <a:ext cx="171450" cy="171450"/>
          </a:xfrm>
          <a:prstGeom prst="ellipse">
            <a:avLst/>
          </a:prstGeom>
          <a:solidFill>
            <a:srgbClr val="20C997"/>
          </a:solidFill>
          <a:ln w="27432">
            <a:solidFill>
              <a:srgbClr val="20C99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4388" y="1979209"/>
            <a:ext cx="382905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1. MVP 완성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14388" y="2223883"/>
            <a:ext cx="38290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브리핑-케이스-승인-증빙의 최소 루프 완성 및 핵심 에이전트 고도화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28638" y="2836459"/>
            <a:ext cx="171450" cy="17145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E9EC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4388" y="2765022"/>
            <a:ext cx="382905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2. 파일럿 검증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14388" y="3009695"/>
            <a:ext cx="38290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제조업체 5곳 대상 운영 지표 및 ROI 검증, 지불 의사 확인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28638" y="3622272"/>
            <a:ext cx="171450" cy="17145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E9EC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4388" y="3550834"/>
            <a:ext cx="382905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3. 파트너십 확장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14388" y="3795508"/>
            <a:ext cx="38290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행정사/노무사 협업 모델 구축 및 White-label 시스템 설계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71500" y="4322359"/>
            <a:ext cx="4071938" cy="421481"/>
          </a:xfrm>
          <a:prstGeom prst="rect">
            <a:avLst/>
          </a:prstGeom>
          <a:solidFill>
            <a:srgbClr val="20C997">
              <a:alpha val="10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4474164"/>
            <a:ext cx="128588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42963" y="4465234"/>
            <a:ext cx="199846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Ask: 현장 피드백 및 엔지니어링 리소스 지원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4643438" y="0"/>
            <a:ext cx="4500563" cy="5143500"/>
          </a:xfrm>
          <a:prstGeom prst="rect">
            <a:avLst/>
          </a:prstGeom>
          <a:solidFill>
            <a:srgbClr val="212529"/>
          </a:solidFill>
          <a:ln/>
        </p:spPr>
      </p:sp>
      <p:sp>
        <p:nvSpPr>
          <p:cNvPr id="19" name="Text 15"/>
          <p:cNvSpPr/>
          <p:nvPr/>
        </p:nvSpPr>
        <p:spPr>
          <a:xfrm>
            <a:off x="5072063" y="571500"/>
            <a:ext cx="364331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OUR VISION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5072063" y="991837"/>
            <a:ext cx="3643313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외국인 고용 생태계의</a:t>
            </a:r>
            <a:r>
              <a:rPr lang="en-US" sz="2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2450" b="1" dirty="0">
                <a:solidFill>
                  <a:srgbClr val="20C99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 운영 체제(OS)</a:t>
            </a:r>
            <a:endParaRPr lang="en-US" sz="2450" dirty="0"/>
          </a:p>
        </p:txBody>
      </p:sp>
      <p:sp>
        <p:nvSpPr>
          <p:cNvPr id="21" name="Text 17"/>
          <p:cNvSpPr/>
          <p:nvPr/>
        </p:nvSpPr>
        <p:spPr>
          <a:xfrm>
            <a:off x="5072063" y="1957639"/>
            <a:ext cx="36433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외고반장은 단순한 관리 도구를 넘어,</a:t>
            </a:r>
            <a:r>
              <a:rPr lang="en-US" sz="105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105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사업주와 근로자, 전문가가</a:t>
            </a:r>
            <a:r>
              <a:rPr lang="en-US" sz="105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1050" dirty="0">
                <a:solidFill>
                  <a:srgbClr val="ADB5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신뢰할 수 있는 고용 인프라가 됩니다.</a:t>
            </a:r>
            <a:endParaRPr lang="en-US" sz="10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063" y="2973837"/>
            <a:ext cx="171450" cy="17145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50669" y="2957764"/>
            <a:ext cx="1535906" cy="203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외고반장 Agentic OS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2026-05-12T23:24:33Z</dcterms:created>
  <dcterms:modified xsi:type="dcterms:W3CDTF">2026-05-12T23:24:33Z</dcterms:modified>
</cp:coreProperties>
</file>